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78/8 tension: most enterprises have agents somewhere, almost none have them governed. Ball's opportunity is to skip the ungoverned middle. Every [CONFIRM] row must be validated with the system owner before this is 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anti-mandate matters more than the mandate in the room — it is what stops the division being read as a land grab by system owners. Federated model: small infrastructural hub, headcount in the spokes.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disciplines do not exist at Ball today. The platform band is deliberately secondary — it is the enabler, not the proposal. If asked 'why not buy an agent platform', the answer is the governance spine: we would fork Unity Catalog.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for the room: this is not a new platform purchase, it is switching on governance capability alongside a platform Ball already runs. If asked 'why not buy an agent platform' — because we would fork governance and end up with two catalogues and two audit trails.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 answers 'what changes on Databricks and when'. Right side is the first concrete integration and doubles as proof the model works. Task 3 is the one to defend — shared service principals are the most common shortcut and they destroy the audit trail Internal Audit will ask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durations by design. If pressed on timing, answer with the exit conditions — they are the honest gate. The ask is six decisions, not a budget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Ball stands — and why a division,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has moved from experimentation to governed production. Ball's adoption is real but unfounded — and that is the expensive failure mode.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66160" cy="404164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92024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signal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34086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55648" y="232257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teams have MCP-backed agents somewhere in production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" y="312724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55648" y="31089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organisations have agentic AI genuinely in production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39136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55648" y="38953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apps projected to embed agents by end-2026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470001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55648" y="46817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Fortune 500 already run MCP servers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" y="5431536"/>
            <a:ext cx="2980944" cy="0"/>
          </a:xfrm>
          <a:prstGeom prst="line">
            <a:avLst/>
          </a:prstGeom>
          <a:noFill/>
          <a:ln w="12700">
            <a:solidFill>
              <a:srgbClr val="2C5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504688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have agents somewhere. Almost none have them governed.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737360"/>
            <a:ext cx="7296912" cy="40416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636008" y="1920240"/>
            <a:ext cx="6711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today — illustrative baseline  [CONFIRM with each system owner]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36008" y="22860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— JD Edwards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28232" y="2286000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backbone. AIS/Orchestrator available but used for point integrations.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28632" y="228600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approaches defined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2724912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77063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— SAP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28232" y="277063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Coexists with JDE. IDE-level AI integration under way, not standardised.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28632" y="277063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36008" y="3209544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2552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Databricks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28232" y="3255264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Lakehouse live; Unity Catalog governs data. Not yet extended to models, agents or tools.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28632" y="3255264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foundation, extension needed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36008" y="3694176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73989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OSS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28232" y="3739896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assistant adoption. No shared standards, evaluation or telemetry.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628632" y="3739896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ADLC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36008" y="4178808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422452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28232" y="4224528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script-based regression; test-data provisioning is the bottleneck.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628632" y="4224528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first agent target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36008" y="4663440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36008" y="47091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28232" y="4709160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experimentation on SaaS-embedded AI features.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628632" y="470916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adoption — needs a front door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36008" y="5148072"/>
            <a:ext cx="6711696" cy="0"/>
          </a:xfrm>
          <a:prstGeom prst="line">
            <a:avLst/>
          </a:prstGeom>
          <a:noFill/>
          <a:ln w="9525">
            <a:solidFill>
              <a:srgbClr val="DCE4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519379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plant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28232" y="5193792"/>
            <a:ext cx="3127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operational telemetry with little exposure to the analytics/AI layer.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628632" y="5193792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8640" y="59253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ideas. It is a shared foundation, an operating model and a delivery discipline that lets ideas reach production across every system.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Division — charter and operating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4663440" cy="431596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700784"/>
            <a:ext cx="4041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2139696"/>
            <a:ext cx="404164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enterprise AI platform — gateway, mesh, MCP estate, observability and evaluation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context layer — semantics, retrieval, memory and knowledge curation for all agents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AI development lifecycle and the definition of production-ready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engineers into business and system domains to deliver outcomes, not tickets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policy with Legal, Security, Privacy and Internal Audit — and make it enforceable at runtime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enablement so every function can build safely inside the guardrails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59536" y="5102352"/>
            <a:ext cx="4041648" cy="18288"/>
          </a:xfrm>
          <a:prstGeom prst="rect">
            <a:avLst/>
          </a:prstGeom>
          <a:solidFill>
            <a:srgbClr val="2C5589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521208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Anti-mandate: the division does not own the systems of record, does not approve business cases, and never becomes the system of control.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04688" y="1517904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— a hub with embedded spokes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04688" y="1901952"/>
            <a:ext cx="6135624" cy="78638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3" name="Text 11"/>
          <p:cNvSpPr/>
          <p:nvPr/>
        </p:nvSpPr>
        <p:spPr>
          <a:xfrm>
            <a:off x="5504688" y="2011680"/>
            <a:ext cx="6135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DIVISION — 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2267712"/>
            <a:ext cx="6135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·  Context  ·  Lifecycle  ·  Policy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04688" y="2889504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14416" y="3017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&amp; JD Edwards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14416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71232" y="2889504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3017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80960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37776" y="2889504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47504" y="30175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&amp;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47504" y="33467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04688" y="3913632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14416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OSS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14416" y="4370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71232" y="3913632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4370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637776" y="3913632"/>
            <a:ext cx="2002536" cy="914400"/>
          </a:xfrm>
          <a:prstGeom prst="rect">
            <a:avLst/>
          </a:prstGeom>
          <a:solidFill>
            <a:srgbClr val="13355F"/>
          </a:solidFill>
          <a:ln w="12700">
            <a:solidFill>
              <a:srgbClr val="2C5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404164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Functions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47504" y="43708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FDE pod  ·  domain context owner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04688" y="5029200"/>
            <a:ext cx="6135624" cy="768096"/>
          </a:xfrm>
          <a:prstGeom prst="rect">
            <a:avLst/>
          </a:prstGeom>
          <a:solidFill>
            <a:srgbClr val="0D2C55"/>
          </a:solidFill>
          <a:ln/>
        </p:spPr>
      </p:sp>
      <p:sp>
        <p:nvSpPr>
          <p:cNvPr id="34" name="Text 32"/>
          <p:cNvSpPr/>
          <p:nvPr/>
        </p:nvSpPr>
        <p:spPr>
          <a:xfrm>
            <a:off x="5724144" y="5138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supplies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24144" y="5321808"/>
            <a:ext cx="5696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MCP estate, evaluation harness, observability, reference architecture, standards, enablement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24144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supply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76288" y="5504688"/>
            <a:ext cx="4544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semantics, process ownership, adoption and the business case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961888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Federated, not centralised. The hub stays small and infrastructural; the mass of headcount sits in the spokes, reporting into the domain with a dotted line to the hub for standards.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division owns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disciplines the organisation does not have today, sitting on one platform that extends what Ball already governs.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7860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2578608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" y="21579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AI 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8096" y="2578608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readiness assessment across the source estate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extended from data to models, agents, tools and MCP services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contracts, freshness SLOs and reconciliation to the system of record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 defined once; retrieval indexes; gold evaluation sets per domain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92424" y="1737360"/>
            <a:ext cx="257860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737360"/>
            <a:ext cx="2578608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1579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2578608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definition per business concept, owned by a named steward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memory and knowledge curation patterns for every agent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 packs built and maintained per spoke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quality scored continuously — most agent failures are context failures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36208" y="1737360"/>
            <a:ext cx="257860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737360"/>
            <a:ext cx="2578608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55664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5664" y="21579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55664" y="2578608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that test, gate and ship AI-generated change safely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wired into CI, not run manually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ADLC: how an idea becomes a governed agent and how it is retired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gating on every context or model change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79992" y="1737360"/>
            <a:ext cx="2578608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79992" y="1737360"/>
            <a:ext cx="2578608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4" name="Text 22"/>
          <p:cNvSpPr/>
          <p:nvPr/>
        </p:nvSpPr>
        <p:spPr>
          <a:xfrm>
            <a:off x="9299448" y="19202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99448" y="2157984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delivery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99448" y="2578608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embedded inside a domain, not serving tickets from a queue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 the outcome in the business process, not the deliverable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Scarce in the market — build the role internally, hire selectively at the senior end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in JDE and QA first, then every spoke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901184"/>
            <a:ext cx="11091672" cy="969264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010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UNDERNEATH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2486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22960" y="54498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egress for all model traffic — routing, spend caps, PII and injection guardrails, full request capture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47872" y="52486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MCP servers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47872" y="54498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JDE, SAP, Databricks, documents, DevOps and the knowledge estate — each a governed, registered asset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2784" y="52486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mesh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72784" y="54498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registry, orchestration, delegation, memory and human-in-the-loop checkpoints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997696" y="524865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997696" y="544982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evaluate and audit every call — what converts an agent from a demo into a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8640" y="599846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extend the governance spine Ball already has rather than standing up a parallel AI stack.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as the AI foundation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governance spine Ball already has rather than standing up a second control plane.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357530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93852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Catalog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34086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governs models, agents, MCP services and skills alongside data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access controls, discovery, lineage and audit for every AI asset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becomes the front door to the mesh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06824" y="173736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737360"/>
            <a:ext cx="357530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4544568" y="193852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Unity AI Gateway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44568" y="234086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governance for agents: spend caps, smart routing, service policies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guardrails applied at the boundary rather than per application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captured by default — no instrumentation sprawl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65008" y="173736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737360"/>
            <a:ext cx="357530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193852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MCP servers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02752" y="234086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Ready-to-use servers over Unity Catalog data, search indexes, Genie and custom functions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bespoke glue between agents and the lakehouse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and versioned like any other catalogue asset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840480"/>
            <a:ext cx="3575304" cy="54864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86384" y="444398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surface over governed data for business users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unstructured content and calls external tools via MCP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where people already work — browser, mobile, Teams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06824" y="384048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06824" y="3840480"/>
            <a:ext cx="357530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5" name="Text 23"/>
          <p:cNvSpPr/>
          <p:nvPr/>
        </p:nvSpPr>
        <p:spPr>
          <a:xfrm>
            <a:off x="4544568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Lakehouse &amp; serving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44568" y="444398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copy of data for BI, ML and agent retrieval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search indexes co-located with governed tables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path for plant and operational telemetry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65008" y="3840480"/>
            <a:ext cx="357530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65008" y="3840480"/>
            <a:ext cx="3575304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8302752" y="4041648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&amp; evaluation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02752" y="4443984"/>
            <a:ext cx="30998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serving, fine-tuning and batch inference under the same governance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and evaluation runs as first-class artefacts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from an agent answer back to the source table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599846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platform purchase — switching on governance capability alongside a platform Ball already runs. One catalogue, one lineage graph, one audit trail.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Databricks work — sequence and first integration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 the platform in each horizon, and the first integration that puts it in engineers' hands.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21808" cy="40416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920240"/>
            <a:ext cx="4700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work, by horizon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9536" y="2304288"/>
            <a:ext cx="365760" cy="365760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35024" y="2304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35024" y="267004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Unity Catalog to models, agents, MCP services and skills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AI data readiness assessment across priority sources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tag AI-eligible data; close the ownership gaps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9536" y="3182112"/>
            <a:ext cx="365760" cy="365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35024" y="3182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35024" y="3547872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Databricks MCP server in the tool registry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and search indexes co-located with governed tables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metric layer; Genie pilot on one governed domain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9536" y="4059936"/>
            <a:ext cx="365760" cy="365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35024" y="40599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35024" y="442569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path for plant, MES and historian telemetry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serving, fine-tuning and evaluation runs as governed artefacts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opened to business users inside their permissions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59536" y="4937760"/>
            <a:ext cx="365760" cy="3657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35024" y="4937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35024" y="5303520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knowledge graph over the governed estate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from an agent answer back to the source table, as standard</a:t>
            </a:r>
            <a:endParaRPr lang="en-US" sz="9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context-quality scoring feeding the evaluation harness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27648" y="1737360"/>
            <a:ext cx="5312664" cy="4041648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26" name="Text 24"/>
          <p:cNvSpPr/>
          <p:nvPr/>
        </p:nvSpPr>
        <p:spPr>
          <a:xfrm>
            <a:off x="6638544" y="1920240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integration: DE.AI IDE ↔ Databricks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38544" y="2231136"/>
            <a:ext cx="4690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work in their own IDE with an agent that sees the governed catalogue — schemas, lineage, ownership and quality signals — instead of guessing at column names.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38544" y="277063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29" name="Text 27"/>
          <p:cNvSpPr/>
          <p:nvPr/>
        </p:nvSpPr>
        <p:spPr>
          <a:xfrm>
            <a:off x="6638544" y="2770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86016" y="27432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IDE and agent extension set; publish a standard developer image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38544" y="313639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2" name="Text 30"/>
          <p:cNvSpPr/>
          <p:nvPr/>
        </p:nvSpPr>
        <p:spPr>
          <a:xfrm>
            <a:off x="6638544" y="3136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86016" y="310896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Databricks MCP server (Unity Catalog + search + functions) in the tool registry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38544" y="3502152"/>
            <a:ext cx="237744" cy="23774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5" name="Text 33"/>
          <p:cNvSpPr/>
          <p:nvPr/>
        </p:nvSpPr>
        <p:spPr>
          <a:xfrm>
            <a:off x="6638544" y="3502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86016" y="34747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OAuth so the IDE agent acts as the signed-in engineer, never a shared service principal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38544" y="386791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38" name="Text 36"/>
          <p:cNvSpPr/>
          <p:nvPr/>
        </p:nvSpPr>
        <p:spPr>
          <a:xfrm>
            <a:off x="6638544" y="3867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86016" y="38404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entitlements: development catalogues by default; production read requires explicit grant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638544" y="423367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544" y="4233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86016" y="42062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IDE's model traffic through the AI gateway; tag spend to the engineering cost centre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38544" y="459943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44" name="Text 42"/>
          <p:cNvSpPr/>
          <p:nvPr/>
        </p:nvSpPr>
        <p:spPr>
          <a:xfrm>
            <a:off x="6638544" y="4599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86016" y="45720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provenance tagging so AI-assisted commits are identifiable in the repository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638544" y="496519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47" name="Text 45"/>
          <p:cNvSpPr/>
          <p:nvPr/>
        </p:nvSpPr>
        <p:spPr>
          <a:xfrm>
            <a:off x="6638544" y="4965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86016" y="493776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trace export to observability — prompts, tool calls and cost per session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38544" y="5330952"/>
            <a:ext cx="237744" cy="237744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0" name="Text 48"/>
          <p:cNvSpPr/>
          <p:nvPr/>
        </p:nvSpPr>
        <p:spPr>
          <a:xfrm>
            <a:off x="6638544" y="5330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986016" y="5303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8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golden-path examples: an ingestion job, a DQ check and a semantic model built with the agent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96188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is the control point. Shared service principals destroy the audit trail — and they are the most common shortcut taken here.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B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Sequence, measures and the ask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by dependency, not by calendar. Each horizon has an explicit exit condition before the next begins.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38251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Corporation  |  AI Division Proposal  |  Confidential — Internal Draft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2578608" cy="2487168"/>
          </a:xfrm>
          <a:prstGeom prst="rect">
            <a:avLst/>
          </a:prstGeom>
          <a:solidFill>
            <a:srgbClr val="0A2240"/>
          </a:solidFill>
          <a:ln w="12700">
            <a:solidFill>
              <a:srgbClr val="0A22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65376"/>
            <a:ext cx="402336" cy="402336"/>
          </a:xfrm>
          <a:prstGeom prst="rect">
            <a:avLst/>
          </a:pr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43584" y="186537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8096" y="2395728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Division and governance forum stood up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readiness assessment complete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extended to models, agents, tools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in front of all model traffic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68096" y="3694176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every model call at Ball is attributable, capped and logged.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2424" y="1700784"/>
            <a:ext cx="257860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1865376"/>
            <a:ext cx="402336" cy="40233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5" name="Text 13"/>
          <p:cNvSpPr/>
          <p:nvPr/>
        </p:nvSpPr>
        <p:spPr>
          <a:xfrm>
            <a:off x="3593592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87368" y="186537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11880" y="2395728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MCP servers over JDE, Databricks, knowledge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function and semantic layer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and evaluation harness introduced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lighthouse agents launched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3694176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 governed agent runs unattended with an owner and an SLA.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36208" y="1700784"/>
            <a:ext cx="257860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37376" y="1865376"/>
            <a:ext cx="402336" cy="40233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1" name="Text 19"/>
          <p:cNvSpPr/>
          <p:nvPr/>
        </p:nvSpPr>
        <p:spPr>
          <a:xfrm>
            <a:off x="6437376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31152" y="186537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55664" y="2395728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Six-server MCP estate complete, incl. SAP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mesh control plane deployed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pods embedded in every spoke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across the SDLC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55664" y="3694176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business teams ship agents without hub engineering in the critical path.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79992" y="1700784"/>
            <a:ext cx="257860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1865376"/>
            <a:ext cx="402336" cy="40233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74936" y="186537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99448" y="2395728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workflows across ERP, plant, commercial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delegation under mesh policy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and regression gating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memory and knowledge reuse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299448" y="3694176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AI is a standing platform capability, not a programme.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division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6656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Charter, mandate and — importantly — the anti-mandate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14016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2542032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42032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gateway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42032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governed egress for all model traffic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279392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4407408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07408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assessment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407408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readiness across the priority domains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44768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6272784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72784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spoke owners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272784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per domain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8010144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8138160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138160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forum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138160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Security, Privacy, Internal Audit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875520" y="4572000"/>
            <a:ext cx="1728216" cy="859536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10003536" y="4663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003536" y="4846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two lighthouses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003536" y="504748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QA regression and ERP master data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8640" y="5541264"/>
            <a:ext cx="11091672" cy="621792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5669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know</a:t>
            </a:r>
            <a:endParaRPr lang="en-US" sz="10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working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621024" y="561441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— gateway share of model traffic  ·  agents registered with a named owner and evaluation set  ·  evaluation pass-rate trend per version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621024" y="57881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— cycle time on lighthouse processes  ·  QA defect-escape rate  ·  ERP master-data error and rework rate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621024" y="596188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measured: use cases launched, licences deployed, employees trained.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48640" y="6217920"/>
            <a:ext cx="11091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or schedule estimates are presented by design — sequencing is expressed as horizons with exit conditions.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Establishing the Ball AI Division</dc:title>
  <dc:subject>PptxGenJS Presentation</dc:subject>
  <dc:creator>PptxGenJS</dc:creator>
  <cp:lastModifiedBy>PptxGenJS</cp:lastModifiedBy>
  <cp:revision>1</cp:revision>
  <dcterms:created xsi:type="dcterms:W3CDTF">2026-08-11T14:25:36Z</dcterms:created>
  <dcterms:modified xsi:type="dcterms:W3CDTF">2026-08-11T14:25:36Z</dcterms:modified>
</cp:coreProperties>
</file>