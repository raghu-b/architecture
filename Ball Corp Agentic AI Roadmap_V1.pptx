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1000720"/>
            <a:ext cx="10972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3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724620"/>
            <a:ext cx="10769600" cy="432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1000720"/>
            <a:ext cx="10972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3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724620"/>
            <a:ext cx="10769600" cy="432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6429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7FB2E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BALL CORPORATION · ENTERPRISE AGENTIC AI ON AZURE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67186"/>
            <a:ext cx="10883392" cy="145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16"/>
              </a:lnSpc>
              <a:buNone/>
            </a:pPr>
            <a:r>
              <a:rPr lang="en-US" sz="5200" b="1" i="0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Implementation roadmap</a:t>
            </a:r>
            <a:endParaRPr lang="en-US" sz="5200" dirty="0"/>
          </a:p>
          <a:p>
            <a:pPr algn="l" indent="0" marL="0">
              <a:lnSpc>
                <a:spcPts val="5616"/>
              </a:lnSpc>
              <a:buNone/>
            </a:pPr>
            <a:r>
              <a:rPr lang="en-US" sz="5200" b="1" i="0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phase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47554"/>
            <a:ext cx="850265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CCA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activities needed to stand up the reference architecture, in three tracks and four phases.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741614"/>
            <a:ext cx="2064941" cy="452090"/>
          </a:xfrm>
          <a:prstGeom prst="roundRect">
            <a:avLst>
              <a:gd name="adj" fmla="val 16855"/>
            </a:avLst>
          </a:prstGeom>
          <a:solidFill>
            <a:srgbClr val="1F3A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AI platform 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30141" y="4741614"/>
            <a:ext cx="2060873" cy="452090"/>
          </a:xfrm>
          <a:prstGeom prst="roundRect">
            <a:avLst>
              <a:gd name="adj" fmla="val 16855"/>
            </a:avLst>
          </a:prstGeom>
          <a:solidFill>
            <a:srgbClr val="1F3A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AI data readiness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43413" y="4741614"/>
            <a:ext cx="1646386" cy="452090"/>
          </a:xfrm>
          <a:prstGeom prst="roundRect">
            <a:avLst>
              <a:gd name="adj" fmla="val 16855"/>
            </a:avLst>
          </a:prstGeom>
          <a:solidFill>
            <a:srgbClr val="1F3A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AI use cases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112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1 OF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000720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3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platform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9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6" name="Text 4"/>
          <p:cNvSpPr/>
          <p:nvPr/>
        </p:nvSpPr>
        <p:spPr>
          <a:xfrm>
            <a:off x="7683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3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7156" y="2558951"/>
            <a:ext cx="2274316" cy="279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landing zone, subscriptions, VNets, private endpoints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ID SSO, MFA / PIM, conditional access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RBAC / ABAC roles and fine-grained permissions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Vault, TDE / TLS encryption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 Door + API Management gateway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/ Bicep IaC, GitHub Actions CI/CD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ACR, AKS and Container Apps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40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72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5496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96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AI build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48456" y="2558951"/>
            <a:ext cx="2274316" cy="260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Foundry hub and projects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gateway / model router: Azure OpenAI, Anthropic, Gemini, self-hosted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orchestrator: Foundry Agent Service, Semantic Kernel, LangGraph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 layer: working, conversation, long-term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library, templates, versioning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 Safety and Prompt Shields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53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85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309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09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9756" y="2558951"/>
            <a:ext cx="2274316" cy="240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Redis semantic, embedding and response caches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Bus, Event Grid, Durable Functions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and MCP registry with permissions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Human-in-the-loop review and escalation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 panel: agent registry, users, policies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Tracing in Azure Monitor and App Insights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66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98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91122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122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11056" y="2558951"/>
            <a:ext cx="2274316" cy="240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Evaluation: AI eval SDK, RAGAS, hallucination checks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usage tracking and budgets per agent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A/B testing of prompts and models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Backup, DR, point-in-time recovery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SLO alerting to Teams / PagerDuty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On-prem MES gateway, plant to cloud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112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2 OF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000720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3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data readiness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9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6" name="Text 4"/>
          <p:cNvSpPr/>
          <p:nvPr/>
        </p:nvSpPr>
        <p:spPr>
          <a:xfrm>
            <a:off x="7683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3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7156" y="2558951"/>
            <a:ext cx="2274316" cy="240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 sources: SAP S/4HANA, MES, AVEVA PI, SharePoint, Coupa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Classify data and tag PII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data owners and stewards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ADLS Gen2 / Blob storage tiers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Azure SQL, PostgreSQL + pgvector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Catalog and lineage baseline in Purview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40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72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5496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96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48456" y="2558951"/>
            <a:ext cx="2274316" cy="240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Pipelines from SAP, MES and file shares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 ingestion: OCR, parsing, chunking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 models: text-embedding-3, Cohere, BGE / E5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 index in Azure AI Search (vector + BM25 + ranker)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quality validation rules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Fabric / OneLake for analytics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53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85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309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09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Enrich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9756" y="2558951"/>
            <a:ext cx="2274316" cy="240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Knowledge graph: Cosmos DB Gremlin, GraphRAG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Entity extraction and relationship linking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 Hubs streaming of plant telemetry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memory indexes per domain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 and document-level security on indexes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Golden test sets for evaluation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66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98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91122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122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Sustain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11056" y="2558951"/>
            <a:ext cx="2274316" cy="2006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re-indexing and freshness checks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lineage in Purview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Retention and archive policies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index and storage backups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drift monitoring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 new plants and regions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112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3 OF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000720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3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9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6" name="Text 4"/>
          <p:cNvSpPr/>
          <p:nvPr/>
        </p:nvSpPr>
        <p:spPr>
          <a:xfrm>
            <a:off x="7683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3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7156" y="2558951"/>
            <a:ext cx="2274316" cy="2204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use-case backlog with plant and business owners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Rank by value and data readiness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success KPIs and baselines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pilots: Analyst agent, Spec agent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 approval rules per use case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Responsible-AI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40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72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5496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96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48456" y="2558951"/>
            <a:ext cx="2274316" cy="1808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Analyst agent: plain-English questions over Fabric / SQL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 agent: RAG over specs and SOPs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 in Teams / Copilot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 at one or two plants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 user feedback and evaluations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/ no-go against KPIs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53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85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309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09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Expand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9756" y="2558951"/>
            <a:ext cx="2274316" cy="2204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Maintenance agent: AVEVA PI signals + work orders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agent: defect and SPC triage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Supply agent: SAP / Coupa supply risk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Planner agent coordinating other agents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Plant Ops web and mobile apps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 out to more plants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6675" y="1676995"/>
            <a:ext cx="2622550" cy="4415830"/>
          </a:xfrm>
          <a:prstGeom prst="roundRect">
            <a:avLst>
              <a:gd name="adj" fmla="val 2785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9850" y="1680170"/>
            <a:ext cx="2616200" cy="726380"/>
          </a:xfrm>
          <a:custGeom>
            <a:avLst/>
            <a:gdLst/>
            <a:ahLst/>
            <a:cxnLst/>
            <a:rect l="l" t="t" r="r" b="b"/>
            <a:pathLst>
              <a:path w="2616200" h="726380">
                <a:moveTo>
                  <a:pt x="0" y="69850"/>
                </a:moveTo>
                <a:arcTo hR="69850" wR="69850" stAng="10800000" swAng="5400000"/>
                <a:lnTo>
                  <a:pt x="2546350" y="0"/>
                </a:lnTo>
                <a:arcTo hR="69850" wR="69850" stAng="16200000" swAng="5400000"/>
                <a:lnTo>
                  <a:pt x="2616200" y="726380"/>
                </a:lnTo>
                <a:lnTo>
                  <a:pt x="0" y="72638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9112250" y="1807170"/>
            <a:ext cx="2380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12250" y="2045891"/>
            <a:ext cx="23807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Industrialize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11056" y="2558951"/>
            <a:ext cx="2274316" cy="2204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Sustainability agent: energy and carbon reporting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Partner APIs for customers and suppliers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 write-back actions into SAP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Reusable agent templates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Adoption tracking and change management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Retire or refresh low-value agents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112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OPERATING MODEL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1000720"/>
            <a:ext cx="1130198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3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activities and deliverables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775" y="1676995"/>
            <a:ext cx="3549650" cy="4415830"/>
          </a:xfrm>
          <a:prstGeom prst="roundRect">
            <a:avLst>
              <a:gd name="adj" fmla="val 2057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5950" y="1680170"/>
            <a:ext cx="3543300" cy="711150"/>
          </a:xfrm>
          <a:custGeom>
            <a:avLst/>
            <a:gdLst/>
            <a:ahLst/>
            <a:cxnLst/>
            <a:rect l="l" t="t" r="r" b="b"/>
            <a:pathLst>
              <a:path w="3543300" h="711150">
                <a:moveTo>
                  <a:pt x="0" y="69850"/>
                </a:moveTo>
                <a:arcTo hR="69850" wR="69850" stAng="10800000" swAng="5400000"/>
                <a:lnTo>
                  <a:pt x="3473450" y="0"/>
                </a:lnTo>
                <a:arcTo hR="69850" wR="69850" stAng="16200000" swAng="5400000"/>
                <a:lnTo>
                  <a:pt x="3543300" y="711150"/>
                </a:lnTo>
                <a:lnTo>
                  <a:pt x="0" y="71115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6" name="Text 4"/>
          <p:cNvSpPr/>
          <p:nvPr/>
        </p:nvSpPr>
        <p:spPr>
          <a:xfrm>
            <a:off x="768350" y="1807170"/>
            <a:ext cx="3335655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Engineering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350" y="2066230"/>
            <a:ext cx="333565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Builds and runs the Azure 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350" y="2543721"/>
            <a:ext cx="333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7156" y="2833241"/>
            <a:ext cx="3229229" cy="1213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Landing zone, networking, private endpoints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ID, RBAC, Key Vault, encryption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Management and AI gateway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AKS / Container Apps, IaC, CI/CD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Monitoring, backup and DR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350" y="4097982"/>
            <a:ext cx="333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7156" y="4387503"/>
            <a:ext cx="3229229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Azure landing zone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/ Bicep modules and pipelines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Gateway with quotas and routing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Runbooks, dashboards, DR plan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1175" y="1676995"/>
            <a:ext cx="3549650" cy="4415830"/>
          </a:xfrm>
          <a:prstGeom prst="roundRect">
            <a:avLst>
              <a:gd name="adj" fmla="val 2057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4350" y="1680170"/>
            <a:ext cx="3543300" cy="711150"/>
          </a:xfrm>
          <a:custGeom>
            <a:avLst/>
            <a:gdLst/>
            <a:ahLst/>
            <a:cxnLst/>
            <a:rect l="l" t="t" r="r" b="b"/>
            <a:pathLst>
              <a:path w="3543300" h="711150">
                <a:moveTo>
                  <a:pt x="0" y="69850"/>
                </a:moveTo>
                <a:arcTo hR="69850" wR="69850" stAng="10800000" swAng="5400000"/>
                <a:lnTo>
                  <a:pt x="3473450" y="0"/>
                </a:lnTo>
                <a:arcTo hR="69850" wR="69850" stAng="16200000" swAng="5400000"/>
                <a:lnTo>
                  <a:pt x="3543300" y="711150"/>
                </a:lnTo>
                <a:lnTo>
                  <a:pt x="0" y="71115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476750" y="1807170"/>
            <a:ext cx="3335655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Foundry team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76750" y="2066230"/>
            <a:ext cx="333565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Owns AI Foundry and shared AI 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76750" y="2543721"/>
            <a:ext cx="333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5556" y="2833241"/>
            <a:ext cx="3229229" cy="1015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Foundry hub, projects, model catalog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orchestration, memory, MCP tools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 pipeline, embeddings, AI Search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library, Content Safety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Evaluation, tracing, usage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76750" y="3899892"/>
            <a:ext cx="333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5556" y="4189413"/>
            <a:ext cx="3229229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 model catalog and router rules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Reusable agent and RAG templates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tool registry with permissions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 suite and quality gates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29575" y="1676995"/>
            <a:ext cx="3549650" cy="4415830"/>
          </a:xfrm>
          <a:prstGeom prst="roundRect">
            <a:avLst>
              <a:gd name="adj" fmla="val 2057"/>
            </a:avLst>
          </a:prstGeom>
          <a:solidFill>
            <a:srgbClr val="FDFDFB"/>
          </a:solidFill>
          <a:ln w="6350">
            <a:solidFill>
              <a:srgbClr val="D6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2750" y="1680170"/>
            <a:ext cx="3543300" cy="711150"/>
          </a:xfrm>
          <a:custGeom>
            <a:avLst/>
            <a:gdLst/>
            <a:ahLst/>
            <a:cxnLst/>
            <a:rect l="l" t="t" r="r" b="b"/>
            <a:pathLst>
              <a:path w="3543300" h="711150">
                <a:moveTo>
                  <a:pt x="0" y="69850"/>
                </a:moveTo>
                <a:arcTo hR="69850" wR="69850" stAng="10800000" swAng="5400000"/>
                <a:lnTo>
                  <a:pt x="3473450" y="0"/>
                </a:lnTo>
                <a:arcTo hR="69850" wR="69850" stAng="16200000" swAng="5400000"/>
                <a:lnTo>
                  <a:pt x="3543300" y="711150"/>
                </a:lnTo>
                <a:lnTo>
                  <a:pt x="0" y="711150"/>
                </a:lnTo>
                <a:close/>
              </a:path>
            </a:pathLst>
          </a:custGeom>
          <a:solidFill>
            <a:srgbClr val="1F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8185150" y="1807170"/>
            <a:ext cx="3335655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4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Factory team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85150" y="2066230"/>
            <a:ext cx="333565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CC3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Delivers use cases with the plants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5150" y="2543721"/>
            <a:ext cx="333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83956" y="2833241"/>
            <a:ext cx="3229229" cy="1015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Gather use cases with plant owners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agents from Foundry templates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SAP, MES, AVEVA PI data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plant pilots and user testing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users, drive adoption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85150" y="3899892"/>
            <a:ext cx="33356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F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83956" y="4189413"/>
            <a:ext cx="3229229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Prioritized use-case backlog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agents in Teams and apps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KPI results per pilot and plant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3B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Rollout playbook for new plants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ll Corp Agentic AI Roadmap">
  <a:themeElements>
    <a:clrScheme name="Ball Corp Agentic AI Roadmap">
      <a:dk1>
        <a:srgbClr val="13243B"/>
      </a:dk1>
      <a:lt1>
        <a:srgbClr val="F4F5F1"/>
      </a:lt1>
      <a:dk2>
        <a:srgbClr val="4B5869"/>
      </a:dk2>
      <a:lt2>
        <a:srgbClr val="DEE0DF"/>
      </a:lt2>
      <a:accent1>
        <a:srgbClr val="1F3A5C"/>
      </a:accent1>
      <a:accent2>
        <a:srgbClr val="9CC3EB"/>
      </a:accent2>
      <a:accent3>
        <a:srgbClr val="2F6FB3"/>
      </a:accent3>
      <a:accent4>
        <a:srgbClr val="7FB2E5"/>
      </a:accent4>
      <a:accent5>
        <a:srgbClr val="3B4A5C"/>
      </a:accent5>
      <a:accent6>
        <a:srgbClr val="BCCADB"/>
      </a:accent6>
      <a:hlink>
        <a:srgbClr val="0563C1"/>
      </a:hlink>
      <a:folHlink>
        <a:srgbClr val="954F72"/>
      </a:folHlink>
    </a:clrScheme>
    <a:fontScheme name="Ball Corp Agentic AI Roadmap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 Corp Agentic AI Roadmap</dc:title>
  <dc:subject/>
  <dc:creator/>
  <cp:lastModifiedBy/>
  <cp:revision>1</cp:revision>
  <dcterms:created xsi:type="dcterms:W3CDTF">2026-10-19T19:12:34Z</dcterms:created>
  <dcterms:modified xsi:type="dcterms:W3CDTF">2026-10-19T19:12:34Z</dcterms:modified>
</cp:coreProperties>
</file>