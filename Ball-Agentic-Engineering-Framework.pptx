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column is the one to dwell on: inheritance and the cascade are what stop this being a document nobody reads. The navy band exists to pre-empt 'why this format' — AGENTS.md is a Linux Foundation standard with 60k+ repos, not something we invented. Note the Claude Code nuance: it reads CLAUDE.md, not AGENTS.md, so the documented pattern is CLAUDE.md importing AGENTS.md.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slide exists to make one argument: the gate is a property of the tier, not of the person asking. That is what makes governance defensible and also what stops T4 experiments being strangled. Expect pushback on T5 change-freeze — hold it, with the exception path as the release valve.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bottom-left box verbatim if Internal Audit is present. The agent never approves its own gate and never writes to a system of record except through a permissioned, logged path. The artifact row is the answer to 'how will we evidence this at audit'.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land: KPI definitions are deliberately anti-vanity — AI-assisted PR rate is an adoption signal, not a target to maximise. And the amber block is a request for eight owners and eight dates, not a status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rulebook, one registry, one context store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rulebook contains, who governs it, and how a released version reaches every repository without anyone re-typing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57530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00784"/>
            <a:ext cx="357530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36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contains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24048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 rules — what must be true before something ships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" y="27066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28620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golden-path scaffolds so the compliant route is the fast route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" y="31638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33192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of record for agents, MCP servers, skills and tools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" y="36210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37764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semantics, domain context packs and shared memory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" y="40782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42336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worked examples that make the standard usable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4535424"/>
            <a:ext cx="3099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46908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 for every standard and every tier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06824" y="1700784"/>
            <a:ext cx="357530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6824" y="1700784"/>
            <a:ext cx="357530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4" name="Text 22"/>
          <p:cNvSpPr/>
          <p:nvPr/>
        </p:nvSpPr>
        <p:spPr>
          <a:xfrm>
            <a:off x="4544568" y="18836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governed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44568" y="223113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Council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44568" y="245059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Legal, Security, Privacy, Internal Audit and the system owners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to ratify standards, cut releases and grant time-boxed exceptions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move by RFC → review → release, not by email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44568" y="3346704"/>
            <a:ext cx="3099816" cy="9144"/>
          </a:xfrm>
          <a:prstGeom prst="rect">
            <a:avLst/>
          </a:prstGeom>
          <a:solidFill>
            <a:srgbClr val="D3DCE6"/>
          </a:solidFill>
          <a:ln/>
        </p:spPr>
      </p:sp>
      <p:sp>
        <p:nvSpPr>
          <p:cNvPr id="28" name="Text 26"/>
          <p:cNvSpPr/>
          <p:nvPr/>
        </p:nvSpPr>
        <p:spPr>
          <a:xfrm>
            <a:off x="4544568" y="343814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releases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44568" y="3675888"/>
            <a:ext cx="749808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544568" y="36758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85816" y="367588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— dependents must re-certify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44568" y="4078224"/>
            <a:ext cx="749808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544568" y="40782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7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85816" y="407822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— adopt at the next cycle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44568" y="4480560"/>
            <a:ext cx="749808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544568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85816" y="448056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— auto-adopts everywhere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44568" y="471830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nobody can version is a standard nobody can adopt.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65008" y="1700784"/>
            <a:ext cx="357530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1700784"/>
            <a:ext cx="357530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41" name="Text 39"/>
          <p:cNvSpPr/>
          <p:nvPr/>
        </p:nvSpPr>
        <p:spPr>
          <a:xfrm>
            <a:off x="8302752" y="18836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reaches the work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02752" y="226771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02752" y="2450592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inherits its tier's standard set automatically — no opt-in step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02752" y="292608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02752" y="310896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as the shared source of truth; CLAUDE.md as a thin Claude-specific layer that imports 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02752" y="358444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skills, hooks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02752" y="3767328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with the standard release, versioned with it, updated by 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02752" y="424281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02752" y="4425696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registered, time-boxed and visible — an exception with no expiry is a silent fork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5175504"/>
            <a:ext cx="11091672" cy="786384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285232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 IS THE INDUSTRY DEFAULT, NOT A BALL INVENTION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" y="5504688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is an open standard now stewarded by the Linux Foundation's Agentic AI Foundation and read by 60,000+ repositories across Codex, Cursor, Copilot, Gemini CLI, Aider and others. Claude Code keeps its own CLAUDE.md convention and does not read AGENTS.md directly — the documented pattern is AGENTS.md as source of truth with CLAUDE.md importing it. MCP was donated to the same foundation in December 2025.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0533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the open cascade rather than inventing a Ball-only format means new tools work on day one and leaving a tool costs nothing.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tier model — rigour proportional to blast radius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a change lands in decides the gate it must pass. Not urgency, not seniority, not who is asking.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097280" cy="310896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007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00784" y="1700784"/>
            <a:ext cx="2907792" cy="310896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70078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here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00784"/>
            <a:ext cx="2139696" cy="310896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7007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700784"/>
            <a:ext cx="4782312" cy="310896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1700784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048256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2048256"/>
            <a:ext cx="290779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048256"/>
            <a:ext cx="21396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048256"/>
            <a:ext cx="4782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048256"/>
            <a:ext cx="384048" cy="5120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04825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04825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10512" y="204825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itself, shared standards, base images, the AGENTS.md cascade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0482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downstream, every tier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67728" y="204825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ratification · SemVer MAJOR review · dependents re-certify before release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596896"/>
            <a:ext cx="10972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00784" y="2596896"/>
            <a:ext cx="29077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596896"/>
            <a:ext cx="2139696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2596896"/>
            <a:ext cx="478231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596896"/>
            <a:ext cx="384048" cy="5120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59689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59689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Services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10512" y="259689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MCP registry, identity, observability, evaluation harness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259689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and platform team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67728" y="259689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review · ADR required · staged rollout with rollback plan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145536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00784" y="3145536"/>
            <a:ext cx="290779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145536"/>
            <a:ext cx="21396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3145536"/>
            <a:ext cx="4782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3145536"/>
            <a:ext cx="384048" cy="5120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14553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7552" y="314553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810512" y="314553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orchestration, data platform, the MCP server estate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31455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workloads running on 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67728" y="314553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approval · ADR · evaluation gate before promotion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694176"/>
            <a:ext cx="10972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00784" y="3694176"/>
            <a:ext cx="29077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694176"/>
            <a:ext cx="2139696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3694176"/>
            <a:ext cx="478231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3694176"/>
            <a:ext cx="384048" cy="512064"/>
          </a:xfrm>
          <a:prstGeom prst="rect">
            <a:avLst/>
          </a:prstGeom>
          <a:solidFill>
            <a:srgbClr val="5B8DBE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69417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87552" y="369417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10512" y="369417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agents and applications owned by a domain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36941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or process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67728" y="369417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 approval · standard evaluation suite · named production owner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4242816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00784" y="4242816"/>
            <a:ext cx="290779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242816"/>
            <a:ext cx="21396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0" y="4242816"/>
            <a:ext cx="47823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4242816"/>
            <a:ext cx="384048" cy="512064"/>
          </a:xfrm>
          <a:prstGeom prst="rect">
            <a:avLst/>
          </a:prstGeom>
          <a:solidFill>
            <a:srgbClr val="5B8DBE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24281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87552" y="42428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810512" y="424281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Experiments, spikes and prototypes exploring what is possible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73168" y="42428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— non-production by definition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67728" y="424281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Lightweight: register it, sandbox it, give it an expiry date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4791456"/>
            <a:ext cx="10972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00784" y="4791456"/>
            <a:ext cx="29077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63440" y="4791456"/>
            <a:ext cx="2139696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4791456"/>
            <a:ext cx="478231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791456"/>
            <a:ext cx="384048" cy="512064"/>
          </a:xfrm>
          <a:prstGeom prst="rect">
            <a:avLst/>
          </a:prstGeom>
          <a:solidFill>
            <a:srgbClr val="97A6B5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479145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87552" y="479145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810512" y="479145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estate under managed decline, awaiting replacement or retirement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773168" y="47914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but brittle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67728" y="4791456"/>
            <a:ext cx="4562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freeze by default · exceptions logged with a retirement date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48640" y="5431536"/>
            <a:ext cx="5449824" cy="56692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76" name="Text 74"/>
          <p:cNvSpPr/>
          <p:nvPr/>
        </p:nvSpPr>
        <p:spPr>
          <a:xfrm>
            <a:off x="786384" y="55046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flow down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86384" y="5705856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T0 decision binds T1–T5. Lower tiers cannot weaken it, only request an exception.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90488" y="5431536"/>
            <a:ext cx="5449824" cy="56692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79" name="Text 77"/>
          <p:cNvSpPr/>
          <p:nvPr/>
        </p:nvSpPr>
        <p:spPr>
          <a:xfrm>
            <a:off x="6428232" y="55046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flows up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428232" y="5705856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T3 product consumes T2 and T1 services rather than rebuilding them. Reuse is the default path.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48640" y="60899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this prevents: uniform heavy governance that slows experiments to a stop, or uniform light governance that lets a foundation change break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 — and the evidence it produces by default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with a human gate and a required artifact. Evidence is a by-product of the process, not a separate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22576" y="1700784"/>
            <a:ext cx="82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accepted and tier assigned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record · tier assignment · named owner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04872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2404872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78808" y="1700784"/>
            <a:ext cx="82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04872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2888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approved to proceed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04872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2888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— the approach chosen and the ones rejected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61104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4261104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1700784"/>
            <a:ext cx="82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61104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89120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passed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61104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89120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entry · AGENTS.md + CLAUDE.md · evaluation set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17336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5" name="Text 33"/>
          <p:cNvSpPr/>
          <p:nvPr/>
        </p:nvSpPr>
        <p:spPr>
          <a:xfrm>
            <a:off x="6117336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91272" y="1700784"/>
            <a:ext cx="82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17336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45352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pass and security 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7336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45352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results · threat model · runbook · rollback plan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73568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7973568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47504" y="1700784"/>
            <a:ext cx="82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973568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01584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101584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approval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973568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01584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01584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· production owner · observability and cost wiring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829800" y="1700784"/>
            <a:ext cx="1773936" cy="42062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53" name="Text 51"/>
          <p:cNvSpPr/>
          <p:nvPr/>
        </p:nvSpPr>
        <p:spPr>
          <a:xfrm>
            <a:off x="9829800" y="170078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29800" y="2212848"/>
            <a:ext cx="1773936" cy="1225296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57816" y="23225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957816" y="2505456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re-certification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829800" y="3529584"/>
            <a:ext cx="1773936" cy="1225296"/>
          </a:xfrm>
          <a:prstGeom prst="rect">
            <a:avLst/>
          </a:prstGeom>
          <a:solidFill>
            <a:srgbClr val="0D2C55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57816" y="3639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PRODUCED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957816" y="3822192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report · audit evidence · retirement plan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4937760"/>
            <a:ext cx="5449824" cy="10607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61" name="Text 59"/>
          <p:cNvSpPr/>
          <p:nvPr/>
        </p:nvSpPr>
        <p:spPr>
          <a:xfrm>
            <a:off x="786384" y="5065776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own the gates. Agents execute within the guardrails.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86384" y="5321808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may plan, draft, test and prepare a change at any stage. It never approves its own passage through a gate, and it never writes to a system of record except through a deterministic, permissioned, logged path.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90488" y="4937760"/>
            <a:ext cx="5449824" cy="10607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64" name="Text 62"/>
          <p:cNvSpPr/>
          <p:nvPr/>
        </p:nvSpPr>
        <p:spPr>
          <a:xfrm>
            <a:off x="6428232" y="5065776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enforcement surface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6428232" y="534009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MCP Registry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64424" y="5340096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registered, versioned, permission-scoped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28232" y="55412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964424" y="554126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applied at the gateway boundary, not per application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28232" y="57424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964424" y="574243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at Harden and the re-certification at Govern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" y="607161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evidence has to be assembled afterwards, it will be assembled badly. This lifecycle produces it as a side-effect of doing the work.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  · 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Maturity, measurement and the decisions still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domains scored per tier, four KPIs with explicit definitions, and eight standards that currently have no owner.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54864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00784"/>
            <a:ext cx="548640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366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domains — what 'good' means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31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47088" y="223113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gets the right information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85616" y="2231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 · context-pack coverage per domain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2615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47088" y="2615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prompts and tools follow the standard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85616" y="2615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lint pass rate against the current release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6384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47088" y="29992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present and demonstrably effective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85616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blocked-event rate · incidents · exception count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47088" y="33832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human review close the loop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85616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coverage · time from finding to fix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" y="37673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47088" y="37673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rather than rebuild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85616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reuse rate · duplicate-capability count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27648" y="1700784"/>
            <a:ext cx="5312664" cy="254203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1700784"/>
            <a:ext cx="531266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18836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— definitions, not slogans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65392" y="22311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36992" y="2231136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the five domains, scored per tier and per domain — a T0 standard and a T4 spike are not held to the same bar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65392" y="272491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uplift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36992" y="2724912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for the same class of work against the pre-agent baseline, not raw output volume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65392" y="32186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36992" y="3218688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merged change carrying agent provenance — an adoption signal, deliberately not a target to maximise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65392" y="37124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drift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36992" y="3712464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what a repository runs and the current standard release, in SemVer steps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4443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· Explain · Observe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6384" y="46451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what is repeatable  ·  explain every automated decision  ·  observe the result — the three are only useful together.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35040" y="4443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Git + ITSM + CMDB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35040" y="464515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· the change and its provenance · the approval and release · the system it touches. Traceability end to end.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047488"/>
            <a:ext cx="11091672" cy="1024128"/>
          </a:xfrm>
          <a:prstGeom prst="rect">
            <a:avLst/>
          </a:prstGeom>
          <a:solidFill>
            <a:srgbClr val="FDF4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5138928"/>
            <a:ext cx="1061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BE DECIDED — eight standards with no current owner. Each needs a Council owner and a decide-by date.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6384" y="5376672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38581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Plane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77824" y="5522976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discover and delegate to each other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456432" y="5376672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538581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Knowledge Graph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47872" y="5522976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entity model agents reason over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26480" y="5376672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538581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standard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5522976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egress contract for model traffic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796528" y="5376672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87968" y="538581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standard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887968" y="5522976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schema, retention and cost attribution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86384" y="5705856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" y="571500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lifecycle standard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7824" y="5852160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version, deprecate and retire a server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456432" y="5705856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47872" y="571500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maturity targets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47872" y="5852160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each tier must reach, and by when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26480" y="5705856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571500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host strategy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17920" y="5852160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cascade is published and enforced from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796528" y="5705856"/>
            <a:ext cx="2523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87968" y="571500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enforcement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87968" y="5852160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gates stop being advisory and start blocking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48640" y="612648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these stay open, teams ship their own answer — and each one becomes drift the Council later has to unwind.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Engineering — the operating framework</dc:title>
  <dc:subject>PptxGenJS Presentation</dc:subject>
  <dc:creator>PptxGenJS</dc:creator>
  <cp:lastModifiedBy>PptxGenJS</cp:lastModifiedBy>
  <cp:revision>1</cp:revision>
  <dcterms:created xsi:type="dcterms:W3CDTF">2026-08-11T15:47:42Z</dcterms:created>
  <dcterms:modified xsi:type="dcterms:W3CDTF">2026-08-11T15:47:42Z</dcterms:modified>
</cp:coreProperties>
</file>