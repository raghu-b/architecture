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2.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256" r:id="rId2"/>
    <p:sldId id="257" r:id="rId3"/>
    <p:sldId id="259" r:id="rId4"/>
    <p:sldId id="260" r:id="rId5"/>
    <p:sldId id="261" r:id="rId6"/>
    <p:sldId id="263" r:id="rId7"/>
    <p:sldId id="264" r:id="rId8"/>
    <p:sldId id="265" r:id="rId9"/>
    <p:sldId id="266" r:id="rId10"/>
    <p:sldId id="267" r:id="rId11"/>
    <p:sldId id="268" r:id="rId12"/>
    <p:sldId id="269" r:id="rId13"/>
    <p:sldId id="270" r:id="rId14"/>
    <p:sldId id="271" r:id="rId15"/>
    <p:sldId id="303" r:id="rId16"/>
    <p:sldId id="305" r:id="rId17"/>
    <p:sldId id="304" r:id="rId18"/>
    <p:sldId id="272" r:id="rId19"/>
    <p:sldId id="273" r:id="rId20"/>
    <p:sldId id="302" r:id="rId21"/>
    <p:sldId id="274" r:id="rId22"/>
    <p:sldId id="275" r:id="rId23"/>
    <p:sldId id="276" r:id="rId24"/>
    <p:sldId id="277" r:id="rId25"/>
    <p:sldId id="278" r:id="rId26"/>
    <p:sldId id="279" r:id="rId27"/>
    <p:sldId id="280" r:id="rId28"/>
    <p:sldId id="281" r:id="rId29"/>
    <p:sldId id="298" r:id="rId30"/>
    <p:sldId id="282" r:id="rId31"/>
    <p:sldId id="299" r:id="rId32"/>
    <p:sldId id="300" r:id="rId33"/>
    <p:sldId id="301"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52"/>
    <p:restoredTop sz="94610"/>
  </p:normalViewPr>
  <p:slideViewPr>
    <p:cSldViewPr snapToGrid="0" snapToObjects="1">
      <p:cViewPr varScale="1">
        <p:scale>
          <a:sx n="160" d="100"/>
          <a:sy n="160" d="100"/>
        </p:scale>
        <p:origin x="53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Share of organisations</c:v>
                </c:pt>
              </c:strCache>
            </c:strRef>
          </c:tx>
          <c:spPr>
            <a:solidFill>
              <a:srgbClr val="1B6CA8"/>
            </a:solidFill>
            <a:effectLst/>
          </c:spPr>
          <c:invertIfNegative val="0"/>
          <c:dLbls>
            <c:numFmt formatCode="0&quot;%&quot;" sourceLinked="0"/>
            <c:spPr>
              <a:noFill/>
              <a:ln>
                <a:noFill/>
              </a:ln>
              <a:effectLst/>
            </c:spPr>
            <c:txPr>
              <a:bodyPr/>
              <a:lstStyle/>
              <a:p>
                <a:pPr>
                  <a:defRPr sz="1300" b="1" i="0" u="none" strike="noStrike">
                    <a:solidFill>
                      <a:srgbClr val="0A224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Enterprise AI teams
with MCP-backed
agents in production</c:v>
                </c:pt>
                <c:pt idx="1">
                  <c:v>Fortune 500
running
MCP servers</c:v>
                </c:pt>
                <c:pt idx="2">
                  <c:v>Enterprise apps
projected to embed
agents by end-2026</c:v>
                </c:pt>
                <c:pt idx="3">
                  <c:v>Organisations with
agentic AI
in production</c:v>
                </c:pt>
              </c:strCache>
            </c:strRef>
          </c:cat>
          <c:val>
            <c:numRef>
              <c:f>Sheet1!$B$2:$B$5</c:f>
              <c:numCache>
                <c:formatCode>General</c:formatCode>
                <c:ptCount val="4"/>
                <c:pt idx="0">
                  <c:v>78</c:v>
                </c:pt>
                <c:pt idx="1">
                  <c:v>28</c:v>
                </c:pt>
                <c:pt idx="2">
                  <c:v>40</c:v>
                </c:pt>
                <c:pt idx="3">
                  <c:v>8</c:v>
                </c:pt>
              </c:numCache>
            </c:numRef>
          </c:val>
          <c:extLst>
            <c:ext xmlns:c16="http://schemas.microsoft.com/office/drawing/2014/chart" uri="{C3380CC4-5D6E-409C-BE32-E72D297353CC}">
              <c16:uniqueId val="{00000000-6A0D-9048-A412-339AEE46557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5A6B7B"/>
                </a:solidFill>
                <a:latin typeface="Calibri"/>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12700" cap="flat">
              <a:solidFill>
                <a:srgbClr val="E4EB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B7B"/>
                </a:solidFill>
                <a:latin typeface="Arial"/>
              </a:defRPr>
            </a:pPr>
            <a:endParaRPr lang="en-US"/>
          </a:p>
        </c:txPr>
        <c:crossAx val="2094734554"/>
        <c:crosses val="autoZero"/>
        <c:crossBetween val="between"/>
        <c:majorUnit val="25"/>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A2240"/>
                </a:solidFill>
                <a:latin typeface="Calibri"/>
              </a:defRPr>
            </a:pPr>
            <a:r>
              <a:rPr lang="en-US" sz="1300" b="0" i="0" u="none" strike="noStrike">
                <a:solidFill>
                  <a:srgbClr val="0A2240"/>
                </a:solidFill>
                <a:latin typeface="Calibri"/>
              </a:rPr>
              <a:t>Market demand for FDEs</a:t>
            </a:r>
          </a:p>
        </c:rich>
      </c:tx>
      <c:overlay val="0"/>
    </c:title>
    <c:autoTitleDeleted val="0"/>
    <c:plotArea>
      <c:layout/>
      <c:barChart>
        <c:barDir val="col"/>
        <c:grouping val="clustered"/>
        <c:varyColors val="0"/>
        <c:ser>
          <c:idx val="0"/>
          <c:order val="0"/>
          <c:tx>
            <c:strRef>
              <c:f>Sheet1!$B$1</c:f>
              <c:strCache>
                <c:ptCount val="1"/>
                <c:pt idx="0">
                  <c:v>FDE job postings</c:v>
                </c:pt>
              </c:strCache>
            </c:strRef>
          </c:tx>
          <c:spPr>
            <a:solidFill>
              <a:srgbClr val="1B6CA8"/>
            </a:solidFill>
            <a:effectLst/>
          </c:spPr>
          <c:invertIfNegative val="0"/>
          <c:dLbls>
            <c:numFmt formatCode="#,##0" sourceLinked="0"/>
            <c:spPr>
              <a:noFill/>
              <a:ln>
                <a:noFill/>
              </a:ln>
              <a:effectLst/>
            </c:spPr>
            <c:txPr>
              <a:bodyPr/>
              <a:lstStyle/>
              <a:p>
                <a:pPr>
                  <a:defRPr sz="1200" b="1" i="0" u="none" strike="noStrike">
                    <a:solidFill>
                      <a:srgbClr val="0A224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April 2025</c:v>
                </c:pt>
                <c:pt idx="1">
                  <c:v>April 2026</c:v>
                </c:pt>
              </c:strCache>
            </c:strRef>
          </c:cat>
          <c:val>
            <c:numRef>
              <c:f>Sheet1!$B$2:$B$3</c:f>
              <c:numCache>
                <c:formatCode>General</c:formatCode>
                <c:ptCount val="2"/>
                <c:pt idx="0">
                  <c:v>643</c:v>
                </c:pt>
                <c:pt idx="1">
                  <c:v>5330</c:v>
                </c:pt>
              </c:numCache>
            </c:numRef>
          </c:val>
          <c:extLst>
            <c:ext xmlns:c16="http://schemas.microsoft.com/office/drawing/2014/chart" uri="{C3380CC4-5D6E-409C-BE32-E72D297353CC}">
              <c16:uniqueId val="{00000000-82A2-1D4B-A6F2-179B6E976D39}"/>
            </c:ext>
          </c:extLst>
        </c:ser>
        <c:dLbls>
          <c:showLegendKey val="0"/>
          <c:showVal val="1"/>
          <c:showCatName val="0"/>
          <c:showSerName val="0"/>
          <c:showPercent val="0"/>
          <c:showBubbleSize val="0"/>
        </c:dLbls>
        <c:gapWidth val="9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B7B"/>
                </a:solidFill>
                <a:latin typeface="Arial"/>
              </a:defRPr>
            </a:pPr>
            <a:endParaRPr lang="en-US"/>
          </a:p>
        </c:txPr>
        <c:crossAx val="2094734552"/>
        <c:crosses val="autoZero"/>
        <c:auto val="1"/>
        <c:lblAlgn val="ctr"/>
        <c:lblOffset val="100"/>
        <c:noMultiLvlLbl val="1"/>
      </c:catAx>
      <c:valAx>
        <c:axId val="2094734552"/>
        <c:scaling>
          <c:orientation val="minMax"/>
          <c:max val="6500"/>
        </c:scaling>
        <c:delete val="0"/>
        <c:axPos val="l"/>
        <c:majorGridlines>
          <c:spPr>
            <a:ln w="12700" cap="flat">
              <a:solidFill>
                <a:srgbClr val="E4EB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B7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02273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Ball is not short of AI ideas — it is short of a shared foundation, an operating model and a delivery discipline that lets those ideas reach production across every system. This deck proposes a dedicated AI Division to own all three. No cost or schedule estimates are included by design; sequencing is expressed as phases.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Sections 1–2 are the exec narrative; 3–6 carry the technical detail leadership will delegate.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78% / 8% tension is the story: most teams have agents somewhere, very few have them governed in production. Ball's opportunity is to skip the ungoverned middle.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pivot: every architecture decision later in the deck follows from the right-hand column.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honest. The point is not that Ball is behind — it is that adoption is happening without a foundation, which is the expensive failure mode.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anti-mandate column matters more than the mandate column in the room. It is what stops the division being read as a land grab by system owners.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Federated, not centralised. The hub is small and infrastructural; the mass of headcount sits in the spokes, reporting into the domain with a dotted line to the hub for standards.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no durations. If pressed for timing, answer with the exit conditions — they are the honest gate.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down a column for what a horizon looks like across the estate; read across a row for how a discipline matures.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six slides expand a–f in order.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Six-dimension scoring keeps the assessment objective and lets us defend why a domain is or is not ready.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layers, bottom-up dependency. If someone asks 'why not just buy an agent platform', the answer is layer 5 — we would fork governance.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Useful line for a sceptical CFO: most of this backlog has business value with or without agents.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satisfies Internal Audit and the plant leadership. The agent is never the system of control.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Azure-native enterprise agentic AI reference architecture (24 sections) contextualised for Ball Corporation beverage packaging manufacturing and supply chain. Custom 13.333x9in canvas matching the source proportions; all boxes, arrows and text are native PowerPoint objects.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enterprise AI governance architecture for Ball Corporation: AI Gateway (Azure API Management, public preview) over Microsoft Foundry over Microsoft Fabric. Custom 13.333x8.9in canvas matching the source proportions; all bands, cells, arrows and text are native PowerPoint objects.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$0 Azure AI reference stack for Ball Corporation. Free-tier limits shown were checked against Microsoft documentation in August 2026; verify current allowances before committing. Portrait 10x12.8in; all boxes, arrows and text are native PowerPoint objects. Layout adapted from a concept by Vaibhav Aggarwal.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subsystems. A useful check on any vendor proposal: which of these six does it actually cover, and which does it assume we already have?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slide slowly — it is the most concrete thing in the deck and it answers 'what does an agent actually do here'.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five-layer AI engineering comparison (Prompt / Context / Harness / Loop / Graph) contextualised for Ball Corporation manufacturing and supply chain. Portrait 10x12.7in; all boxes, arrows and text are native PowerPoint objects. Layout adapted from a concept by Prashant Rathi.</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leadership takes one technical idea away, make it this one. It reframes the investment away from tools and toward knowledge assets.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5 is the goal state — the central team must become a reviewer, not an author, or it becomes the bottleneck it was created to remove.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'source it from inside' point usually resolves the headcount objection — this is largely a retraining story, not a hiring story.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Harness engineering is the answer to 'what happens when 40% of our code is agent-written'. Ball already has CI/CD; this extends it rather than replacing it.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3 is where most organisations skip a step and later discover ungoverned agent traffic. Do not let it be skipped.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the last one — accountability after go-live is what distinguishes an FDE from a consultant. It is also the hardest part to sell internally.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'convert from within' step is the crux — Ball domain knowledge takes years to acquire and agent craft takes months.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'buy or build': buy the runtime and registry, build the Ball-specific policy and tool plane. Do not build a mesh from scratch.</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recreation of the 'From Agentic RAG to Agent Mesh' infographic. All elements are native PowerPoint shapes and text boxes; icons are transparent PNGs in the icons/ folder.</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Registry before policy, policy before tools, tools before orchestration. Reversing this creates agents that cannot be governed retroactively.</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Azure-mapped recreation of the multi-model AI agent platform architecture. All boxes, arrows and text are native PowerPoint objects; icons are transparent PNGs.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Azure agentic-RAG reference architecture contextualised for Ball Corporation beverage packaging manufacturing and supply chain. Portrait 10x15in canvas; all boxes, arrows and text are native PowerPoint objects.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Editable dark-theme agent architecture poster (Skills / MCP / Subagents / Hooks / Tools) contextualised for Ball Corporation manufacturing and supply chain. Portrait 10x13.333in; all boxes, arrows and text are native PowerPoint objects. Layout adapted from a concept by Brij Kishore Pandey.</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for the room: this is not a new platform purchase, it is switching on governance capability alongside a platform Ball already runs.</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control point is task 3 — shared service principals destroy the audit trail and are the most common shortcut taken here.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security story is the strongest part: MCP does not create a new permission model, it inherits JDE's. That is what makes it approvable.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as an open item with a recommendation, not as a gap. The ask is a decision on the architectural contract, not on tooling.</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vendor-light above the data layer — the stack should survive a model or framework change without re-architecture.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card is the enforcement statement — it is what prevents vendor agents becoming an ungoverned back door.</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 6 is deliberately last — sequencing SAP behind a proven JDE pattern reduces risk and rework.</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repeatability is the point: by server three, only steps 1–4 involve real design work.</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highest-leverage single item in the whole programme and the fastest to demonstrate value to Security and Finance.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 context capture — is the differentiator. Most teams trace model calls and cannot reconstruct why the model saw what it saw.</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for dates: offer to return with a schedule once the readiness assessment is complete — that is the honest input to any timeline.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Legal, Security, Privacy and Internal Audit into the forum from the first meeting. Retrofitting their requirements is the most expensive way to do this.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Offer to bring a baseline for each lagging indicator once the readiness assessment identifies the lighthouse domains.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this slide. Six decisions, none of which requires a budget number today.</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 leadership will ask where the numbers came from.</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39" Type="http://schemas.openxmlformats.org/officeDocument/2006/relationships/image" Target="../media/image37.png"/><Relationship Id="rId21" Type="http://schemas.openxmlformats.org/officeDocument/2006/relationships/image" Target="../media/image19.png"/><Relationship Id="rId34" Type="http://schemas.openxmlformats.org/officeDocument/2006/relationships/image" Target="../media/image32.png"/><Relationship Id="rId42" Type="http://schemas.openxmlformats.org/officeDocument/2006/relationships/image" Target="../media/image40.png"/><Relationship Id="rId47" Type="http://schemas.openxmlformats.org/officeDocument/2006/relationships/image" Target="../media/image45.png"/><Relationship Id="rId50" Type="http://schemas.openxmlformats.org/officeDocument/2006/relationships/image" Target="../media/image48.png"/><Relationship Id="rId55" Type="http://schemas.openxmlformats.org/officeDocument/2006/relationships/image" Target="../media/image53.png"/><Relationship Id="rId63" Type="http://schemas.openxmlformats.org/officeDocument/2006/relationships/image" Target="../media/image61.png"/><Relationship Id="rId7" Type="http://schemas.openxmlformats.org/officeDocument/2006/relationships/image" Target="../media/image5.png"/><Relationship Id="rId2" Type="http://schemas.openxmlformats.org/officeDocument/2006/relationships/notesSlide" Target="../notesSlides/notesSlide15.xml"/><Relationship Id="rId16" Type="http://schemas.openxmlformats.org/officeDocument/2006/relationships/image" Target="../media/image14.png"/><Relationship Id="rId29" Type="http://schemas.openxmlformats.org/officeDocument/2006/relationships/image" Target="../media/image27.png"/><Relationship Id="rId11" Type="http://schemas.openxmlformats.org/officeDocument/2006/relationships/image" Target="../media/image9.png"/><Relationship Id="rId24" Type="http://schemas.openxmlformats.org/officeDocument/2006/relationships/image" Target="../media/image22.png"/><Relationship Id="rId32" Type="http://schemas.openxmlformats.org/officeDocument/2006/relationships/image" Target="../media/image30.png"/><Relationship Id="rId37" Type="http://schemas.openxmlformats.org/officeDocument/2006/relationships/image" Target="../media/image35.png"/><Relationship Id="rId40" Type="http://schemas.openxmlformats.org/officeDocument/2006/relationships/image" Target="../media/image38.png"/><Relationship Id="rId45" Type="http://schemas.openxmlformats.org/officeDocument/2006/relationships/image" Target="../media/image43.png"/><Relationship Id="rId53" Type="http://schemas.openxmlformats.org/officeDocument/2006/relationships/image" Target="../media/image51.png"/><Relationship Id="rId58" Type="http://schemas.openxmlformats.org/officeDocument/2006/relationships/image" Target="../media/image56.png"/><Relationship Id="rId5" Type="http://schemas.openxmlformats.org/officeDocument/2006/relationships/image" Target="../media/image3.png"/><Relationship Id="rId61" Type="http://schemas.openxmlformats.org/officeDocument/2006/relationships/image" Target="../media/image59.png"/><Relationship Id="rId19" Type="http://schemas.openxmlformats.org/officeDocument/2006/relationships/image" Target="../media/image17.pn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image" Target="../media/image28.png"/><Relationship Id="rId35" Type="http://schemas.openxmlformats.org/officeDocument/2006/relationships/image" Target="../media/image33.png"/><Relationship Id="rId43" Type="http://schemas.openxmlformats.org/officeDocument/2006/relationships/image" Target="../media/image41.png"/><Relationship Id="rId48" Type="http://schemas.openxmlformats.org/officeDocument/2006/relationships/image" Target="../media/image46.png"/><Relationship Id="rId56" Type="http://schemas.openxmlformats.org/officeDocument/2006/relationships/image" Target="../media/image54.png"/><Relationship Id="rId8" Type="http://schemas.openxmlformats.org/officeDocument/2006/relationships/image" Target="../media/image6.png"/><Relationship Id="rId51" Type="http://schemas.openxmlformats.org/officeDocument/2006/relationships/image" Target="../media/image49.png"/><Relationship Id="rId3" Type="http://schemas.openxmlformats.org/officeDocument/2006/relationships/image" Target="../media/image1.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1.png"/><Relationship Id="rId38" Type="http://schemas.openxmlformats.org/officeDocument/2006/relationships/image" Target="../media/image36.png"/><Relationship Id="rId46" Type="http://schemas.openxmlformats.org/officeDocument/2006/relationships/image" Target="../media/image44.png"/><Relationship Id="rId59" Type="http://schemas.openxmlformats.org/officeDocument/2006/relationships/image" Target="../media/image57.png"/><Relationship Id="rId20" Type="http://schemas.openxmlformats.org/officeDocument/2006/relationships/image" Target="../media/image18.png"/><Relationship Id="rId41" Type="http://schemas.openxmlformats.org/officeDocument/2006/relationships/image" Target="../media/image39.png"/><Relationship Id="rId54" Type="http://schemas.openxmlformats.org/officeDocument/2006/relationships/image" Target="../media/image52.png"/><Relationship Id="rId62" Type="http://schemas.openxmlformats.org/officeDocument/2006/relationships/image" Target="../media/image60.png"/><Relationship Id="rId1" Type="http://schemas.openxmlformats.org/officeDocument/2006/relationships/slideLayout" Target="../slideLayouts/slideLayout1.xml"/><Relationship Id="rId6" Type="http://schemas.openxmlformats.org/officeDocument/2006/relationships/image" Target="../media/image4.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36" Type="http://schemas.openxmlformats.org/officeDocument/2006/relationships/image" Target="../media/image34.png"/><Relationship Id="rId49" Type="http://schemas.openxmlformats.org/officeDocument/2006/relationships/image" Target="../media/image47.png"/><Relationship Id="rId57" Type="http://schemas.openxmlformats.org/officeDocument/2006/relationships/image" Target="../media/image55.png"/><Relationship Id="rId10" Type="http://schemas.openxmlformats.org/officeDocument/2006/relationships/image" Target="../media/image8.png"/><Relationship Id="rId31" Type="http://schemas.openxmlformats.org/officeDocument/2006/relationships/image" Target="../media/image29.png"/><Relationship Id="rId44" Type="http://schemas.openxmlformats.org/officeDocument/2006/relationships/image" Target="../media/image42.png"/><Relationship Id="rId52" Type="http://schemas.openxmlformats.org/officeDocument/2006/relationships/image" Target="../media/image50.png"/><Relationship Id="rId60" Type="http://schemas.openxmlformats.org/officeDocument/2006/relationships/image" Target="../media/image58.png"/><Relationship Id="rId4" Type="http://schemas.openxmlformats.org/officeDocument/2006/relationships/image" Target="../media/image2.png"/><Relationship Id="rId9" Type="http://schemas.openxmlformats.org/officeDocument/2006/relationships/image" Target="../media/image7.png"/></Relationships>
</file>

<file path=ppt/slides/_rels/slide16.xml.rels><?xml version="1.0" encoding="UTF-8" standalone="yes"?>
<Relationships xmlns="http://schemas.openxmlformats.org/package/2006/relationships"><Relationship Id="rId13" Type="http://schemas.openxmlformats.org/officeDocument/2006/relationships/image" Target="../media/image72.png"/><Relationship Id="rId18" Type="http://schemas.openxmlformats.org/officeDocument/2006/relationships/image" Target="../media/image77.png"/><Relationship Id="rId26" Type="http://schemas.openxmlformats.org/officeDocument/2006/relationships/image" Target="../media/image85.png"/><Relationship Id="rId3" Type="http://schemas.openxmlformats.org/officeDocument/2006/relationships/image" Target="../media/image62.png"/><Relationship Id="rId21" Type="http://schemas.openxmlformats.org/officeDocument/2006/relationships/image" Target="../media/image80.png"/><Relationship Id="rId34" Type="http://schemas.openxmlformats.org/officeDocument/2006/relationships/image" Target="../media/image93.png"/><Relationship Id="rId7" Type="http://schemas.openxmlformats.org/officeDocument/2006/relationships/image" Target="../media/image66.png"/><Relationship Id="rId12" Type="http://schemas.openxmlformats.org/officeDocument/2006/relationships/image" Target="../media/image71.png"/><Relationship Id="rId17" Type="http://schemas.openxmlformats.org/officeDocument/2006/relationships/image" Target="../media/image76.png"/><Relationship Id="rId25" Type="http://schemas.openxmlformats.org/officeDocument/2006/relationships/image" Target="../media/image84.png"/><Relationship Id="rId33" Type="http://schemas.openxmlformats.org/officeDocument/2006/relationships/image" Target="../media/image92.png"/><Relationship Id="rId2" Type="http://schemas.openxmlformats.org/officeDocument/2006/relationships/notesSlide" Target="../notesSlides/notesSlide16.xml"/><Relationship Id="rId16" Type="http://schemas.openxmlformats.org/officeDocument/2006/relationships/image" Target="../media/image75.png"/><Relationship Id="rId20" Type="http://schemas.openxmlformats.org/officeDocument/2006/relationships/image" Target="../media/image79.png"/><Relationship Id="rId29" Type="http://schemas.openxmlformats.org/officeDocument/2006/relationships/image" Target="../media/image88.png"/><Relationship Id="rId1" Type="http://schemas.openxmlformats.org/officeDocument/2006/relationships/slideLayout" Target="../slideLayouts/slideLayout1.xml"/><Relationship Id="rId6" Type="http://schemas.openxmlformats.org/officeDocument/2006/relationships/image" Target="../media/image65.png"/><Relationship Id="rId11" Type="http://schemas.openxmlformats.org/officeDocument/2006/relationships/image" Target="../media/image70.png"/><Relationship Id="rId24" Type="http://schemas.openxmlformats.org/officeDocument/2006/relationships/image" Target="../media/image83.png"/><Relationship Id="rId32" Type="http://schemas.openxmlformats.org/officeDocument/2006/relationships/image" Target="../media/image91.png"/><Relationship Id="rId5" Type="http://schemas.openxmlformats.org/officeDocument/2006/relationships/image" Target="../media/image64.png"/><Relationship Id="rId15" Type="http://schemas.openxmlformats.org/officeDocument/2006/relationships/image" Target="../media/image74.png"/><Relationship Id="rId23" Type="http://schemas.openxmlformats.org/officeDocument/2006/relationships/image" Target="../media/image82.png"/><Relationship Id="rId28" Type="http://schemas.openxmlformats.org/officeDocument/2006/relationships/image" Target="../media/image87.png"/><Relationship Id="rId36" Type="http://schemas.openxmlformats.org/officeDocument/2006/relationships/image" Target="../media/image95.png"/><Relationship Id="rId10" Type="http://schemas.openxmlformats.org/officeDocument/2006/relationships/image" Target="../media/image69.png"/><Relationship Id="rId19" Type="http://schemas.openxmlformats.org/officeDocument/2006/relationships/image" Target="../media/image78.png"/><Relationship Id="rId31" Type="http://schemas.openxmlformats.org/officeDocument/2006/relationships/image" Target="../media/image90.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 Id="rId22" Type="http://schemas.openxmlformats.org/officeDocument/2006/relationships/image" Target="../media/image81.png"/><Relationship Id="rId27" Type="http://schemas.openxmlformats.org/officeDocument/2006/relationships/image" Target="../media/image86.png"/><Relationship Id="rId30" Type="http://schemas.openxmlformats.org/officeDocument/2006/relationships/image" Target="../media/image89.png"/><Relationship Id="rId35" Type="http://schemas.openxmlformats.org/officeDocument/2006/relationships/image" Target="../media/image94.png"/><Relationship Id="rId8" Type="http://schemas.openxmlformats.org/officeDocument/2006/relationships/image" Target="../media/image67.png"/></Relationships>
</file>

<file path=ppt/slides/_rels/slide17.xml.rels><?xml version="1.0" encoding="UTF-8" standalone="yes"?>
<Relationships xmlns="http://schemas.openxmlformats.org/package/2006/relationships"><Relationship Id="rId13" Type="http://schemas.openxmlformats.org/officeDocument/2006/relationships/image" Target="../media/image106.png"/><Relationship Id="rId18" Type="http://schemas.openxmlformats.org/officeDocument/2006/relationships/image" Target="../media/image111.png"/><Relationship Id="rId26" Type="http://schemas.openxmlformats.org/officeDocument/2006/relationships/image" Target="../media/image119.png"/><Relationship Id="rId39" Type="http://schemas.openxmlformats.org/officeDocument/2006/relationships/image" Target="../media/image132.png"/><Relationship Id="rId21" Type="http://schemas.openxmlformats.org/officeDocument/2006/relationships/image" Target="../media/image114.png"/><Relationship Id="rId34" Type="http://schemas.openxmlformats.org/officeDocument/2006/relationships/image" Target="../media/image127.png"/><Relationship Id="rId7" Type="http://schemas.openxmlformats.org/officeDocument/2006/relationships/image" Target="../media/image100.png"/><Relationship Id="rId2" Type="http://schemas.openxmlformats.org/officeDocument/2006/relationships/notesSlide" Target="../notesSlides/notesSlide17.xml"/><Relationship Id="rId16" Type="http://schemas.openxmlformats.org/officeDocument/2006/relationships/image" Target="../media/image109.png"/><Relationship Id="rId20" Type="http://schemas.openxmlformats.org/officeDocument/2006/relationships/image" Target="../media/image113.png"/><Relationship Id="rId29" Type="http://schemas.openxmlformats.org/officeDocument/2006/relationships/image" Target="../media/image122.png"/><Relationship Id="rId41" Type="http://schemas.openxmlformats.org/officeDocument/2006/relationships/image" Target="../media/image134.png"/><Relationship Id="rId1" Type="http://schemas.openxmlformats.org/officeDocument/2006/relationships/slideLayout" Target="../slideLayouts/slideLayout1.xml"/><Relationship Id="rId6" Type="http://schemas.openxmlformats.org/officeDocument/2006/relationships/image" Target="../media/image99.png"/><Relationship Id="rId11" Type="http://schemas.openxmlformats.org/officeDocument/2006/relationships/image" Target="../media/image104.png"/><Relationship Id="rId24" Type="http://schemas.openxmlformats.org/officeDocument/2006/relationships/image" Target="../media/image117.png"/><Relationship Id="rId32" Type="http://schemas.openxmlformats.org/officeDocument/2006/relationships/image" Target="../media/image125.png"/><Relationship Id="rId37" Type="http://schemas.openxmlformats.org/officeDocument/2006/relationships/image" Target="../media/image130.png"/><Relationship Id="rId40" Type="http://schemas.openxmlformats.org/officeDocument/2006/relationships/image" Target="../media/image133.png"/><Relationship Id="rId5" Type="http://schemas.openxmlformats.org/officeDocument/2006/relationships/image" Target="../media/image98.png"/><Relationship Id="rId15" Type="http://schemas.openxmlformats.org/officeDocument/2006/relationships/image" Target="../media/image108.png"/><Relationship Id="rId23" Type="http://schemas.openxmlformats.org/officeDocument/2006/relationships/image" Target="../media/image116.png"/><Relationship Id="rId28" Type="http://schemas.openxmlformats.org/officeDocument/2006/relationships/image" Target="../media/image121.png"/><Relationship Id="rId36" Type="http://schemas.openxmlformats.org/officeDocument/2006/relationships/image" Target="../media/image129.png"/><Relationship Id="rId10" Type="http://schemas.openxmlformats.org/officeDocument/2006/relationships/image" Target="../media/image103.png"/><Relationship Id="rId19" Type="http://schemas.openxmlformats.org/officeDocument/2006/relationships/image" Target="../media/image112.png"/><Relationship Id="rId31" Type="http://schemas.openxmlformats.org/officeDocument/2006/relationships/image" Target="../media/image124.png"/><Relationship Id="rId4" Type="http://schemas.openxmlformats.org/officeDocument/2006/relationships/image" Target="../media/image97.png"/><Relationship Id="rId9" Type="http://schemas.openxmlformats.org/officeDocument/2006/relationships/image" Target="../media/image102.png"/><Relationship Id="rId14" Type="http://schemas.openxmlformats.org/officeDocument/2006/relationships/image" Target="../media/image107.png"/><Relationship Id="rId22" Type="http://schemas.openxmlformats.org/officeDocument/2006/relationships/image" Target="../media/image115.png"/><Relationship Id="rId27" Type="http://schemas.openxmlformats.org/officeDocument/2006/relationships/image" Target="../media/image120.png"/><Relationship Id="rId30" Type="http://schemas.openxmlformats.org/officeDocument/2006/relationships/image" Target="../media/image123.png"/><Relationship Id="rId35" Type="http://schemas.openxmlformats.org/officeDocument/2006/relationships/image" Target="../media/image128.png"/><Relationship Id="rId8" Type="http://schemas.openxmlformats.org/officeDocument/2006/relationships/image" Target="../media/image101.png"/><Relationship Id="rId3" Type="http://schemas.openxmlformats.org/officeDocument/2006/relationships/image" Target="../media/image96.png"/><Relationship Id="rId12" Type="http://schemas.openxmlformats.org/officeDocument/2006/relationships/image" Target="../media/image105.png"/><Relationship Id="rId17" Type="http://schemas.openxmlformats.org/officeDocument/2006/relationships/image" Target="../media/image110.png"/><Relationship Id="rId25" Type="http://schemas.openxmlformats.org/officeDocument/2006/relationships/image" Target="../media/image118.png"/><Relationship Id="rId33" Type="http://schemas.openxmlformats.org/officeDocument/2006/relationships/image" Target="../media/image126.png"/><Relationship Id="rId38" Type="http://schemas.openxmlformats.org/officeDocument/2006/relationships/image" Target="../media/image13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3" Type="http://schemas.openxmlformats.org/officeDocument/2006/relationships/image" Target="../media/image133.png"/><Relationship Id="rId18" Type="http://schemas.openxmlformats.org/officeDocument/2006/relationships/image" Target="../media/image147.png"/><Relationship Id="rId26" Type="http://schemas.openxmlformats.org/officeDocument/2006/relationships/image" Target="../media/image155.png"/><Relationship Id="rId39" Type="http://schemas.openxmlformats.org/officeDocument/2006/relationships/image" Target="../media/image166.png"/><Relationship Id="rId21" Type="http://schemas.openxmlformats.org/officeDocument/2006/relationships/image" Target="../media/image150.png"/><Relationship Id="rId34" Type="http://schemas.openxmlformats.org/officeDocument/2006/relationships/image" Target="../media/image103.png"/><Relationship Id="rId42" Type="http://schemas.openxmlformats.org/officeDocument/2006/relationships/image" Target="../media/image169.png"/><Relationship Id="rId7" Type="http://schemas.openxmlformats.org/officeDocument/2006/relationships/image" Target="../media/image139.png"/><Relationship Id="rId2" Type="http://schemas.openxmlformats.org/officeDocument/2006/relationships/notesSlide" Target="../notesSlides/notesSlide20.xml"/><Relationship Id="rId16" Type="http://schemas.openxmlformats.org/officeDocument/2006/relationships/image" Target="../media/image145.png"/><Relationship Id="rId20" Type="http://schemas.openxmlformats.org/officeDocument/2006/relationships/image" Target="../media/image149.png"/><Relationship Id="rId29" Type="http://schemas.openxmlformats.org/officeDocument/2006/relationships/image" Target="../media/image158.png"/><Relationship Id="rId41" Type="http://schemas.openxmlformats.org/officeDocument/2006/relationships/image" Target="../media/image168.png"/><Relationship Id="rId1" Type="http://schemas.openxmlformats.org/officeDocument/2006/relationships/slideLayout" Target="../slideLayouts/slideLayout1.xml"/><Relationship Id="rId6" Type="http://schemas.openxmlformats.org/officeDocument/2006/relationships/image" Target="../media/image138.png"/><Relationship Id="rId11" Type="http://schemas.openxmlformats.org/officeDocument/2006/relationships/image" Target="../media/image142.png"/><Relationship Id="rId24" Type="http://schemas.openxmlformats.org/officeDocument/2006/relationships/image" Target="../media/image153.png"/><Relationship Id="rId32" Type="http://schemas.openxmlformats.org/officeDocument/2006/relationships/image" Target="../media/image161.png"/><Relationship Id="rId37" Type="http://schemas.openxmlformats.org/officeDocument/2006/relationships/image" Target="../media/image164.png"/><Relationship Id="rId40" Type="http://schemas.openxmlformats.org/officeDocument/2006/relationships/image" Target="../media/image167.png"/><Relationship Id="rId5" Type="http://schemas.openxmlformats.org/officeDocument/2006/relationships/image" Target="../media/image137.png"/><Relationship Id="rId15" Type="http://schemas.openxmlformats.org/officeDocument/2006/relationships/image" Target="../media/image144.png"/><Relationship Id="rId23" Type="http://schemas.openxmlformats.org/officeDocument/2006/relationships/image" Target="../media/image152.png"/><Relationship Id="rId28" Type="http://schemas.openxmlformats.org/officeDocument/2006/relationships/image" Target="../media/image157.png"/><Relationship Id="rId36" Type="http://schemas.openxmlformats.org/officeDocument/2006/relationships/image" Target="../media/image163.png"/><Relationship Id="rId10" Type="http://schemas.openxmlformats.org/officeDocument/2006/relationships/image" Target="../media/image129.png"/><Relationship Id="rId19" Type="http://schemas.openxmlformats.org/officeDocument/2006/relationships/image" Target="../media/image148.png"/><Relationship Id="rId31" Type="http://schemas.openxmlformats.org/officeDocument/2006/relationships/image" Target="../media/image160.png"/><Relationship Id="rId4" Type="http://schemas.openxmlformats.org/officeDocument/2006/relationships/image" Target="../media/image136.png"/><Relationship Id="rId9" Type="http://schemas.openxmlformats.org/officeDocument/2006/relationships/image" Target="../media/image141.png"/><Relationship Id="rId14" Type="http://schemas.openxmlformats.org/officeDocument/2006/relationships/image" Target="../media/image143.png"/><Relationship Id="rId22" Type="http://schemas.openxmlformats.org/officeDocument/2006/relationships/image" Target="../media/image151.png"/><Relationship Id="rId27" Type="http://schemas.openxmlformats.org/officeDocument/2006/relationships/image" Target="../media/image156.png"/><Relationship Id="rId30" Type="http://schemas.openxmlformats.org/officeDocument/2006/relationships/image" Target="../media/image159.png"/><Relationship Id="rId35" Type="http://schemas.openxmlformats.org/officeDocument/2006/relationships/image" Target="../media/image102.png"/><Relationship Id="rId8" Type="http://schemas.openxmlformats.org/officeDocument/2006/relationships/image" Target="../media/image140.png"/><Relationship Id="rId3" Type="http://schemas.openxmlformats.org/officeDocument/2006/relationships/image" Target="../media/image135.png"/><Relationship Id="rId12" Type="http://schemas.openxmlformats.org/officeDocument/2006/relationships/image" Target="../media/image109.png"/><Relationship Id="rId17" Type="http://schemas.openxmlformats.org/officeDocument/2006/relationships/image" Target="../media/image146.png"/><Relationship Id="rId25" Type="http://schemas.openxmlformats.org/officeDocument/2006/relationships/image" Target="../media/image154.png"/><Relationship Id="rId33" Type="http://schemas.openxmlformats.org/officeDocument/2006/relationships/image" Target="../media/image162.png"/><Relationship Id="rId38" Type="http://schemas.openxmlformats.org/officeDocument/2006/relationships/image" Target="../media/image16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175.png"/><Relationship Id="rId13" Type="http://schemas.openxmlformats.org/officeDocument/2006/relationships/image" Target="../media/image180.png"/><Relationship Id="rId18" Type="http://schemas.openxmlformats.org/officeDocument/2006/relationships/image" Target="../media/image185.png"/><Relationship Id="rId26" Type="http://schemas.openxmlformats.org/officeDocument/2006/relationships/image" Target="../media/image193.png"/><Relationship Id="rId3" Type="http://schemas.openxmlformats.org/officeDocument/2006/relationships/image" Target="../media/image170.png"/><Relationship Id="rId21" Type="http://schemas.openxmlformats.org/officeDocument/2006/relationships/image" Target="../media/image188.png"/><Relationship Id="rId7" Type="http://schemas.openxmlformats.org/officeDocument/2006/relationships/image" Target="../media/image174.png"/><Relationship Id="rId12" Type="http://schemas.openxmlformats.org/officeDocument/2006/relationships/image" Target="../media/image179.png"/><Relationship Id="rId17" Type="http://schemas.openxmlformats.org/officeDocument/2006/relationships/image" Target="../media/image184.png"/><Relationship Id="rId25" Type="http://schemas.openxmlformats.org/officeDocument/2006/relationships/image" Target="../media/image192.png"/><Relationship Id="rId2" Type="http://schemas.openxmlformats.org/officeDocument/2006/relationships/notesSlide" Target="../notesSlides/notesSlide29.xml"/><Relationship Id="rId16" Type="http://schemas.openxmlformats.org/officeDocument/2006/relationships/image" Target="../media/image183.png"/><Relationship Id="rId20" Type="http://schemas.openxmlformats.org/officeDocument/2006/relationships/image" Target="../media/image187.png"/><Relationship Id="rId29" Type="http://schemas.openxmlformats.org/officeDocument/2006/relationships/image" Target="../media/image196.png"/><Relationship Id="rId1" Type="http://schemas.openxmlformats.org/officeDocument/2006/relationships/slideLayout" Target="../slideLayouts/slideLayout1.xml"/><Relationship Id="rId6" Type="http://schemas.openxmlformats.org/officeDocument/2006/relationships/image" Target="../media/image173.png"/><Relationship Id="rId11" Type="http://schemas.openxmlformats.org/officeDocument/2006/relationships/image" Target="../media/image178.png"/><Relationship Id="rId24" Type="http://schemas.openxmlformats.org/officeDocument/2006/relationships/image" Target="../media/image191.png"/><Relationship Id="rId5" Type="http://schemas.openxmlformats.org/officeDocument/2006/relationships/image" Target="../media/image172.png"/><Relationship Id="rId15" Type="http://schemas.openxmlformats.org/officeDocument/2006/relationships/image" Target="../media/image182.png"/><Relationship Id="rId23" Type="http://schemas.openxmlformats.org/officeDocument/2006/relationships/image" Target="../media/image190.png"/><Relationship Id="rId28" Type="http://schemas.openxmlformats.org/officeDocument/2006/relationships/image" Target="../media/image195.png"/><Relationship Id="rId10" Type="http://schemas.openxmlformats.org/officeDocument/2006/relationships/image" Target="../media/image177.png"/><Relationship Id="rId19" Type="http://schemas.openxmlformats.org/officeDocument/2006/relationships/image" Target="../media/image186.png"/><Relationship Id="rId4" Type="http://schemas.openxmlformats.org/officeDocument/2006/relationships/image" Target="../media/image171.png"/><Relationship Id="rId9" Type="http://schemas.openxmlformats.org/officeDocument/2006/relationships/image" Target="../media/image176.png"/><Relationship Id="rId14" Type="http://schemas.openxmlformats.org/officeDocument/2006/relationships/image" Target="../media/image181.png"/><Relationship Id="rId22" Type="http://schemas.openxmlformats.org/officeDocument/2006/relationships/image" Target="../media/image189.png"/><Relationship Id="rId27" Type="http://schemas.openxmlformats.org/officeDocument/2006/relationships/image" Target="../media/image194.png"/><Relationship Id="rId30" Type="http://schemas.openxmlformats.org/officeDocument/2006/relationships/image" Target="../media/image19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6" Type="http://schemas.openxmlformats.org/officeDocument/2006/relationships/image" Target="../media/image220.png"/><Relationship Id="rId21" Type="http://schemas.openxmlformats.org/officeDocument/2006/relationships/image" Target="../media/image215.png"/><Relationship Id="rId42" Type="http://schemas.openxmlformats.org/officeDocument/2006/relationships/image" Target="../media/image235.png"/><Relationship Id="rId47" Type="http://schemas.openxmlformats.org/officeDocument/2006/relationships/image" Target="../media/image240.png"/><Relationship Id="rId63" Type="http://schemas.openxmlformats.org/officeDocument/2006/relationships/image" Target="../media/image256.png"/><Relationship Id="rId68" Type="http://schemas.openxmlformats.org/officeDocument/2006/relationships/image" Target="../media/image261.png"/><Relationship Id="rId2" Type="http://schemas.openxmlformats.org/officeDocument/2006/relationships/notesSlide" Target="../notesSlides/notesSlide31.xml"/><Relationship Id="rId16" Type="http://schemas.openxmlformats.org/officeDocument/2006/relationships/image" Target="../media/image210.png"/><Relationship Id="rId29" Type="http://schemas.openxmlformats.org/officeDocument/2006/relationships/image" Target="../media/image223.png"/><Relationship Id="rId11" Type="http://schemas.openxmlformats.org/officeDocument/2006/relationships/image" Target="../media/image205.png"/><Relationship Id="rId24" Type="http://schemas.openxmlformats.org/officeDocument/2006/relationships/image" Target="../media/image218.png"/><Relationship Id="rId32" Type="http://schemas.openxmlformats.org/officeDocument/2006/relationships/image" Target="../media/image226.png"/><Relationship Id="rId37" Type="http://schemas.openxmlformats.org/officeDocument/2006/relationships/image" Target="../media/image230.png"/><Relationship Id="rId40" Type="http://schemas.openxmlformats.org/officeDocument/2006/relationships/image" Target="../media/image233.png"/><Relationship Id="rId45" Type="http://schemas.openxmlformats.org/officeDocument/2006/relationships/image" Target="../media/image238.png"/><Relationship Id="rId53" Type="http://schemas.openxmlformats.org/officeDocument/2006/relationships/image" Target="../media/image246.png"/><Relationship Id="rId58" Type="http://schemas.openxmlformats.org/officeDocument/2006/relationships/image" Target="../media/image251.png"/><Relationship Id="rId66" Type="http://schemas.openxmlformats.org/officeDocument/2006/relationships/image" Target="../media/image259.png"/><Relationship Id="rId74" Type="http://schemas.openxmlformats.org/officeDocument/2006/relationships/image" Target="../media/image267.png"/><Relationship Id="rId5" Type="http://schemas.openxmlformats.org/officeDocument/2006/relationships/image" Target="../media/image200.png"/><Relationship Id="rId61" Type="http://schemas.openxmlformats.org/officeDocument/2006/relationships/image" Target="../media/image254.png"/><Relationship Id="rId19" Type="http://schemas.openxmlformats.org/officeDocument/2006/relationships/image" Target="../media/image213.png"/><Relationship Id="rId14" Type="http://schemas.openxmlformats.org/officeDocument/2006/relationships/image" Target="../media/image208.png"/><Relationship Id="rId22" Type="http://schemas.openxmlformats.org/officeDocument/2006/relationships/image" Target="../media/image216.png"/><Relationship Id="rId27" Type="http://schemas.openxmlformats.org/officeDocument/2006/relationships/image" Target="../media/image221.png"/><Relationship Id="rId30" Type="http://schemas.openxmlformats.org/officeDocument/2006/relationships/image" Target="../media/image224.png"/><Relationship Id="rId35" Type="http://schemas.openxmlformats.org/officeDocument/2006/relationships/image" Target="../media/image229.png"/><Relationship Id="rId43" Type="http://schemas.openxmlformats.org/officeDocument/2006/relationships/image" Target="../media/image236.png"/><Relationship Id="rId48" Type="http://schemas.openxmlformats.org/officeDocument/2006/relationships/image" Target="../media/image241.png"/><Relationship Id="rId56" Type="http://schemas.openxmlformats.org/officeDocument/2006/relationships/image" Target="../media/image249.png"/><Relationship Id="rId64" Type="http://schemas.openxmlformats.org/officeDocument/2006/relationships/image" Target="../media/image257.png"/><Relationship Id="rId69" Type="http://schemas.openxmlformats.org/officeDocument/2006/relationships/image" Target="../media/image262.png"/><Relationship Id="rId8" Type="http://schemas.openxmlformats.org/officeDocument/2006/relationships/image" Target="../media/image203.png"/><Relationship Id="rId51" Type="http://schemas.openxmlformats.org/officeDocument/2006/relationships/image" Target="../media/image244.png"/><Relationship Id="rId72" Type="http://schemas.openxmlformats.org/officeDocument/2006/relationships/image" Target="../media/image265.png"/><Relationship Id="rId3" Type="http://schemas.openxmlformats.org/officeDocument/2006/relationships/image" Target="../media/image198.png"/><Relationship Id="rId12" Type="http://schemas.openxmlformats.org/officeDocument/2006/relationships/image" Target="../media/image206.png"/><Relationship Id="rId17" Type="http://schemas.openxmlformats.org/officeDocument/2006/relationships/image" Target="../media/image211.png"/><Relationship Id="rId25" Type="http://schemas.openxmlformats.org/officeDocument/2006/relationships/image" Target="../media/image219.png"/><Relationship Id="rId33" Type="http://schemas.openxmlformats.org/officeDocument/2006/relationships/image" Target="../media/image227.png"/><Relationship Id="rId38" Type="http://schemas.openxmlformats.org/officeDocument/2006/relationships/image" Target="../media/image231.png"/><Relationship Id="rId46" Type="http://schemas.openxmlformats.org/officeDocument/2006/relationships/image" Target="../media/image239.png"/><Relationship Id="rId59" Type="http://schemas.openxmlformats.org/officeDocument/2006/relationships/image" Target="../media/image252.png"/><Relationship Id="rId67" Type="http://schemas.openxmlformats.org/officeDocument/2006/relationships/image" Target="../media/image260.png"/><Relationship Id="rId20" Type="http://schemas.openxmlformats.org/officeDocument/2006/relationships/image" Target="../media/image214.png"/><Relationship Id="rId41" Type="http://schemas.openxmlformats.org/officeDocument/2006/relationships/image" Target="../media/image234.png"/><Relationship Id="rId54" Type="http://schemas.openxmlformats.org/officeDocument/2006/relationships/image" Target="../media/image247.png"/><Relationship Id="rId62" Type="http://schemas.openxmlformats.org/officeDocument/2006/relationships/image" Target="../media/image255.png"/><Relationship Id="rId70" Type="http://schemas.openxmlformats.org/officeDocument/2006/relationships/image" Target="../media/image263.png"/><Relationship Id="rId75" Type="http://schemas.openxmlformats.org/officeDocument/2006/relationships/image" Target="../media/image268.png"/><Relationship Id="rId1" Type="http://schemas.openxmlformats.org/officeDocument/2006/relationships/slideLayout" Target="../slideLayouts/slideLayout1.xml"/><Relationship Id="rId6" Type="http://schemas.openxmlformats.org/officeDocument/2006/relationships/image" Target="../media/image201.png"/><Relationship Id="rId15" Type="http://schemas.openxmlformats.org/officeDocument/2006/relationships/image" Target="../media/image209.png"/><Relationship Id="rId23" Type="http://schemas.openxmlformats.org/officeDocument/2006/relationships/image" Target="../media/image217.png"/><Relationship Id="rId28" Type="http://schemas.openxmlformats.org/officeDocument/2006/relationships/image" Target="../media/image222.png"/><Relationship Id="rId36" Type="http://schemas.openxmlformats.org/officeDocument/2006/relationships/image" Target="../media/image131.png"/><Relationship Id="rId49" Type="http://schemas.openxmlformats.org/officeDocument/2006/relationships/image" Target="../media/image242.png"/><Relationship Id="rId57" Type="http://schemas.openxmlformats.org/officeDocument/2006/relationships/image" Target="../media/image250.png"/><Relationship Id="rId10" Type="http://schemas.openxmlformats.org/officeDocument/2006/relationships/image" Target="../media/image204.png"/><Relationship Id="rId31" Type="http://schemas.openxmlformats.org/officeDocument/2006/relationships/image" Target="../media/image225.png"/><Relationship Id="rId44" Type="http://schemas.openxmlformats.org/officeDocument/2006/relationships/image" Target="../media/image237.png"/><Relationship Id="rId52" Type="http://schemas.openxmlformats.org/officeDocument/2006/relationships/image" Target="../media/image245.png"/><Relationship Id="rId60" Type="http://schemas.openxmlformats.org/officeDocument/2006/relationships/image" Target="../media/image253.png"/><Relationship Id="rId65" Type="http://schemas.openxmlformats.org/officeDocument/2006/relationships/image" Target="../media/image258.png"/><Relationship Id="rId73" Type="http://schemas.openxmlformats.org/officeDocument/2006/relationships/image" Target="../media/image266.png"/><Relationship Id="rId4" Type="http://schemas.openxmlformats.org/officeDocument/2006/relationships/image" Target="../media/image199.png"/><Relationship Id="rId9" Type="http://schemas.openxmlformats.org/officeDocument/2006/relationships/image" Target="../media/image100.png"/><Relationship Id="rId13" Type="http://schemas.openxmlformats.org/officeDocument/2006/relationships/image" Target="../media/image207.png"/><Relationship Id="rId18" Type="http://schemas.openxmlformats.org/officeDocument/2006/relationships/image" Target="../media/image212.png"/><Relationship Id="rId39" Type="http://schemas.openxmlformats.org/officeDocument/2006/relationships/image" Target="../media/image232.png"/><Relationship Id="rId34" Type="http://schemas.openxmlformats.org/officeDocument/2006/relationships/image" Target="../media/image228.png"/><Relationship Id="rId50" Type="http://schemas.openxmlformats.org/officeDocument/2006/relationships/image" Target="../media/image243.png"/><Relationship Id="rId55" Type="http://schemas.openxmlformats.org/officeDocument/2006/relationships/image" Target="../media/image248.png"/><Relationship Id="rId76" Type="http://schemas.openxmlformats.org/officeDocument/2006/relationships/image" Target="../media/image269.png"/><Relationship Id="rId7" Type="http://schemas.openxmlformats.org/officeDocument/2006/relationships/image" Target="../media/image202.png"/><Relationship Id="rId71" Type="http://schemas.openxmlformats.org/officeDocument/2006/relationships/image" Target="../media/image264.png"/></Relationships>
</file>

<file path=ppt/slides/_rels/slide32.xml.rels><?xml version="1.0" encoding="UTF-8" standalone="yes"?>
<Relationships xmlns="http://schemas.openxmlformats.org/package/2006/relationships"><Relationship Id="rId26" Type="http://schemas.openxmlformats.org/officeDocument/2006/relationships/image" Target="../media/image288.png"/><Relationship Id="rId21" Type="http://schemas.openxmlformats.org/officeDocument/2006/relationships/image" Target="../media/image284.png"/><Relationship Id="rId42" Type="http://schemas.openxmlformats.org/officeDocument/2006/relationships/image" Target="../media/image303.png"/><Relationship Id="rId47" Type="http://schemas.openxmlformats.org/officeDocument/2006/relationships/image" Target="../media/image308.png"/><Relationship Id="rId63" Type="http://schemas.openxmlformats.org/officeDocument/2006/relationships/image" Target="../media/image322.png"/><Relationship Id="rId68" Type="http://schemas.openxmlformats.org/officeDocument/2006/relationships/image" Target="../media/image327.png"/><Relationship Id="rId84" Type="http://schemas.openxmlformats.org/officeDocument/2006/relationships/image" Target="../media/image342.png"/><Relationship Id="rId16" Type="http://schemas.openxmlformats.org/officeDocument/2006/relationships/image" Target="../media/image279.png"/><Relationship Id="rId11" Type="http://schemas.openxmlformats.org/officeDocument/2006/relationships/image" Target="../media/image253.png"/><Relationship Id="rId32" Type="http://schemas.openxmlformats.org/officeDocument/2006/relationships/image" Target="../media/image294.png"/><Relationship Id="rId37" Type="http://schemas.openxmlformats.org/officeDocument/2006/relationships/image" Target="../media/image298.png"/><Relationship Id="rId53" Type="http://schemas.openxmlformats.org/officeDocument/2006/relationships/image" Target="../media/image313.png"/><Relationship Id="rId58" Type="http://schemas.openxmlformats.org/officeDocument/2006/relationships/image" Target="../media/image208.png"/><Relationship Id="rId74" Type="http://schemas.openxmlformats.org/officeDocument/2006/relationships/image" Target="../media/image333.png"/><Relationship Id="rId79" Type="http://schemas.openxmlformats.org/officeDocument/2006/relationships/image" Target="../media/image337.png"/><Relationship Id="rId5" Type="http://schemas.openxmlformats.org/officeDocument/2006/relationships/image" Target="../media/image272.png"/><Relationship Id="rId19" Type="http://schemas.openxmlformats.org/officeDocument/2006/relationships/image" Target="../media/image282.png"/><Relationship Id="rId14" Type="http://schemas.openxmlformats.org/officeDocument/2006/relationships/image" Target="../media/image213.png"/><Relationship Id="rId22" Type="http://schemas.openxmlformats.org/officeDocument/2006/relationships/image" Target="../media/image285.png"/><Relationship Id="rId27" Type="http://schemas.openxmlformats.org/officeDocument/2006/relationships/image" Target="../media/image289.png"/><Relationship Id="rId30" Type="http://schemas.openxmlformats.org/officeDocument/2006/relationships/image" Target="../media/image292.png"/><Relationship Id="rId35" Type="http://schemas.openxmlformats.org/officeDocument/2006/relationships/image" Target="../media/image296.png"/><Relationship Id="rId43" Type="http://schemas.openxmlformats.org/officeDocument/2006/relationships/image" Target="../media/image304.png"/><Relationship Id="rId48" Type="http://schemas.openxmlformats.org/officeDocument/2006/relationships/image" Target="../media/image71.png"/><Relationship Id="rId56" Type="http://schemas.openxmlformats.org/officeDocument/2006/relationships/image" Target="../media/image316.png"/><Relationship Id="rId64" Type="http://schemas.openxmlformats.org/officeDocument/2006/relationships/image" Target="../media/image323.png"/><Relationship Id="rId69" Type="http://schemas.openxmlformats.org/officeDocument/2006/relationships/image" Target="../media/image328.png"/><Relationship Id="rId77" Type="http://schemas.openxmlformats.org/officeDocument/2006/relationships/image" Target="../media/image215.png"/><Relationship Id="rId8" Type="http://schemas.openxmlformats.org/officeDocument/2006/relationships/image" Target="../media/image275.png"/><Relationship Id="rId51" Type="http://schemas.openxmlformats.org/officeDocument/2006/relationships/image" Target="../media/image311.png"/><Relationship Id="rId72" Type="http://schemas.openxmlformats.org/officeDocument/2006/relationships/image" Target="../media/image331.png"/><Relationship Id="rId80" Type="http://schemas.openxmlformats.org/officeDocument/2006/relationships/image" Target="../media/image338.png"/><Relationship Id="rId85" Type="http://schemas.openxmlformats.org/officeDocument/2006/relationships/image" Target="../media/image343.png"/><Relationship Id="rId3" Type="http://schemas.openxmlformats.org/officeDocument/2006/relationships/image" Target="../media/image270.png"/><Relationship Id="rId12" Type="http://schemas.openxmlformats.org/officeDocument/2006/relationships/image" Target="../media/image278.png"/><Relationship Id="rId17" Type="http://schemas.openxmlformats.org/officeDocument/2006/relationships/image" Target="../media/image280.png"/><Relationship Id="rId25" Type="http://schemas.openxmlformats.org/officeDocument/2006/relationships/image" Target="../media/image287.png"/><Relationship Id="rId33" Type="http://schemas.openxmlformats.org/officeDocument/2006/relationships/image" Target="../media/image117.png"/><Relationship Id="rId38" Type="http://schemas.openxmlformats.org/officeDocument/2006/relationships/image" Target="../media/image299.png"/><Relationship Id="rId46" Type="http://schemas.openxmlformats.org/officeDocument/2006/relationships/image" Target="../media/image307.png"/><Relationship Id="rId59" Type="http://schemas.openxmlformats.org/officeDocument/2006/relationships/image" Target="../media/image318.png"/><Relationship Id="rId67" Type="http://schemas.openxmlformats.org/officeDocument/2006/relationships/image" Target="../media/image326.png"/><Relationship Id="rId20" Type="http://schemas.openxmlformats.org/officeDocument/2006/relationships/image" Target="../media/image283.png"/><Relationship Id="rId41" Type="http://schemas.openxmlformats.org/officeDocument/2006/relationships/image" Target="../media/image302.png"/><Relationship Id="rId54" Type="http://schemas.openxmlformats.org/officeDocument/2006/relationships/image" Target="../media/image314.png"/><Relationship Id="rId62" Type="http://schemas.openxmlformats.org/officeDocument/2006/relationships/image" Target="../media/image321.png"/><Relationship Id="rId70" Type="http://schemas.openxmlformats.org/officeDocument/2006/relationships/image" Target="../media/image329.png"/><Relationship Id="rId75" Type="http://schemas.openxmlformats.org/officeDocument/2006/relationships/image" Target="../media/image334.png"/><Relationship Id="rId83" Type="http://schemas.openxmlformats.org/officeDocument/2006/relationships/image" Target="../media/image341.png"/><Relationship Id="rId1" Type="http://schemas.openxmlformats.org/officeDocument/2006/relationships/slideLayout" Target="../slideLayouts/slideLayout1.xml"/><Relationship Id="rId6" Type="http://schemas.openxmlformats.org/officeDocument/2006/relationships/image" Target="../media/image273.png"/><Relationship Id="rId15" Type="http://schemas.openxmlformats.org/officeDocument/2006/relationships/image" Target="../media/image211.png"/><Relationship Id="rId23" Type="http://schemas.openxmlformats.org/officeDocument/2006/relationships/image" Target="../media/image286.png"/><Relationship Id="rId28" Type="http://schemas.openxmlformats.org/officeDocument/2006/relationships/image" Target="../media/image290.png"/><Relationship Id="rId36" Type="http://schemas.openxmlformats.org/officeDocument/2006/relationships/image" Target="../media/image297.png"/><Relationship Id="rId49" Type="http://schemas.openxmlformats.org/officeDocument/2006/relationships/image" Target="../media/image309.png"/><Relationship Id="rId57" Type="http://schemas.openxmlformats.org/officeDocument/2006/relationships/image" Target="../media/image317.png"/><Relationship Id="rId10" Type="http://schemas.openxmlformats.org/officeDocument/2006/relationships/image" Target="../media/image277.png"/><Relationship Id="rId31" Type="http://schemas.openxmlformats.org/officeDocument/2006/relationships/image" Target="../media/image293.png"/><Relationship Id="rId44" Type="http://schemas.openxmlformats.org/officeDocument/2006/relationships/image" Target="../media/image305.png"/><Relationship Id="rId52" Type="http://schemas.openxmlformats.org/officeDocument/2006/relationships/image" Target="../media/image312.png"/><Relationship Id="rId60" Type="http://schemas.openxmlformats.org/officeDocument/2006/relationships/image" Target="../media/image319.png"/><Relationship Id="rId65" Type="http://schemas.openxmlformats.org/officeDocument/2006/relationships/image" Target="../media/image324.png"/><Relationship Id="rId73" Type="http://schemas.openxmlformats.org/officeDocument/2006/relationships/image" Target="../media/image332.png"/><Relationship Id="rId78" Type="http://schemas.openxmlformats.org/officeDocument/2006/relationships/image" Target="../media/image336.png"/><Relationship Id="rId81" Type="http://schemas.openxmlformats.org/officeDocument/2006/relationships/image" Target="../media/image339.png"/><Relationship Id="rId86" Type="http://schemas.openxmlformats.org/officeDocument/2006/relationships/image" Target="../media/image344.png"/><Relationship Id="rId4" Type="http://schemas.openxmlformats.org/officeDocument/2006/relationships/image" Target="../media/image271.png"/><Relationship Id="rId9" Type="http://schemas.openxmlformats.org/officeDocument/2006/relationships/image" Target="../media/image276.png"/><Relationship Id="rId13" Type="http://schemas.openxmlformats.org/officeDocument/2006/relationships/image" Target="../media/image100.png"/><Relationship Id="rId18" Type="http://schemas.openxmlformats.org/officeDocument/2006/relationships/image" Target="../media/image281.png"/><Relationship Id="rId39" Type="http://schemas.openxmlformats.org/officeDocument/2006/relationships/image" Target="../media/image300.png"/><Relationship Id="rId34" Type="http://schemas.openxmlformats.org/officeDocument/2006/relationships/image" Target="../media/image295.png"/><Relationship Id="rId50" Type="http://schemas.openxmlformats.org/officeDocument/2006/relationships/image" Target="../media/image310.png"/><Relationship Id="rId55" Type="http://schemas.openxmlformats.org/officeDocument/2006/relationships/image" Target="../media/image315.png"/><Relationship Id="rId76" Type="http://schemas.openxmlformats.org/officeDocument/2006/relationships/image" Target="../media/image335.png"/><Relationship Id="rId7" Type="http://schemas.openxmlformats.org/officeDocument/2006/relationships/image" Target="../media/image274.png"/><Relationship Id="rId71" Type="http://schemas.openxmlformats.org/officeDocument/2006/relationships/image" Target="../media/image330.png"/><Relationship Id="rId2" Type="http://schemas.openxmlformats.org/officeDocument/2006/relationships/notesSlide" Target="../notesSlides/notesSlide32.xml"/><Relationship Id="rId29" Type="http://schemas.openxmlformats.org/officeDocument/2006/relationships/image" Target="../media/image291.png"/><Relationship Id="rId24" Type="http://schemas.openxmlformats.org/officeDocument/2006/relationships/image" Target="../media/image214.png"/><Relationship Id="rId40" Type="http://schemas.openxmlformats.org/officeDocument/2006/relationships/image" Target="../media/image301.png"/><Relationship Id="rId45" Type="http://schemas.openxmlformats.org/officeDocument/2006/relationships/image" Target="../media/image306.png"/><Relationship Id="rId66" Type="http://schemas.openxmlformats.org/officeDocument/2006/relationships/image" Target="../media/image325.png"/><Relationship Id="rId61" Type="http://schemas.openxmlformats.org/officeDocument/2006/relationships/image" Target="../media/image320.png"/><Relationship Id="rId82" Type="http://schemas.openxmlformats.org/officeDocument/2006/relationships/image" Target="../media/image340.png"/></Relationships>
</file>

<file path=ppt/slides/_rels/slide33.xml.rels><?xml version="1.0" encoding="UTF-8" standalone="yes"?>
<Relationships xmlns="http://schemas.openxmlformats.org/package/2006/relationships"><Relationship Id="rId13" Type="http://schemas.openxmlformats.org/officeDocument/2006/relationships/image" Target="../media/image355.png"/><Relationship Id="rId18" Type="http://schemas.openxmlformats.org/officeDocument/2006/relationships/image" Target="../media/image359.png"/><Relationship Id="rId26" Type="http://schemas.openxmlformats.org/officeDocument/2006/relationships/image" Target="../media/image367.png"/><Relationship Id="rId3" Type="http://schemas.openxmlformats.org/officeDocument/2006/relationships/image" Target="../media/image345.png"/><Relationship Id="rId21" Type="http://schemas.openxmlformats.org/officeDocument/2006/relationships/image" Target="../media/image362.png"/><Relationship Id="rId34" Type="http://schemas.openxmlformats.org/officeDocument/2006/relationships/image" Target="../media/image375.png"/><Relationship Id="rId7" Type="http://schemas.openxmlformats.org/officeDocument/2006/relationships/image" Target="../media/image349.png"/><Relationship Id="rId12" Type="http://schemas.openxmlformats.org/officeDocument/2006/relationships/image" Target="../media/image354.png"/><Relationship Id="rId17" Type="http://schemas.openxmlformats.org/officeDocument/2006/relationships/image" Target="../media/image117.png"/><Relationship Id="rId25" Type="http://schemas.openxmlformats.org/officeDocument/2006/relationships/image" Target="../media/image366.png"/><Relationship Id="rId33" Type="http://schemas.openxmlformats.org/officeDocument/2006/relationships/image" Target="../media/image374.png"/><Relationship Id="rId2" Type="http://schemas.openxmlformats.org/officeDocument/2006/relationships/notesSlide" Target="../notesSlides/notesSlide33.xml"/><Relationship Id="rId16" Type="http://schemas.openxmlformats.org/officeDocument/2006/relationships/image" Target="../media/image358.png"/><Relationship Id="rId20" Type="http://schemas.openxmlformats.org/officeDocument/2006/relationships/image" Target="../media/image361.png"/><Relationship Id="rId29" Type="http://schemas.openxmlformats.org/officeDocument/2006/relationships/image" Target="../media/image370.png"/><Relationship Id="rId1" Type="http://schemas.openxmlformats.org/officeDocument/2006/relationships/slideLayout" Target="../slideLayouts/slideLayout1.xml"/><Relationship Id="rId6" Type="http://schemas.openxmlformats.org/officeDocument/2006/relationships/image" Target="../media/image348.png"/><Relationship Id="rId11" Type="http://schemas.openxmlformats.org/officeDocument/2006/relationships/image" Target="../media/image353.png"/><Relationship Id="rId24" Type="http://schemas.openxmlformats.org/officeDocument/2006/relationships/image" Target="../media/image365.png"/><Relationship Id="rId32" Type="http://schemas.openxmlformats.org/officeDocument/2006/relationships/image" Target="../media/image373.png"/><Relationship Id="rId5" Type="http://schemas.openxmlformats.org/officeDocument/2006/relationships/image" Target="../media/image347.png"/><Relationship Id="rId15" Type="http://schemas.openxmlformats.org/officeDocument/2006/relationships/image" Target="../media/image357.png"/><Relationship Id="rId23" Type="http://schemas.openxmlformats.org/officeDocument/2006/relationships/image" Target="../media/image364.png"/><Relationship Id="rId28" Type="http://schemas.openxmlformats.org/officeDocument/2006/relationships/image" Target="../media/image369.png"/><Relationship Id="rId10" Type="http://schemas.openxmlformats.org/officeDocument/2006/relationships/image" Target="../media/image352.png"/><Relationship Id="rId19" Type="http://schemas.openxmlformats.org/officeDocument/2006/relationships/image" Target="../media/image360.png"/><Relationship Id="rId31" Type="http://schemas.openxmlformats.org/officeDocument/2006/relationships/image" Target="../media/image372.png"/><Relationship Id="rId4" Type="http://schemas.openxmlformats.org/officeDocument/2006/relationships/image" Target="../media/image346.png"/><Relationship Id="rId9" Type="http://schemas.openxmlformats.org/officeDocument/2006/relationships/image" Target="../media/image351.png"/><Relationship Id="rId14" Type="http://schemas.openxmlformats.org/officeDocument/2006/relationships/image" Target="../media/image356.png"/><Relationship Id="rId22" Type="http://schemas.openxmlformats.org/officeDocument/2006/relationships/image" Target="../media/image363.png"/><Relationship Id="rId27" Type="http://schemas.openxmlformats.org/officeDocument/2006/relationships/image" Target="../media/image368.png"/><Relationship Id="rId30" Type="http://schemas.openxmlformats.org/officeDocument/2006/relationships/image" Target="../media/image371.png"/><Relationship Id="rId35" Type="http://schemas.openxmlformats.org/officeDocument/2006/relationships/image" Target="../media/image376.png"/><Relationship Id="rId8" Type="http://schemas.openxmlformats.org/officeDocument/2006/relationships/image" Target="../media/image350.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240"/>
        </a:solidFill>
        <a:effectLst/>
      </p:bgPr>
    </p:bg>
    <p:spTree>
      <p:nvGrpSpPr>
        <p:cNvPr id="1" name=""/>
        <p:cNvGrpSpPr/>
        <p:nvPr/>
      </p:nvGrpSpPr>
      <p:grpSpPr>
        <a:xfrm>
          <a:off x="0" y="0"/>
          <a:ext cx="0" cy="0"/>
          <a:chOff x="0" y="0"/>
          <a:chExt cx="0" cy="0"/>
        </a:xfrm>
      </p:grpSpPr>
      <p:sp>
        <p:nvSpPr>
          <p:cNvPr id="2" name="Shape 0"/>
          <p:cNvSpPr/>
          <p:nvPr/>
        </p:nvSpPr>
        <p:spPr>
          <a:xfrm>
            <a:off x="8595360" y="-1371600"/>
            <a:ext cx="6035040" cy="6035040"/>
          </a:xfrm>
          <a:prstGeom prst="ellipse">
            <a:avLst/>
          </a:prstGeom>
          <a:solidFill>
            <a:srgbClr val="13355F"/>
          </a:solidFill>
          <a:ln w="12700">
            <a:solidFill>
              <a:srgbClr val="333333"/>
            </a:solidFill>
            <a:prstDash val="solid"/>
          </a:ln>
        </p:spPr>
      </p:sp>
      <p:sp>
        <p:nvSpPr>
          <p:cNvPr id="3" name="Shape 1"/>
          <p:cNvSpPr/>
          <p:nvPr/>
        </p:nvSpPr>
        <p:spPr>
          <a:xfrm>
            <a:off x="9966960" y="3108960"/>
            <a:ext cx="3108960" cy="3108960"/>
          </a:xfrm>
          <a:prstGeom prst="ellipse">
            <a:avLst/>
          </a:prstGeom>
          <a:solidFill>
            <a:srgbClr val="1B6CA8"/>
          </a:solidFill>
          <a:ln w="12700">
            <a:solidFill>
              <a:srgbClr val="333333"/>
            </a:solidFill>
            <a:prstDash val="solid"/>
          </a:ln>
        </p:spPr>
      </p:sp>
      <p:sp>
        <p:nvSpPr>
          <p:cNvPr id="4" name="Shape 2"/>
          <p:cNvSpPr/>
          <p:nvPr/>
        </p:nvSpPr>
        <p:spPr>
          <a:xfrm>
            <a:off x="9281160" y="-685800"/>
            <a:ext cx="4663440" cy="4663440"/>
          </a:xfrm>
          <a:prstGeom prst="ellipse">
            <a:avLst/>
          </a:prstGeom>
          <a:solidFill>
            <a:srgbClr val="00A9E0"/>
          </a:solidFill>
          <a:ln w="12700">
            <a:solidFill>
              <a:srgbClr val="333333"/>
            </a:solidFill>
            <a:prstDash val="solid"/>
          </a:ln>
        </p:spPr>
      </p:sp>
      <p:sp>
        <p:nvSpPr>
          <p:cNvPr id="5" name="Text 3"/>
          <p:cNvSpPr/>
          <p:nvPr/>
        </p:nvSpPr>
        <p:spPr>
          <a:xfrm>
            <a:off x="548640" y="1572768"/>
            <a:ext cx="7863840" cy="274320"/>
          </a:xfrm>
          <a:prstGeom prst="rect">
            <a:avLst/>
          </a:prstGeom>
          <a:noFill/>
          <a:ln/>
        </p:spPr>
        <p:txBody>
          <a:bodyPr wrap="square" lIns="0" tIns="0" rIns="0" bIns="0" rtlCol="0" anchor="ctr"/>
          <a:lstStyle/>
          <a:p>
            <a:pPr marL="0" indent="0">
              <a:buNone/>
            </a:pPr>
            <a:r>
              <a:rPr lang="en-US" sz="1200" b="1" kern="0" spc="300" dirty="0">
                <a:solidFill>
                  <a:srgbClr val="00A9E0"/>
                </a:solidFill>
                <a:latin typeface="Calibri" pitchFamily="34" charset="0"/>
                <a:ea typeface="Calibri" pitchFamily="34" charset="-122"/>
                <a:cs typeface="Calibri" pitchFamily="34" charset="-120"/>
              </a:rPr>
              <a:t>BALL CORPORATION  ·  PROPOSAL</a:t>
            </a:r>
            <a:endParaRPr lang="en-US" sz="1200" dirty="0"/>
          </a:p>
        </p:txBody>
      </p:sp>
      <p:sp>
        <p:nvSpPr>
          <p:cNvPr id="6" name="Text 4"/>
          <p:cNvSpPr/>
          <p:nvPr/>
        </p:nvSpPr>
        <p:spPr>
          <a:xfrm>
            <a:off x="548640" y="1938528"/>
            <a:ext cx="7863840" cy="1691640"/>
          </a:xfrm>
          <a:prstGeom prst="rect">
            <a:avLst/>
          </a:prstGeom>
          <a:noFill/>
          <a:ln/>
        </p:spPr>
        <p:txBody>
          <a:bodyPr wrap="square" lIns="0" tIns="0" rIns="0" bIns="0" rtlCol="0" anchor="ctr"/>
          <a:lstStyle/>
          <a:p>
            <a:pPr marL="0" indent="0">
              <a:lnSpc>
                <a:spcPts val="5000"/>
              </a:lnSpc>
              <a:buNone/>
            </a:pPr>
            <a:r>
              <a:rPr lang="en-US" sz="4600" b="1" dirty="0">
                <a:solidFill>
                  <a:srgbClr val="FFFFFF"/>
                </a:solidFill>
                <a:latin typeface="Cambria" pitchFamily="34" charset="0"/>
                <a:ea typeface="Cambria" pitchFamily="34" charset="-122"/>
                <a:cs typeface="Cambria" pitchFamily="34" charset="-120"/>
              </a:rPr>
              <a:t>Establishing AI Practice and Agentic AI Framework at</a:t>
            </a:r>
            <a:endParaRPr lang="en-US" sz="4600" dirty="0"/>
          </a:p>
          <a:p>
            <a:pPr marL="0" indent="0">
              <a:lnSpc>
                <a:spcPts val="5000"/>
              </a:lnSpc>
              <a:buNone/>
            </a:pPr>
            <a:r>
              <a:rPr lang="en-US" sz="4600" b="1" dirty="0">
                <a:solidFill>
                  <a:srgbClr val="FFFFFF"/>
                </a:solidFill>
                <a:latin typeface="Cambria" pitchFamily="34" charset="0"/>
                <a:ea typeface="Cambria" pitchFamily="34" charset="-122"/>
                <a:cs typeface="Cambria" pitchFamily="34" charset="-120"/>
              </a:rPr>
              <a:t>Ball Corp </a:t>
            </a:r>
            <a:endParaRPr lang="en-US" sz="4600" dirty="0"/>
          </a:p>
        </p:txBody>
      </p:sp>
      <p:sp>
        <p:nvSpPr>
          <p:cNvPr id="7" name="Text 5"/>
          <p:cNvSpPr/>
          <p:nvPr/>
        </p:nvSpPr>
        <p:spPr>
          <a:xfrm>
            <a:off x="548640" y="3794760"/>
            <a:ext cx="7680960" cy="822960"/>
          </a:xfrm>
          <a:prstGeom prst="rect">
            <a:avLst/>
          </a:prstGeom>
          <a:noFill/>
          <a:ln/>
        </p:spPr>
        <p:txBody>
          <a:bodyPr wrap="square" lIns="0" tIns="0" rIns="0" bIns="0" rtlCol="0" anchor="ctr"/>
          <a:lstStyle/>
          <a:p>
            <a:pPr marL="0" indent="0">
              <a:lnSpc>
                <a:spcPts val="2200"/>
              </a:lnSpc>
              <a:buNone/>
            </a:pPr>
            <a:r>
              <a:rPr lang="en-US" sz="1500" dirty="0">
                <a:solidFill>
                  <a:srgbClr val="AEB9C4"/>
                </a:solidFill>
                <a:latin typeface="Calibri" pitchFamily="34" charset="0"/>
                <a:ea typeface="Calibri" pitchFamily="34" charset="-122"/>
                <a:cs typeface="Calibri" pitchFamily="34" charset="-120"/>
              </a:rPr>
              <a:t>An enterprise-wide agentic AI operating model spanning ERP, JD Edwards, SAP, Databricks, open-source engineering, QA and the business functions.</a:t>
            </a:r>
            <a:endParaRPr lang="en-US" sz="1500" dirty="0"/>
          </a:p>
        </p:txBody>
      </p:sp>
      <p:sp>
        <p:nvSpPr>
          <p:cNvPr id="8" name="Shape 6"/>
          <p:cNvSpPr/>
          <p:nvPr/>
        </p:nvSpPr>
        <p:spPr>
          <a:xfrm>
            <a:off x="548640" y="4846320"/>
            <a:ext cx="2029968" cy="384048"/>
          </a:xfrm>
          <a:prstGeom prst="roundRect">
            <a:avLst>
              <a:gd name="adj" fmla="val 47619"/>
            </a:avLst>
          </a:prstGeom>
          <a:solidFill>
            <a:srgbClr val="13355F"/>
          </a:solidFill>
          <a:ln w="12700">
            <a:solidFill>
              <a:srgbClr val="1B6CA8"/>
            </a:solidFill>
            <a:prstDash val="solid"/>
          </a:ln>
        </p:spPr>
      </p:sp>
      <p:sp>
        <p:nvSpPr>
          <p:cNvPr id="9" name="Text 7"/>
          <p:cNvSpPr/>
          <p:nvPr/>
        </p:nvSpPr>
        <p:spPr>
          <a:xfrm>
            <a:off x="548640" y="4846320"/>
            <a:ext cx="2029968" cy="384048"/>
          </a:xfrm>
          <a:prstGeom prst="rect">
            <a:avLst/>
          </a:prstGeom>
          <a:noFill/>
          <a:ln/>
        </p:spPr>
        <p:txBody>
          <a:bodyPr wrap="square" lIns="0" tIns="0" rIns="0" bIns="0" rtlCol="0" anchor="ctr"/>
          <a:lstStyle/>
          <a:p>
            <a:pPr marL="0" indent="0" algn="ctr">
              <a:buNone/>
            </a:pPr>
            <a:r>
              <a:rPr lang="en-US" sz="1050" b="1" dirty="0">
                <a:solidFill>
                  <a:srgbClr val="00A9E0"/>
                </a:solidFill>
                <a:latin typeface="Calibri" pitchFamily="34" charset="0"/>
                <a:ea typeface="Calibri" pitchFamily="34" charset="-122"/>
                <a:cs typeface="Calibri" pitchFamily="34" charset="-120"/>
              </a:rPr>
              <a:t>Data &amp; AI Foundation</a:t>
            </a:r>
            <a:endParaRPr lang="en-US" sz="1050" dirty="0"/>
          </a:p>
        </p:txBody>
      </p:sp>
      <p:sp>
        <p:nvSpPr>
          <p:cNvPr id="10" name="Shape 8"/>
          <p:cNvSpPr/>
          <p:nvPr/>
        </p:nvSpPr>
        <p:spPr>
          <a:xfrm>
            <a:off x="2743200" y="4846320"/>
            <a:ext cx="1952244" cy="384048"/>
          </a:xfrm>
          <a:prstGeom prst="roundRect">
            <a:avLst>
              <a:gd name="adj" fmla="val 47619"/>
            </a:avLst>
          </a:prstGeom>
          <a:solidFill>
            <a:srgbClr val="13355F"/>
          </a:solidFill>
          <a:ln w="12700">
            <a:solidFill>
              <a:srgbClr val="1B6CA8"/>
            </a:solidFill>
            <a:prstDash val="solid"/>
          </a:ln>
        </p:spPr>
      </p:sp>
      <p:sp>
        <p:nvSpPr>
          <p:cNvPr id="11" name="Text 9"/>
          <p:cNvSpPr/>
          <p:nvPr/>
        </p:nvSpPr>
        <p:spPr>
          <a:xfrm>
            <a:off x="2743200" y="4846320"/>
            <a:ext cx="1952244" cy="384048"/>
          </a:xfrm>
          <a:prstGeom prst="rect">
            <a:avLst/>
          </a:prstGeom>
          <a:noFill/>
          <a:ln/>
        </p:spPr>
        <p:txBody>
          <a:bodyPr wrap="square" lIns="0" tIns="0" rIns="0" bIns="0" rtlCol="0" anchor="ctr"/>
          <a:lstStyle/>
          <a:p>
            <a:pPr marL="0" indent="0" algn="ctr">
              <a:buNone/>
            </a:pPr>
            <a:r>
              <a:rPr lang="en-US" sz="1050" b="1" dirty="0">
                <a:solidFill>
                  <a:srgbClr val="00A9E0"/>
                </a:solidFill>
                <a:latin typeface="Calibri" pitchFamily="34" charset="0"/>
                <a:ea typeface="Calibri" pitchFamily="34" charset="-122"/>
                <a:cs typeface="Calibri" pitchFamily="34" charset="-120"/>
              </a:rPr>
              <a:t>Context Engineering</a:t>
            </a:r>
            <a:endParaRPr lang="en-US" sz="1050" dirty="0"/>
          </a:p>
        </p:txBody>
      </p:sp>
      <p:sp>
        <p:nvSpPr>
          <p:cNvPr id="12" name="Shape 10"/>
          <p:cNvSpPr/>
          <p:nvPr/>
        </p:nvSpPr>
        <p:spPr>
          <a:xfrm>
            <a:off x="4860036" y="4846320"/>
            <a:ext cx="1408176" cy="384048"/>
          </a:xfrm>
          <a:prstGeom prst="roundRect">
            <a:avLst>
              <a:gd name="adj" fmla="val 47619"/>
            </a:avLst>
          </a:prstGeom>
          <a:solidFill>
            <a:srgbClr val="13355F"/>
          </a:solidFill>
          <a:ln w="12700">
            <a:solidFill>
              <a:srgbClr val="1B6CA8"/>
            </a:solidFill>
            <a:prstDash val="solid"/>
          </a:ln>
        </p:spPr>
      </p:sp>
      <p:sp>
        <p:nvSpPr>
          <p:cNvPr id="13" name="Text 11"/>
          <p:cNvSpPr/>
          <p:nvPr/>
        </p:nvSpPr>
        <p:spPr>
          <a:xfrm>
            <a:off x="4860036" y="4846320"/>
            <a:ext cx="1408176" cy="384048"/>
          </a:xfrm>
          <a:prstGeom prst="rect">
            <a:avLst/>
          </a:prstGeom>
          <a:noFill/>
          <a:ln/>
        </p:spPr>
        <p:txBody>
          <a:bodyPr wrap="square" lIns="0" tIns="0" rIns="0" bIns="0" rtlCol="0" anchor="ctr"/>
          <a:lstStyle/>
          <a:p>
            <a:pPr marL="0" indent="0" algn="ctr">
              <a:buNone/>
            </a:pPr>
            <a:r>
              <a:rPr lang="en-US" sz="1050" b="1" dirty="0">
                <a:solidFill>
                  <a:srgbClr val="00A9E0"/>
                </a:solidFill>
                <a:latin typeface="Calibri" pitchFamily="34" charset="0"/>
                <a:ea typeface="Calibri" pitchFamily="34" charset="-122"/>
                <a:cs typeface="Calibri" pitchFamily="34" charset="-120"/>
              </a:rPr>
              <a:t>Agentic Mesh</a:t>
            </a:r>
            <a:endParaRPr lang="en-US" sz="1050" dirty="0"/>
          </a:p>
        </p:txBody>
      </p:sp>
      <p:sp>
        <p:nvSpPr>
          <p:cNvPr id="14" name="Shape 12"/>
          <p:cNvSpPr/>
          <p:nvPr/>
        </p:nvSpPr>
        <p:spPr>
          <a:xfrm>
            <a:off x="6432804" y="4846320"/>
            <a:ext cx="1874520" cy="384048"/>
          </a:xfrm>
          <a:prstGeom prst="roundRect">
            <a:avLst>
              <a:gd name="adj" fmla="val 47619"/>
            </a:avLst>
          </a:prstGeom>
          <a:solidFill>
            <a:srgbClr val="13355F"/>
          </a:solidFill>
          <a:ln w="12700">
            <a:solidFill>
              <a:srgbClr val="1B6CA8"/>
            </a:solidFill>
            <a:prstDash val="solid"/>
          </a:ln>
        </p:spPr>
      </p:sp>
      <p:sp>
        <p:nvSpPr>
          <p:cNvPr id="15" name="Text 13"/>
          <p:cNvSpPr/>
          <p:nvPr/>
        </p:nvSpPr>
        <p:spPr>
          <a:xfrm>
            <a:off x="6432804" y="4846320"/>
            <a:ext cx="1874520" cy="384048"/>
          </a:xfrm>
          <a:prstGeom prst="rect">
            <a:avLst/>
          </a:prstGeom>
          <a:noFill/>
          <a:ln/>
        </p:spPr>
        <p:txBody>
          <a:bodyPr wrap="square" lIns="0" tIns="0" rIns="0" bIns="0" rtlCol="0" anchor="ctr"/>
          <a:lstStyle/>
          <a:p>
            <a:pPr marL="0" indent="0" algn="ctr">
              <a:buNone/>
            </a:pPr>
            <a:r>
              <a:rPr lang="en-US" sz="1050" b="1" dirty="0">
                <a:solidFill>
                  <a:srgbClr val="00A9E0"/>
                </a:solidFill>
                <a:latin typeface="Calibri" pitchFamily="34" charset="0"/>
                <a:ea typeface="Calibri" pitchFamily="34" charset="-122"/>
                <a:cs typeface="Calibri" pitchFamily="34" charset="-120"/>
              </a:rPr>
              <a:t>FDE Delivery Model</a:t>
            </a:r>
            <a:endParaRPr lang="en-US" sz="1050" dirty="0"/>
          </a:p>
        </p:txBody>
      </p:sp>
      <p:sp>
        <p:nvSpPr>
          <p:cNvPr id="16" name="Text 14"/>
          <p:cNvSpPr/>
          <p:nvPr/>
        </p:nvSpPr>
        <p:spPr>
          <a:xfrm>
            <a:off x="548640" y="5943600"/>
            <a:ext cx="8686800" cy="274320"/>
          </a:xfrm>
          <a:prstGeom prst="rect">
            <a:avLst/>
          </a:prstGeom>
          <a:noFill/>
          <a:ln/>
        </p:spPr>
        <p:txBody>
          <a:bodyPr wrap="square" lIns="0" tIns="0" rIns="0" bIns="0" rtlCol="0" anchor="ctr"/>
          <a:lstStyle/>
          <a:p>
            <a:pPr marL="0" indent="0">
              <a:buNone/>
            </a:pPr>
            <a:r>
              <a:rPr lang="en-US" sz="1000" dirty="0">
                <a:solidFill>
                  <a:srgbClr val="5A6B7B"/>
                </a:solidFill>
                <a:latin typeface="Calibri" pitchFamily="34" charset="0"/>
                <a:ea typeface="Calibri" pitchFamily="34" charset="-122"/>
                <a:cs typeface="Calibri" pitchFamily="34" charset="-120"/>
              </a:rPr>
              <a:t>Prepared for the Ball Corporation technology leadership team  ·  Internal working draft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CONTENTS</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What we will cover</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481328"/>
            <a:ext cx="3503066" cy="2157984"/>
          </a:xfrm>
          <a:prstGeom prst="roundRect">
            <a:avLst>
              <a:gd name="adj" fmla="val 339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7" name="Shape 5"/>
          <p:cNvSpPr/>
          <p:nvPr/>
        </p:nvSpPr>
        <p:spPr>
          <a:xfrm>
            <a:off x="786384" y="1700784"/>
            <a:ext cx="402336" cy="402336"/>
          </a:xfrm>
          <a:prstGeom prst="ellipse">
            <a:avLst/>
          </a:prstGeom>
          <a:solidFill>
            <a:srgbClr val="00A9E0"/>
          </a:solidFill>
          <a:ln w="12700">
            <a:solidFill>
              <a:srgbClr val="00A9E0"/>
            </a:solidFill>
            <a:prstDash val="solid"/>
          </a:ln>
        </p:spPr>
      </p:sp>
      <p:sp>
        <p:nvSpPr>
          <p:cNvPr id="8" name="Text 6"/>
          <p:cNvSpPr/>
          <p:nvPr/>
        </p:nvSpPr>
        <p:spPr>
          <a:xfrm>
            <a:off x="786384" y="1700784"/>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1298448" y="1682496"/>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Where we stand</a:t>
            </a:r>
            <a:endParaRPr lang="en-US" sz="1400" dirty="0"/>
          </a:p>
        </p:txBody>
      </p:sp>
      <p:sp>
        <p:nvSpPr>
          <p:cNvPr id="10" name="Text 8"/>
          <p:cNvSpPr/>
          <p:nvPr/>
        </p:nvSpPr>
        <p:spPr>
          <a:xfrm>
            <a:off x="804672" y="2231136"/>
            <a:ext cx="2991002" cy="1225296"/>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Industry advancements in AI</a:t>
            </a:r>
            <a:endParaRPr lang="en-US" sz="1150" dirty="0"/>
          </a:p>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Ball current status &amp; gaps</a:t>
            </a:r>
            <a:endParaRPr lang="en-US" sz="1150" dirty="0"/>
          </a:p>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The case for an AI Division</a:t>
            </a:r>
            <a:endParaRPr lang="en-US" sz="1150" dirty="0"/>
          </a:p>
        </p:txBody>
      </p:sp>
      <p:sp>
        <p:nvSpPr>
          <p:cNvPr id="11" name="Shape 9"/>
          <p:cNvSpPr/>
          <p:nvPr/>
        </p:nvSpPr>
        <p:spPr>
          <a:xfrm>
            <a:off x="4344314" y="1481328"/>
            <a:ext cx="3503066" cy="2157984"/>
          </a:xfrm>
          <a:prstGeom prst="roundRect">
            <a:avLst>
              <a:gd name="adj" fmla="val 339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2" name="Shape 10"/>
          <p:cNvSpPr/>
          <p:nvPr/>
        </p:nvSpPr>
        <p:spPr>
          <a:xfrm>
            <a:off x="4582058" y="1700784"/>
            <a:ext cx="402336" cy="402336"/>
          </a:xfrm>
          <a:prstGeom prst="ellipse">
            <a:avLst/>
          </a:prstGeom>
          <a:solidFill>
            <a:srgbClr val="00A9E0"/>
          </a:solidFill>
          <a:ln w="12700">
            <a:solidFill>
              <a:srgbClr val="00A9E0"/>
            </a:solidFill>
            <a:prstDash val="solid"/>
          </a:ln>
        </p:spPr>
      </p:sp>
      <p:sp>
        <p:nvSpPr>
          <p:cNvPr id="13" name="Text 11"/>
          <p:cNvSpPr/>
          <p:nvPr/>
        </p:nvSpPr>
        <p:spPr>
          <a:xfrm>
            <a:off x="4582058" y="1700784"/>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5094122" y="1682496"/>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The foundation</a:t>
            </a:r>
            <a:endParaRPr lang="en-US" sz="1400" dirty="0"/>
          </a:p>
        </p:txBody>
      </p:sp>
      <p:sp>
        <p:nvSpPr>
          <p:cNvPr id="15" name="Text 13"/>
          <p:cNvSpPr/>
          <p:nvPr/>
        </p:nvSpPr>
        <p:spPr>
          <a:xfrm>
            <a:off x="4600346" y="2231136"/>
            <a:ext cx="2991002" cy="1225296"/>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AI &amp; Data roadmap</a:t>
            </a:r>
            <a:endParaRPr lang="en-US" sz="1150" dirty="0"/>
          </a:p>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AI data assessment → GenAI framework</a:t>
            </a:r>
            <a:endParaRPr lang="en-US" sz="1150" dirty="0"/>
          </a:p>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Databricks as the data foundation</a:t>
            </a:r>
            <a:endParaRPr lang="en-US" sz="1150" dirty="0"/>
          </a:p>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AI tech stack &amp; ADLC</a:t>
            </a:r>
            <a:endParaRPr lang="en-US" sz="1150" dirty="0"/>
          </a:p>
        </p:txBody>
      </p:sp>
      <p:sp>
        <p:nvSpPr>
          <p:cNvPr id="16" name="Shape 14"/>
          <p:cNvSpPr/>
          <p:nvPr/>
        </p:nvSpPr>
        <p:spPr>
          <a:xfrm>
            <a:off x="8139989" y="1481328"/>
            <a:ext cx="3503066" cy="2157984"/>
          </a:xfrm>
          <a:prstGeom prst="roundRect">
            <a:avLst>
              <a:gd name="adj" fmla="val 339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txBody>
          <a:bodyPr/>
          <a:lstStyle/>
          <a:p>
            <a:endParaRPr lang="en-US" dirty="0"/>
          </a:p>
        </p:txBody>
      </p:sp>
      <p:sp>
        <p:nvSpPr>
          <p:cNvPr id="17" name="Shape 15"/>
          <p:cNvSpPr/>
          <p:nvPr/>
        </p:nvSpPr>
        <p:spPr>
          <a:xfrm>
            <a:off x="8377733" y="1700784"/>
            <a:ext cx="402336" cy="402336"/>
          </a:xfrm>
          <a:prstGeom prst="ellipse">
            <a:avLst/>
          </a:prstGeom>
          <a:solidFill>
            <a:srgbClr val="00A9E0"/>
          </a:solidFill>
          <a:ln w="12700">
            <a:solidFill>
              <a:srgbClr val="00A9E0"/>
            </a:solidFill>
            <a:prstDash val="solid"/>
          </a:ln>
        </p:spPr>
      </p:sp>
      <p:sp>
        <p:nvSpPr>
          <p:cNvPr id="18" name="Text 16"/>
          <p:cNvSpPr/>
          <p:nvPr/>
        </p:nvSpPr>
        <p:spPr>
          <a:xfrm>
            <a:off x="8377733" y="1700784"/>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03</a:t>
            </a:r>
            <a:endParaRPr lang="en-US" sz="1300" dirty="0"/>
          </a:p>
        </p:txBody>
      </p:sp>
      <p:sp>
        <p:nvSpPr>
          <p:cNvPr id="19" name="Text 17"/>
          <p:cNvSpPr/>
          <p:nvPr/>
        </p:nvSpPr>
        <p:spPr>
          <a:xfrm>
            <a:off x="8889797" y="1682496"/>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The disciplines</a:t>
            </a:r>
            <a:endParaRPr lang="en-US" sz="1400" dirty="0"/>
          </a:p>
        </p:txBody>
      </p:sp>
      <p:sp>
        <p:nvSpPr>
          <p:cNvPr id="20" name="Text 18"/>
          <p:cNvSpPr/>
          <p:nvPr/>
        </p:nvSpPr>
        <p:spPr>
          <a:xfrm>
            <a:off x="8396021" y="2231136"/>
            <a:ext cx="2991002" cy="1225296"/>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Context engineering &amp; the CE team</a:t>
            </a:r>
            <a:endParaRPr lang="en-US" sz="1150" dirty="0"/>
          </a:p>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Harness engineering</a:t>
            </a:r>
            <a:endParaRPr lang="en-US" sz="1150" dirty="0"/>
          </a:p>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Forward Deployed Engineer (FDE) model</a:t>
            </a:r>
            <a:endParaRPr lang="en-US" sz="1150" dirty="0"/>
          </a:p>
        </p:txBody>
      </p:sp>
      <p:sp>
        <p:nvSpPr>
          <p:cNvPr id="21" name="Shape 19"/>
          <p:cNvSpPr/>
          <p:nvPr/>
        </p:nvSpPr>
        <p:spPr>
          <a:xfrm>
            <a:off x="548640" y="3877056"/>
            <a:ext cx="3503066" cy="2157984"/>
          </a:xfrm>
          <a:prstGeom prst="roundRect">
            <a:avLst>
              <a:gd name="adj" fmla="val 339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2" name="Shape 20"/>
          <p:cNvSpPr/>
          <p:nvPr/>
        </p:nvSpPr>
        <p:spPr>
          <a:xfrm>
            <a:off x="786384" y="4096512"/>
            <a:ext cx="402336" cy="402336"/>
          </a:xfrm>
          <a:prstGeom prst="ellipse">
            <a:avLst/>
          </a:prstGeom>
          <a:solidFill>
            <a:srgbClr val="00A9E0"/>
          </a:solidFill>
          <a:ln w="12700">
            <a:solidFill>
              <a:srgbClr val="00A9E0"/>
            </a:solidFill>
            <a:prstDash val="solid"/>
          </a:ln>
        </p:spPr>
      </p:sp>
      <p:sp>
        <p:nvSpPr>
          <p:cNvPr id="23" name="Text 21"/>
          <p:cNvSpPr/>
          <p:nvPr/>
        </p:nvSpPr>
        <p:spPr>
          <a:xfrm>
            <a:off x="786384" y="4096512"/>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04</a:t>
            </a:r>
            <a:endParaRPr lang="en-US" sz="1300" dirty="0"/>
          </a:p>
        </p:txBody>
      </p:sp>
      <p:sp>
        <p:nvSpPr>
          <p:cNvPr id="24" name="Text 22"/>
          <p:cNvSpPr/>
          <p:nvPr/>
        </p:nvSpPr>
        <p:spPr>
          <a:xfrm>
            <a:off x="1298448" y="4078224"/>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The architecture</a:t>
            </a:r>
            <a:endParaRPr lang="en-US" sz="1400" dirty="0"/>
          </a:p>
        </p:txBody>
      </p:sp>
      <p:sp>
        <p:nvSpPr>
          <p:cNvPr id="25" name="Text 23"/>
          <p:cNvSpPr/>
          <p:nvPr/>
        </p:nvSpPr>
        <p:spPr>
          <a:xfrm>
            <a:off x="804672" y="4626864"/>
            <a:ext cx="2991002" cy="1225296"/>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Multi Agent orchestration/Agentic mesh</a:t>
            </a:r>
            <a:endParaRPr lang="en-US" sz="1150" dirty="0"/>
          </a:p>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Six MCP servers</a:t>
            </a:r>
            <a:endParaRPr lang="en-US" sz="1150" dirty="0"/>
          </a:p>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AI gateway &amp; AI observability</a:t>
            </a:r>
            <a:endParaRPr lang="en-US" sz="1150" dirty="0"/>
          </a:p>
        </p:txBody>
      </p:sp>
      <p:sp>
        <p:nvSpPr>
          <p:cNvPr id="26" name="Shape 24"/>
          <p:cNvSpPr/>
          <p:nvPr/>
        </p:nvSpPr>
        <p:spPr>
          <a:xfrm>
            <a:off x="4344314" y="3877056"/>
            <a:ext cx="3503066" cy="2157984"/>
          </a:xfrm>
          <a:prstGeom prst="roundRect">
            <a:avLst>
              <a:gd name="adj" fmla="val 339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7" name="Shape 25"/>
          <p:cNvSpPr/>
          <p:nvPr/>
        </p:nvSpPr>
        <p:spPr>
          <a:xfrm>
            <a:off x="4582058" y="4096512"/>
            <a:ext cx="402336" cy="402336"/>
          </a:xfrm>
          <a:prstGeom prst="ellipse">
            <a:avLst/>
          </a:prstGeom>
          <a:solidFill>
            <a:srgbClr val="00A9E0"/>
          </a:solidFill>
          <a:ln w="12700">
            <a:solidFill>
              <a:srgbClr val="00A9E0"/>
            </a:solidFill>
            <a:prstDash val="solid"/>
          </a:ln>
        </p:spPr>
      </p:sp>
      <p:sp>
        <p:nvSpPr>
          <p:cNvPr id="28" name="Text 26"/>
          <p:cNvSpPr/>
          <p:nvPr/>
        </p:nvSpPr>
        <p:spPr>
          <a:xfrm>
            <a:off x="4582058" y="4096512"/>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05</a:t>
            </a:r>
            <a:endParaRPr lang="en-US" sz="1300" dirty="0"/>
          </a:p>
        </p:txBody>
      </p:sp>
      <p:sp>
        <p:nvSpPr>
          <p:cNvPr id="29" name="Text 27"/>
          <p:cNvSpPr/>
          <p:nvPr/>
        </p:nvSpPr>
        <p:spPr>
          <a:xfrm>
            <a:off x="5094122" y="4078224"/>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The integrations</a:t>
            </a:r>
            <a:endParaRPr lang="en-US" sz="1400" dirty="0"/>
          </a:p>
        </p:txBody>
      </p:sp>
      <p:sp>
        <p:nvSpPr>
          <p:cNvPr id="30" name="Text 28"/>
          <p:cNvSpPr/>
          <p:nvPr/>
        </p:nvSpPr>
        <p:spPr>
          <a:xfrm>
            <a:off x="4600346" y="4626864"/>
            <a:ext cx="2991002" cy="1225296"/>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DE.AI IDE ↔ Databricks</a:t>
            </a:r>
            <a:endParaRPr lang="en-US" sz="1150" dirty="0"/>
          </a:p>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JD Edwards API ↔ Claude ↔ MCP</a:t>
            </a:r>
            <a:endParaRPr lang="en-US" sz="1150" dirty="0"/>
          </a:p>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SAP IDE integration (in progress)</a:t>
            </a:r>
            <a:endParaRPr lang="en-US" sz="1150" dirty="0"/>
          </a:p>
        </p:txBody>
      </p:sp>
      <p:sp>
        <p:nvSpPr>
          <p:cNvPr id="31" name="Shape 29"/>
          <p:cNvSpPr/>
          <p:nvPr/>
        </p:nvSpPr>
        <p:spPr>
          <a:xfrm>
            <a:off x="8139989" y="3877056"/>
            <a:ext cx="3503066" cy="2157984"/>
          </a:xfrm>
          <a:prstGeom prst="roundRect">
            <a:avLst>
              <a:gd name="adj" fmla="val 339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32" name="Shape 30"/>
          <p:cNvSpPr/>
          <p:nvPr/>
        </p:nvSpPr>
        <p:spPr>
          <a:xfrm>
            <a:off x="8377733" y="4096512"/>
            <a:ext cx="402336" cy="402336"/>
          </a:xfrm>
          <a:prstGeom prst="ellipse">
            <a:avLst/>
          </a:prstGeom>
          <a:solidFill>
            <a:srgbClr val="00A9E0"/>
          </a:solidFill>
          <a:ln w="12700">
            <a:solidFill>
              <a:srgbClr val="00A9E0"/>
            </a:solidFill>
            <a:prstDash val="solid"/>
          </a:ln>
        </p:spPr>
      </p:sp>
      <p:sp>
        <p:nvSpPr>
          <p:cNvPr id="33" name="Text 31"/>
          <p:cNvSpPr/>
          <p:nvPr/>
        </p:nvSpPr>
        <p:spPr>
          <a:xfrm>
            <a:off x="8377733" y="4096512"/>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06</a:t>
            </a:r>
            <a:endParaRPr lang="en-US" sz="1300" dirty="0"/>
          </a:p>
        </p:txBody>
      </p:sp>
      <p:sp>
        <p:nvSpPr>
          <p:cNvPr id="34" name="Text 32"/>
          <p:cNvSpPr/>
          <p:nvPr/>
        </p:nvSpPr>
        <p:spPr>
          <a:xfrm>
            <a:off x="8889797" y="4078224"/>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The plan</a:t>
            </a:r>
            <a:endParaRPr lang="en-US" sz="1400" dirty="0"/>
          </a:p>
        </p:txBody>
      </p:sp>
      <p:sp>
        <p:nvSpPr>
          <p:cNvPr id="35" name="Text 33"/>
          <p:cNvSpPr/>
          <p:nvPr/>
        </p:nvSpPr>
        <p:spPr>
          <a:xfrm>
            <a:off x="8396021" y="4626864"/>
            <a:ext cx="2991002" cy="1225296"/>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Agentic program task plan</a:t>
            </a:r>
            <a:endParaRPr lang="en-US" sz="1150" dirty="0"/>
          </a:p>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Governance, security &amp; risk</a:t>
            </a:r>
            <a:endParaRPr lang="en-US" sz="1150" dirty="0"/>
          </a:p>
          <a:p>
            <a:pPr marL="342900" indent="-342900">
              <a:lnSpc>
                <a:spcPts val="1500"/>
              </a:lnSpc>
              <a:spcAft>
                <a:spcPts val="500"/>
              </a:spcAft>
              <a:buSzPct val="100000"/>
              <a:buChar char="•"/>
            </a:pPr>
            <a:r>
              <a:rPr lang="en-US" sz="1150" dirty="0">
                <a:solidFill>
                  <a:srgbClr val="5A6B7B"/>
                </a:solidFill>
                <a:latin typeface="Calibri" pitchFamily="34" charset="0"/>
                <a:ea typeface="Calibri" pitchFamily="34" charset="-122"/>
                <a:cs typeface="Calibri" pitchFamily="34" charset="-120"/>
              </a:rPr>
              <a:t>Success measures and the ask</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1</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Where the industry actually is in 2026</a:t>
            </a:r>
            <a:endParaRPr lang="en-US" sz="3400" dirty="0"/>
          </a:p>
        </p:txBody>
      </p:sp>
      <p:sp>
        <p:nvSpPr>
          <p:cNvPr id="4" name="Text 2"/>
          <p:cNvSpPr/>
          <p:nvPr/>
        </p:nvSpPr>
        <p:spPr>
          <a:xfrm>
            <a:off x="548640" y="1280160"/>
            <a:ext cx="11094415" cy="292608"/>
          </a:xfrm>
          <a:prstGeom prst="rect">
            <a:avLst/>
          </a:prstGeom>
          <a:noFill/>
          <a:ln/>
        </p:spPr>
        <p:txBody>
          <a:bodyPr wrap="square" lIns="0" tIns="0" rIns="0" bIns="0" rtlCol="0" anchor="ctr"/>
          <a:lstStyle/>
          <a:p>
            <a:pPr marL="0" indent="0">
              <a:buNone/>
            </a:pPr>
            <a:r>
              <a:rPr lang="en-US" sz="1250" i="1" dirty="0">
                <a:solidFill>
                  <a:srgbClr val="5A6B7B"/>
                </a:solidFill>
                <a:latin typeface="Calibri" pitchFamily="34" charset="0"/>
                <a:ea typeface="Calibri" pitchFamily="34" charset="-122"/>
                <a:cs typeface="Calibri" pitchFamily="34" charset="-120"/>
              </a:rPr>
              <a:t>Published market signals — the shift from experimentation to governed production is already underway.</a:t>
            </a:r>
            <a:endParaRPr lang="en-US" sz="1250" dirty="0"/>
          </a:p>
        </p:txBody>
      </p:sp>
      <p:sp>
        <p:nvSpPr>
          <p:cNvPr id="5" name="Text 3"/>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6" name="Text 4"/>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4</a:t>
            </a:r>
            <a:endParaRPr lang="en-US" sz="900" dirty="0"/>
          </a:p>
        </p:txBody>
      </p:sp>
      <p:graphicFrame>
        <p:nvGraphicFramePr>
          <p:cNvPr id="7" name="Chart 0"/>
          <p:cNvGraphicFramePr/>
          <p:nvPr/>
        </p:nvGraphicFramePr>
        <p:xfrm>
          <a:off x="548640" y="1737360"/>
          <a:ext cx="6766560" cy="388620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635240" y="1737360"/>
            <a:ext cx="4007815" cy="1280160"/>
          </a:xfrm>
          <a:prstGeom prst="roundRect">
            <a:avLst>
              <a:gd name="adj" fmla="val 5714"/>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9" name="Shape 6"/>
          <p:cNvSpPr/>
          <p:nvPr/>
        </p:nvSpPr>
        <p:spPr>
          <a:xfrm>
            <a:off x="7872984" y="1956816"/>
            <a:ext cx="402336" cy="402336"/>
          </a:xfrm>
          <a:prstGeom prst="ellipse">
            <a:avLst/>
          </a:prstGeom>
          <a:solidFill>
            <a:srgbClr val="00A9E0"/>
          </a:solidFill>
          <a:ln w="12700">
            <a:solidFill>
              <a:srgbClr val="00A9E0"/>
            </a:solidFill>
            <a:prstDash val="solid"/>
          </a:ln>
        </p:spPr>
      </p:sp>
      <p:sp>
        <p:nvSpPr>
          <p:cNvPr id="10" name="Text 7"/>
          <p:cNvSpPr/>
          <p:nvPr/>
        </p:nvSpPr>
        <p:spPr>
          <a:xfrm>
            <a:off x="7872984" y="1956816"/>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A</a:t>
            </a:r>
            <a:endParaRPr lang="en-US" sz="1300" dirty="0"/>
          </a:p>
        </p:txBody>
      </p:sp>
      <p:sp>
        <p:nvSpPr>
          <p:cNvPr id="11" name="Text 8"/>
          <p:cNvSpPr/>
          <p:nvPr/>
        </p:nvSpPr>
        <p:spPr>
          <a:xfrm>
            <a:off x="8385048" y="1938528"/>
            <a:ext cx="3038551"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Protocol convergence</a:t>
            </a:r>
            <a:endParaRPr lang="en-US" sz="1400" dirty="0"/>
          </a:p>
        </p:txBody>
      </p:sp>
      <p:sp>
        <p:nvSpPr>
          <p:cNvPr id="12" name="Text 9"/>
          <p:cNvSpPr/>
          <p:nvPr/>
        </p:nvSpPr>
        <p:spPr>
          <a:xfrm>
            <a:off x="7891272" y="2487168"/>
            <a:ext cx="3495751" cy="347472"/>
          </a:xfrm>
          <a:prstGeom prst="rect">
            <a:avLst/>
          </a:prstGeom>
          <a:noFill/>
          <a:ln/>
        </p:spPr>
        <p:txBody>
          <a:bodyPr wrap="square" lIns="0" tIns="0" rIns="0" bIns="0" rtlCol="0" anchor="t"/>
          <a:lstStyle/>
          <a:p>
            <a:pPr marL="0" indent="0">
              <a:lnSpc>
                <a:spcPts val="1500"/>
              </a:lnSpc>
              <a:buNone/>
            </a:pPr>
            <a:r>
              <a:rPr lang="en-US" sz="1100" dirty="0">
                <a:solidFill>
                  <a:srgbClr val="5A6B7B"/>
                </a:solidFill>
                <a:latin typeface="Calibri" pitchFamily="34" charset="0"/>
                <a:ea typeface="Calibri" pitchFamily="34" charset="-122"/>
                <a:cs typeface="Calibri" pitchFamily="34" charset="-120"/>
              </a:rPr>
              <a:t>MCP has become the default way agents reach enterprise systems, removing bespoke glue between every model and every application.</a:t>
            </a:r>
            <a:endParaRPr lang="en-US" sz="1100" dirty="0"/>
          </a:p>
        </p:txBody>
      </p:sp>
      <p:sp>
        <p:nvSpPr>
          <p:cNvPr id="13" name="Shape 10"/>
          <p:cNvSpPr/>
          <p:nvPr/>
        </p:nvSpPr>
        <p:spPr>
          <a:xfrm>
            <a:off x="7635240" y="3163824"/>
            <a:ext cx="4007815" cy="1280160"/>
          </a:xfrm>
          <a:prstGeom prst="roundRect">
            <a:avLst>
              <a:gd name="adj" fmla="val 5714"/>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4" name="Shape 11"/>
          <p:cNvSpPr/>
          <p:nvPr/>
        </p:nvSpPr>
        <p:spPr>
          <a:xfrm>
            <a:off x="7872984" y="3383280"/>
            <a:ext cx="402336" cy="402336"/>
          </a:xfrm>
          <a:prstGeom prst="ellipse">
            <a:avLst/>
          </a:prstGeom>
          <a:solidFill>
            <a:srgbClr val="00A9E0"/>
          </a:solidFill>
          <a:ln w="12700">
            <a:solidFill>
              <a:srgbClr val="00A9E0"/>
            </a:solidFill>
            <a:prstDash val="solid"/>
          </a:ln>
        </p:spPr>
      </p:sp>
      <p:sp>
        <p:nvSpPr>
          <p:cNvPr id="15" name="Text 12"/>
          <p:cNvSpPr/>
          <p:nvPr/>
        </p:nvSpPr>
        <p:spPr>
          <a:xfrm>
            <a:off x="7872984" y="3383280"/>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B</a:t>
            </a:r>
            <a:endParaRPr lang="en-US" sz="1300" dirty="0"/>
          </a:p>
        </p:txBody>
      </p:sp>
      <p:sp>
        <p:nvSpPr>
          <p:cNvPr id="16" name="Text 13"/>
          <p:cNvSpPr/>
          <p:nvPr/>
        </p:nvSpPr>
        <p:spPr>
          <a:xfrm>
            <a:off x="8385048" y="3364992"/>
            <a:ext cx="3038551"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Orchestration matured</a:t>
            </a:r>
            <a:endParaRPr lang="en-US" sz="1400" dirty="0"/>
          </a:p>
        </p:txBody>
      </p:sp>
      <p:sp>
        <p:nvSpPr>
          <p:cNvPr id="17" name="Text 14"/>
          <p:cNvSpPr/>
          <p:nvPr/>
        </p:nvSpPr>
        <p:spPr>
          <a:xfrm>
            <a:off x="7891272" y="3913632"/>
            <a:ext cx="3495751" cy="347472"/>
          </a:xfrm>
          <a:prstGeom prst="rect">
            <a:avLst/>
          </a:prstGeom>
          <a:noFill/>
          <a:ln/>
        </p:spPr>
        <p:txBody>
          <a:bodyPr wrap="square" lIns="0" tIns="0" rIns="0" bIns="0" rtlCol="0" anchor="t"/>
          <a:lstStyle/>
          <a:p>
            <a:pPr marL="0" indent="0">
              <a:lnSpc>
                <a:spcPts val="1500"/>
              </a:lnSpc>
              <a:buNone/>
            </a:pPr>
            <a:r>
              <a:rPr lang="en-US" sz="1100" dirty="0">
                <a:solidFill>
                  <a:srgbClr val="5A6B7B"/>
                </a:solidFill>
                <a:latin typeface="Calibri" pitchFamily="34" charset="0"/>
                <a:ea typeface="Calibri" pitchFamily="34" charset="-122"/>
                <a:cs typeface="Calibri" pitchFamily="34" charset="-120"/>
              </a:rPr>
              <a:t>Stateful multi-agent frameworks are now production patterns, with supervision, retries and hand-off semantics.</a:t>
            </a:r>
            <a:endParaRPr lang="en-US" sz="1100" dirty="0"/>
          </a:p>
        </p:txBody>
      </p:sp>
      <p:sp>
        <p:nvSpPr>
          <p:cNvPr id="18" name="Shape 15"/>
          <p:cNvSpPr/>
          <p:nvPr/>
        </p:nvSpPr>
        <p:spPr>
          <a:xfrm>
            <a:off x="7635240" y="4590288"/>
            <a:ext cx="4007815" cy="1280160"/>
          </a:xfrm>
          <a:prstGeom prst="roundRect">
            <a:avLst>
              <a:gd name="adj" fmla="val 5714"/>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9" name="Shape 16"/>
          <p:cNvSpPr/>
          <p:nvPr/>
        </p:nvSpPr>
        <p:spPr>
          <a:xfrm>
            <a:off x="7872984" y="4809744"/>
            <a:ext cx="402336" cy="402336"/>
          </a:xfrm>
          <a:prstGeom prst="ellipse">
            <a:avLst/>
          </a:prstGeom>
          <a:solidFill>
            <a:srgbClr val="00A9E0"/>
          </a:solidFill>
          <a:ln w="12700">
            <a:solidFill>
              <a:srgbClr val="00A9E0"/>
            </a:solidFill>
            <a:prstDash val="solid"/>
          </a:ln>
        </p:spPr>
      </p:sp>
      <p:sp>
        <p:nvSpPr>
          <p:cNvPr id="20" name="Text 17"/>
          <p:cNvSpPr/>
          <p:nvPr/>
        </p:nvSpPr>
        <p:spPr>
          <a:xfrm>
            <a:off x="7872984" y="4809744"/>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C</a:t>
            </a:r>
            <a:endParaRPr lang="en-US" sz="1300" dirty="0"/>
          </a:p>
        </p:txBody>
      </p:sp>
      <p:sp>
        <p:nvSpPr>
          <p:cNvPr id="21" name="Text 18"/>
          <p:cNvSpPr/>
          <p:nvPr/>
        </p:nvSpPr>
        <p:spPr>
          <a:xfrm>
            <a:off x="8385048" y="4791456"/>
            <a:ext cx="3038551"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Governance caught up</a:t>
            </a:r>
            <a:endParaRPr lang="en-US" sz="1400" dirty="0"/>
          </a:p>
        </p:txBody>
      </p:sp>
      <p:sp>
        <p:nvSpPr>
          <p:cNvPr id="22" name="Text 19"/>
          <p:cNvSpPr/>
          <p:nvPr/>
        </p:nvSpPr>
        <p:spPr>
          <a:xfrm>
            <a:off x="7891272" y="5340096"/>
            <a:ext cx="3495751" cy="347472"/>
          </a:xfrm>
          <a:prstGeom prst="rect">
            <a:avLst/>
          </a:prstGeom>
          <a:noFill/>
          <a:ln/>
        </p:spPr>
        <p:txBody>
          <a:bodyPr wrap="square" lIns="0" tIns="0" rIns="0" bIns="0" rtlCol="0" anchor="t"/>
          <a:lstStyle/>
          <a:p>
            <a:pPr marL="0" indent="0">
              <a:lnSpc>
                <a:spcPts val="1500"/>
              </a:lnSpc>
              <a:buNone/>
            </a:pPr>
            <a:r>
              <a:rPr lang="en-US" sz="1100" dirty="0">
                <a:solidFill>
                  <a:srgbClr val="5A6B7B"/>
                </a:solidFill>
                <a:latin typeface="Calibri" pitchFamily="34" charset="0"/>
                <a:ea typeface="Calibri" pitchFamily="34" charset="-122"/>
                <a:cs typeface="Calibri" pitchFamily="34" charset="-120"/>
              </a:rPr>
              <a:t>Runtime control planes now govern models, agents and tools with the same catalogue, lineage and audit used for data.</a:t>
            </a:r>
            <a:endParaRPr lang="en-US" sz="1100" dirty="0"/>
          </a:p>
        </p:txBody>
      </p:sp>
      <p:sp>
        <p:nvSpPr>
          <p:cNvPr id="23" name="Text 20"/>
          <p:cNvSpPr/>
          <p:nvPr/>
        </p:nvSpPr>
        <p:spPr>
          <a:xfrm>
            <a:off x="548640" y="5705856"/>
            <a:ext cx="6766560" cy="256032"/>
          </a:xfrm>
          <a:prstGeom prst="rect">
            <a:avLst/>
          </a:prstGeom>
          <a:noFill/>
          <a:ln/>
        </p:spPr>
        <p:txBody>
          <a:bodyPr wrap="square" lIns="0" tIns="0" rIns="0" bIns="0" rtlCol="0" anchor="ctr"/>
          <a:lstStyle/>
          <a:p>
            <a:pPr marL="0" indent="0">
              <a:buNone/>
            </a:pPr>
            <a:r>
              <a:rPr lang="en-US" sz="900" i="1" dirty="0">
                <a:solidFill>
                  <a:srgbClr val="5A6B7B"/>
                </a:solidFill>
                <a:latin typeface="Calibri" pitchFamily="34" charset="0"/>
                <a:ea typeface="Calibri" pitchFamily="34" charset="-122"/>
                <a:cs typeface="Calibri" pitchFamily="34" charset="-120"/>
              </a:rPr>
              <a:t>Sources: industry surveys and vendor disclosures, 2026. Figures are market-level, not Ball-specific.</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1</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What changed: assistants → agentic systems</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481328"/>
            <a:ext cx="5318608" cy="4480560"/>
          </a:xfrm>
          <a:prstGeom prst="roundRect">
            <a:avLst>
              <a:gd name="adj" fmla="val 1633"/>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7" name="Text 5"/>
          <p:cNvSpPr/>
          <p:nvPr/>
        </p:nvSpPr>
        <p:spPr>
          <a:xfrm>
            <a:off x="859536" y="1719072"/>
            <a:ext cx="4696816" cy="384048"/>
          </a:xfrm>
          <a:prstGeom prst="rect">
            <a:avLst/>
          </a:prstGeom>
          <a:noFill/>
          <a:ln/>
        </p:spPr>
        <p:txBody>
          <a:bodyPr wrap="square" lIns="0" tIns="0" rIns="0" bIns="0" rtlCol="0" anchor="ctr"/>
          <a:lstStyle/>
          <a:p>
            <a:pPr marL="0" indent="0">
              <a:buNone/>
            </a:pPr>
            <a:r>
              <a:rPr lang="en-US" sz="1600" b="1" dirty="0">
                <a:solidFill>
                  <a:srgbClr val="5A6B7B"/>
                </a:solidFill>
                <a:latin typeface="Calibri" pitchFamily="34" charset="0"/>
                <a:ea typeface="Calibri" pitchFamily="34" charset="-122"/>
                <a:cs typeface="Calibri" pitchFamily="34" charset="-120"/>
              </a:rPr>
              <a:t>Yesterday — the assistant era</a:t>
            </a:r>
            <a:endParaRPr lang="en-US" sz="1600" dirty="0"/>
          </a:p>
        </p:txBody>
      </p:sp>
      <p:sp>
        <p:nvSpPr>
          <p:cNvPr id="8" name="Text 6"/>
          <p:cNvSpPr/>
          <p:nvPr/>
        </p:nvSpPr>
        <p:spPr>
          <a:xfrm>
            <a:off x="859536" y="2286000"/>
            <a:ext cx="4696816" cy="347472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300" dirty="0">
                <a:solidFill>
                  <a:srgbClr val="5A6B7B"/>
                </a:solidFill>
                <a:latin typeface="Calibri" pitchFamily="34" charset="0"/>
                <a:ea typeface="Calibri" pitchFamily="34" charset="-122"/>
                <a:cs typeface="Calibri" pitchFamily="34" charset="-120"/>
              </a:rPr>
              <a:t>Human types a prompt, reads an answer</a:t>
            </a:r>
            <a:endParaRPr lang="en-US" sz="1300" dirty="0"/>
          </a:p>
          <a:p>
            <a:pPr marL="342900" indent="-342900">
              <a:lnSpc>
                <a:spcPts val="1800"/>
              </a:lnSpc>
              <a:spcAft>
                <a:spcPts val="900"/>
              </a:spcAft>
              <a:buSzPct val="100000"/>
              <a:buChar char="•"/>
            </a:pPr>
            <a:r>
              <a:rPr lang="en-US" sz="1300" dirty="0">
                <a:solidFill>
                  <a:srgbClr val="5A6B7B"/>
                </a:solidFill>
                <a:latin typeface="Calibri" pitchFamily="34" charset="0"/>
                <a:ea typeface="Calibri" pitchFamily="34" charset="-122"/>
                <a:cs typeface="Calibri" pitchFamily="34" charset="-120"/>
              </a:rPr>
              <a:t>Knowledge lives in the prompt</a:t>
            </a:r>
            <a:endParaRPr lang="en-US" sz="1300" dirty="0"/>
          </a:p>
          <a:p>
            <a:pPr marL="342900" indent="-342900">
              <a:lnSpc>
                <a:spcPts val="1800"/>
              </a:lnSpc>
              <a:spcAft>
                <a:spcPts val="900"/>
              </a:spcAft>
              <a:buSzPct val="100000"/>
              <a:buChar char="•"/>
            </a:pPr>
            <a:r>
              <a:rPr lang="en-US" sz="1300" dirty="0">
                <a:solidFill>
                  <a:srgbClr val="5A6B7B"/>
                </a:solidFill>
                <a:latin typeface="Calibri" pitchFamily="34" charset="0"/>
                <a:ea typeface="Calibri" pitchFamily="34" charset="-122"/>
                <a:cs typeface="Calibri" pitchFamily="34" charset="-120"/>
              </a:rPr>
              <a:t>Integration by copy-paste</a:t>
            </a:r>
            <a:endParaRPr lang="en-US" sz="1300" dirty="0"/>
          </a:p>
          <a:p>
            <a:pPr marL="342900" indent="-342900">
              <a:lnSpc>
                <a:spcPts val="1800"/>
              </a:lnSpc>
              <a:spcAft>
                <a:spcPts val="900"/>
              </a:spcAft>
              <a:buSzPct val="100000"/>
              <a:buChar char="•"/>
            </a:pPr>
            <a:r>
              <a:rPr lang="en-US" sz="1300" dirty="0">
                <a:solidFill>
                  <a:srgbClr val="5A6B7B"/>
                </a:solidFill>
                <a:latin typeface="Calibri" pitchFamily="34" charset="0"/>
                <a:ea typeface="Calibri" pitchFamily="34" charset="-122"/>
                <a:cs typeface="Calibri" pitchFamily="34" charset="-120"/>
              </a:rPr>
              <a:t>One model, one vendor</a:t>
            </a:r>
            <a:endParaRPr lang="en-US" sz="1300" dirty="0"/>
          </a:p>
          <a:p>
            <a:pPr marL="342900" indent="-342900">
              <a:lnSpc>
                <a:spcPts val="1800"/>
              </a:lnSpc>
              <a:spcAft>
                <a:spcPts val="900"/>
              </a:spcAft>
              <a:buSzPct val="100000"/>
              <a:buChar char="•"/>
            </a:pPr>
            <a:r>
              <a:rPr lang="en-US" sz="1300" dirty="0">
                <a:solidFill>
                  <a:srgbClr val="5A6B7B"/>
                </a:solidFill>
                <a:latin typeface="Calibri" pitchFamily="34" charset="0"/>
                <a:ea typeface="Calibri" pitchFamily="34" charset="-122"/>
                <a:cs typeface="Calibri" pitchFamily="34" charset="-120"/>
              </a:rPr>
              <a:t>Value measured in time saved per person</a:t>
            </a:r>
            <a:endParaRPr lang="en-US" sz="1300" dirty="0"/>
          </a:p>
          <a:p>
            <a:pPr marL="342900" indent="-342900">
              <a:lnSpc>
                <a:spcPts val="1800"/>
              </a:lnSpc>
              <a:spcAft>
                <a:spcPts val="900"/>
              </a:spcAft>
              <a:buSzPct val="100000"/>
              <a:buChar char="•"/>
            </a:pPr>
            <a:r>
              <a:rPr lang="en-US" sz="1300" dirty="0">
                <a:solidFill>
                  <a:srgbClr val="5A6B7B"/>
                </a:solidFill>
                <a:latin typeface="Calibri" pitchFamily="34" charset="0"/>
                <a:ea typeface="Calibri" pitchFamily="34" charset="-122"/>
                <a:cs typeface="Calibri" pitchFamily="34" charset="-120"/>
              </a:rPr>
              <a:t>Risk managed by user training</a:t>
            </a:r>
            <a:endParaRPr lang="en-US" sz="1300" dirty="0"/>
          </a:p>
          <a:p>
            <a:pPr marL="342900" indent="-342900">
              <a:lnSpc>
                <a:spcPts val="1800"/>
              </a:lnSpc>
              <a:spcAft>
                <a:spcPts val="900"/>
              </a:spcAft>
              <a:buSzPct val="100000"/>
              <a:buChar char="•"/>
            </a:pPr>
            <a:r>
              <a:rPr lang="en-US" sz="1300" dirty="0">
                <a:solidFill>
                  <a:srgbClr val="5A6B7B"/>
                </a:solidFill>
                <a:latin typeface="Calibri" pitchFamily="34" charset="0"/>
                <a:ea typeface="Calibri" pitchFamily="34" charset="-122"/>
                <a:cs typeface="Calibri" pitchFamily="34" charset="-120"/>
              </a:rPr>
              <a:t>Success = a good demo</a:t>
            </a:r>
            <a:endParaRPr lang="en-US" sz="1300" dirty="0"/>
          </a:p>
        </p:txBody>
      </p:sp>
      <p:sp>
        <p:nvSpPr>
          <p:cNvPr id="9" name="Shape 7"/>
          <p:cNvSpPr/>
          <p:nvPr/>
        </p:nvSpPr>
        <p:spPr>
          <a:xfrm>
            <a:off x="6324448" y="1481328"/>
            <a:ext cx="5318608" cy="4480560"/>
          </a:xfrm>
          <a:prstGeom prst="roundRect">
            <a:avLst>
              <a:gd name="adj" fmla="val 1633"/>
            </a:avLst>
          </a:prstGeom>
          <a:solidFill>
            <a:srgbClr val="0A2240"/>
          </a:solidFill>
          <a:ln w="12700">
            <a:solidFill>
              <a:srgbClr val="0A2240"/>
            </a:solidFill>
            <a:prstDash val="solid"/>
          </a:ln>
          <a:effectLst>
            <a:outerShdw blurRad="101600" dist="25400" dir="5400000" algn="bl" rotWithShape="0">
              <a:srgbClr val="0A2240">
                <a:alpha val="12000"/>
              </a:srgbClr>
            </a:outerShdw>
          </a:effectLst>
        </p:spPr>
      </p:sp>
      <p:sp>
        <p:nvSpPr>
          <p:cNvPr id="10" name="Text 8"/>
          <p:cNvSpPr/>
          <p:nvPr/>
        </p:nvSpPr>
        <p:spPr>
          <a:xfrm>
            <a:off x="6635344" y="1719072"/>
            <a:ext cx="4696816" cy="384048"/>
          </a:xfrm>
          <a:prstGeom prst="rect">
            <a:avLst/>
          </a:prstGeom>
          <a:noFill/>
          <a:ln/>
        </p:spPr>
        <p:txBody>
          <a:bodyPr wrap="square" lIns="0" tIns="0" rIns="0" bIns="0" rtlCol="0" anchor="ctr"/>
          <a:lstStyle/>
          <a:p>
            <a:pPr marL="0" indent="0">
              <a:buNone/>
            </a:pPr>
            <a:r>
              <a:rPr lang="en-US" sz="1600" b="1" dirty="0">
                <a:solidFill>
                  <a:srgbClr val="00A9E0"/>
                </a:solidFill>
                <a:latin typeface="Calibri" pitchFamily="34" charset="0"/>
                <a:ea typeface="Calibri" pitchFamily="34" charset="-122"/>
                <a:cs typeface="Calibri" pitchFamily="34" charset="-120"/>
              </a:rPr>
              <a:t>Today — the agentic era</a:t>
            </a:r>
            <a:endParaRPr lang="en-US" sz="1600" dirty="0"/>
          </a:p>
        </p:txBody>
      </p:sp>
      <p:sp>
        <p:nvSpPr>
          <p:cNvPr id="11" name="Text 9"/>
          <p:cNvSpPr/>
          <p:nvPr/>
        </p:nvSpPr>
        <p:spPr>
          <a:xfrm>
            <a:off x="6635344" y="2286000"/>
            <a:ext cx="4696816" cy="347472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Agent receives a goal and executes a plan</a:t>
            </a:r>
            <a:endParaRPr lang="en-US" sz="1300" dirty="0"/>
          </a:p>
          <a:p>
            <a:pPr marL="342900" indent="-342900">
              <a:lnSpc>
                <a:spcPts val="1800"/>
              </a:lnSpc>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Knowledge assembled by a context pipeline</a:t>
            </a:r>
            <a:endParaRPr lang="en-US" sz="1300" dirty="0"/>
          </a:p>
          <a:p>
            <a:pPr marL="342900" indent="-342900">
              <a:lnSpc>
                <a:spcPts val="1800"/>
              </a:lnSpc>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Integration by MCP tools with typed schemas</a:t>
            </a:r>
            <a:endParaRPr lang="en-US" sz="1300" dirty="0"/>
          </a:p>
          <a:p>
            <a:pPr marL="342900" indent="-342900">
              <a:lnSpc>
                <a:spcPts val="1800"/>
              </a:lnSpc>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Model routing by task, cost and data residency</a:t>
            </a:r>
            <a:endParaRPr lang="en-US" sz="1300" dirty="0"/>
          </a:p>
          <a:p>
            <a:pPr marL="342900" indent="-342900">
              <a:lnSpc>
                <a:spcPts val="1800"/>
              </a:lnSpc>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Value measured in process cycle time and defect rate</a:t>
            </a:r>
            <a:endParaRPr lang="en-US" sz="1300" dirty="0"/>
          </a:p>
          <a:p>
            <a:pPr marL="342900" indent="-342900">
              <a:lnSpc>
                <a:spcPts val="1800"/>
              </a:lnSpc>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Risk managed by policy, guardrails and audit trail</a:t>
            </a:r>
            <a:endParaRPr lang="en-US" sz="1300" dirty="0"/>
          </a:p>
          <a:p>
            <a:pPr marL="342900" indent="-342900">
              <a:lnSpc>
                <a:spcPts val="1800"/>
              </a:lnSpc>
              <a:spcAft>
                <a:spcPts val="900"/>
              </a:spcAft>
              <a:buSzPct val="100000"/>
              <a:buChar char="•"/>
            </a:pPr>
            <a:r>
              <a:rPr lang="en-US" sz="1300" dirty="0">
                <a:solidFill>
                  <a:srgbClr val="FFFFFF"/>
                </a:solidFill>
                <a:latin typeface="Calibri" pitchFamily="34" charset="0"/>
                <a:ea typeface="Calibri" pitchFamily="34" charset="-122"/>
                <a:cs typeface="Calibri" pitchFamily="34" charset="-120"/>
              </a:rPr>
              <a:t>Success = a governed system running unattended</a:t>
            </a:r>
            <a:endParaRPr lang="en-US" sz="1300" dirty="0"/>
          </a:p>
        </p:txBody>
      </p:sp>
      <p:sp>
        <p:nvSpPr>
          <p:cNvPr id="12" name="Text 10"/>
          <p:cNvSpPr/>
          <p:nvPr/>
        </p:nvSpPr>
        <p:spPr>
          <a:xfrm>
            <a:off x="548640" y="6016752"/>
            <a:ext cx="11094415" cy="274320"/>
          </a:xfrm>
          <a:prstGeom prst="rect">
            <a:avLst/>
          </a:prstGeom>
          <a:noFill/>
          <a:ln/>
        </p:spPr>
        <p:txBody>
          <a:bodyPr wrap="square" lIns="0" tIns="0" rIns="0" bIns="0" rtlCol="0" anchor="ctr"/>
          <a:lstStyle/>
          <a:p>
            <a:pPr marL="0" indent="0">
              <a:buNone/>
            </a:pPr>
            <a:r>
              <a:rPr lang="en-US" sz="1200" b="1" i="1" dirty="0">
                <a:solidFill>
                  <a:srgbClr val="1B6CA8"/>
                </a:solidFill>
                <a:latin typeface="Calibri" pitchFamily="34" charset="0"/>
                <a:ea typeface="Calibri" pitchFamily="34" charset="-122"/>
                <a:cs typeface="Calibri" pitchFamily="34" charset="-120"/>
              </a:rPr>
              <a:t>The implication for Ball: the investment shifts from licences and training toward data readiness, tool surfaces, policy and delivery engineering.</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2</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Current status across the Ball estate</a:t>
            </a:r>
            <a:endParaRPr lang="en-US" sz="3400" dirty="0"/>
          </a:p>
        </p:txBody>
      </p:sp>
      <p:sp>
        <p:nvSpPr>
          <p:cNvPr id="4" name="Text 2"/>
          <p:cNvSpPr/>
          <p:nvPr/>
        </p:nvSpPr>
        <p:spPr>
          <a:xfrm>
            <a:off x="548640" y="1280160"/>
            <a:ext cx="11094415" cy="292608"/>
          </a:xfrm>
          <a:prstGeom prst="rect">
            <a:avLst/>
          </a:prstGeom>
          <a:noFill/>
          <a:ln/>
        </p:spPr>
        <p:txBody>
          <a:bodyPr wrap="square" lIns="0" tIns="0" rIns="0" bIns="0" rtlCol="0" anchor="ctr"/>
          <a:lstStyle/>
          <a:p>
            <a:pPr marL="0" indent="0">
              <a:buNone/>
            </a:pPr>
            <a:r>
              <a:rPr lang="en-US" sz="1250" i="1" dirty="0">
                <a:solidFill>
                  <a:srgbClr val="5A6B7B"/>
                </a:solidFill>
                <a:latin typeface="Calibri" pitchFamily="34" charset="0"/>
                <a:ea typeface="Calibri" pitchFamily="34" charset="-122"/>
                <a:cs typeface="Calibri" pitchFamily="34" charset="-120"/>
              </a:rPr>
              <a:t>Illustrative baseline — every item marked [CONFIRM] must be validated with the system owner before this deck is presented.</a:t>
            </a:r>
            <a:endParaRPr lang="en-US" sz="1250" dirty="0"/>
          </a:p>
        </p:txBody>
      </p:sp>
      <p:sp>
        <p:nvSpPr>
          <p:cNvPr id="5" name="Text 3"/>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6" name="Text 4"/>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3342843491"/>
              </p:ext>
            </p:extLst>
          </p:nvPr>
        </p:nvGraphicFramePr>
        <p:xfrm>
          <a:off x="548640" y="1737360"/>
          <a:ext cx="11091672" cy="3657600"/>
        </p:xfrm>
        <a:graphic>
          <a:graphicData uri="http://schemas.openxmlformats.org/drawingml/2006/table">
            <a:tbl>
              <a:tblPr/>
              <a:tblGrid>
                <a:gridCol w="251460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gridCol w="2816352">
                  <a:extLst>
                    <a:ext uri="{9D8B030D-6E8A-4147-A177-3AD203B41FA5}">
                      <a16:colId xmlns:a16="http://schemas.microsoft.com/office/drawing/2014/main" val="20002"/>
                    </a:ext>
                  </a:extLst>
                </a:gridCol>
              </a:tblGrid>
              <a:tr h="45720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Domain</a:t>
                      </a:r>
                      <a:endParaRPr lang="en-US" sz="110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Where we are today [CONFIRM]</a:t>
                      </a:r>
                      <a:endParaRPr lang="en-US" sz="110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AI readiness signal</a:t>
                      </a:r>
                      <a:endParaRPr lang="en-US" sz="110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extLst>
                  <a:ext uri="{0D108BD9-81ED-4DB2-BD59-A6C34878D82A}">
                    <a16:rowId xmlns:a16="http://schemas.microsoft.com/office/drawing/2014/main" val="10000"/>
                  </a:ext>
                </a:extLst>
              </a:tr>
              <a:tr h="457200">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ERP — JD Edwards EnterpriseOne</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Core transactional backbone; AIS/Orchestrator available but used mainly for point integrations. Role-based security well established.</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Provided couple of approaches how to Integrate AI Agents with JDE. </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ERP — SAP</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Coexists with JDE in parts of the estate; integration work under way. IDE-level AI integration is in progress, not yet standardised.</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In progress</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457200">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Data platform — Databricks</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Lakehouse in place; Unity Catalog adopted for data governance. AI-specific governance (models, agents, tools) not yet extended.</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Strong foundation, extension needed</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Open source / engineering</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Fragmented adoption of AI coding assistants across teams; no shared standards, evaluation or telemetry.</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80" dirty="0">
                          <a:solidFill>
                            <a:srgbClr val="16222E"/>
                          </a:solidFill>
                          <a:latin typeface="Calibri" pitchFamily="34" charset="0"/>
                          <a:ea typeface="Calibri" charset="0"/>
                          <a:cs typeface="Calibri" pitchFamily="34" charset="-120"/>
                        </a:rPr>
                        <a:t>Establish ADLC process, build workflows to get more context on code repositories </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457200">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Quality assurance</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Largely manual and script-based regression; test data provisioning is a bottleneck.</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High-value early agent target</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Business functions</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Departmental experimentation (finance, supply chain, commercial) using SaaS-embedded AI features.</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Shadow adoption — needs a front door</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457200">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Manufacturing &amp; plant systems</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Rich operational telemetry; limited exposure to the analytics/AI layer.</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80" dirty="0">
                          <a:solidFill>
                            <a:srgbClr val="16222E"/>
                          </a:solidFill>
                          <a:latin typeface="Calibri" pitchFamily="34" charset="0"/>
                          <a:ea typeface="Calibri" pitchFamily="34" charset="-122"/>
                          <a:cs typeface="Calibri" pitchFamily="34" charset="-120"/>
                        </a:rPr>
                        <a:t>Untapped</a:t>
                      </a:r>
                      <a:endParaRPr lang="en-US" sz="98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0A2240"/>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00A9E0"/>
                </a:solidFill>
                <a:latin typeface="Calibri" pitchFamily="34" charset="0"/>
                <a:ea typeface="Calibri" pitchFamily="34" charset="-122"/>
                <a:cs typeface="Calibri" pitchFamily="34" charset="-120"/>
              </a:rPr>
              <a:t>THE PROPOSAL</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The Ball AI Division — charter and mandate</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48640" y="1481328"/>
            <a:ext cx="5318608" cy="4480560"/>
          </a:xfrm>
          <a:prstGeom prst="roundRect">
            <a:avLst>
              <a:gd name="adj" fmla="val 1633"/>
            </a:avLst>
          </a:prstGeom>
          <a:solidFill>
            <a:srgbClr val="13355F"/>
          </a:solidFill>
          <a:ln w="12700">
            <a:solidFill>
              <a:srgbClr val="1B6CA8"/>
            </a:solidFill>
            <a:prstDash val="solid"/>
          </a:ln>
          <a:effectLst>
            <a:outerShdw blurRad="101600" dist="25400" dir="5400000" algn="bl" rotWithShape="0">
              <a:srgbClr val="0A2240">
                <a:alpha val="12000"/>
              </a:srgbClr>
            </a:outerShdw>
          </a:effectLst>
        </p:spPr>
      </p:sp>
      <p:sp>
        <p:nvSpPr>
          <p:cNvPr id="7" name="Text 5"/>
          <p:cNvSpPr/>
          <p:nvPr/>
        </p:nvSpPr>
        <p:spPr>
          <a:xfrm>
            <a:off x="859536" y="1719072"/>
            <a:ext cx="4696816" cy="365760"/>
          </a:xfrm>
          <a:prstGeom prst="rect">
            <a:avLst/>
          </a:prstGeom>
          <a:noFill/>
          <a:ln/>
        </p:spPr>
        <p:txBody>
          <a:bodyPr wrap="square" lIns="0" tIns="0" rIns="0" bIns="0" rtlCol="0" anchor="ctr"/>
          <a:lstStyle/>
          <a:p>
            <a:pPr marL="0" indent="0">
              <a:buNone/>
            </a:pPr>
            <a:r>
              <a:rPr lang="en-US" sz="1600" b="1" dirty="0">
                <a:solidFill>
                  <a:srgbClr val="00A9E0"/>
                </a:solidFill>
                <a:latin typeface="Calibri" pitchFamily="34" charset="0"/>
                <a:ea typeface="Calibri" pitchFamily="34" charset="-122"/>
                <a:cs typeface="Calibri" pitchFamily="34" charset="-120"/>
              </a:rPr>
              <a:t>Mandate</a:t>
            </a:r>
            <a:endParaRPr lang="en-US" sz="1600" dirty="0"/>
          </a:p>
        </p:txBody>
      </p:sp>
      <p:sp>
        <p:nvSpPr>
          <p:cNvPr id="8" name="Text 6"/>
          <p:cNvSpPr/>
          <p:nvPr/>
        </p:nvSpPr>
        <p:spPr>
          <a:xfrm>
            <a:off x="859536" y="2267712"/>
            <a:ext cx="4696816" cy="347472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Own the enterprise AI platform: gateway, mesh, MCP estate, observability and evaluation</a:t>
            </a:r>
            <a:endParaRPr lang="en-US" sz="1250" dirty="0"/>
          </a:p>
          <a:p>
            <a:pPr marL="342900" indent="-342900">
              <a:lnSpc>
                <a:spcPts val="1700"/>
              </a:lnSpc>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Own the context layer: semantics, retrieval, memory and knowledge curation for all agents</a:t>
            </a:r>
            <a:endParaRPr lang="en-US" sz="1250" dirty="0"/>
          </a:p>
          <a:p>
            <a:pPr marL="342900" indent="-342900">
              <a:lnSpc>
                <a:spcPts val="1700"/>
              </a:lnSpc>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Own the AI development lifecycle and the definition of production-ready</a:t>
            </a:r>
            <a:endParaRPr lang="en-US" sz="1250" dirty="0"/>
          </a:p>
          <a:p>
            <a:pPr marL="342900" indent="-342900">
              <a:lnSpc>
                <a:spcPts val="1700"/>
              </a:lnSpc>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Embed engineers into business and system domains to deliver outcomes, not tickets</a:t>
            </a:r>
            <a:endParaRPr lang="en-US" sz="1250" dirty="0"/>
          </a:p>
          <a:p>
            <a:pPr marL="342900" indent="-342900">
              <a:lnSpc>
                <a:spcPts val="1700"/>
              </a:lnSpc>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Set policy with Legal, Security, Privacy and Internal Audit — and make it enforceable in the runtime</a:t>
            </a:r>
            <a:endParaRPr lang="en-US" sz="1250" dirty="0"/>
          </a:p>
          <a:p>
            <a:pPr marL="342900" indent="-342900">
              <a:lnSpc>
                <a:spcPts val="1700"/>
              </a:lnSpc>
              <a:spcAft>
                <a:spcPts val="900"/>
              </a:spcAft>
              <a:buSzPct val="100000"/>
              <a:buChar char="•"/>
            </a:pPr>
            <a:r>
              <a:rPr lang="en-US" sz="1250" dirty="0">
                <a:solidFill>
                  <a:srgbClr val="FFFFFF"/>
                </a:solidFill>
                <a:latin typeface="Calibri" pitchFamily="34" charset="0"/>
                <a:ea typeface="Calibri" pitchFamily="34" charset="-122"/>
                <a:cs typeface="Calibri" pitchFamily="34" charset="-120"/>
              </a:rPr>
              <a:t>Run enablement so every function can build safely inside the guardrails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THE PROPOSAL</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Operating model: a hub with embedded spokes</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4160520" y="2898648"/>
            <a:ext cx="3886200" cy="1371600"/>
          </a:xfrm>
          <a:prstGeom prst="roundRect">
            <a:avLst>
              <a:gd name="adj" fmla="val 6667"/>
            </a:avLst>
          </a:prstGeom>
          <a:solidFill>
            <a:srgbClr val="0A2240"/>
          </a:solidFill>
          <a:ln w="12700">
            <a:solidFill>
              <a:srgbClr val="0A2240"/>
            </a:solidFill>
            <a:prstDash val="solid"/>
          </a:ln>
          <a:effectLst>
            <a:outerShdw blurRad="101600" dist="25400" dir="5400000" algn="bl" rotWithShape="0">
              <a:srgbClr val="0A2240">
                <a:alpha val="12000"/>
              </a:srgbClr>
            </a:outerShdw>
          </a:effectLst>
        </p:spPr>
      </p:sp>
      <p:sp>
        <p:nvSpPr>
          <p:cNvPr id="7" name="Text 5"/>
          <p:cNvSpPr/>
          <p:nvPr/>
        </p:nvSpPr>
        <p:spPr>
          <a:xfrm>
            <a:off x="4160520" y="3054096"/>
            <a:ext cx="3886200" cy="274320"/>
          </a:xfrm>
          <a:prstGeom prst="rect">
            <a:avLst/>
          </a:prstGeom>
          <a:noFill/>
          <a:ln/>
        </p:spPr>
        <p:txBody>
          <a:bodyPr wrap="square" lIns="0" tIns="0" rIns="0" bIns="0" rtlCol="0" anchor="ctr"/>
          <a:lstStyle/>
          <a:p>
            <a:pPr marL="0" indent="0" algn="ctr">
              <a:buNone/>
            </a:pPr>
            <a:r>
              <a:rPr lang="en-US" sz="1100" b="1" kern="0" spc="200" dirty="0">
                <a:solidFill>
                  <a:srgbClr val="00A9E0"/>
                </a:solidFill>
                <a:latin typeface="Calibri" pitchFamily="34" charset="0"/>
                <a:ea typeface="Calibri" pitchFamily="34" charset="-122"/>
                <a:cs typeface="Calibri" pitchFamily="34" charset="-120"/>
              </a:rPr>
              <a:t>AI DIVISION — HUB</a:t>
            </a:r>
            <a:endParaRPr lang="en-US" sz="1100" dirty="0"/>
          </a:p>
        </p:txBody>
      </p:sp>
      <p:sp>
        <p:nvSpPr>
          <p:cNvPr id="8" name="Text 6"/>
          <p:cNvSpPr/>
          <p:nvPr/>
        </p:nvSpPr>
        <p:spPr>
          <a:xfrm>
            <a:off x="4160520" y="3346704"/>
            <a:ext cx="3886200" cy="731520"/>
          </a:xfrm>
          <a:prstGeom prst="rect">
            <a:avLst/>
          </a:prstGeom>
          <a:noFill/>
          <a:ln/>
        </p:spPr>
        <p:txBody>
          <a:bodyPr wrap="square" lIns="0" tIns="0" rIns="0" bIns="0" rtlCol="0" anchor="t"/>
          <a:lstStyle/>
          <a:p>
            <a:pPr marL="0" indent="0" algn="ctr">
              <a:lnSpc>
                <a:spcPts val="1800"/>
              </a:lnSpc>
              <a:buNone/>
            </a:pPr>
            <a:r>
              <a:rPr lang="en-US" sz="1300" dirty="0">
                <a:solidFill>
                  <a:srgbClr val="FFFFFF"/>
                </a:solidFill>
                <a:latin typeface="Calibri" pitchFamily="34" charset="0"/>
                <a:ea typeface="Calibri" pitchFamily="34" charset="-122"/>
                <a:cs typeface="Calibri" pitchFamily="34" charset="-120"/>
              </a:rPr>
              <a:t>Platform · Context · Lifecycle · Policy</a:t>
            </a:r>
            <a:endParaRPr lang="en-US" sz="1300" dirty="0"/>
          </a:p>
        </p:txBody>
      </p:sp>
      <p:sp>
        <p:nvSpPr>
          <p:cNvPr id="9" name="Shape 7"/>
          <p:cNvSpPr/>
          <p:nvPr/>
        </p:nvSpPr>
        <p:spPr>
          <a:xfrm>
            <a:off x="548640" y="1527048"/>
            <a:ext cx="3886200" cy="1170432"/>
          </a:xfrm>
          <a:prstGeom prst="roundRect">
            <a:avLst>
              <a:gd name="adj" fmla="val 7813"/>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10" name="Text 8"/>
          <p:cNvSpPr/>
          <p:nvPr/>
        </p:nvSpPr>
        <p:spPr>
          <a:xfrm>
            <a:off x="548640" y="1673352"/>
            <a:ext cx="3886200" cy="310896"/>
          </a:xfrm>
          <a:prstGeom prst="rect">
            <a:avLst/>
          </a:prstGeom>
          <a:noFill/>
          <a:ln/>
        </p:spPr>
        <p:txBody>
          <a:bodyPr wrap="square" lIns="0" tIns="0" rIns="0" bIns="0" rtlCol="0" anchor="ctr"/>
          <a:lstStyle/>
          <a:p>
            <a:pPr marL="0" indent="0" algn="ctr">
              <a:buNone/>
            </a:pPr>
            <a:r>
              <a:rPr lang="en-US" sz="1400" b="1" dirty="0">
                <a:solidFill>
                  <a:srgbClr val="0A2240"/>
                </a:solidFill>
                <a:latin typeface="Calibri" pitchFamily="34" charset="0"/>
                <a:ea typeface="Calibri" pitchFamily="34" charset="-122"/>
                <a:cs typeface="Calibri" pitchFamily="34" charset="-120"/>
              </a:rPr>
              <a:t>ERP &amp; JDE</a:t>
            </a:r>
            <a:endParaRPr lang="en-US" sz="1400" dirty="0"/>
          </a:p>
        </p:txBody>
      </p:sp>
      <p:sp>
        <p:nvSpPr>
          <p:cNvPr id="11" name="Text 9"/>
          <p:cNvSpPr/>
          <p:nvPr/>
        </p:nvSpPr>
        <p:spPr>
          <a:xfrm>
            <a:off x="548640" y="2020824"/>
            <a:ext cx="3886200" cy="530352"/>
          </a:xfrm>
          <a:prstGeom prst="rect">
            <a:avLst/>
          </a:prstGeom>
          <a:noFill/>
          <a:ln/>
        </p:spPr>
        <p:txBody>
          <a:bodyPr wrap="square" lIns="0" tIns="0" rIns="0" bIns="0" rtlCol="0" anchor="t"/>
          <a:lstStyle/>
          <a:p>
            <a:pPr marL="0" indent="0" algn="ctr">
              <a:buNone/>
            </a:pPr>
            <a:r>
              <a:rPr lang="en-US" sz="1050" dirty="0">
                <a:solidFill>
                  <a:srgbClr val="5A6B7B"/>
                </a:solidFill>
                <a:latin typeface="Calibri" pitchFamily="34" charset="0"/>
                <a:ea typeface="Calibri" pitchFamily="34" charset="-122"/>
                <a:cs typeface="Calibri" pitchFamily="34" charset="-120"/>
              </a:rPr>
              <a:t>Embedded FDE pod  ·  domain context owner</a:t>
            </a:r>
            <a:endParaRPr lang="en-US" sz="1050" dirty="0"/>
          </a:p>
        </p:txBody>
      </p:sp>
      <p:sp>
        <p:nvSpPr>
          <p:cNvPr id="12" name="Shape 10"/>
          <p:cNvSpPr/>
          <p:nvPr/>
        </p:nvSpPr>
        <p:spPr>
          <a:xfrm>
            <a:off x="4160520" y="1527048"/>
            <a:ext cx="3886200" cy="1170432"/>
          </a:xfrm>
          <a:prstGeom prst="roundRect">
            <a:avLst>
              <a:gd name="adj" fmla="val 7813"/>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13" name="Text 11"/>
          <p:cNvSpPr/>
          <p:nvPr/>
        </p:nvSpPr>
        <p:spPr>
          <a:xfrm>
            <a:off x="4160520" y="1673352"/>
            <a:ext cx="3886200" cy="310896"/>
          </a:xfrm>
          <a:prstGeom prst="rect">
            <a:avLst/>
          </a:prstGeom>
          <a:noFill/>
          <a:ln/>
        </p:spPr>
        <p:txBody>
          <a:bodyPr wrap="square" lIns="0" tIns="0" rIns="0" bIns="0" rtlCol="0" anchor="ctr"/>
          <a:lstStyle/>
          <a:p>
            <a:pPr marL="0" indent="0" algn="ctr">
              <a:buNone/>
            </a:pPr>
            <a:r>
              <a:rPr lang="en-US" sz="1400" b="1" dirty="0">
                <a:solidFill>
                  <a:srgbClr val="0A2240"/>
                </a:solidFill>
                <a:latin typeface="Calibri" pitchFamily="34" charset="0"/>
                <a:ea typeface="Calibri" pitchFamily="34" charset="-122"/>
                <a:cs typeface="Calibri" pitchFamily="34" charset="-120"/>
              </a:rPr>
              <a:t>SAP</a:t>
            </a:r>
            <a:endParaRPr lang="en-US" sz="1400" dirty="0"/>
          </a:p>
        </p:txBody>
      </p:sp>
      <p:sp>
        <p:nvSpPr>
          <p:cNvPr id="14" name="Text 12"/>
          <p:cNvSpPr/>
          <p:nvPr/>
        </p:nvSpPr>
        <p:spPr>
          <a:xfrm>
            <a:off x="4160520" y="2020824"/>
            <a:ext cx="3886200" cy="530352"/>
          </a:xfrm>
          <a:prstGeom prst="rect">
            <a:avLst/>
          </a:prstGeom>
          <a:noFill/>
          <a:ln/>
        </p:spPr>
        <p:txBody>
          <a:bodyPr wrap="square" lIns="0" tIns="0" rIns="0" bIns="0" rtlCol="0" anchor="t"/>
          <a:lstStyle/>
          <a:p>
            <a:pPr marL="0" indent="0" algn="ctr">
              <a:buNone/>
            </a:pPr>
            <a:r>
              <a:rPr lang="en-US" sz="1050" dirty="0">
                <a:solidFill>
                  <a:srgbClr val="5A6B7B"/>
                </a:solidFill>
                <a:latin typeface="Calibri" pitchFamily="34" charset="0"/>
                <a:ea typeface="Calibri" pitchFamily="34" charset="-122"/>
                <a:cs typeface="Calibri" pitchFamily="34" charset="-120"/>
              </a:rPr>
              <a:t>Embedded FDE pod  ·  domain context owner</a:t>
            </a:r>
            <a:endParaRPr lang="en-US" sz="1050" dirty="0"/>
          </a:p>
        </p:txBody>
      </p:sp>
      <p:sp>
        <p:nvSpPr>
          <p:cNvPr id="15" name="Shape 13"/>
          <p:cNvSpPr/>
          <p:nvPr/>
        </p:nvSpPr>
        <p:spPr>
          <a:xfrm>
            <a:off x="7772400" y="1527048"/>
            <a:ext cx="3886200" cy="1170432"/>
          </a:xfrm>
          <a:prstGeom prst="roundRect">
            <a:avLst>
              <a:gd name="adj" fmla="val 7813"/>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16" name="Text 14"/>
          <p:cNvSpPr/>
          <p:nvPr/>
        </p:nvSpPr>
        <p:spPr>
          <a:xfrm>
            <a:off x="7772400" y="1673352"/>
            <a:ext cx="3886200" cy="310896"/>
          </a:xfrm>
          <a:prstGeom prst="rect">
            <a:avLst/>
          </a:prstGeom>
          <a:noFill/>
          <a:ln/>
        </p:spPr>
        <p:txBody>
          <a:bodyPr wrap="square" lIns="0" tIns="0" rIns="0" bIns="0" rtlCol="0" anchor="ctr"/>
          <a:lstStyle/>
          <a:p>
            <a:pPr marL="0" indent="0" algn="ctr">
              <a:buNone/>
            </a:pPr>
            <a:r>
              <a:rPr lang="en-US" sz="1400" b="1" dirty="0">
                <a:solidFill>
                  <a:srgbClr val="0A2240"/>
                </a:solidFill>
                <a:latin typeface="Calibri" pitchFamily="34" charset="0"/>
                <a:ea typeface="Calibri" pitchFamily="34" charset="-122"/>
                <a:cs typeface="Calibri" pitchFamily="34" charset="-120"/>
              </a:rPr>
              <a:t>Databricks &amp; Data</a:t>
            </a:r>
            <a:endParaRPr lang="en-US" sz="1400" dirty="0"/>
          </a:p>
        </p:txBody>
      </p:sp>
      <p:sp>
        <p:nvSpPr>
          <p:cNvPr id="17" name="Text 15"/>
          <p:cNvSpPr/>
          <p:nvPr/>
        </p:nvSpPr>
        <p:spPr>
          <a:xfrm>
            <a:off x="7772400" y="2020824"/>
            <a:ext cx="3886200" cy="530352"/>
          </a:xfrm>
          <a:prstGeom prst="rect">
            <a:avLst/>
          </a:prstGeom>
          <a:noFill/>
          <a:ln/>
        </p:spPr>
        <p:txBody>
          <a:bodyPr wrap="square" lIns="0" tIns="0" rIns="0" bIns="0" rtlCol="0" anchor="t"/>
          <a:lstStyle/>
          <a:p>
            <a:pPr marL="0" indent="0" algn="ctr">
              <a:buNone/>
            </a:pPr>
            <a:r>
              <a:rPr lang="en-US" sz="1050" dirty="0">
                <a:solidFill>
                  <a:srgbClr val="5A6B7B"/>
                </a:solidFill>
                <a:latin typeface="Calibri" pitchFamily="34" charset="0"/>
                <a:ea typeface="Calibri" pitchFamily="34" charset="-122"/>
                <a:cs typeface="Calibri" pitchFamily="34" charset="-120"/>
              </a:rPr>
              <a:t>Embedded FDE pod  ·  domain context owner</a:t>
            </a:r>
            <a:endParaRPr lang="en-US" sz="1050" dirty="0"/>
          </a:p>
        </p:txBody>
      </p:sp>
      <p:sp>
        <p:nvSpPr>
          <p:cNvPr id="18" name="Shape 16"/>
          <p:cNvSpPr/>
          <p:nvPr/>
        </p:nvSpPr>
        <p:spPr>
          <a:xfrm>
            <a:off x="548640" y="4544568"/>
            <a:ext cx="3886200" cy="1170432"/>
          </a:xfrm>
          <a:prstGeom prst="roundRect">
            <a:avLst>
              <a:gd name="adj" fmla="val 7813"/>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19" name="Text 17"/>
          <p:cNvSpPr/>
          <p:nvPr/>
        </p:nvSpPr>
        <p:spPr>
          <a:xfrm>
            <a:off x="548640" y="4690872"/>
            <a:ext cx="3886200" cy="310896"/>
          </a:xfrm>
          <a:prstGeom prst="rect">
            <a:avLst/>
          </a:prstGeom>
          <a:noFill/>
          <a:ln/>
        </p:spPr>
        <p:txBody>
          <a:bodyPr wrap="square" lIns="0" tIns="0" rIns="0" bIns="0" rtlCol="0" anchor="ctr"/>
          <a:lstStyle/>
          <a:p>
            <a:pPr marL="0" indent="0" algn="ctr">
              <a:buNone/>
            </a:pPr>
            <a:r>
              <a:rPr lang="en-US" sz="1400" b="1" dirty="0">
                <a:solidFill>
                  <a:srgbClr val="0A2240"/>
                </a:solidFill>
                <a:latin typeface="Calibri" pitchFamily="34" charset="0"/>
                <a:ea typeface="Calibri" pitchFamily="34" charset="-122"/>
                <a:cs typeface="Calibri" pitchFamily="34" charset="-120"/>
              </a:rPr>
              <a:t>Engineering &amp; OSS</a:t>
            </a:r>
            <a:endParaRPr lang="en-US" sz="1400" dirty="0"/>
          </a:p>
        </p:txBody>
      </p:sp>
      <p:sp>
        <p:nvSpPr>
          <p:cNvPr id="20" name="Text 18"/>
          <p:cNvSpPr/>
          <p:nvPr/>
        </p:nvSpPr>
        <p:spPr>
          <a:xfrm>
            <a:off x="548640" y="5038344"/>
            <a:ext cx="3886200" cy="530352"/>
          </a:xfrm>
          <a:prstGeom prst="rect">
            <a:avLst/>
          </a:prstGeom>
          <a:noFill/>
          <a:ln/>
        </p:spPr>
        <p:txBody>
          <a:bodyPr wrap="square" lIns="0" tIns="0" rIns="0" bIns="0" rtlCol="0" anchor="t"/>
          <a:lstStyle/>
          <a:p>
            <a:pPr marL="0" indent="0" algn="ctr">
              <a:buNone/>
            </a:pPr>
            <a:r>
              <a:rPr lang="en-US" sz="1050" dirty="0">
                <a:solidFill>
                  <a:srgbClr val="5A6B7B"/>
                </a:solidFill>
                <a:latin typeface="Calibri" pitchFamily="34" charset="0"/>
                <a:ea typeface="Calibri" pitchFamily="34" charset="-122"/>
                <a:cs typeface="Calibri" pitchFamily="34" charset="-120"/>
              </a:rPr>
              <a:t>Embedded FDE pod  ·  domain context owner</a:t>
            </a:r>
            <a:endParaRPr lang="en-US" sz="1050" dirty="0"/>
          </a:p>
        </p:txBody>
      </p:sp>
      <p:sp>
        <p:nvSpPr>
          <p:cNvPr id="21" name="Shape 19"/>
          <p:cNvSpPr/>
          <p:nvPr/>
        </p:nvSpPr>
        <p:spPr>
          <a:xfrm>
            <a:off x="4160520" y="4544568"/>
            <a:ext cx="3886200" cy="1170432"/>
          </a:xfrm>
          <a:prstGeom prst="roundRect">
            <a:avLst>
              <a:gd name="adj" fmla="val 7813"/>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22" name="Text 20"/>
          <p:cNvSpPr/>
          <p:nvPr/>
        </p:nvSpPr>
        <p:spPr>
          <a:xfrm>
            <a:off x="4160520" y="4690872"/>
            <a:ext cx="3886200" cy="310896"/>
          </a:xfrm>
          <a:prstGeom prst="rect">
            <a:avLst/>
          </a:prstGeom>
          <a:noFill/>
          <a:ln/>
        </p:spPr>
        <p:txBody>
          <a:bodyPr wrap="square" lIns="0" tIns="0" rIns="0" bIns="0" rtlCol="0" anchor="ctr"/>
          <a:lstStyle/>
          <a:p>
            <a:pPr marL="0" indent="0" algn="ctr">
              <a:buNone/>
            </a:pPr>
            <a:r>
              <a:rPr lang="en-US" sz="1400" b="1" dirty="0">
                <a:solidFill>
                  <a:srgbClr val="0A2240"/>
                </a:solidFill>
                <a:latin typeface="Calibri" pitchFamily="34" charset="0"/>
                <a:ea typeface="Calibri" pitchFamily="34" charset="-122"/>
                <a:cs typeface="Calibri" pitchFamily="34" charset="-120"/>
              </a:rPr>
              <a:t>Quality Assurance</a:t>
            </a:r>
            <a:endParaRPr lang="en-US" sz="1400" dirty="0"/>
          </a:p>
        </p:txBody>
      </p:sp>
      <p:sp>
        <p:nvSpPr>
          <p:cNvPr id="23" name="Text 21"/>
          <p:cNvSpPr/>
          <p:nvPr/>
        </p:nvSpPr>
        <p:spPr>
          <a:xfrm>
            <a:off x="4160520" y="5038344"/>
            <a:ext cx="3886200" cy="530352"/>
          </a:xfrm>
          <a:prstGeom prst="rect">
            <a:avLst/>
          </a:prstGeom>
          <a:noFill/>
          <a:ln/>
        </p:spPr>
        <p:txBody>
          <a:bodyPr wrap="square" lIns="0" tIns="0" rIns="0" bIns="0" rtlCol="0" anchor="t"/>
          <a:lstStyle/>
          <a:p>
            <a:pPr marL="0" indent="0" algn="ctr">
              <a:buNone/>
            </a:pPr>
            <a:r>
              <a:rPr lang="en-US" sz="1050" dirty="0">
                <a:solidFill>
                  <a:srgbClr val="5A6B7B"/>
                </a:solidFill>
                <a:latin typeface="Calibri" pitchFamily="34" charset="0"/>
                <a:ea typeface="Calibri" pitchFamily="34" charset="-122"/>
                <a:cs typeface="Calibri" pitchFamily="34" charset="-120"/>
              </a:rPr>
              <a:t>Embedded FDE pod  ·  domain context owner</a:t>
            </a:r>
            <a:endParaRPr lang="en-US" sz="1050" dirty="0"/>
          </a:p>
        </p:txBody>
      </p:sp>
      <p:sp>
        <p:nvSpPr>
          <p:cNvPr id="24" name="Shape 22"/>
          <p:cNvSpPr/>
          <p:nvPr/>
        </p:nvSpPr>
        <p:spPr>
          <a:xfrm>
            <a:off x="7772400" y="4544568"/>
            <a:ext cx="3886200" cy="1170432"/>
          </a:xfrm>
          <a:prstGeom prst="roundRect">
            <a:avLst>
              <a:gd name="adj" fmla="val 7813"/>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25" name="Text 23"/>
          <p:cNvSpPr/>
          <p:nvPr/>
        </p:nvSpPr>
        <p:spPr>
          <a:xfrm>
            <a:off x="7772400" y="4690872"/>
            <a:ext cx="3886200" cy="310896"/>
          </a:xfrm>
          <a:prstGeom prst="rect">
            <a:avLst/>
          </a:prstGeom>
          <a:noFill/>
          <a:ln/>
        </p:spPr>
        <p:txBody>
          <a:bodyPr wrap="square" lIns="0" tIns="0" rIns="0" bIns="0" rtlCol="0" anchor="ctr"/>
          <a:lstStyle/>
          <a:p>
            <a:pPr marL="0" indent="0" algn="ctr">
              <a:buNone/>
            </a:pPr>
            <a:r>
              <a:rPr lang="en-US" sz="1400" b="1" dirty="0">
                <a:solidFill>
                  <a:srgbClr val="0A2240"/>
                </a:solidFill>
                <a:latin typeface="Calibri" pitchFamily="34" charset="0"/>
                <a:ea typeface="Calibri" pitchFamily="34" charset="-122"/>
                <a:cs typeface="Calibri" pitchFamily="34" charset="-120"/>
              </a:rPr>
              <a:t>Business Functions</a:t>
            </a:r>
            <a:endParaRPr lang="en-US" sz="1400" dirty="0"/>
          </a:p>
        </p:txBody>
      </p:sp>
      <p:sp>
        <p:nvSpPr>
          <p:cNvPr id="26" name="Text 24"/>
          <p:cNvSpPr/>
          <p:nvPr/>
        </p:nvSpPr>
        <p:spPr>
          <a:xfrm>
            <a:off x="7772400" y="5038344"/>
            <a:ext cx="3886200" cy="530352"/>
          </a:xfrm>
          <a:prstGeom prst="rect">
            <a:avLst/>
          </a:prstGeom>
          <a:noFill/>
          <a:ln/>
        </p:spPr>
        <p:txBody>
          <a:bodyPr wrap="square" lIns="0" tIns="0" rIns="0" bIns="0" rtlCol="0" anchor="t"/>
          <a:lstStyle/>
          <a:p>
            <a:pPr marL="0" indent="0" algn="ctr">
              <a:buNone/>
            </a:pPr>
            <a:r>
              <a:rPr lang="en-US" sz="1050" dirty="0">
                <a:solidFill>
                  <a:srgbClr val="5A6B7B"/>
                </a:solidFill>
                <a:latin typeface="Calibri" pitchFamily="34" charset="0"/>
                <a:ea typeface="Calibri" pitchFamily="34" charset="-122"/>
                <a:cs typeface="Calibri" pitchFamily="34" charset="-120"/>
              </a:rPr>
              <a:t>Embedded FDE pod  ·  domain context owner</a:t>
            </a:r>
            <a:endParaRPr lang="en-US" sz="1050" dirty="0"/>
          </a:p>
        </p:txBody>
      </p:sp>
      <p:sp>
        <p:nvSpPr>
          <p:cNvPr id="27" name="Text 25"/>
          <p:cNvSpPr/>
          <p:nvPr/>
        </p:nvSpPr>
        <p:spPr>
          <a:xfrm>
            <a:off x="548640" y="5797296"/>
            <a:ext cx="11094415" cy="457200"/>
          </a:xfrm>
          <a:prstGeom prst="rect">
            <a:avLst/>
          </a:prstGeom>
          <a:noFill/>
          <a:ln/>
        </p:spPr>
        <p:txBody>
          <a:bodyPr wrap="square" lIns="0" tIns="0" rIns="0" bIns="0" rtlCol="0" anchor="ctr"/>
          <a:lstStyle/>
          <a:p>
            <a:pPr marL="0" indent="0">
              <a:lnSpc>
                <a:spcPts val="1500"/>
              </a:lnSpc>
              <a:buNone/>
            </a:pPr>
            <a:r>
              <a:rPr lang="en-US" sz="1100" dirty="0">
                <a:solidFill>
                  <a:srgbClr val="5A6B7B"/>
                </a:solidFill>
                <a:latin typeface="Calibri" pitchFamily="34" charset="0"/>
                <a:ea typeface="Calibri" pitchFamily="34" charset="-122"/>
                <a:cs typeface="Calibri" pitchFamily="34" charset="-120"/>
              </a:rPr>
              <a:t>Hub supplies: gateway, MCP estate, evaluation harness, observability, reference architecture, standards, enablement.   Spokes supply: domain semantics, process ownership, adoption, and the business case.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3</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AI &amp; data roadmap — four horizons</a:t>
            </a:r>
            <a:endParaRPr lang="en-US" sz="3400" dirty="0"/>
          </a:p>
        </p:txBody>
      </p:sp>
      <p:sp>
        <p:nvSpPr>
          <p:cNvPr id="4" name="Text 2"/>
          <p:cNvSpPr/>
          <p:nvPr/>
        </p:nvSpPr>
        <p:spPr>
          <a:xfrm>
            <a:off x="548640" y="1280160"/>
            <a:ext cx="11094415" cy="292608"/>
          </a:xfrm>
          <a:prstGeom prst="rect">
            <a:avLst/>
          </a:prstGeom>
          <a:noFill/>
          <a:ln/>
        </p:spPr>
        <p:txBody>
          <a:bodyPr wrap="square" lIns="0" tIns="0" rIns="0" bIns="0" rtlCol="0" anchor="ctr"/>
          <a:lstStyle/>
          <a:p>
            <a:pPr marL="0" indent="0">
              <a:buNone/>
            </a:pPr>
            <a:r>
              <a:rPr lang="en-US" sz="1250" i="1" dirty="0">
                <a:solidFill>
                  <a:srgbClr val="5A6B7B"/>
                </a:solidFill>
                <a:latin typeface="Calibri" pitchFamily="34" charset="0"/>
                <a:ea typeface="Calibri" pitchFamily="34" charset="-122"/>
                <a:cs typeface="Calibri" pitchFamily="34" charset="-120"/>
              </a:rPr>
              <a:t>Sequenced by dependency, not by calendar. Each horizon has an explicit exit condition before the next begins.</a:t>
            </a:r>
            <a:endParaRPr lang="en-US" sz="1250" dirty="0"/>
          </a:p>
        </p:txBody>
      </p:sp>
      <p:sp>
        <p:nvSpPr>
          <p:cNvPr id="5" name="Text 3"/>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6" name="Text 4"/>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548640" y="1737360"/>
            <a:ext cx="2581580" cy="4261104"/>
          </a:xfrm>
          <a:prstGeom prst="roundRect">
            <a:avLst>
              <a:gd name="adj" fmla="val 2834"/>
            </a:avLst>
          </a:prstGeom>
          <a:solidFill>
            <a:srgbClr val="0A2240"/>
          </a:solidFill>
          <a:ln w="12700">
            <a:solidFill>
              <a:srgbClr val="0A2240"/>
            </a:solidFill>
            <a:prstDash val="solid"/>
          </a:ln>
          <a:effectLst>
            <a:outerShdw blurRad="101600" dist="25400" dir="5400000" algn="bl" rotWithShape="0">
              <a:srgbClr val="0A2240">
                <a:alpha val="12000"/>
              </a:srgbClr>
            </a:outerShdw>
          </a:effectLst>
        </p:spPr>
      </p:sp>
      <p:sp>
        <p:nvSpPr>
          <p:cNvPr id="8" name="Shape 6"/>
          <p:cNvSpPr/>
          <p:nvPr/>
        </p:nvSpPr>
        <p:spPr>
          <a:xfrm>
            <a:off x="786384" y="1938528"/>
            <a:ext cx="457200" cy="457200"/>
          </a:xfrm>
          <a:prstGeom prst="ellipse">
            <a:avLst/>
          </a:prstGeom>
          <a:solidFill>
            <a:srgbClr val="00A9E0"/>
          </a:solidFill>
          <a:ln w="12700">
            <a:solidFill>
              <a:srgbClr val="00A9E0"/>
            </a:solidFill>
            <a:prstDash val="solid"/>
          </a:ln>
        </p:spPr>
      </p:sp>
      <p:sp>
        <p:nvSpPr>
          <p:cNvPr id="9" name="Text 7"/>
          <p:cNvSpPr/>
          <p:nvPr/>
        </p:nvSpPr>
        <p:spPr>
          <a:xfrm>
            <a:off x="786384" y="1938528"/>
            <a:ext cx="457200" cy="457200"/>
          </a:xfrm>
          <a:prstGeom prst="rect">
            <a:avLst/>
          </a:prstGeom>
          <a:noFill/>
          <a:ln/>
        </p:spPr>
        <p:txBody>
          <a:bodyPr wrap="square" lIns="0" tIns="0" rIns="0" bIns="0" rtlCol="0" anchor="ctr"/>
          <a:lstStyle/>
          <a:p>
            <a:pPr marL="0" indent="0" algn="ctr">
              <a:buNone/>
            </a:pPr>
            <a:r>
              <a:rPr lang="en-US" sz="1200" b="1" dirty="0">
                <a:solidFill>
                  <a:srgbClr val="0A2240"/>
                </a:solidFill>
                <a:latin typeface="Calibri" pitchFamily="34" charset="0"/>
                <a:ea typeface="Calibri" pitchFamily="34" charset="-122"/>
                <a:cs typeface="Calibri" pitchFamily="34" charset="-120"/>
              </a:rPr>
              <a:t>H1</a:t>
            </a:r>
            <a:endParaRPr lang="en-US" sz="1200" dirty="0"/>
          </a:p>
        </p:txBody>
      </p:sp>
      <p:sp>
        <p:nvSpPr>
          <p:cNvPr id="10" name="Text 8"/>
          <p:cNvSpPr/>
          <p:nvPr/>
        </p:nvSpPr>
        <p:spPr>
          <a:xfrm>
            <a:off x="1335024" y="1938528"/>
            <a:ext cx="1575740" cy="45720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Establish</a:t>
            </a:r>
            <a:endParaRPr lang="en-US" sz="1800" dirty="0"/>
          </a:p>
        </p:txBody>
      </p:sp>
      <p:sp>
        <p:nvSpPr>
          <p:cNvPr id="11" name="Text 9"/>
          <p:cNvSpPr/>
          <p:nvPr/>
        </p:nvSpPr>
        <p:spPr>
          <a:xfrm>
            <a:off x="786384" y="2523744"/>
            <a:ext cx="2106092" cy="246888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Stand up the AI Division and governance forum</a:t>
            </a:r>
            <a:endParaRPr lang="en-US" sz="1050" dirty="0"/>
          </a:p>
          <a:p>
            <a:pPr marL="342900" indent="-342900">
              <a:lnSpc>
                <a:spcPts val="1400"/>
              </a:lnSpc>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Complete the AI data readiness assessment</a:t>
            </a:r>
            <a:endParaRPr lang="en-US" sz="1050" dirty="0"/>
          </a:p>
          <a:p>
            <a:pPr marL="342900" indent="-342900">
              <a:lnSpc>
                <a:spcPts val="1400"/>
              </a:lnSpc>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Extend Unity Catalog to models, agents and tools</a:t>
            </a:r>
            <a:endParaRPr lang="en-US" sz="1050" dirty="0"/>
          </a:p>
          <a:p>
            <a:pPr marL="342900" indent="-342900">
              <a:lnSpc>
                <a:spcPts val="1400"/>
              </a:lnSpc>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Deploy the AI gateway in front of all model traffic</a:t>
            </a:r>
            <a:endParaRPr lang="en-US" sz="1050" dirty="0"/>
          </a:p>
          <a:p>
            <a:pPr marL="342900" indent="-342900">
              <a:lnSpc>
                <a:spcPts val="1400"/>
              </a:lnSpc>
              <a:spcAft>
                <a:spcPts val="600"/>
              </a:spcAft>
              <a:buSzPct val="100000"/>
              <a:buChar char="•"/>
            </a:pPr>
            <a:r>
              <a:rPr lang="en-US" sz="1050" dirty="0">
                <a:solidFill>
                  <a:srgbClr val="FFFFFF"/>
                </a:solidFill>
                <a:latin typeface="Calibri" pitchFamily="34" charset="0"/>
                <a:ea typeface="Calibri" pitchFamily="34" charset="-122"/>
                <a:cs typeface="Calibri" pitchFamily="34" charset="-120"/>
              </a:rPr>
              <a:t>Publish the AI acceptable-use and data-classification policy</a:t>
            </a:r>
            <a:endParaRPr lang="en-US" sz="1050" dirty="0"/>
          </a:p>
        </p:txBody>
      </p:sp>
      <p:sp>
        <p:nvSpPr>
          <p:cNvPr id="12" name="Shape 10"/>
          <p:cNvSpPr/>
          <p:nvPr/>
        </p:nvSpPr>
        <p:spPr>
          <a:xfrm>
            <a:off x="731520" y="5029200"/>
            <a:ext cx="2215820" cy="786384"/>
          </a:xfrm>
          <a:prstGeom prst="roundRect">
            <a:avLst>
              <a:gd name="adj" fmla="val 6977"/>
            </a:avLst>
          </a:prstGeom>
          <a:solidFill>
            <a:srgbClr val="13355F"/>
          </a:solidFill>
          <a:ln w="12700">
            <a:solidFill>
              <a:srgbClr val="1B6CA8"/>
            </a:solidFill>
            <a:prstDash val="solid"/>
          </a:ln>
        </p:spPr>
      </p:sp>
      <p:sp>
        <p:nvSpPr>
          <p:cNvPr id="13" name="Text 11"/>
          <p:cNvSpPr/>
          <p:nvPr/>
        </p:nvSpPr>
        <p:spPr>
          <a:xfrm>
            <a:off x="841248" y="5084064"/>
            <a:ext cx="1996364" cy="676656"/>
          </a:xfrm>
          <a:prstGeom prst="rect">
            <a:avLst/>
          </a:prstGeom>
          <a:noFill/>
          <a:ln/>
        </p:spPr>
        <p:txBody>
          <a:bodyPr wrap="square" lIns="0" tIns="0" rIns="0" bIns="0" rtlCol="0" anchor="ctr"/>
          <a:lstStyle/>
          <a:p>
            <a:pPr marL="0" indent="0">
              <a:lnSpc>
                <a:spcPts val="1200"/>
              </a:lnSpc>
              <a:buNone/>
            </a:pPr>
            <a:r>
              <a:rPr lang="en-US" sz="950" b="1" i="1" dirty="0">
                <a:solidFill>
                  <a:srgbClr val="00A9E0"/>
                </a:solidFill>
                <a:latin typeface="Calibri" pitchFamily="34" charset="0"/>
                <a:ea typeface="Calibri" pitchFamily="34" charset="-122"/>
                <a:cs typeface="Calibri" pitchFamily="34" charset="-120"/>
              </a:rPr>
              <a:t>Exit: every model call at Ball is attributable, capped and logged.</a:t>
            </a:r>
            <a:endParaRPr lang="en-US" sz="950" dirty="0"/>
          </a:p>
        </p:txBody>
      </p:sp>
      <p:sp>
        <p:nvSpPr>
          <p:cNvPr id="14" name="Shape 12"/>
          <p:cNvSpPr/>
          <p:nvPr/>
        </p:nvSpPr>
        <p:spPr>
          <a:xfrm>
            <a:off x="3386252" y="1737360"/>
            <a:ext cx="2581580" cy="4261104"/>
          </a:xfrm>
          <a:prstGeom prst="roundRect">
            <a:avLst>
              <a:gd name="adj" fmla="val 2834"/>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15" name="Shape 13"/>
          <p:cNvSpPr/>
          <p:nvPr/>
        </p:nvSpPr>
        <p:spPr>
          <a:xfrm>
            <a:off x="3623996" y="1938528"/>
            <a:ext cx="457200" cy="457200"/>
          </a:xfrm>
          <a:prstGeom prst="ellipse">
            <a:avLst/>
          </a:prstGeom>
          <a:solidFill>
            <a:srgbClr val="1B6CA8"/>
          </a:solidFill>
          <a:ln w="12700">
            <a:solidFill>
              <a:srgbClr val="1B6CA8"/>
            </a:solidFill>
            <a:prstDash val="solid"/>
          </a:ln>
        </p:spPr>
      </p:sp>
      <p:sp>
        <p:nvSpPr>
          <p:cNvPr id="16" name="Text 14"/>
          <p:cNvSpPr/>
          <p:nvPr/>
        </p:nvSpPr>
        <p:spPr>
          <a:xfrm>
            <a:off x="3623996" y="1938528"/>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H2</a:t>
            </a:r>
            <a:endParaRPr lang="en-US" sz="1200" dirty="0"/>
          </a:p>
        </p:txBody>
      </p:sp>
      <p:sp>
        <p:nvSpPr>
          <p:cNvPr id="17" name="Text 15"/>
          <p:cNvSpPr/>
          <p:nvPr/>
        </p:nvSpPr>
        <p:spPr>
          <a:xfrm>
            <a:off x="4172636" y="1938528"/>
            <a:ext cx="1575740" cy="457200"/>
          </a:xfrm>
          <a:prstGeom prst="rect">
            <a:avLst/>
          </a:prstGeom>
          <a:noFill/>
          <a:ln/>
        </p:spPr>
        <p:txBody>
          <a:bodyPr wrap="square" lIns="0" tIns="0" rIns="0" bIns="0" rtlCol="0" anchor="ctr"/>
          <a:lstStyle/>
          <a:p>
            <a:pPr marL="0" indent="0">
              <a:buNone/>
            </a:pPr>
            <a:r>
              <a:rPr lang="en-US" sz="1800" b="1" dirty="0">
                <a:solidFill>
                  <a:srgbClr val="0A2240"/>
                </a:solidFill>
                <a:latin typeface="Cambria" pitchFamily="34" charset="0"/>
                <a:ea typeface="Cambria" pitchFamily="34" charset="-122"/>
                <a:cs typeface="Cambria" pitchFamily="34" charset="-120"/>
              </a:rPr>
              <a:t>Enable</a:t>
            </a:r>
            <a:endParaRPr lang="en-US" sz="1800" dirty="0"/>
          </a:p>
        </p:txBody>
      </p:sp>
      <p:sp>
        <p:nvSpPr>
          <p:cNvPr id="18" name="Text 16"/>
          <p:cNvSpPr/>
          <p:nvPr/>
        </p:nvSpPr>
        <p:spPr>
          <a:xfrm>
            <a:off x="3623996" y="2523744"/>
            <a:ext cx="2106092" cy="246888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Provision the first MCP servers over JDE, Databricks and the knowledge estate</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Stand up the context engineering function and semantic layer</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Introduce the ADLC and evaluation harness</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Launch two lighthouse agents (QA regression, ERP master-data)</a:t>
            </a:r>
            <a:endParaRPr lang="en-US" sz="1050" dirty="0"/>
          </a:p>
        </p:txBody>
      </p:sp>
      <p:sp>
        <p:nvSpPr>
          <p:cNvPr id="19" name="Shape 17"/>
          <p:cNvSpPr/>
          <p:nvPr/>
        </p:nvSpPr>
        <p:spPr>
          <a:xfrm>
            <a:off x="3569132" y="5029200"/>
            <a:ext cx="2215820" cy="786384"/>
          </a:xfrm>
          <a:prstGeom prst="roundRect">
            <a:avLst>
              <a:gd name="adj" fmla="val 6977"/>
            </a:avLst>
          </a:prstGeom>
          <a:solidFill>
            <a:srgbClr val="FFFFFF"/>
          </a:solidFill>
          <a:ln w="12700">
            <a:solidFill>
              <a:srgbClr val="E4EBF2"/>
            </a:solidFill>
            <a:prstDash val="solid"/>
          </a:ln>
        </p:spPr>
      </p:sp>
      <p:sp>
        <p:nvSpPr>
          <p:cNvPr id="20" name="Text 18"/>
          <p:cNvSpPr/>
          <p:nvPr/>
        </p:nvSpPr>
        <p:spPr>
          <a:xfrm>
            <a:off x="3678860" y="5084064"/>
            <a:ext cx="1996364" cy="676656"/>
          </a:xfrm>
          <a:prstGeom prst="rect">
            <a:avLst/>
          </a:prstGeom>
          <a:noFill/>
          <a:ln/>
        </p:spPr>
        <p:txBody>
          <a:bodyPr wrap="square" lIns="0" tIns="0" rIns="0" bIns="0" rtlCol="0" anchor="ctr"/>
          <a:lstStyle/>
          <a:p>
            <a:pPr marL="0" indent="0">
              <a:lnSpc>
                <a:spcPts val="1200"/>
              </a:lnSpc>
              <a:buNone/>
            </a:pPr>
            <a:r>
              <a:rPr lang="en-US" sz="950" b="1" i="1" dirty="0">
                <a:solidFill>
                  <a:srgbClr val="1B6CA8"/>
                </a:solidFill>
                <a:latin typeface="Calibri" pitchFamily="34" charset="0"/>
                <a:ea typeface="Calibri" pitchFamily="34" charset="-122"/>
                <a:cs typeface="Calibri" pitchFamily="34" charset="-120"/>
              </a:rPr>
              <a:t>Exit: a governed agent runs unattended in production with an owner and an SLA.</a:t>
            </a:r>
            <a:endParaRPr lang="en-US" sz="950" dirty="0"/>
          </a:p>
        </p:txBody>
      </p:sp>
      <p:sp>
        <p:nvSpPr>
          <p:cNvPr id="21" name="Shape 19"/>
          <p:cNvSpPr/>
          <p:nvPr/>
        </p:nvSpPr>
        <p:spPr>
          <a:xfrm>
            <a:off x="6223864" y="1737360"/>
            <a:ext cx="2581580" cy="4261104"/>
          </a:xfrm>
          <a:prstGeom prst="roundRect">
            <a:avLst>
              <a:gd name="adj" fmla="val 2834"/>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22" name="Shape 20"/>
          <p:cNvSpPr/>
          <p:nvPr/>
        </p:nvSpPr>
        <p:spPr>
          <a:xfrm>
            <a:off x="6461608" y="1938528"/>
            <a:ext cx="457200" cy="457200"/>
          </a:xfrm>
          <a:prstGeom prst="ellipse">
            <a:avLst/>
          </a:prstGeom>
          <a:solidFill>
            <a:srgbClr val="1B6CA8"/>
          </a:solidFill>
          <a:ln w="12700">
            <a:solidFill>
              <a:srgbClr val="1B6CA8"/>
            </a:solidFill>
            <a:prstDash val="solid"/>
          </a:ln>
        </p:spPr>
      </p:sp>
      <p:sp>
        <p:nvSpPr>
          <p:cNvPr id="23" name="Text 21"/>
          <p:cNvSpPr/>
          <p:nvPr/>
        </p:nvSpPr>
        <p:spPr>
          <a:xfrm>
            <a:off x="6461608" y="1938528"/>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H3</a:t>
            </a:r>
            <a:endParaRPr lang="en-US" sz="1200" dirty="0"/>
          </a:p>
        </p:txBody>
      </p:sp>
      <p:sp>
        <p:nvSpPr>
          <p:cNvPr id="24" name="Text 22"/>
          <p:cNvSpPr/>
          <p:nvPr/>
        </p:nvSpPr>
        <p:spPr>
          <a:xfrm>
            <a:off x="7010248" y="1938528"/>
            <a:ext cx="1575740" cy="457200"/>
          </a:xfrm>
          <a:prstGeom prst="rect">
            <a:avLst/>
          </a:prstGeom>
          <a:noFill/>
          <a:ln/>
        </p:spPr>
        <p:txBody>
          <a:bodyPr wrap="square" lIns="0" tIns="0" rIns="0" bIns="0" rtlCol="0" anchor="ctr"/>
          <a:lstStyle/>
          <a:p>
            <a:pPr marL="0" indent="0">
              <a:buNone/>
            </a:pPr>
            <a:r>
              <a:rPr lang="en-US" sz="1800" b="1" dirty="0">
                <a:solidFill>
                  <a:srgbClr val="0A2240"/>
                </a:solidFill>
                <a:latin typeface="Cambria" pitchFamily="34" charset="0"/>
                <a:ea typeface="Cambria" pitchFamily="34" charset="-122"/>
                <a:cs typeface="Cambria" pitchFamily="34" charset="-120"/>
              </a:rPr>
              <a:t>Scale</a:t>
            </a:r>
            <a:endParaRPr lang="en-US" sz="1800" dirty="0"/>
          </a:p>
        </p:txBody>
      </p:sp>
      <p:sp>
        <p:nvSpPr>
          <p:cNvPr id="25" name="Text 23"/>
          <p:cNvSpPr/>
          <p:nvPr/>
        </p:nvSpPr>
        <p:spPr>
          <a:xfrm>
            <a:off x="6461608" y="2523744"/>
            <a:ext cx="2106092" cy="246888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Complete the six-server MCP estate incl. SAP</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Deploy the agentic mesh control plane</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Embed FDE pods in every spoke domain</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Roll out harness engineering across the SDLC</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Open self-service agent building to the business</a:t>
            </a:r>
            <a:endParaRPr lang="en-US" sz="1050" dirty="0"/>
          </a:p>
        </p:txBody>
      </p:sp>
      <p:sp>
        <p:nvSpPr>
          <p:cNvPr id="26" name="Shape 24"/>
          <p:cNvSpPr/>
          <p:nvPr/>
        </p:nvSpPr>
        <p:spPr>
          <a:xfrm>
            <a:off x="6406744" y="5029200"/>
            <a:ext cx="2215820" cy="786384"/>
          </a:xfrm>
          <a:prstGeom prst="roundRect">
            <a:avLst>
              <a:gd name="adj" fmla="val 6977"/>
            </a:avLst>
          </a:prstGeom>
          <a:solidFill>
            <a:srgbClr val="FFFFFF"/>
          </a:solidFill>
          <a:ln w="12700">
            <a:solidFill>
              <a:srgbClr val="E4EBF2"/>
            </a:solidFill>
            <a:prstDash val="solid"/>
          </a:ln>
        </p:spPr>
      </p:sp>
      <p:sp>
        <p:nvSpPr>
          <p:cNvPr id="27" name="Text 25"/>
          <p:cNvSpPr/>
          <p:nvPr/>
        </p:nvSpPr>
        <p:spPr>
          <a:xfrm>
            <a:off x="6516472" y="5084064"/>
            <a:ext cx="1996364" cy="676656"/>
          </a:xfrm>
          <a:prstGeom prst="rect">
            <a:avLst/>
          </a:prstGeom>
          <a:noFill/>
          <a:ln/>
        </p:spPr>
        <p:txBody>
          <a:bodyPr wrap="square" lIns="0" tIns="0" rIns="0" bIns="0" rtlCol="0" anchor="ctr"/>
          <a:lstStyle/>
          <a:p>
            <a:pPr marL="0" indent="0">
              <a:lnSpc>
                <a:spcPts val="1200"/>
              </a:lnSpc>
              <a:buNone/>
            </a:pPr>
            <a:r>
              <a:rPr lang="en-US" sz="950" b="1" i="1" dirty="0">
                <a:solidFill>
                  <a:srgbClr val="1B6CA8"/>
                </a:solidFill>
                <a:latin typeface="Calibri" pitchFamily="34" charset="0"/>
                <a:ea typeface="Calibri" pitchFamily="34" charset="-122"/>
                <a:cs typeface="Calibri" pitchFamily="34" charset="-120"/>
              </a:rPr>
              <a:t>Exit: business teams ship agents without hub engineering in the critical path.</a:t>
            </a:r>
            <a:endParaRPr lang="en-US" sz="950" dirty="0"/>
          </a:p>
        </p:txBody>
      </p:sp>
      <p:sp>
        <p:nvSpPr>
          <p:cNvPr id="28" name="Shape 26"/>
          <p:cNvSpPr/>
          <p:nvPr/>
        </p:nvSpPr>
        <p:spPr>
          <a:xfrm>
            <a:off x="9061475" y="1737360"/>
            <a:ext cx="2581580" cy="4261104"/>
          </a:xfrm>
          <a:prstGeom prst="roundRect">
            <a:avLst>
              <a:gd name="adj" fmla="val 2834"/>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29" name="Shape 27"/>
          <p:cNvSpPr/>
          <p:nvPr/>
        </p:nvSpPr>
        <p:spPr>
          <a:xfrm>
            <a:off x="9299219" y="1938528"/>
            <a:ext cx="457200" cy="457200"/>
          </a:xfrm>
          <a:prstGeom prst="ellipse">
            <a:avLst/>
          </a:prstGeom>
          <a:solidFill>
            <a:srgbClr val="1B6CA8"/>
          </a:solidFill>
          <a:ln w="12700">
            <a:solidFill>
              <a:srgbClr val="1B6CA8"/>
            </a:solidFill>
            <a:prstDash val="solid"/>
          </a:ln>
        </p:spPr>
      </p:sp>
      <p:sp>
        <p:nvSpPr>
          <p:cNvPr id="30" name="Text 28"/>
          <p:cNvSpPr/>
          <p:nvPr/>
        </p:nvSpPr>
        <p:spPr>
          <a:xfrm>
            <a:off x="9299219" y="1938528"/>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H4</a:t>
            </a:r>
            <a:endParaRPr lang="en-US" sz="1200" dirty="0"/>
          </a:p>
        </p:txBody>
      </p:sp>
      <p:sp>
        <p:nvSpPr>
          <p:cNvPr id="31" name="Text 29"/>
          <p:cNvSpPr/>
          <p:nvPr/>
        </p:nvSpPr>
        <p:spPr>
          <a:xfrm>
            <a:off x="9847859" y="1938528"/>
            <a:ext cx="1575740" cy="457200"/>
          </a:xfrm>
          <a:prstGeom prst="rect">
            <a:avLst/>
          </a:prstGeom>
          <a:noFill/>
          <a:ln/>
        </p:spPr>
        <p:txBody>
          <a:bodyPr wrap="square" lIns="0" tIns="0" rIns="0" bIns="0" rtlCol="0" anchor="ctr"/>
          <a:lstStyle/>
          <a:p>
            <a:pPr marL="0" indent="0">
              <a:buNone/>
            </a:pPr>
            <a:r>
              <a:rPr lang="en-US" sz="1800" b="1" dirty="0">
                <a:solidFill>
                  <a:srgbClr val="0A2240"/>
                </a:solidFill>
                <a:latin typeface="Cambria" pitchFamily="34" charset="0"/>
                <a:ea typeface="Cambria" pitchFamily="34" charset="-122"/>
                <a:cs typeface="Cambria" pitchFamily="34" charset="-120"/>
              </a:rPr>
              <a:t>Compound</a:t>
            </a:r>
            <a:endParaRPr lang="en-US" sz="1800" dirty="0"/>
          </a:p>
        </p:txBody>
      </p:sp>
      <p:sp>
        <p:nvSpPr>
          <p:cNvPr id="32" name="Text 30"/>
          <p:cNvSpPr/>
          <p:nvPr/>
        </p:nvSpPr>
        <p:spPr>
          <a:xfrm>
            <a:off x="9299219" y="2523744"/>
            <a:ext cx="2106092" cy="246888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Multi-agent workflows spanning ERP, plant and commercial</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Agent-to-agent delegation under mesh policy</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Continuous evaluation and automatic regression gating</a:t>
            </a:r>
            <a:endParaRPr lang="en-US" sz="1050" dirty="0"/>
          </a:p>
          <a:p>
            <a:pPr marL="342900" indent="-342900">
              <a:lnSpc>
                <a:spcPts val="14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Cross-domain memory and institutional knowledge reuse</a:t>
            </a:r>
            <a:endParaRPr lang="en-US" sz="1050" dirty="0"/>
          </a:p>
        </p:txBody>
      </p:sp>
      <p:sp>
        <p:nvSpPr>
          <p:cNvPr id="33" name="Shape 31"/>
          <p:cNvSpPr/>
          <p:nvPr/>
        </p:nvSpPr>
        <p:spPr>
          <a:xfrm>
            <a:off x="9244355" y="5029200"/>
            <a:ext cx="2215820" cy="786384"/>
          </a:xfrm>
          <a:prstGeom prst="roundRect">
            <a:avLst>
              <a:gd name="adj" fmla="val 6977"/>
            </a:avLst>
          </a:prstGeom>
          <a:solidFill>
            <a:srgbClr val="FFFFFF"/>
          </a:solidFill>
          <a:ln w="12700">
            <a:solidFill>
              <a:srgbClr val="E4EBF2"/>
            </a:solidFill>
            <a:prstDash val="solid"/>
          </a:ln>
        </p:spPr>
      </p:sp>
      <p:sp>
        <p:nvSpPr>
          <p:cNvPr id="34" name="Text 32"/>
          <p:cNvSpPr/>
          <p:nvPr/>
        </p:nvSpPr>
        <p:spPr>
          <a:xfrm>
            <a:off x="9354083" y="5084064"/>
            <a:ext cx="1996364" cy="676656"/>
          </a:xfrm>
          <a:prstGeom prst="rect">
            <a:avLst/>
          </a:prstGeom>
          <a:noFill/>
          <a:ln/>
        </p:spPr>
        <p:txBody>
          <a:bodyPr wrap="square" lIns="0" tIns="0" rIns="0" bIns="0" rtlCol="0" anchor="ctr"/>
          <a:lstStyle/>
          <a:p>
            <a:pPr marL="0" indent="0">
              <a:lnSpc>
                <a:spcPts val="1200"/>
              </a:lnSpc>
              <a:buNone/>
            </a:pPr>
            <a:r>
              <a:rPr lang="en-US" sz="950" b="1" i="1" dirty="0">
                <a:solidFill>
                  <a:srgbClr val="1B6CA8"/>
                </a:solidFill>
                <a:latin typeface="Calibri" pitchFamily="34" charset="0"/>
                <a:ea typeface="Calibri" pitchFamily="34" charset="-122"/>
                <a:cs typeface="Calibri" pitchFamily="34" charset="-120"/>
              </a:rPr>
              <a:t>Exit: AI capability is a standing platform capability, not a programme.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3</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Roadmap by workstream</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11</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3061716"/>
        </p:xfrm>
        <a:graphic>
          <a:graphicData uri="http://schemas.openxmlformats.org/drawingml/2006/table">
            <a:tbl>
              <a:tblPr/>
              <a:tblGrid>
                <a:gridCol w="1874520">
                  <a:extLst>
                    <a:ext uri="{9D8B030D-6E8A-4147-A177-3AD203B41FA5}">
                      <a16:colId xmlns:a16="http://schemas.microsoft.com/office/drawing/2014/main" val="20000"/>
                    </a:ext>
                  </a:extLst>
                </a:gridCol>
                <a:gridCol w="2304288">
                  <a:extLst>
                    <a:ext uri="{9D8B030D-6E8A-4147-A177-3AD203B41FA5}">
                      <a16:colId xmlns:a16="http://schemas.microsoft.com/office/drawing/2014/main" val="20001"/>
                    </a:ext>
                  </a:extLst>
                </a:gridCol>
                <a:gridCol w="2304288">
                  <a:extLst>
                    <a:ext uri="{9D8B030D-6E8A-4147-A177-3AD203B41FA5}">
                      <a16:colId xmlns:a16="http://schemas.microsoft.com/office/drawing/2014/main" val="20002"/>
                    </a:ext>
                  </a:extLst>
                </a:gridCol>
                <a:gridCol w="2304288">
                  <a:extLst>
                    <a:ext uri="{9D8B030D-6E8A-4147-A177-3AD203B41FA5}">
                      <a16:colId xmlns:a16="http://schemas.microsoft.com/office/drawing/2014/main" val="20003"/>
                    </a:ext>
                  </a:extLst>
                </a:gridCol>
                <a:gridCol w="2304288">
                  <a:extLst>
                    <a:ext uri="{9D8B030D-6E8A-4147-A177-3AD203B41FA5}">
                      <a16:colId xmlns:a16="http://schemas.microsoft.com/office/drawing/2014/main" val="20004"/>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Workstream</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H1 · Establish</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H2 · Enable</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H3 · Scale</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H4 · Compound</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extLst>
                  <a:ext uri="{0D108BD9-81ED-4DB2-BD59-A6C34878D82A}">
                    <a16:rowId xmlns:a16="http://schemas.microsoft.com/office/drawing/2014/main" val="10000"/>
                  </a:ext>
                </a:extLst>
              </a:tr>
              <a:tr h="0">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Data foundation</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Readiness assessment; UC coverage of AI assets</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Semantic layer; curated domain marts; vector indexes</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Real-time and plant telemetry onboarded</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Cross-domain knowledge graph</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Platform</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AI gateway; model routing; spend caps</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First MCP servers; evaluation harness</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Full MCP estate; agentic mesh control plane</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Agent-to-agent policy; autoscaling runtime</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0">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Context engineering</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Charter; ownership of definitions</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CE team formed; retrieval and memory patterns</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Domain context packs for every spoke</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Continuous context quality scoring</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Delivery (FDE)</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Model defined; first two engineers</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Pods in JDE and QA</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Pods in every spoke; enablement programme</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Business self-service with FDE coaching</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0">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Engineering / SDLC</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Assistant usage telemetry and standards</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Harness pipelines for AI-generated change</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Agent DLC: build, test, deploy agents as code</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Autonomous worker agents in delivery flow</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ERP integration</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JDE orchestration inventory and security review</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JDE MCP server (read); Claude integration</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JDE write-path with approvals; SAP MCP server</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Cross-ERP process agents</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0">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Governance &amp; risk</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Policy, classification, forum, register</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Guardrails at the gateway; audit trail</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Model risk reviews; third-party agent policy</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20" dirty="0">
                          <a:solidFill>
                            <a:srgbClr val="16222E"/>
                          </a:solidFill>
                          <a:latin typeface="Calibri" pitchFamily="34" charset="0"/>
                          <a:ea typeface="Calibri" pitchFamily="34" charset="-122"/>
                          <a:cs typeface="Calibri" pitchFamily="34" charset="-120"/>
                        </a:rPr>
                        <a:t>Continuous assurance and automated evidence</a:t>
                      </a:r>
                      <a:endParaRPr lang="en-US" sz="92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ASSESSMENT</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AI data assessment → a GenAI framework for Ball</a:t>
            </a:r>
            <a:endParaRPr lang="en-US" sz="3400" dirty="0"/>
          </a:p>
        </p:txBody>
      </p:sp>
      <p:sp>
        <p:nvSpPr>
          <p:cNvPr id="4" name="Text 2"/>
          <p:cNvSpPr/>
          <p:nvPr/>
        </p:nvSpPr>
        <p:spPr>
          <a:xfrm>
            <a:off x="548640" y="1280160"/>
            <a:ext cx="11094415" cy="292608"/>
          </a:xfrm>
          <a:prstGeom prst="rect">
            <a:avLst/>
          </a:prstGeom>
          <a:noFill/>
          <a:ln/>
        </p:spPr>
        <p:txBody>
          <a:bodyPr wrap="square" lIns="0" tIns="0" rIns="0" bIns="0" rtlCol="0" anchor="ctr"/>
          <a:lstStyle/>
          <a:p>
            <a:pPr marL="0" indent="0">
              <a:buNone/>
            </a:pPr>
            <a:r>
              <a:rPr lang="en-US" sz="1250" i="1" dirty="0">
                <a:solidFill>
                  <a:srgbClr val="5A6B7B"/>
                </a:solidFill>
                <a:latin typeface="Calibri" pitchFamily="34" charset="0"/>
                <a:ea typeface="Calibri" pitchFamily="34" charset="-122"/>
                <a:cs typeface="Calibri" pitchFamily="34" charset="-120"/>
              </a:rPr>
              <a:t>Six connected deliverables. Each one is the input to the next; together they are the framework.</a:t>
            </a:r>
            <a:endParaRPr lang="en-US" sz="1250" dirty="0"/>
          </a:p>
        </p:txBody>
      </p:sp>
      <p:sp>
        <p:nvSpPr>
          <p:cNvPr id="5" name="Text 3"/>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6" name="Text 4"/>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12</a:t>
            </a:r>
            <a:endParaRPr lang="en-US" sz="900" dirty="0"/>
          </a:p>
        </p:txBody>
      </p:sp>
      <p:sp>
        <p:nvSpPr>
          <p:cNvPr id="7" name="Shape 5"/>
          <p:cNvSpPr/>
          <p:nvPr/>
        </p:nvSpPr>
        <p:spPr>
          <a:xfrm>
            <a:off x="548640" y="1737360"/>
            <a:ext cx="3503066" cy="2011680"/>
          </a:xfrm>
          <a:prstGeom prst="roundRect">
            <a:avLst>
              <a:gd name="adj" fmla="val 3636"/>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8" name="Shape 6"/>
          <p:cNvSpPr/>
          <p:nvPr/>
        </p:nvSpPr>
        <p:spPr>
          <a:xfrm>
            <a:off x="786384" y="1956816"/>
            <a:ext cx="402336" cy="402336"/>
          </a:xfrm>
          <a:prstGeom prst="ellipse">
            <a:avLst/>
          </a:prstGeom>
          <a:solidFill>
            <a:srgbClr val="00A9E0"/>
          </a:solidFill>
          <a:ln w="12700">
            <a:solidFill>
              <a:srgbClr val="00A9E0"/>
            </a:solidFill>
            <a:prstDash val="solid"/>
          </a:ln>
        </p:spPr>
      </p:sp>
      <p:sp>
        <p:nvSpPr>
          <p:cNvPr id="9" name="Text 7"/>
          <p:cNvSpPr/>
          <p:nvPr/>
        </p:nvSpPr>
        <p:spPr>
          <a:xfrm>
            <a:off x="786384" y="1956816"/>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a</a:t>
            </a:r>
            <a:endParaRPr lang="en-US" sz="1300" dirty="0"/>
          </a:p>
        </p:txBody>
      </p:sp>
      <p:sp>
        <p:nvSpPr>
          <p:cNvPr id="10" name="Text 8"/>
          <p:cNvSpPr/>
          <p:nvPr/>
        </p:nvSpPr>
        <p:spPr>
          <a:xfrm>
            <a:off x="1298448" y="1938528"/>
            <a:ext cx="2533802" cy="438912"/>
          </a:xfrm>
          <a:prstGeom prst="rect">
            <a:avLst/>
          </a:prstGeom>
          <a:noFill/>
          <a:ln/>
        </p:spPr>
        <p:txBody>
          <a:bodyPr wrap="square" lIns="0" tIns="0" rIns="0" bIns="0" rtlCol="0" anchor="ctr"/>
          <a:lstStyle/>
          <a:p>
            <a:pPr marL="0" indent="0">
              <a:buNone/>
            </a:pPr>
            <a:r>
              <a:rPr lang="en-US" sz="1350" b="1" dirty="0">
                <a:solidFill>
                  <a:srgbClr val="0A2240"/>
                </a:solidFill>
                <a:latin typeface="Calibri" pitchFamily="34" charset="0"/>
                <a:ea typeface="Calibri" pitchFamily="34" charset="-122"/>
                <a:cs typeface="Calibri" pitchFamily="34" charset="-120"/>
              </a:rPr>
              <a:t>Data discovery &amp; readiness assessment</a:t>
            </a:r>
            <a:endParaRPr lang="en-US" sz="1350" dirty="0"/>
          </a:p>
        </p:txBody>
      </p:sp>
      <p:sp>
        <p:nvSpPr>
          <p:cNvPr id="11" name="Text 9"/>
          <p:cNvSpPr/>
          <p:nvPr/>
        </p:nvSpPr>
        <p:spPr>
          <a:xfrm>
            <a:off x="804672" y="2487168"/>
            <a:ext cx="2991002" cy="1078992"/>
          </a:xfrm>
          <a:prstGeom prst="rect">
            <a:avLst/>
          </a:prstGeom>
          <a:noFill/>
          <a:ln/>
        </p:spPr>
        <p:txBody>
          <a:bodyPr wrap="square" lIns="0" tIns="0" rIns="0" bIns="0" rtlCol="0" anchor="t"/>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Inventory the sources, score them for AI use, and expose the gaps that would otherwise surface as agent failures.</a:t>
            </a:r>
            <a:endParaRPr lang="en-US" sz="1150" dirty="0"/>
          </a:p>
        </p:txBody>
      </p:sp>
      <p:sp>
        <p:nvSpPr>
          <p:cNvPr id="12" name="Shape 10"/>
          <p:cNvSpPr/>
          <p:nvPr/>
        </p:nvSpPr>
        <p:spPr>
          <a:xfrm>
            <a:off x="4344314" y="1737360"/>
            <a:ext cx="3503066" cy="2011680"/>
          </a:xfrm>
          <a:prstGeom prst="roundRect">
            <a:avLst>
              <a:gd name="adj" fmla="val 3636"/>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3" name="Shape 11"/>
          <p:cNvSpPr/>
          <p:nvPr/>
        </p:nvSpPr>
        <p:spPr>
          <a:xfrm>
            <a:off x="4582058" y="1956816"/>
            <a:ext cx="402336" cy="402336"/>
          </a:xfrm>
          <a:prstGeom prst="ellipse">
            <a:avLst/>
          </a:prstGeom>
          <a:solidFill>
            <a:srgbClr val="00A9E0"/>
          </a:solidFill>
          <a:ln w="12700">
            <a:solidFill>
              <a:srgbClr val="00A9E0"/>
            </a:solidFill>
            <a:prstDash val="solid"/>
          </a:ln>
        </p:spPr>
      </p:sp>
      <p:sp>
        <p:nvSpPr>
          <p:cNvPr id="14" name="Text 12"/>
          <p:cNvSpPr/>
          <p:nvPr/>
        </p:nvSpPr>
        <p:spPr>
          <a:xfrm>
            <a:off x="4582058" y="1956816"/>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b</a:t>
            </a:r>
            <a:endParaRPr lang="en-US" sz="1300" dirty="0"/>
          </a:p>
        </p:txBody>
      </p:sp>
      <p:sp>
        <p:nvSpPr>
          <p:cNvPr id="15" name="Text 13"/>
          <p:cNvSpPr/>
          <p:nvPr/>
        </p:nvSpPr>
        <p:spPr>
          <a:xfrm>
            <a:off x="5094122" y="1938528"/>
            <a:ext cx="2533802" cy="438912"/>
          </a:xfrm>
          <a:prstGeom prst="rect">
            <a:avLst/>
          </a:prstGeom>
          <a:noFill/>
          <a:ln/>
        </p:spPr>
        <p:txBody>
          <a:bodyPr wrap="square" lIns="0" tIns="0" rIns="0" bIns="0" rtlCol="0" anchor="ctr"/>
          <a:lstStyle/>
          <a:p>
            <a:pPr marL="0" indent="0">
              <a:buNone/>
            </a:pPr>
            <a:r>
              <a:rPr lang="en-US" sz="1350" b="1" dirty="0">
                <a:solidFill>
                  <a:srgbClr val="0A2240"/>
                </a:solidFill>
                <a:latin typeface="Calibri" pitchFamily="34" charset="0"/>
                <a:ea typeface="Calibri" pitchFamily="34" charset="-122"/>
                <a:cs typeface="Calibri" pitchFamily="34" charset="-120"/>
              </a:rPr>
              <a:t>Future-state architecture &amp; recommendation</a:t>
            </a:r>
            <a:endParaRPr lang="en-US" sz="1350" dirty="0"/>
          </a:p>
        </p:txBody>
      </p:sp>
      <p:sp>
        <p:nvSpPr>
          <p:cNvPr id="16" name="Text 14"/>
          <p:cNvSpPr/>
          <p:nvPr/>
        </p:nvSpPr>
        <p:spPr>
          <a:xfrm>
            <a:off x="4600346" y="2487168"/>
            <a:ext cx="2991002" cy="1078992"/>
          </a:xfrm>
          <a:prstGeom prst="rect">
            <a:avLst/>
          </a:prstGeom>
          <a:noFill/>
          <a:ln/>
        </p:spPr>
        <p:txBody>
          <a:bodyPr wrap="square" lIns="0" tIns="0" rIns="0" bIns="0" rtlCol="0" anchor="t"/>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The target lakehouse, serving and retrieval architecture, with an explicit path from where Ball is today.</a:t>
            </a:r>
            <a:endParaRPr lang="en-US" sz="1150" dirty="0"/>
          </a:p>
        </p:txBody>
      </p:sp>
      <p:sp>
        <p:nvSpPr>
          <p:cNvPr id="17" name="Shape 15"/>
          <p:cNvSpPr/>
          <p:nvPr/>
        </p:nvSpPr>
        <p:spPr>
          <a:xfrm>
            <a:off x="8139989" y="1737360"/>
            <a:ext cx="3503066" cy="2011680"/>
          </a:xfrm>
          <a:prstGeom prst="roundRect">
            <a:avLst>
              <a:gd name="adj" fmla="val 3636"/>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8" name="Shape 16"/>
          <p:cNvSpPr/>
          <p:nvPr/>
        </p:nvSpPr>
        <p:spPr>
          <a:xfrm>
            <a:off x="8377733" y="1956816"/>
            <a:ext cx="402336" cy="402336"/>
          </a:xfrm>
          <a:prstGeom prst="ellipse">
            <a:avLst/>
          </a:prstGeom>
          <a:solidFill>
            <a:srgbClr val="00A9E0"/>
          </a:solidFill>
          <a:ln w="12700">
            <a:solidFill>
              <a:srgbClr val="00A9E0"/>
            </a:solidFill>
            <a:prstDash val="solid"/>
          </a:ln>
        </p:spPr>
      </p:sp>
      <p:sp>
        <p:nvSpPr>
          <p:cNvPr id="19" name="Text 17"/>
          <p:cNvSpPr/>
          <p:nvPr/>
        </p:nvSpPr>
        <p:spPr>
          <a:xfrm>
            <a:off x="8377733" y="1956816"/>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c</a:t>
            </a:r>
            <a:endParaRPr lang="en-US" sz="1300" dirty="0"/>
          </a:p>
        </p:txBody>
      </p:sp>
      <p:sp>
        <p:nvSpPr>
          <p:cNvPr id="20" name="Text 18"/>
          <p:cNvSpPr/>
          <p:nvPr/>
        </p:nvSpPr>
        <p:spPr>
          <a:xfrm>
            <a:off x="8889797" y="1938528"/>
            <a:ext cx="2533802" cy="438912"/>
          </a:xfrm>
          <a:prstGeom prst="rect">
            <a:avLst/>
          </a:prstGeom>
          <a:noFill/>
          <a:ln/>
        </p:spPr>
        <p:txBody>
          <a:bodyPr wrap="square" lIns="0" tIns="0" rIns="0" bIns="0" rtlCol="0" anchor="ctr"/>
          <a:lstStyle/>
          <a:p>
            <a:pPr marL="0" indent="0">
              <a:buNone/>
            </a:pPr>
            <a:r>
              <a:rPr lang="en-US" sz="1350" b="1" dirty="0">
                <a:solidFill>
                  <a:srgbClr val="0A2240"/>
                </a:solidFill>
                <a:latin typeface="Calibri" pitchFamily="34" charset="0"/>
                <a:ea typeface="Calibri" pitchFamily="34" charset="-122"/>
                <a:cs typeface="Calibri" pitchFamily="34" charset="-120"/>
              </a:rPr>
              <a:t>Building blocks: data ready for AI</a:t>
            </a:r>
            <a:endParaRPr lang="en-US" sz="1350" dirty="0"/>
          </a:p>
        </p:txBody>
      </p:sp>
      <p:sp>
        <p:nvSpPr>
          <p:cNvPr id="21" name="Text 19"/>
          <p:cNvSpPr/>
          <p:nvPr/>
        </p:nvSpPr>
        <p:spPr>
          <a:xfrm>
            <a:off x="8396021" y="2487168"/>
            <a:ext cx="2991002" cy="1078992"/>
          </a:xfrm>
          <a:prstGeom prst="rect">
            <a:avLst/>
          </a:prstGeom>
          <a:noFill/>
          <a:ln/>
        </p:spPr>
        <p:txBody>
          <a:bodyPr wrap="square" lIns="0" tIns="0" rIns="0" bIns="0" rtlCol="0" anchor="t"/>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The reusable components — contracts, semantics, indexes, evaluation sets — that make data consumable by agents.</a:t>
            </a:r>
            <a:endParaRPr lang="en-US" sz="1150" dirty="0"/>
          </a:p>
        </p:txBody>
      </p:sp>
      <p:sp>
        <p:nvSpPr>
          <p:cNvPr id="22" name="Shape 20"/>
          <p:cNvSpPr/>
          <p:nvPr/>
        </p:nvSpPr>
        <p:spPr>
          <a:xfrm>
            <a:off x="548640" y="3968496"/>
            <a:ext cx="3503066" cy="2011680"/>
          </a:xfrm>
          <a:prstGeom prst="roundRect">
            <a:avLst>
              <a:gd name="adj" fmla="val 3636"/>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3" name="Shape 21"/>
          <p:cNvSpPr/>
          <p:nvPr/>
        </p:nvSpPr>
        <p:spPr>
          <a:xfrm>
            <a:off x="786384" y="4187952"/>
            <a:ext cx="402336" cy="402336"/>
          </a:xfrm>
          <a:prstGeom prst="ellipse">
            <a:avLst/>
          </a:prstGeom>
          <a:solidFill>
            <a:srgbClr val="00A9E0"/>
          </a:solidFill>
          <a:ln w="12700">
            <a:solidFill>
              <a:srgbClr val="00A9E0"/>
            </a:solidFill>
            <a:prstDash val="solid"/>
          </a:ln>
        </p:spPr>
      </p:sp>
      <p:sp>
        <p:nvSpPr>
          <p:cNvPr id="24" name="Text 22"/>
          <p:cNvSpPr/>
          <p:nvPr/>
        </p:nvSpPr>
        <p:spPr>
          <a:xfrm>
            <a:off x="786384" y="4187952"/>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d</a:t>
            </a:r>
            <a:endParaRPr lang="en-US" sz="1300" dirty="0"/>
          </a:p>
        </p:txBody>
      </p:sp>
      <p:sp>
        <p:nvSpPr>
          <p:cNvPr id="25" name="Text 23"/>
          <p:cNvSpPr/>
          <p:nvPr/>
        </p:nvSpPr>
        <p:spPr>
          <a:xfrm>
            <a:off x="1298448" y="4169664"/>
            <a:ext cx="2533802" cy="438912"/>
          </a:xfrm>
          <a:prstGeom prst="rect">
            <a:avLst/>
          </a:prstGeom>
          <a:noFill/>
          <a:ln/>
        </p:spPr>
        <p:txBody>
          <a:bodyPr wrap="square" lIns="0" tIns="0" rIns="0" bIns="0" rtlCol="0" anchor="ctr"/>
          <a:lstStyle/>
          <a:p>
            <a:pPr marL="0" indent="0">
              <a:buNone/>
            </a:pPr>
            <a:r>
              <a:rPr lang="en-US" sz="1350" b="1" dirty="0">
                <a:solidFill>
                  <a:srgbClr val="0A2240"/>
                </a:solidFill>
                <a:latin typeface="Calibri" pitchFamily="34" charset="0"/>
                <a:ea typeface="Calibri" pitchFamily="34" charset="-122"/>
                <a:cs typeface="Calibri" pitchFamily="34" charset="-120"/>
              </a:rPr>
              <a:t>AI agentic hybrid approach</a:t>
            </a:r>
            <a:endParaRPr lang="en-US" sz="1350" dirty="0"/>
          </a:p>
        </p:txBody>
      </p:sp>
      <p:sp>
        <p:nvSpPr>
          <p:cNvPr id="26" name="Text 24"/>
          <p:cNvSpPr/>
          <p:nvPr/>
        </p:nvSpPr>
        <p:spPr>
          <a:xfrm>
            <a:off x="804672" y="4718304"/>
            <a:ext cx="2991002" cy="1078992"/>
          </a:xfrm>
          <a:prstGeom prst="rect">
            <a:avLst/>
          </a:prstGeom>
          <a:noFill/>
          <a:ln/>
        </p:spPr>
        <p:txBody>
          <a:bodyPr wrap="square" lIns="0" tIns="0" rIns="0" bIns="0" rtlCol="0" anchor="t"/>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Where Ball uses deterministic automation, where it uses agents, and how the two hand off to each other.</a:t>
            </a:r>
            <a:endParaRPr lang="en-US" sz="1150" dirty="0"/>
          </a:p>
        </p:txBody>
      </p:sp>
      <p:sp>
        <p:nvSpPr>
          <p:cNvPr id="27" name="Shape 25"/>
          <p:cNvSpPr/>
          <p:nvPr/>
        </p:nvSpPr>
        <p:spPr>
          <a:xfrm>
            <a:off x="4344314" y="3968496"/>
            <a:ext cx="3503066" cy="2011680"/>
          </a:xfrm>
          <a:prstGeom prst="roundRect">
            <a:avLst>
              <a:gd name="adj" fmla="val 3636"/>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8" name="Shape 26"/>
          <p:cNvSpPr/>
          <p:nvPr/>
        </p:nvSpPr>
        <p:spPr>
          <a:xfrm>
            <a:off x="4582058" y="4187952"/>
            <a:ext cx="402336" cy="402336"/>
          </a:xfrm>
          <a:prstGeom prst="ellipse">
            <a:avLst/>
          </a:prstGeom>
          <a:solidFill>
            <a:srgbClr val="00A9E0"/>
          </a:solidFill>
          <a:ln w="12700">
            <a:solidFill>
              <a:srgbClr val="00A9E0"/>
            </a:solidFill>
            <a:prstDash val="solid"/>
          </a:ln>
        </p:spPr>
      </p:sp>
      <p:sp>
        <p:nvSpPr>
          <p:cNvPr id="29" name="Text 27"/>
          <p:cNvSpPr/>
          <p:nvPr/>
        </p:nvSpPr>
        <p:spPr>
          <a:xfrm>
            <a:off x="4582058" y="4187952"/>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e</a:t>
            </a:r>
            <a:endParaRPr lang="en-US" sz="1300" dirty="0"/>
          </a:p>
        </p:txBody>
      </p:sp>
      <p:sp>
        <p:nvSpPr>
          <p:cNvPr id="30" name="Text 28"/>
          <p:cNvSpPr/>
          <p:nvPr/>
        </p:nvSpPr>
        <p:spPr>
          <a:xfrm>
            <a:off x="5094122" y="4169664"/>
            <a:ext cx="2533802" cy="438912"/>
          </a:xfrm>
          <a:prstGeom prst="rect">
            <a:avLst/>
          </a:prstGeom>
          <a:noFill/>
          <a:ln/>
        </p:spPr>
        <p:txBody>
          <a:bodyPr wrap="square" lIns="0" tIns="0" rIns="0" bIns="0" rtlCol="0" anchor="ctr"/>
          <a:lstStyle/>
          <a:p>
            <a:pPr marL="0" indent="0">
              <a:buNone/>
            </a:pPr>
            <a:r>
              <a:rPr lang="en-US" sz="1350" b="1" dirty="0">
                <a:solidFill>
                  <a:srgbClr val="0A2240"/>
                </a:solidFill>
                <a:latin typeface="Calibri" pitchFamily="34" charset="0"/>
                <a:ea typeface="Calibri" pitchFamily="34" charset="-122"/>
                <a:cs typeface="Calibri" pitchFamily="34" charset="-120"/>
              </a:rPr>
              <a:t>Agentic AI ecosystem</a:t>
            </a:r>
            <a:endParaRPr lang="en-US" sz="1350" dirty="0"/>
          </a:p>
        </p:txBody>
      </p:sp>
      <p:sp>
        <p:nvSpPr>
          <p:cNvPr id="31" name="Text 29"/>
          <p:cNvSpPr/>
          <p:nvPr/>
        </p:nvSpPr>
        <p:spPr>
          <a:xfrm>
            <a:off x="4600346" y="4718304"/>
            <a:ext cx="2991002" cy="1078992"/>
          </a:xfrm>
          <a:prstGeom prst="rect">
            <a:avLst/>
          </a:prstGeom>
          <a:noFill/>
          <a:ln/>
        </p:spPr>
        <p:txBody>
          <a:bodyPr wrap="square" lIns="0" tIns="0" rIns="0" bIns="0" rtlCol="0" anchor="t"/>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The full runtime: models, tools, memory, policy, humans-in-the-loop and the systems of record they touch.</a:t>
            </a:r>
            <a:endParaRPr lang="en-US" sz="1150" dirty="0"/>
          </a:p>
        </p:txBody>
      </p:sp>
      <p:sp>
        <p:nvSpPr>
          <p:cNvPr id="32" name="Shape 30"/>
          <p:cNvSpPr/>
          <p:nvPr/>
        </p:nvSpPr>
        <p:spPr>
          <a:xfrm>
            <a:off x="8139989" y="3968496"/>
            <a:ext cx="3503066" cy="2011680"/>
          </a:xfrm>
          <a:prstGeom prst="roundRect">
            <a:avLst>
              <a:gd name="adj" fmla="val 3636"/>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33" name="Shape 31"/>
          <p:cNvSpPr/>
          <p:nvPr/>
        </p:nvSpPr>
        <p:spPr>
          <a:xfrm>
            <a:off x="8377733" y="4187952"/>
            <a:ext cx="402336" cy="402336"/>
          </a:xfrm>
          <a:prstGeom prst="ellipse">
            <a:avLst/>
          </a:prstGeom>
          <a:solidFill>
            <a:srgbClr val="00A9E0"/>
          </a:solidFill>
          <a:ln w="12700">
            <a:solidFill>
              <a:srgbClr val="00A9E0"/>
            </a:solidFill>
            <a:prstDash val="solid"/>
          </a:ln>
        </p:spPr>
      </p:sp>
      <p:sp>
        <p:nvSpPr>
          <p:cNvPr id="34" name="Text 32"/>
          <p:cNvSpPr/>
          <p:nvPr/>
        </p:nvSpPr>
        <p:spPr>
          <a:xfrm>
            <a:off x="8377733" y="4187952"/>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f</a:t>
            </a:r>
            <a:endParaRPr lang="en-US" sz="1300" dirty="0"/>
          </a:p>
        </p:txBody>
      </p:sp>
      <p:sp>
        <p:nvSpPr>
          <p:cNvPr id="35" name="Text 33"/>
          <p:cNvSpPr/>
          <p:nvPr/>
        </p:nvSpPr>
        <p:spPr>
          <a:xfrm>
            <a:off x="8889797" y="4169664"/>
            <a:ext cx="2533802" cy="438912"/>
          </a:xfrm>
          <a:prstGeom prst="rect">
            <a:avLst/>
          </a:prstGeom>
          <a:noFill/>
          <a:ln/>
        </p:spPr>
        <p:txBody>
          <a:bodyPr wrap="square" lIns="0" tIns="0" rIns="0" bIns="0" rtlCol="0" anchor="ctr"/>
          <a:lstStyle/>
          <a:p>
            <a:pPr marL="0" indent="0">
              <a:buNone/>
            </a:pPr>
            <a:r>
              <a:rPr lang="en-US" sz="1350" b="1" dirty="0">
                <a:solidFill>
                  <a:srgbClr val="0A2240"/>
                </a:solidFill>
                <a:latin typeface="Calibri" pitchFamily="34" charset="0"/>
                <a:ea typeface="Calibri" pitchFamily="34" charset="-122"/>
                <a:cs typeface="Calibri" pitchFamily="34" charset="-120"/>
              </a:rPr>
              <a:t>AI agentic action flow</a:t>
            </a:r>
            <a:endParaRPr lang="en-US" sz="1350" dirty="0"/>
          </a:p>
        </p:txBody>
      </p:sp>
      <p:sp>
        <p:nvSpPr>
          <p:cNvPr id="36" name="Text 34"/>
          <p:cNvSpPr/>
          <p:nvPr/>
        </p:nvSpPr>
        <p:spPr>
          <a:xfrm>
            <a:off x="8396021" y="4718304"/>
            <a:ext cx="2991002" cy="1078992"/>
          </a:xfrm>
          <a:prstGeom prst="rect">
            <a:avLst/>
          </a:prstGeom>
          <a:noFill/>
          <a:ln/>
        </p:spPr>
        <p:txBody>
          <a:bodyPr wrap="square" lIns="0" tIns="0" rIns="0" bIns="0" rtlCol="0" anchor="t"/>
          <a:lstStyle/>
          <a:p>
            <a:pPr marL="0" indent="0">
              <a:lnSpc>
                <a:spcPts val="1500"/>
              </a:lnSpc>
              <a:buNone/>
            </a:pPr>
            <a:r>
              <a:rPr lang="en-US" sz="1150" dirty="0">
                <a:solidFill>
                  <a:srgbClr val="5A6B7B"/>
                </a:solidFill>
                <a:latin typeface="Calibri" pitchFamily="34" charset="0"/>
                <a:ea typeface="Calibri" pitchFamily="34" charset="-122"/>
                <a:cs typeface="Calibri" pitchFamily="34" charset="-120"/>
              </a:rPr>
              <a:t>The step-by-step path a single business request takes, from intent to audited action in a system of record.</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ASSESSMENT · A</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Data discovery and readiness assessment</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548640" y="1481328"/>
            <a:ext cx="5318608" cy="4480560"/>
          </a:xfrm>
          <a:prstGeom prst="roundRect">
            <a:avLst>
              <a:gd name="adj" fmla="val 1633"/>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7" name="Text 5"/>
          <p:cNvSpPr/>
          <p:nvPr/>
        </p:nvSpPr>
        <p:spPr>
          <a:xfrm>
            <a:off x="859536" y="1700784"/>
            <a:ext cx="4696816" cy="365760"/>
          </a:xfrm>
          <a:prstGeom prst="rect">
            <a:avLst/>
          </a:prstGeom>
          <a:noFill/>
          <a:ln/>
        </p:spPr>
        <p:txBody>
          <a:bodyPr wrap="square" lIns="0" tIns="0" rIns="0" bIns="0" rtlCol="0" anchor="ctr"/>
          <a:lstStyle/>
          <a:p>
            <a:pPr marL="0" indent="0">
              <a:buNone/>
            </a:pPr>
            <a:r>
              <a:rPr lang="en-US" sz="1600" b="1" dirty="0">
                <a:solidFill>
                  <a:srgbClr val="0A2240"/>
                </a:solidFill>
                <a:latin typeface="Calibri" pitchFamily="34" charset="0"/>
                <a:ea typeface="Calibri" pitchFamily="34" charset="-122"/>
                <a:cs typeface="Calibri" pitchFamily="34" charset="-120"/>
              </a:rPr>
              <a:t>What we inventory</a:t>
            </a:r>
            <a:endParaRPr lang="en-US" sz="1600" dirty="0"/>
          </a:p>
        </p:txBody>
      </p:sp>
      <p:sp>
        <p:nvSpPr>
          <p:cNvPr id="8" name="Text 6"/>
          <p:cNvSpPr/>
          <p:nvPr/>
        </p:nvSpPr>
        <p:spPr>
          <a:xfrm>
            <a:off x="859536" y="2231136"/>
            <a:ext cx="4696816" cy="3566160"/>
          </a:xfrm>
          <a:prstGeom prst="rect">
            <a:avLst/>
          </a:prstGeom>
          <a:noFill/>
          <a:ln/>
        </p:spPr>
        <p:txBody>
          <a:bodyPr wrap="square" lIns="0" tIns="0" rIns="0" bIns="0" rtlCol="0" anchor="t"/>
          <a:lstStyle/>
          <a:p>
            <a:pPr marL="342900" indent="-342900">
              <a:lnSpc>
                <a:spcPts val="1700"/>
              </a:lnSpc>
              <a:spcAft>
                <a:spcPts val="900"/>
              </a:spcAft>
              <a:buSzPct val="100000"/>
              <a:buChar char="•"/>
            </a:pPr>
            <a:r>
              <a:rPr lang="en-US" sz="1250" dirty="0">
                <a:solidFill>
                  <a:srgbClr val="16222E"/>
                </a:solidFill>
                <a:latin typeface="Calibri" pitchFamily="34" charset="0"/>
                <a:ea typeface="Calibri" pitchFamily="34" charset="-122"/>
                <a:cs typeface="Calibri" pitchFamily="34" charset="-120"/>
              </a:rPr>
              <a:t>Systems of record: JDE, SAP, MES/plant historians, WMS, CRM, HR</a:t>
            </a:r>
            <a:endParaRPr lang="en-US" sz="1250" dirty="0"/>
          </a:p>
          <a:p>
            <a:pPr marL="342900" indent="-342900">
              <a:lnSpc>
                <a:spcPts val="1700"/>
              </a:lnSpc>
              <a:spcAft>
                <a:spcPts val="900"/>
              </a:spcAft>
              <a:buSzPct val="100000"/>
              <a:buChar char="•"/>
            </a:pPr>
            <a:r>
              <a:rPr lang="en-US" sz="1250" dirty="0">
                <a:solidFill>
                  <a:srgbClr val="16222E"/>
                </a:solidFill>
                <a:latin typeface="Calibri" pitchFamily="34" charset="0"/>
                <a:ea typeface="Calibri" pitchFamily="34" charset="-122"/>
                <a:cs typeface="Calibri" pitchFamily="34" charset="-120"/>
              </a:rPr>
              <a:t>Analytical estate: lakehouse tables, marts, semantic models, reports in active use</a:t>
            </a:r>
            <a:endParaRPr lang="en-US" sz="1250" dirty="0"/>
          </a:p>
          <a:p>
            <a:pPr marL="342900" indent="-342900">
              <a:lnSpc>
                <a:spcPts val="1700"/>
              </a:lnSpc>
              <a:spcAft>
                <a:spcPts val="900"/>
              </a:spcAft>
              <a:buSzPct val="100000"/>
              <a:buChar char="•"/>
            </a:pPr>
            <a:r>
              <a:rPr lang="en-US" sz="1250" dirty="0">
                <a:solidFill>
                  <a:srgbClr val="16222E"/>
                </a:solidFill>
                <a:latin typeface="Calibri" pitchFamily="34" charset="0"/>
                <a:ea typeface="Calibri" pitchFamily="34" charset="-122"/>
                <a:cs typeface="Calibri" pitchFamily="34" charset="-120"/>
              </a:rPr>
              <a:t>Unstructured estate: SOPs, work instructions, specifications, quality records, contracts, tickets, engineering docs</a:t>
            </a:r>
            <a:endParaRPr lang="en-US" sz="1250" dirty="0"/>
          </a:p>
          <a:p>
            <a:pPr marL="342900" indent="-342900">
              <a:lnSpc>
                <a:spcPts val="1700"/>
              </a:lnSpc>
              <a:spcAft>
                <a:spcPts val="900"/>
              </a:spcAft>
              <a:buSzPct val="100000"/>
              <a:buChar char="•"/>
            </a:pPr>
            <a:r>
              <a:rPr lang="en-US" sz="1250" dirty="0">
                <a:solidFill>
                  <a:srgbClr val="16222E"/>
                </a:solidFill>
                <a:latin typeface="Calibri" pitchFamily="34" charset="0"/>
                <a:ea typeface="Calibri" pitchFamily="34" charset="-122"/>
                <a:cs typeface="Calibri" pitchFamily="34" charset="-120"/>
              </a:rPr>
              <a:t>Metadata: lineage coverage, ownership, classification, retention and residency constraints</a:t>
            </a:r>
            <a:endParaRPr lang="en-US" sz="1250" dirty="0"/>
          </a:p>
          <a:p>
            <a:pPr marL="342900" indent="-342900">
              <a:lnSpc>
                <a:spcPts val="1700"/>
              </a:lnSpc>
              <a:spcAft>
                <a:spcPts val="900"/>
              </a:spcAft>
              <a:buSzPct val="100000"/>
              <a:buChar char="•"/>
            </a:pPr>
            <a:r>
              <a:rPr lang="en-US" sz="1250" dirty="0">
                <a:solidFill>
                  <a:srgbClr val="16222E"/>
                </a:solidFill>
                <a:latin typeface="Calibri" pitchFamily="34" charset="0"/>
                <a:ea typeface="Calibri" pitchFamily="34" charset="-122"/>
                <a:cs typeface="Calibri" pitchFamily="34" charset="-120"/>
              </a:rPr>
              <a:t>Access: who can see what today, and how that maps to what an agent may retrieve on their behalf</a:t>
            </a:r>
            <a:endParaRPr lang="en-US" sz="1250" dirty="0"/>
          </a:p>
        </p:txBody>
      </p:sp>
      <p:sp>
        <p:nvSpPr>
          <p:cNvPr id="9" name="Shape 7"/>
          <p:cNvSpPr/>
          <p:nvPr/>
        </p:nvSpPr>
        <p:spPr>
          <a:xfrm>
            <a:off x="6324448" y="1481328"/>
            <a:ext cx="5318608" cy="4480560"/>
          </a:xfrm>
          <a:prstGeom prst="roundRect">
            <a:avLst>
              <a:gd name="adj" fmla="val 1633"/>
            </a:avLst>
          </a:prstGeom>
          <a:solidFill>
            <a:srgbClr val="0A2240"/>
          </a:solidFill>
          <a:ln w="12700">
            <a:solidFill>
              <a:srgbClr val="0A2240"/>
            </a:solidFill>
            <a:prstDash val="solid"/>
          </a:ln>
          <a:effectLst>
            <a:outerShdw blurRad="101600" dist="25400" dir="5400000" algn="bl" rotWithShape="0">
              <a:srgbClr val="0A2240">
                <a:alpha val="12000"/>
              </a:srgbClr>
            </a:outerShdw>
          </a:effectLst>
        </p:spPr>
      </p:sp>
      <p:sp>
        <p:nvSpPr>
          <p:cNvPr id="10" name="Text 8"/>
          <p:cNvSpPr/>
          <p:nvPr/>
        </p:nvSpPr>
        <p:spPr>
          <a:xfrm>
            <a:off x="6635344" y="1700784"/>
            <a:ext cx="4696816" cy="365760"/>
          </a:xfrm>
          <a:prstGeom prst="rect">
            <a:avLst/>
          </a:prstGeom>
          <a:noFill/>
          <a:ln/>
        </p:spPr>
        <p:txBody>
          <a:bodyPr wrap="square" lIns="0" tIns="0" rIns="0" bIns="0" rtlCol="0" anchor="ctr"/>
          <a:lstStyle/>
          <a:p>
            <a:pPr marL="0" indent="0">
              <a:buNone/>
            </a:pPr>
            <a:r>
              <a:rPr lang="en-US" sz="1600" b="1" dirty="0">
                <a:solidFill>
                  <a:srgbClr val="00A9E0"/>
                </a:solidFill>
                <a:latin typeface="Calibri" pitchFamily="34" charset="0"/>
                <a:ea typeface="Calibri" pitchFamily="34" charset="-122"/>
                <a:cs typeface="Calibri" pitchFamily="34" charset="-120"/>
              </a:rPr>
              <a:t>How each source is scored</a:t>
            </a:r>
            <a:endParaRPr lang="en-US" sz="1600" dirty="0"/>
          </a:p>
        </p:txBody>
      </p:sp>
      <p:sp>
        <p:nvSpPr>
          <p:cNvPr id="11" name="Text 9"/>
          <p:cNvSpPr/>
          <p:nvPr/>
        </p:nvSpPr>
        <p:spPr>
          <a:xfrm>
            <a:off x="6635344" y="2249424"/>
            <a:ext cx="1371600" cy="457200"/>
          </a:xfrm>
          <a:prstGeom prst="rect">
            <a:avLst/>
          </a:prstGeom>
          <a:noFill/>
          <a:ln/>
        </p:spPr>
        <p:txBody>
          <a:bodyPr wrap="square" lIns="0" tIns="0" rIns="0" bIns="0" rtlCol="0" anchor="ctr"/>
          <a:lstStyle/>
          <a:p>
            <a:pPr marL="0" indent="0">
              <a:buNone/>
            </a:pPr>
            <a:r>
              <a:rPr lang="en-US" sz="1250" b="1" dirty="0">
                <a:solidFill>
                  <a:srgbClr val="00A9E0"/>
                </a:solidFill>
                <a:latin typeface="Calibri" pitchFamily="34" charset="0"/>
                <a:ea typeface="Calibri" pitchFamily="34" charset="-122"/>
                <a:cs typeface="Calibri" pitchFamily="34" charset="-120"/>
              </a:rPr>
              <a:t>Findable</a:t>
            </a:r>
            <a:endParaRPr lang="en-US" sz="1250" dirty="0"/>
          </a:p>
        </p:txBody>
      </p:sp>
      <p:sp>
        <p:nvSpPr>
          <p:cNvPr id="12" name="Text 10"/>
          <p:cNvSpPr/>
          <p:nvPr/>
        </p:nvSpPr>
        <p:spPr>
          <a:xfrm>
            <a:off x="8061808" y="2249424"/>
            <a:ext cx="3270352" cy="45720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Catalogued, owned, described</a:t>
            </a:r>
            <a:endParaRPr lang="en-US" sz="1150" dirty="0"/>
          </a:p>
        </p:txBody>
      </p:sp>
      <p:sp>
        <p:nvSpPr>
          <p:cNvPr id="13" name="Text 11"/>
          <p:cNvSpPr/>
          <p:nvPr/>
        </p:nvSpPr>
        <p:spPr>
          <a:xfrm>
            <a:off x="6635344" y="2834640"/>
            <a:ext cx="1371600" cy="457200"/>
          </a:xfrm>
          <a:prstGeom prst="rect">
            <a:avLst/>
          </a:prstGeom>
          <a:noFill/>
          <a:ln/>
        </p:spPr>
        <p:txBody>
          <a:bodyPr wrap="square" lIns="0" tIns="0" rIns="0" bIns="0" rtlCol="0" anchor="ctr"/>
          <a:lstStyle/>
          <a:p>
            <a:pPr marL="0" indent="0">
              <a:buNone/>
            </a:pPr>
            <a:r>
              <a:rPr lang="en-US" sz="1250" b="1" dirty="0">
                <a:solidFill>
                  <a:srgbClr val="00A9E0"/>
                </a:solidFill>
                <a:latin typeface="Calibri" pitchFamily="34" charset="0"/>
                <a:ea typeface="Calibri" pitchFamily="34" charset="-122"/>
                <a:cs typeface="Calibri" pitchFamily="34" charset="-120"/>
              </a:rPr>
              <a:t>Trusted</a:t>
            </a:r>
            <a:endParaRPr lang="en-US" sz="1250" dirty="0"/>
          </a:p>
        </p:txBody>
      </p:sp>
      <p:sp>
        <p:nvSpPr>
          <p:cNvPr id="14" name="Text 12"/>
          <p:cNvSpPr/>
          <p:nvPr/>
        </p:nvSpPr>
        <p:spPr>
          <a:xfrm>
            <a:off x="8061808" y="2834640"/>
            <a:ext cx="3270352" cy="45720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Quality rules, freshness, reconciliation</a:t>
            </a:r>
            <a:endParaRPr lang="en-US" sz="1150" dirty="0"/>
          </a:p>
        </p:txBody>
      </p:sp>
      <p:sp>
        <p:nvSpPr>
          <p:cNvPr id="15" name="Text 13"/>
          <p:cNvSpPr/>
          <p:nvPr/>
        </p:nvSpPr>
        <p:spPr>
          <a:xfrm>
            <a:off x="6635344" y="3419856"/>
            <a:ext cx="1371600" cy="457200"/>
          </a:xfrm>
          <a:prstGeom prst="rect">
            <a:avLst/>
          </a:prstGeom>
          <a:noFill/>
          <a:ln/>
        </p:spPr>
        <p:txBody>
          <a:bodyPr wrap="square" lIns="0" tIns="0" rIns="0" bIns="0" rtlCol="0" anchor="ctr"/>
          <a:lstStyle/>
          <a:p>
            <a:pPr marL="0" indent="0">
              <a:buNone/>
            </a:pPr>
            <a:r>
              <a:rPr lang="en-US" sz="1250" b="1" dirty="0">
                <a:solidFill>
                  <a:srgbClr val="00A9E0"/>
                </a:solidFill>
                <a:latin typeface="Calibri" pitchFamily="34" charset="0"/>
                <a:ea typeface="Calibri" pitchFamily="34" charset="-122"/>
                <a:cs typeface="Calibri" pitchFamily="34" charset="-120"/>
              </a:rPr>
              <a:t>Semantic</a:t>
            </a:r>
            <a:endParaRPr lang="en-US" sz="1250" dirty="0"/>
          </a:p>
        </p:txBody>
      </p:sp>
      <p:sp>
        <p:nvSpPr>
          <p:cNvPr id="16" name="Text 14"/>
          <p:cNvSpPr/>
          <p:nvPr/>
        </p:nvSpPr>
        <p:spPr>
          <a:xfrm>
            <a:off x="8061808" y="3419856"/>
            <a:ext cx="3270352" cy="45720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Business meaning defined once, not per report</a:t>
            </a:r>
            <a:endParaRPr lang="en-US" sz="1150" dirty="0"/>
          </a:p>
        </p:txBody>
      </p:sp>
      <p:sp>
        <p:nvSpPr>
          <p:cNvPr id="17" name="Text 15"/>
          <p:cNvSpPr/>
          <p:nvPr/>
        </p:nvSpPr>
        <p:spPr>
          <a:xfrm>
            <a:off x="6635344" y="4005072"/>
            <a:ext cx="1371600" cy="457200"/>
          </a:xfrm>
          <a:prstGeom prst="rect">
            <a:avLst/>
          </a:prstGeom>
          <a:noFill/>
          <a:ln/>
        </p:spPr>
        <p:txBody>
          <a:bodyPr wrap="square" lIns="0" tIns="0" rIns="0" bIns="0" rtlCol="0" anchor="ctr"/>
          <a:lstStyle/>
          <a:p>
            <a:pPr marL="0" indent="0">
              <a:buNone/>
            </a:pPr>
            <a:r>
              <a:rPr lang="en-US" sz="1250" b="1" dirty="0">
                <a:solidFill>
                  <a:srgbClr val="00A9E0"/>
                </a:solidFill>
                <a:latin typeface="Calibri" pitchFamily="34" charset="0"/>
                <a:ea typeface="Calibri" pitchFamily="34" charset="-122"/>
                <a:cs typeface="Calibri" pitchFamily="34" charset="-120"/>
              </a:rPr>
              <a:t>Governed</a:t>
            </a:r>
            <a:endParaRPr lang="en-US" sz="1250" dirty="0"/>
          </a:p>
        </p:txBody>
      </p:sp>
      <p:sp>
        <p:nvSpPr>
          <p:cNvPr id="18" name="Text 16"/>
          <p:cNvSpPr/>
          <p:nvPr/>
        </p:nvSpPr>
        <p:spPr>
          <a:xfrm>
            <a:off x="8061808" y="4005072"/>
            <a:ext cx="3270352" cy="45720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Classified, access-controlled, lineage complete</a:t>
            </a:r>
            <a:endParaRPr lang="en-US" sz="1150" dirty="0"/>
          </a:p>
        </p:txBody>
      </p:sp>
      <p:sp>
        <p:nvSpPr>
          <p:cNvPr id="19" name="Text 17"/>
          <p:cNvSpPr/>
          <p:nvPr/>
        </p:nvSpPr>
        <p:spPr>
          <a:xfrm>
            <a:off x="6635344" y="4590288"/>
            <a:ext cx="1371600" cy="457200"/>
          </a:xfrm>
          <a:prstGeom prst="rect">
            <a:avLst/>
          </a:prstGeom>
          <a:noFill/>
          <a:ln/>
        </p:spPr>
        <p:txBody>
          <a:bodyPr wrap="square" lIns="0" tIns="0" rIns="0" bIns="0" rtlCol="0" anchor="ctr"/>
          <a:lstStyle/>
          <a:p>
            <a:pPr marL="0" indent="0">
              <a:buNone/>
            </a:pPr>
            <a:r>
              <a:rPr lang="en-US" sz="1250" b="1" dirty="0">
                <a:solidFill>
                  <a:srgbClr val="00A9E0"/>
                </a:solidFill>
                <a:latin typeface="Calibri" pitchFamily="34" charset="0"/>
                <a:ea typeface="Calibri" pitchFamily="34" charset="-122"/>
                <a:cs typeface="Calibri" pitchFamily="34" charset="-120"/>
              </a:rPr>
              <a:t>Retrievable</a:t>
            </a:r>
            <a:endParaRPr lang="en-US" sz="1250" dirty="0"/>
          </a:p>
        </p:txBody>
      </p:sp>
      <p:sp>
        <p:nvSpPr>
          <p:cNvPr id="20" name="Text 18"/>
          <p:cNvSpPr/>
          <p:nvPr/>
        </p:nvSpPr>
        <p:spPr>
          <a:xfrm>
            <a:off x="8061808" y="4590288"/>
            <a:ext cx="3270352" cy="45720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Chunked, embedded, filterable by permission</a:t>
            </a:r>
            <a:endParaRPr lang="en-US" sz="1150" dirty="0"/>
          </a:p>
        </p:txBody>
      </p:sp>
      <p:sp>
        <p:nvSpPr>
          <p:cNvPr id="21" name="Text 19"/>
          <p:cNvSpPr/>
          <p:nvPr/>
        </p:nvSpPr>
        <p:spPr>
          <a:xfrm>
            <a:off x="6635344" y="5175504"/>
            <a:ext cx="1371600" cy="457200"/>
          </a:xfrm>
          <a:prstGeom prst="rect">
            <a:avLst/>
          </a:prstGeom>
          <a:noFill/>
          <a:ln/>
        </p:spPr>
        <p:txBody>
          <a:bodyPr wrap="square" lIns="0" tIns="0" rIns="0" bIns="0" rtlCol="0" anchor="ctr"/>
          <a:lstStyle/>
          <a:p>
            <a:pPr marL="0" indent="0">
              <a:buNone/>
            </a:pPr>
            <a:r>
              <a:rPr lang="en-US" sz="1250" b="1" dirty="0">
                <a:solidFill>
                  <a:srgbClr val="00A9E0"/>
                </a:solidFill>
                <a:latin typeface="Calibri" pitchFamily="34" charset="0"/>
                <a:ea typeface="Calibri" pitchFamily="34" charset="-122"/>
                <a:cs typeface="Calibri" pitchFamily="34" charset="-120"/>
              </a:rPr>
              <a:t>Evaluable</a:t>
            </a:r>
            <a:endParaRPr lang="en-US" sz="1250" dirty="0"/>
          </a:p>
        </p:txBody>
      </p:sp>
      <p:sp>
        <p:nvSpPr>
          <p:cNvPr id="22" name="Text 20"/>
          <p:cNvSpPr/>
          <p:nvPr/>
        </p:nvSpPr>
        <p:spPr>
          <a:xfrm>
            <a:off x="8061808" y="5175504"/>
            <a:ext cx="3270352" cy="457200"/>
          </a:xfrm>
          <a:prstGeom prst="rect">
            <a:avLst/>
          </a:prstGeom>
          <a:noFill/>
          <a:ln/>
        </p:spPr>
        <p:txBody>
          <a:bodyPr wrap="square" lIns="0" tIns="0" rIns="0" bIns="0"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 gold-standard question set exists for it</a:t>
            </a:r>
            <a:endParaRPr lang="en-US" sz="1150" dirty="0"/>
          </a:p>
        </p:txBody>
      </p:sp>
      <p:sp>
        <p:nvSpPr>
          <p:cNvPr id="23" name="Text 21"/>
          <p:cNvSpPr/>
          <p:nvPr/>
        </p:nvSpPr>
        <p:spPr>
          <a:xfrm>
            <a:off x="548640" y="6016752"/>
            <a:ext cx="11094415" cy="274320"/>
          </a:xfrm>
          <a:prstGeom prst="rect">
            <a:avLst/>
          </a:prstGeom>
          <a:noFill/>
          <a:ln/>
        </p:spPr>
        <p:txBody>
          <a:bodyPr wrap="square" lIns="0" tIns="0" rIns="0" bIns="0" rtlCol="0" anchor="ctr"/>
          <a:lstStyle/>
          <a:p>
            <a:pPr marL="0" indent="0">
              <a:buNone/>
            </a:pPr>
            <a:r>
              <a:rPr lang="en-US" sz="1150" b="1" i="1" dirty="0">
                <a:solidFill>
                  <a:srgbClr val="1B6CA8"/>
                </a:solidFill>
                <a:latin typeface="Calibri" pitchFamily="34" charset="0"/>
                <a:ea typeface="Calibri" pitchFamily="34" charset="-122"/>
                <a:cs typeface="Calibri" pitchFamily="34" charset="-120"/>
              </a:rPr>
              <a:t>Output: a scored source register, a prioritised remediation backlog, and the shortlist of domains ready to carry a lighthouse agent.</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ASSESSMENT · B</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Future-state architecture and recommendation</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48640" y="1481328"/>
            <a:ext cx="2468880" cy="640080"/>
          </a:xfrm>
          <a:prstGeom prst="roundRect">
            <a:avLst>
              <a:gd name="adj" fmla="val 8571"/>
            </a:avLst>
          </a:prstGeom>
          <a:solidFill>
            <a:srgbClr val="00A9E0"/>
          </a:solidFill>
          <a:ln w="12700">
            <a:solidFill>
              <a:srgbClr val="333333"/>
            </a:solidFill>
            <a:prstDash val="solid"/>
          </a:ln>
        </p:spPr>
      </p:sp>
      <p:sp>
        <p:nvSpPr>
          <p:cNvPr id="7" name="Text 5"/>
          <p:cNvSpPr/>
          <p:nvPr/>
        </p:nvSpPr>
        <p:spPr>
          <a:xfrm>
            <a:off x="548640" y="1481328"/>
            <a:ext cx="246888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Experience</a:t>
            </a:r>
            <a:endParaRPr lang="en-US" sz="1300" dirty="0"/>
          </a:p>
        </p:txBody>
      </p:sp>
      <p:sp>
        <p:nvSpPr>
          <p:cNvPr id="8" name="Shape 6"/>
          <p:cNvSpPr/>
          <p:nvPr/>
        </p:nvSpPr>
        <p:spPr>
          <a:xfrm>
            <a:off x="3163824" y="1481328"/>
            <a:ext cx="8479231" cy="640080"/>
          </a:xfrm>
          <a:prstGeom prst="roundRect">
            <a:avLst>
              <a:gd name="adj" fmla="val 8571"/>
            </a:avLst>
          </a:prstGeom>
          <a:solidFill>
            <a:srgbClr val="FFFFFF"/>
          </a:solidFill>
          <a:ln w="12700">
            <a:solidFill>
              <a:srgbClr val="E4EBF2"/>
            </a:solidFill>
            <a:prstDash val="solid"/>
          </a:ln>
        </p:spPr>
      </p:sp>
      <p:sp>
        <p:nvSpPr>
          <p:cNvPr id="9" name="Text 7"/>
          <p:cNvSpPr/>
          <p:nvPr/>
        </p:nvSpPr>
        <p:spPr>
          <a:xfrm>
            <a:off x="3346704" y="1481328"/>
            <a:ext cx="8076895" cy="640080"/>
          </a:xfrm>
          <a:prstGeom prst="rect">
            <a:avLst/>
          </a:prstGeom>
          <a:noFill/>
          <a:ln/>
        </p:spPr>
        <p:txBody>
          <a:bodyPr wrap="square" lIns="0" tIns="0" rIns="0" bIns="0" rtlCol="0" anchor="ctr"/>
          <a:lstStyle/>
          <a:p>
            <a:pPr marL="0" indent="0">
              <a:lnSpc>
                <a:spcPts val="1400"/>
              </a:lnSpc>
              <a:buNone/>
            </a:pPr>
            <a:r>
              <a:rPr lang="en-US" sz="1120" dirty="0">
                <a:solidFill>
                  <a:srgbClr val="16222E"/>
                </a:solidFill>
                <a:latin typeface="Calibri" pitchFamily="34" charset="0"/>
                <a:ea typeface="Calibri" pitchFamily="34" charset="-122"/>
                <a:cs typeface="Calibri" pitchFamily="34" charset="-120"/>
              </a:rPr>
              <a:t>Genie-style conversational surfaces · agents in Teams/Slack · embedded assistants in JDE, SAP and QA tooling · IDE agents</a:t>
            </a:r>
            <a:endParaRPr lang="en-US" sz="1120" dirty="0"/>
          </a:p>
        </p:txBody>
      </p:sp>
      <p:sp>
        <p:nvSpPr>
          <p:cNvPr id="10" name="Shape 8"/>
          <p:cNvSpPr/>
          <p:nvPr/>
        </p:nvSpPr>
        <p:spPr>
          <a:xfrm>
            <a:off x="548640" y="2203704"/>
            <a:ext cx="2468880" cy="640080"/>
          </a:xfrm>
          <a:prstGeom prst="roundRect">
            <a:avLst>
              <a:gd name="adj" fmla="val 8571"/>
            </a:avLst>
          </a:prstGeom>
          <a:solidFill>
            <a:srgbClr val="1B6CA8"/>
          </a:solidFill>
          <a:ln w="12700">
            <a:solidFill>
              <a:srgbClr val="333333"/>
            </a:solidFill>
            <a:prstDash val="solid"/>
          </a:ln>
        </p:spPr>
      </p:sp>
      <p:sp>
        <p:nvSpPr>
          <p:cNvPr id="11" name="Text 9"/>
          <p:cNvSpPr/>
          <p:nvPr/>
        </p:nvSpPr>
        <p:spPr>
          <a:xfrm>
            <a:off x="548640" y="2203704"/>
            <a:ext cx="246888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Agent runtime</a:t>
            </a:r>
            <a:endParaRPr lang="en-US" sz="1300" dirty="0"/>
          </a:p>
        </p:txBody>
      </p:sp>
      <p:sp>
        <p:nvSpPr>
          <p:cNvPr id="12" name="Shape 10"/>
          <p:cNvSpPr/>
          <p:nvPr/>
        </p:nvSpPr>
        <p:spPr>
          <a:xfrm>
            <a:off x="3163824" y="2203704"/>
            <a:ext cx="8479231" cy="640080"/>
          </a:xfrm>
          <a:prstGeom prst="roundRect">
            <a:avLst>
              <a:gd name="adj" fmla="val 8571"/>
            </a:avLst>
          </a:prstGeom>
          <a:solidFill>
            <a:srgbClr val="F1F5F9"/>
          </a:solidFill>
          <a:ln w="12700">
            <a:solidFill>
              <a:srgbClr val="E4EBF2"/>
            </a:solidFill>
            <a:prstDash val="solid"/>
          </a:ln>
        </p:spPr>
      </p:sp>
      <p:sp>
        <p:nvSpPr>
          <p:cNvPr id="13" name="Text 11"/>
          <p:cNvSpPr/>
          <p:nvPr/>
        </p:nvSpPr>
        <p:spPr>
          <a:xfrm>
            <a:off x="3346704" y="2203704"/>
            <a:ext cx="8076895" cy="640080"/>
          </a:xfrm>
          <a:prstGeom prst="rect">
            <a:avLst/>
          </a:prstGeom>
          <a:noFill/>
          <a:ln/>
        </p:spPr>
        <p:txBody>
          <a:bodyPr wrap="square" lIns="0" tIns="0" rIns="0" bIns="0" rtlCol="0" anchor="ctr"/>
          <a:lstStyle/>
          <a:p>
            <a:pPr marL="0" indent="0">
              <a:lnSpc>
                <a:spcPts val="1400"/>
              </a:lnSpc>
              <a:buNone/>
            </a:pPr>
            <a:r>
              <a:rPr lang="en-US" sz="1120" dirty="0">
                <a:solidFill>
                  <a:srgbClr val="16222E"/>
                </a:solidFill>
                <a:latin typeface="Calibri" pitchFamily="34" charset="0"/>
                <a:ea typeface="Calibri" pitchFamily="34" charset="-122"/>
                <a:cs typeface="Calibri" pitchFamily="34" charset="-120"/>
              </a:rPr>
              <a:t>Agentic mesh: registry, orchestration, delegation, memory, human-in-the-loop checkpoints</a:t>
            </a:r>
            <a:endParaRPr lang="en-US" sz="1120" dirty="0"/>
          </a:p>
        </p:txBody>
      </p:sp>
      <p:sp>
        <p:nvSpPr>
          <p:cNvPr id="14" name="Shape 12"/>
          <p:cNvSpPr/>
          <p:nvPr/>
        </p:nvSpPr>
        <p:spPr>
          <a:xfrm>
            <a:off x="548640" y="2926080"/>
            <a:ext cx="2468880" cy="640080"/>
          </a:xfrm>
          <a:prstGeom prst="roundRect">
            <a:avLst>
              <a:gd name="adj" fmla="val 8571"/>
            </a:avLst>
          </a:prstGeom>
          <a:solidFill>
            <a:srgbClr val="13355F"/>
          </a:solidFill>
          <a:ln w="12700">
            <a:solidFill>
              <a:srgbClr val="333333"/>
            </a:solidFill>
            <a:prstDash val="solid"/>
          </a:ln>
        </p:spPr>
      </p:sp>
      <p:sp>
        <p:nvSpPr>
          <p:cNvPr id="15" name="Text 13"/>
          <p:cNvSpPr/>
          <p:nvPr/>
        </p:nvSpPr>
        <p:spPr>
          <a:xfrm>
            <a:off x="548640" y="2926080"/>
            <a:ext cx="246888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Tool &amp; context layer</a:t>
            </a:r>
            <a:endParaRPr lang="en-US" sz="1300" dirty="0"/>
          </a:p>
        </p:txBody>
      </p:sp>
      <p:sp>
        <p:nvSpPr>
          <p:cNvPr id="16" name="Shape 14"/>
          <p:cNvSpPr/>
          <p:nvPr/>
        </p:nvSpPr>
        <p:spPr>
          <a:xfrm>
            <a:off x="3163824" y="2926080"/>
            <a:ext cx="8479231" cy="640080"/>
          </a:xfrm>
          <a:prstGeom prst="roundRect">
            <a:avLst>
              <a:gd name="adj" fmla="val 8571"/>
            </a:avLst>
          </a:prstGeom>
          <a:solidFill>
            <a:srgbClr val="FFFFFF"/>
          </a:solidFill>
          <a:ln w="12700">
            <a:solidFill>
              <a:srgbClr val="E4EBF2"/>
            </a:solidFill>
            <a:prstDash val="solid"/>
          </a:ln>
        </p:spPr>
      </p:sp>
      <p:sp>
        <p:nvSpPr>
          <p:cNvPr id="17" name="Text 15"/>
          <p:cNvSpPr/>
          <p:nvPr/>
        </p:nvSpPr>
        <p:spPr>
          <a:xfrm>
            <a:off x="3346704" y="2926080"/>
            <a:ext cx="8076895" cy="640080"/>
          </a:xfrm>
          <a:prstGeom prst="rect">
            <a:avLst/>
          </a:prstGeom>
          <a:noFill/>
          <a:ln/>
        </p:spPr>
        <p:txBody>
          <a:bodyPr wrap="square" lIns="0" tIns="0" rIns="0" bIns="0" rtlCol="0" anchor="ctr"/>
          <a:lstStyle/>
          <a:p>
            <a:pPr marL="0" indent="0">
              <a:lnSpc>
                <a:spcPts val="1400"/>
              </a:lnSpc>
              <a:buNone/>
            </a:pPr>
            <a:r>
              <a:rPr lang="en-US" sz="1120" dirty="0">
                <a:solidFill>
                  <a:srgbClr val="16222E"/>
                </a:solidFill>
                <a:latin typeface="Calibri" pitchFamily="34" charset="0"/>
                <a:ea typeface="Calibri" pitchFamily="34" charset="-122"/>
                <a:cs typeface="Calibri" pitchFamily="34" charset="-120"/>
              </a:rPr>
              <a:t>MCP servers over ERP, lakehouse, documents and DevOps · retrieval and semantic services · prompt/context assembly</a:t>
            </a:r>
            <a:endParaRPr lang="en-US" sz="1120" dirty="0"/>
          </a:p>
        </p:txBody>
      </p:sp>
      <p:sp>
        <p:nvSpPr>
          <p:cNvPr id="18" name="Shape 16"/>
          <p:cNvSpPr/>
          <p:nvPr/>
        </p:nvSpPr>
        <p:spPr>
          <a:xfrm>
            <a:off x="548640" y="3648456"/>
            <a:ext cx="2468880" cy="640080"/>
          </a:xfrm>
          <a:prstGeom prst="roundRect">
            <a:avLst>
              <a:gd name="adj" fmla="val 8571"/>
            </a:avLst>
          </a:prstGeom>
          <a:solidFill>
            <a:srgbClr val="1B6CA8"/>
          </a:solidFill>
          <a:ln w="12700">
            <a:solidFill>
              <a:srgbClr val="333333"/>
            </a:solidFill>
            <a:prstDash val="solid"/>
          </a:ln>
        </p:spPr>
      </p:sp>
      <p:sp>
        <p:nvSpPr>
          <p:cNvPr id="19" name="Text 17"/>
          <p:cNvSpPr/>
          <p:nvPr/>
        </p:nvSpPr>
        <p:spPr>
          <a:xfrm>
            <a:off x="548640" y="3648456"/>
            <a:ext cx="246888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Model &amp; policy layer</a:t>
            </a:r>
            <a:endParaRPr lang="en-US" sz="1300" dirty="0"/>
          </a:p>
        </p:txBody>
      </p:sp>
      <p:sp>
        <p:nvSpPr>
          <p:cNvPr id="20" name="Shape 18"/>
          <p:cNvSpPr/>
          <p:nvPr/>
        </p:nvSpPr>
        <p:spPr>
          <a:xfrm>
            <a:off x="3163824" y="3648456"/>
            <a:ext cx="8479231" cy="640080"/>
          </a:xfrm>
          <a:prstGeom prst="roundRect">
            <a:avLst>
              <a:gd name="adj" fmla="val 8571"/>
            </a:avLst>
          </a:prstGeom>
          <a:solidFill>
            <a:srgbClr val="F1F5F9"/>
          </a:solidFill>
          <a:ln w="12700">
            <a:solidFill>
              <a:srgbClr val="E4EBF2"/>
            </a:solidFill>
            <a:prstDash val="solid"/>
          </a:ln>
        </p:spPr>
      </p:sp>
      <p:sp>
        <p:nvSpPr>
          <p:cNvPr id="21" name="Text 19"/>
          <p:cNvSpPr/>
          <p:nvPr/>
        </p:nvSpPr>
        <p:spPr>
          <a:xfrm>
            <a:off x="3346704" y="3648456"/>
            <a:ext cx="8076895" cy="640080"/>
          </a:xfrm>
          <a:prstGeom prst="rect">
            <a:avLst/>
          </a:prstGeom>
          <a:noFill/>
          <a:ln/>
        </p:spPr>
        <p:txBody>
          <a:bodyPr wrap="square" lIns="0" tIns="0" rIns="0" bIns="0" rtlCol="0" anchor="ctr"/>
          <a:lstStyle/>
          <a:p>
            <a:pPr marL="0" indent="0">
              <a:lnSpc>
                <a:spcPts val="1400"/>
              </a:lnSpc>
              <a:buNone/>
            </a:pPr>
            <a:r>
              <a:rPr lang="en-US" sz="1120" dirty="0">
                <a:solidFill>
                  <a:srgbClr val="16222E"/>
                </a:solidFill>
                <a:latin typeface="Calibri" pitchFamily="34" charset="0"/>
                <a:ea typeface="Calibri" pitchFamily="34" charset="-122"/>
                <a:cs typeface="Calibri" pitchFamily="34" charset="-120"/>
              </a:rPr>
              <a:t>AI gateway: routing, spend caps, PII and prompt-injection guardrails, residency enforcement, full request capture</a:t>
            </a:r>
            <a:endParaRPr lang="en-US" sz="1120" dirty="0"/>
          </a:p>
        </p:txBody>
      </p:sp>
      <p:sp>
        <p:nvSpPr>
          <p:cNvPr id="22" name="Shape 20"/>
          <p:cNvSpPr/>
          <p:nvPr/>
        </p:nvSpPr>
        <p:spPr>
          <a:xfrm>
            <a:off x="548640" y="4370832"/>
            <a:ext cx="2468880" cy="640080"/>
          </a:xfrm>
          <a:prstGeom prst="roundRect">
            <a:avLst>
              <a:gd name="adj" fmla="val 8571"/>
            </a:avLst>
          </a:prstGeom>
          <a:solidFill>
            <a:srgbClr val="0A2240"/>
          </a:solidFill>
          <a:ln w="12700">
            <a:solidFill>
              <a:srgbClr val="333333"/>
            </a:solidFill>
            <a:prstDash val="solid"/>
          </a:ln>
        </p:spPr>
      </p:sp>
      <p:sp>
        <p:nvSpPr>
          <p:cNvPr id="23" name="Text 21"/>
          <p:cNvSpPr/>
          <p:nvPr/>
        </p:nvSpPr>
        <p:spPr>
          <a:xfrm>
            <a:off x="548640" y="4370832"/>
            <a:ext cx="246888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 foundation</a:t>
            </a:r>
            <a:endParaRPr lang="en-US" sz="1300" dirty="0"/>
          </a:p>
        </p:txBody>
      </p:sp>
      <p:sp>
        <p:nvSpPr>
          <p:cNvPr id="24" name="Shape 22"/>
          <p:cNvSpPr/>
          <p:nvPr/>
        </p:nvSpPr>
        <p:spPr>
          <a:xfrm>
            <a:off x="3163824" y="4370832"/>
            <a:ext cx="8479231" cy="640080"/>
          </a:xfrm>
          <a:prstGeom prst="roundRect">
            <a:avLst>
              <a:gd name="adj" fmla="val 8571"/>
            </a:avLst>
          </a:prstGeom>
          <a:solidFill>
            <a:srgbClr val="FFFFFF"/>
          </a:solidFill>
          <a:ln w="12700">
            <a:solidFill>
              <a:srgbClr val="E4EBF2"/>
            </a:solidFill>
            <a:prstDash val="solid"/>
          </a:ln>
        </p:spPr>
      </p:sp>
      <p:sp>
        <p:nvSpPr>
          <p:cNvPr id="25" name="Text 23"/>
          <p:cNvSpPr/>
          <p:nvPr/>
        </p:nvSpPr>
        <p:spPr>
          <a:xfrm>
            <a:off x="3346704" y="4370832"/>
            <a:ext cx="8076895" cy="640080"/>
          </a:xfrm>
          <a:prstGeom prst="rect">
            <a:avLst/>
          </a:prstGeom>
          <a:noFill/>
          <a:ln/>
        </p:spPr>
        <p:txBody>
          <a:bodyPr wrap="square" lIns="0" tIns="0" rIns="0" bIns="0" rtlCol="0" anchor="ctr"/>
          <a:lstStyle/>
          <a:p>
            <a:pPr marL="0" indent="0">
              <a:lnSpc>
                <a:spcPts val="1400"/>
              </a:lnSpc>
              <a:buNone/>
            </a:pPr>
            <a:r>
              <a:rPr lang="en-US" sz="1120" dirty="0">
                <a:solidFill>
                  <a:srgbClr val="16222E"/>
                </a:solidFill>
                <a:latin typeface="Calibri" pitchFamily="34" charset="0"/>
                <a:ea typeface="Calibri" pitchFamily="34" charset="-122"/>
                <a:cs typeface="Calibri" pitchFamily="34" charset="-120"/>
              </a:rPr>
              <a:t>Databricks lakehouse · Unity Catalog governing data, models, agents, MCP services and skills · vector and search indexes</a:t>
            </a:r>
            <a:endParaRPr lang="en-US" sz="1120" dirty="0"/>
          </a:p>
        </p:txBody>
      </p:sp>
      <p:sp>
        <p:nvSpPr>
          <p:cNvPr id="26" name="Shape 24"/>
          <p:cNvSpPr/>
          <p:nvPr/>
        </p:nvSpPr>
        <p:spPr>
          <a:xfrm>
            <a:off x="548640" y="5093208"/>
            <a:ext cx="2468880" cy="640080"/>
          </a:xfrm>
          <a:prstGeom prst="roundRect">
            <a:avLst>
              <a:gd name="adj" fmla="val 8571"/>
            </a:avLst>
          </a:prstGeom>
          <a:solidFill>
            <a:srgbClr val="5A6B7B"/>
          </a:solidFill>
          <a:ln w="12700">
            <a:solidFill>
              <a:srgbClr val="333333"/>
            </a:solidFill>
            <a:prstDash val="solid"/>
          </a:ln>
        </p:spPr>
      </p:sp>
      <p:sp>
        <p:nvSpPr>
          <p:cNvPr id="27" name="Text 25"/>
          <p:cNvSpPr/>
          <p:nvPr/>
        </p:nvSpPr>
        <p:spPr>
          <a:xfrm>
            <a:off x="548640" y="5093208"/>
            <a:ext cx="2468880" cy="6400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Systems of record</a:t>
            </a:r>
            <a:endParaRPr lang="en-US" sz="1300" dirty="0"/>
          </a:p>
        </p:txBody>
      </p:sp>
      <p:sp>
        <p:nvSpPr>
          <p:cNvPr id="28" name="Shape 26"/>
          <p:cNvSpPr/>
          <p:nvPr/>
        </p:nvSpPr>
        <p:spPr>
          <a:xfrm>
            <a:off x="3163824" y="5093208"/>
            <a:ext cx="8479231" cy="640080"/>
          </a:xfrm>
          <a:prstGeom prst="roundRect">
            <a:avLst>
              <a:gd name="adj" fmla="val 8571"/>
            </a:avLst>
          </a:prstGeom>
          <a:solidFill>
            <a:srgbClr val="F1F5F9"/>
          </a:solidFill>
          <a:ln w="12700">
            <a:solidFill>
              <a:srgbClr val="E4EBF2"/>
            </a:solidFill>
            <a:prstDash val="solid"/>
          </a:ln>
        </p:spPr>
      </p:sp>
      <p:sp>
        <p:nvSpPr>
          <p:cNvPr id="29" name="Text 27"/>
          <p:cNvSpPr/>
          <p:nvPr/>
        </p:nvSpPr>
        <p:spPr>
          <a:xfrm>
            <a:off x="3346704" y="5093208"/>
            <a:ext cx="8076895" cy="640080"/>
          </a:xfrm>
          <a:prstGeom prst="rect">
            <a:avLst/>
          </a:prstGeom>
          <a:noFill/>
          <a:ln/>
        </p:spPr>
        <p:txBody>
          <a:bodyPr wrap="square" lIns="0" tIns="0" rIns="0" bIns="0" rtlCol="0" anchor="ctr"/>
          <a:lstStyle/>
          <a:p>
            <a:pPr marL="0" indent="0">
              <a:lnSpc>
                <a:spcPts val="1400"/>
              </a:lnSpc>
              <a:buNone/>
            </a:pPr>
            <a:r>
              <a:rPr lang="en-US" sz="1120" dirty="0">
                <a:solidFill>
                  <a:srgbClr val="16222E"/>
                </a:solidFill>
                <a:latin typeface="Calibri" pitchFamily="34" charset="0"/>
                <a:ea typeface="Calibri" pitchFamily="34" charset="-122"/>
                <a:cs typeface="Calibri" pitchFamily="34" charset="-120"/>
              </a:rPr>
              <a:t>JD Edwards EnterpriseOne · SAP · MES and plant historians · WMS · CRM · document repositories</a:t>
            </a:r>
            <a:endParaRPr lang="en-US" sz="1120" dirty="0"/>
          </a:p>
        </p:txBody>
      </p:sp>
      <p:sp>
        <p:nvSpPr>
          <p:cNvPr id="30" name="Text 28"/>
          <p:cNvSpPr/>
          <p:nvPr/>
        </p:nvSpPr>
        <p:spPr>
          <a:xfrm>
            <a:off x="548640" y="5833872"/>
            <a:ext cx="11094415" cy="420624"/>
          </a:xfrm>
          <a:prstGeom prst="rect">
            <a:avLst/>
          </a:prstGeom>
          <a:noFill/>
          <a:ln/>
        </p:spPr>
        <p:txBody>
          <a:bodyPr wrap="square" lIns="0" tIns="0" rIns="0" bIns="0" rtlCol="0" anchor="ctr"/>
          <a:lstStyle/>
          <a:p>
            <a:pPr marL="0" indent="0">
              <a:lnSpc>
                <a:spcPts val="1500"/>
              </a:lnSpc>
              <a:buNone/>
            </a:pPr>
            <a:r>
              <a:rPr lang="en-US" sz="1120" b="1" i="1" dirty="0">
                <a:solidFill>
                  <a:srgbClr val="1B6CA8"/>
                </a:solidFill>
                <a:latin typeface="Calibri" pitchFamily="34" charset="0"/>
                <a:ea typeface="Calibri" pitchFamily="34" charset="-122"/>
                <a:cs typeface="Calibri" pitchFamily="34" charset="-120"/>
              </a:rPr>
              <a:t>Recommendation: extend what Ball already governs rather than building a parallel AI stack. Unity Catalog becomes the single registry for data and AI assets; the gateway becomes the single egress for model traffic.</a:t>
            </a:r>
            <a:endParaRPr lang="en-US" sz="11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ASSESSMENT · C</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Building blocks: making Ball data ready for AI</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548640" y="1481328"/>
            <a:ext cx="2581580" cy="4315968"/>
          </a:xfrm>
          <a:prstGeom prst="roundRect">
            <a:avLst>
              <a:gd name="adj" fmla="val 2834"/>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7" name="Shape 5"/>
          <p:cNvSpPr/>
          <p:nvPr/>
        </p:nvSpPr>
        <p:spPr>
          <a:xfrm>
            <a:off x="786384" y="1700784"/>
            <a:ext cx="438912" cy="438912"/>
          </a:xfrm>
          <a:prstGeom prst="ellipse">
            <a:avLst/>
          </a:prstGeom>
          <a:solidFill>
            <a:srgbClr val="1B6CA8"/>
          </a:solidFill>
          <a:ln w="12700">
            <a:solidFill>
              <a:srgbClr val="1B6CA8"/>
            </a:solidFill>
            <a:prstDash val="solid"/>
          </a:ln>
        </p:spPr>
      </p:sp>
      <p:sp>
        <p:nvSpPr>
          <p:cNvPr id="8" name="Text 6"/>
          <p:cNvSpPr/>
          <p:nvPr/>
        </p:nvSpPr>
        <p:spPr>
          <a:xfrm>
            <a:off x="786384" y="170078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316736" y="1700784"/>
            <a:ext cx="1594028" cy="438912"/>
          </a:xfrm>
          <a:prstGeom prst="rect">
            <a:avLst/>
          </a:prstGeom>
          <a:noFill/>
          <a:ln/>
        </p:spPr>
        <p:txBody>
          <a:bodyPr wrap="square" lIns="0" tIns="0" rIns="0" bIns="0" rtlCol="0" anchor="ctr"/>
          <a:lstStyle/>
          <a:p>
            <a:pPr marL="0" indent="0">
              <a:buNone/>
            </a:pPr>
            <a:r>
              <a:rPr lang="en-US" sz="1450" b="1" dirty="0">
                <a:solidFill>
                  <a:srgbClr val="0A2240"/>
                </a:solidFill>
                <a:latin typeface="Calibri" pitchFamily="34" charset="0"/>
                <a:ea typeface="Calibri" pitchFamily="34" charset="-122"/>
                <a:cs typeface="Calibri" pitchFamily="34" charset="-120"/>
              </a:rPr>
              <a:t>Contracts &amp; quality</a:t>
            </a:r>
            <a:endParaRPr lang="en-US" sz="1450" dirty="0"/>
          </a:p>
        </p:txBody>
      </p:sp>
      <p:sp>
        <p:nvSpPr>
          <p:cNvPr id="10" name="Text 8"/>
          <p:cNvSpPr/>
          <p:nvPr/>
        </p:nvSpPr>
        <p:spPr>
          <a:xfrm>
            <a:off x="786384" y="2304288"/>
            <a:ext cx="2106092" cy="3291840"/>
          </a:xfrm>
          <a:prstGeom prst="rect">
            <a:avLst/>
          </a:prstGeom>
          <a:noFill/>
          <a:ln/>
        </p:spPr>
        <p:txBody>
          <a:bodyPr wrap="square" lIns="0" tIns="0" rIns="0" bIns="0" rtlCol="0" anchor="t"/>
          <a:lstStyle/>
          <a:p>
            <a:pPr marL="342900" indent="-342900">
              <a:lnSpc>
                <a:spcPts val="1400"/>
              </a:lnSpc>
              <a:spcAft>
                <a:spcPts val="800"/>
              </a:spcAft>
              <a:buSzPct val="100000"/>
              <a:buChar char="•"/>
            </a:pPr>
            <a:r>
              <a:rPr lang="en-US" sz="1080" dirty="0">
                <a:solidFill>
                  <a:srgbClr val="16222E"/>
                </a:solidFill>
                <a:latin typeface="Calibri" pitchFamily="34" charset="0"/>
                <a:ea typeface="Calibri" pitchFamily="34" charset="-122"/>
                <a:cs typeface="Calibri" pitchFamily="34" charset="-120"/>
              </a:rPr>
              <a:t>Data contracts on every source feeding an agent</a:t>
            </a:r>
            <a:endParaRPr lang="en-US" sz="1080" dirty="0"/>
          </a:p>
          <a:p>
            <a:pPr marL="342900" indent="-342900">
              <a:lnSpc>
                <a:spcPts val="1400"/>
              </a:lnSpc>
              <a:spcAft>
                <a:spcPts val="800"/>
              </a:spcAft>
              <a:buSzPct val="100000"/>
              <a:buChar char="•"/>
            </a:pPr>
            <a:r>
              <a:rPr lang="en-US" sz="1080" dirty="0">
                <a:solidFill>
                  <a:srgbClr val="16222E"/>
                </a:solidFill>
                <a:latin typeface="Calibri" pitchFamily="34" charset="0"/>
                <a:ea typeface="Calibri" pitchFamily="34" charset="-122"/>
                <a:cs typeface="Calibri" pitchFamily="34" charset="-120"/>
              </a:rPr>
              <a:t>Freshness and completeness SLOs</a:t>
            </a:r>
            <a:endParaRPr lang="en-US" sz="1080" dirty="0"/>
          </a:p>
          <a:p>
            <a:pPr marL="342900" indent="-342900">
              <a:lnSpc>
                <a:spcPts val="1400"/>
              </a:lnSpc>
              <a:spcAft>
                <a:spcPts val="800"/>
              </a:spcAft>
              <a:buSzPct val="100000"/>
              <a:buChar char="•"/>
            </a:pPr>
            <a:r>
              <a:rPr lang="en-US" sz="1080" dirty="0">
                <a:solidFill>
                  <a:srgbClr val="16222E"/>
                </a:solidFill>
                <a:latin typeface="Calibri" pitchFamily="34" charset="0"/>
                <a:ea typeface="Calibri" pitchFamily="34" charset="-122"/>
                <a:cs typeface="Calibri" pitchFamily="34" charset="-120"/>
              </a:rPr>
              <a:t>Reconciliation back to the system of record</a:t>
            </a:r>
            <a:endParaRPr lang="en-US" sz="1080" dirty="0"/>
          </a:p>
          <a:p>
            <a:pPr marL="342900" indent="-342900">
              <a:lnSpc>
                <a:spcPts val="1400"/>
              </a:lnSpc>
              <a:spcAft>
                <a:spcPts val="800"/>
              </a:spcAft>
              <a:buSzPct val="100000"/>
              <a:buChar char="•"/>
            </a:pPr>
            <a:r>
              <a:rPr lang="en-US" sz="1080" dirty="0">
                <a:solidFill>
                  <a:srgbClr val="16222E"/>
                </a:solidFill>
                <a:latin typeface="Calibri" pitchFamily="34" charset="0"/>
                <a:ea typeface="Calibri" pitchFamily="34" charset="-122"/>
                <a:cs typeface="Calibri" pitchFamily="34" charset="-120"/>
              </a:rPr>
              <a:t>Break-glass alerts when a contract fails</a:t>
            </a:r>
            <a:endParaRPr lang="en-US" sz="1080" dirty="0"/>
          </a:p>
        </p:txBody>
      </p:sp>
      <p:sp>
        <p:nvSpPr>
          <p:cNvPr id="11" name="Shape 9"/>
          <p:cNvSpPr/>
          <p:nvPr/>
        </p:nvSpPr>
        <p:spPr>
          <a:xfrm>
            <a:off x="3386252" y="1481328"/>
            <a:ext cx="2581580" cy="4315968"/>
          </a:xfrm>
          <a:prstGeom prst="roundRect">
            <a:avLst>
              <a:gd name="adj" fmla="val 2834"/>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2" name="Shape 10"/>
          <p:cNvSpPr/>
          <p:nvPr/>
        </p:nvSpPr>
        <p:spPr>
          <a:xfrm>
            <a:off x="3623996" y="1700784"/>
            <a:ext cx="438912" cy="438912"/>
          </a:xfrm>
          <a:prstGeom prst="ellipse">
            <a:avLst/>
          </a:prstGeom>
          <a:solidFill>
            <a:srgbClr val="1B6CA8"/>
          </a:solidFill>
          <a:ln w="12700">
            <a:solidFill>
              <a:srgbClr val="1B6CA8"/>
            </a:solidFill>
            <a:prstDash val="solid"/>
          </a:ln>
        </p:spPr>
      </p:sp>
      <p:sp>
        <p:nvSpPr>
          <p:cNvPr id="13" name="Text 11"/>
          <p:cNvSpPr/>
          <p:nvPr/>
        </p:nvSpPr>
        <p:spPr>
          <a:xfrm>
            <a:off x="3623996" y="170078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4154348" y="1700784"/>
            <a:ext cx="1594028" cy="438912"/>
          </a:xfrm>
          <a:prstGeom prst="rect">
            <a:avLst/>
          </a:prstGeom>
          <a:noFill/>
          <a:ln/>
        </p:spPr>
        <p:txBody>
          <a:bodyPr wrap="square" lIns="0" tIns="0" rIns="0" bIns="0" rtlCol="0" anchor="ctr"/>
          <a:lstStyle/>
          <a:p>
            <a:pPr marL="0" indent="0">
              <a:buNone/>
            </a:pPr>
            <a:r>
              <a:rPr lang="en-US" sz="1450" b="1" dirty="0">
                <a:solidFill>
                  <a:srgbClr val="0A2240"/>
                </a:solidFill>
                <a:latin typeface="Calibri" pitchFamily="34" charset="0"/>
                <a:ea typeface="Calibri" pitchFamily="34" charset="-122"/>
                <a:cs typeface="Calibri" pitchFamily="34" charset="-120"/>
              </a:rPr>
              <a:t>Semantics</a:t>
            </a:r>
            <a:endParaRPr lang="en-US" sz="1450" dirty="0"/>
          </a:p>
        </p:txBody>
      </p:sp>
      <p:sp>
        <p:nvSpPr>
          <p:cNvPr id="15" name="Text 13"/>
          <p:cNvSpPr/>
          <p:nvPr/>
        </p:nvSpPr>
        <p:spPr>
          <a:xfrm>
            <a:off x="3623996" y="2304288"/>
            <a:ext cx="2106092" cy="3291840"/>
          </a:xfrm>
          <a:prstGeom prst="rect">
            <a:avLst/>
          </a:prstGeom>
          <a:noFill/>
          <a:ln/>
        </p:spPr>
        <p:txBody>
          <a:bodyPr wrap="square" lIns="0" tIns="0" rIns="0" bIns="0" rtlCol="0" anchor="t"/>
          <a:lstStyle/>
          <a:p>
            <a:pPr marL="342900" indent="-342900">
              <a:lnSpc>
                <a:spcPts val="1400"/>
              </a:lnSpc>
              <a:spcAft>
                <a:spcPts val="800"/>
              </a:spcAft>
              <a:buSzPct val="100000"/>
              <a:buChar char="•"/>
            </a:pPr>
            <a:r>
              <a:rPr lang="en-US" sz="1080" dirty="0">
                <a:solidFill>
                  <a:srgbClr val="16222E"/>
                </a:solidFill>
                <a:latin typeface="Calibri" pitchFamily="34" charset="0"/>
                <a:ea typeface="Calibri" pitchFamily="34" charset="-122"/>
                <a:cs typeface="Calibri" pitchFamily="34" charset="-120"/>
              </a:rPr>
              <a:t>One definition per business concept, owned by a named steward</a:t>
            </a:r>
            <a:endParaRPr lang="en-US" sz="1080" dirty="0"/>
          </a:p>
          <a:p>
            <a:pPr marL="342900" indent="-342900">
              <a:lnSpc>
                <a:spcPts val="1400"/>
              </a:lnSpc>
              <a:spcAft>
                <a:spcPts val="800"/>
              </a:spcAft>
              <a:buSzPct val="100000"/>
              <a:buChar char="•"/>
            </a:pPr>
            <a:r>
              <a:rPr lang="en-US" sz="1080" dirty="0">
                <a:solidFill>
                  <a:srgbClr val="16222E"/>
                </a:solidFill>
                <a:latin typeface="Calibri" pitchFamily="34" charset="0"/>
                <a:ea typeface="Calibri" pitchFamily="34" charset="-122"/>
                <a:cs typeface="Calibri" pitchFamily="34" charset="-120"/>
              </a:rPr>
              <a:t>Metric and dimension layer agents query instead of raw tables</a:t>
            </a:r>
            <a:endParaRPr lang="en-US" sz="1080" dirty="0"/>
          </a:p>
          <a:p>
            <a:pPr marL="342900" indent="-342900">
              <a:lnSpc>
                <a:spcPts val="1400"/>
              </a:lnSpc>
              <a:spcAft>
                <a:spcPts val="800"/>
              </a:spcAft>
              <a:buSzPct val="100000"/>
              <a:buChar char="•"/>
            </a:pPr>
            <a:r>
              <a:rPr lang="en-US" sz="1080" dirty="0">
                <a:solidFill>
                  <a:srgbClr val="16222E"/>
                </a:solidFill>
                <a:latin typeface="Calibri" pitchFamily="34" charset="0"/>
                <a:ea typeface="Calibri" pitchFamily="34" charset="-122"/>
                <a:cs typeface="Calibri" pitchFamily="34" charset="-120"/>
              </a:rPr>
              <a:t>Synonyms and plant-local vocabulary mapped to canonical terms</a:t>
            </a:r>
            <a:endParaRPr lang="en-US" sz="1080" dirty="0"/>
          </a:p>
        </p:txBody>
      </p:sp>
      <p:sp>
        <p:nvSpPr>
          <p:cNvPr id="16" name="Shape 14"/>
          <p:cNvSpPr/>
          <p:nvPr/>
        </p:nvSpPr>
        <p:spPr>
          <a:xfrm>
            <a:off x="6223864" y="1481328"/>
            <a:ext cx="2581580" cy="4315968"/>
          </a:xfrm>
          <a:prstGeom prst="roundRect">
            <a:avLst>
              <a:gd name="adj" fmla="val 2834"/>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7" name="Shape 15"/>
          <p:cNvSpPr/>
          <p:nvPr/>
        </p:nvSpPr>
        <p:spPr>
          <a:xfrm>
            <a:off x="6461608" y="1700784"/>
            <a:ext cx="438912" cy="438912"/>
          </a:xfrm>
          <a:prstGeom prst="ellipse">
            <a:avLst/>
          </a:prstGeom>
          <a:solidFill>
            <a:srgbClr val="1B6CA8"/>
          </a:solidFill>
          <a:ln w="12700">
            <a:solidFill>
              <a:srgbClr val="1B6CA8"/>
            </a:solidFill>
            <a:prstDash val="solid"/>
          </a:ln>
        </p:spPr>
      </p:sp>
      <p:sp>
        <p:nvSpPr>
          <p:cNvPr id="18" name="Text 16"/>
          <p:cNvSpPr/>
          <p:nvPr/>
        </p:nvSpPr>
        <p:spPr>
          <a:xfrm>
            <a:off x="6461608" y="170078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6991960" y="1700784"/>
            <a:ext cx="1594028" cy="438912"/>
          </a:xfrm>
          <a:prstGeom prst="rect">
            <a:avLst/>
          </a:prstGeom>
          <a:noFill/>
          <a:ln/>
        </p:spPr>
        <p:txBody>
          <a:bodyPr wrap="square" lIns="0" tIns="0" rIns="0" bIns="0" rtlCol="0" anchor="ctr"/>
          <a:lstStyle/>
          <a:p>
            <a:pPr marL="0" indent="0">
              <a:buNone/>
            </a:pPr>
            <a:r>
              <a:rPr lang="en-US" sz="1450" b="1" dirty="0">
                <a:solidFill>
                  <a:srgbClr val="0A2240"/>
                </a:solidFill>
                <a:latin typeface="Calibri" pitchFamily="34" charset="0"/>
                <a:ea typeface="Calibri" pitchFamily="34" charset="-122"/>
                <a:cs typeface="Calibri" pitchFamily="34" charset="-120"/>
              </a:rPr>
              <a:t>Retrieval</a:t>
            </a:r>
            <a:endParaRPr lang="en-US" sz="1450" dirty="0"/>
          </a:p>
        </p:txBody>
      </p:sp>
      <p:sp>
        <p:nvSpPr>
          <p:cNvPr id="20" name="Text 18"/>
          <p:cNvSpPr/>
          <p:nvPr/>
        </p:nvSpPr>
        <p:spPr>
          <a:xfrm>
            <a:off x="6461608" y="2304288"/>
            <a:ext cx="2106092" cy="3291840"/>
          </a:xfrm>
          <a:prstGeom prst="rect">
            <a:avLst/>
          </a:prstGeom>
          <a:noFill/>
          <a:ln/>
        </p:spPr>
        <p:txBody>
          <a:bodyPr wrap="square" lIns="0" tIns="0" rIns="0" bIns="0" rtlCol="0" anchor="t"/>
          <a:lstStyle/>
          <a:p>
            <a:pPr marL="342900" indent="-342900">
              <a:lnSpc>
                <a:spcPts val="1400"/>
              </a:lnSpc>
              <a:spcAft>
                <a:spcPts val="800"/>
              </a:spcAft>
              <a:buSzPct val="100000"/>
              <a:buChar char="•"/>
            </a:pPr>
            <a:r>
              <a:rPr lang="en-US" sz="1080" dirty="0">
                <a:solidFill>
                  <a:srgbClr val="16222E"/>
                </a:solidFill>
                <a:latin typeface="Calibri" pitchFamily="34" charset="0"/>
                <a:ea typeface="Calibri" pitchFamily="34" charset="-122"/>
                <a:cs typeface="Calibri" pitchFamily="34" charset="-120"/>
              </a:rPr>
              <a:t>Chunking tuned per document class (SOP vs. spec vs. ticket)</a:t>
            </a:r>
            <a:endParaRPr lang="en-US" sz="1080" dirty="0"/>
          </a:p>
          <a:p>
            <a:pPr marL="342900" indent="-342900">
              <a:lnSpc>
                <a:spcPts val="1400"/>
              </a:lnSpc>
              <a:spcAft>
                <a:spcPts val="800"/>
              </a:spcAft>
              <a:buSzPct val="100000"/>
              <a:buChar char="•"/>
            </a:pPr>
            <a:r>
              <a:rPr lang="en-US" sz="1080" dirty="0">
                <a:solidFill>
                  <a:srgbClr val="16222E"/>
                </a:solidFill>
                <a:latin typeface="Calibri" pitchFamily="34" charset="0"/>
                <a:ea typeface="Calibri" pitchFamily="34" charset="-122"/>
                <a:cs typeface="Calibri" pitchFamily="34" charset="-120"/>
              </a:rPr>
              <a:t>Embeddings refreshed on change, not on schedule</a:t>
            </a:r>
            <a:endParaRPr lang="en-US" sz="1080" dirty="0"/>
          </a:p>
          <a:p>
            <a:pPr marL="342900" indent="-342900">
              <a:lnSpc>
                <a:spcPts val="1400"/>
              </a:lnSpc>
              <a:spcAft>
                <a:spcPts val="800"/>
              </a:spcAft>
              <a:buSzPct val="100000"/>
              <a:buChar char="•"/>
            </a:pPr>
            <a:r>
              <a:rPr lang="en-US" sz="1080" dirty="0">
                <a:solidFill>
                  <a:srgbClr val="16222E"/>
                </a:solidFill>
                <a:latin typeface="Calibri" pitchFamily="34" charset="0"/>
                <a:ea typeface="Calibri" pitchFamily="34" charset="-122"/>
                <a:cs typeface="Calibri" pitchFamily="34" charset="-120"/>
              </a:rPr>
              <a:t>Permission-filtered search — retrieval respects source ACLs</a:t>
            </a:r>
            <a:endParaRPr lang="en-US" sz="1080" dirty="0"/>
          </a:p>
          <a:p>
            <a:pPr marL="342900" indent="-342900">
              <a:lnSpc>
                <a:spcPts val="1400"/>
              </a:lnSpc>
              <a:spcAft>
                <a:spcPts val="800"/>
              </a:spcAft>
              <a:buSzPct val="100000"/>
              <a:buChar char="•"/>
            </a:pPr>
            <a:r>
              <a:rPr lang="en-US" sz="1080" dirty="0">
                <a:solidFill>
                  <a:srgbClr val="16222E"/>
                </a:solidFill>
                <a:latin typeface="Calibri" pitchFamily="34" charset="0"/>
                <a:ea typeface="Calibri" pitchFamily="34" charset="-122"/>
                <a:cs typeface="Calibri" pitchFamily="34" charset="-120"/>
              </a:rPr>
              <a:t>Hybrid keyword + vector for part numbers and codes</a:t>
            </a:r>
            <a:endParaRPr lang="en-US" sz="1080" dirty="0"/>
          </a:p>
        </p:txBody>
      </p:sp>
      <p:sp>
        <p:nvSpPr>
          <p:cNvPr id="21" name="Shape 19"/>
          <p:cNvSpPr/>
          <p:nvPr/>
        </p:nvSpPr>
        <p:spPr>
          <a:xfrm>
            <a:off x="9061475" y="1481328"/>
            <a:ext cx="2581580" cy="4315968"/>
          </a:xfrm>
          <a:prstGeom prst="roundRect">
            <a:avLst>
              <a:gd name="adj" fmla="val 2834"/>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2" name="Shape 20"/>
          <p:cNvSpPr/>
          <p:nvPr/>
        </p:nvSpPr>
        <p:spPr>
          <a:xfrm>
            <a:off x="9299219" y="1700784"/>
            <a:ext cx="438912" cy="438912"/>
          </a:xfrm>
          <a:prstGeom prst="ellipse">
            <a:avLst/>
          </a:prstGeom>
          <a:solidFill>
            <a:srgbClr val="1B6CA8"/>
          </a:solidFill>
          <a:ln w="12700">
            <a:solidFill>
              <a:srgbClr val="1B6CA8"/>
            </a:solidFill>
            <a:prstDash val="solid"/>
          </a:ln>
        </p:spPr>
      </p:sp>
      <p:sp>
        <p:nvSpPr>
          <p:cNvPr id="23" name="Text 21"/>
          <p:cNvSpPr/>
          <p:nvPr/>
        </p:nvSpPr>
        <p:spPr>
          <a:xfrm>
            <a:off x="9299219" y="1700784"/>
            <a:ext cx="438912" cy="43891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9829571" y="1700784"/>
            <a:ext cx="1594028" cy="438912"/>
          </a:xfrm>
          <a:prstGeom prst="rect">
            <a:avLst/>
          </a:prstGeom>
          <a:noFill/>
          <a:ln/>
        </p:spPr>
        <p:txBody>
          <a:bodyPr wrap="square" lIns="0" tIns="0" rIns="0" bIns="0" rtlCol="0" anchor="ctr"/>
          <a:lstStyle/>
          <a:p>
            <a:pPr marL="0" indent="0">
              <a:buNone/>
            </a:pPr>
            <a:r>
              <a:rPr lang="en-US" sz="1450" b="1" dirty="0">
                <a:solidFill>
                  <a:srgbClr val="0A2240"/>
                </a:solidFill>
                <a:latin typeface="Calibri" pitchFamily="34" charset="0"/>
                <a:ea typeface="Calibri" pitchFamily="34" charset="-122"/>
                <a:cs typeface="Calibri" pitchFamily="34" charset="-120"/>
              </a:rPr>
              <a:t>Evaluation</a:t>
            </a:r>
            <a:endParaRPr lang="en-US" sz="1450" dirty="0"/>
          </a:p>
        </p:txBody>
      </p:sp>
      <p:sp>
        <p:nvSpPr>
          <p:cNvPr id="25" name="Text 23"/>
          <p:cNvSpPr/>
          <p:nvPr/>
        </p:nvSpPr>
        <p:spPr>
          <a:xfrm>
            <a:off x="9299219" y="2304288"/>
            <a:ext cx="2106092" cy="3291840"/>
          </a:xfrm>
          <a:prstGeom prst="rect">
            <a:avLst/>
          </a:prstGeom>
          <a:noFill/>
          <a:ln/>
        </p:spPr>
        <p:txBody>
          <a:bodyPr wrap="square" lIns="0" tIns="0" rIns="0" bIns="0" rtlCol="0" anchor="t"/>
          <a:lstStyle/>
          <a:p>
            <a:pPr marL="342900" indent="-342900">
              <a:lnSpc>
                <a:spcPts val="1400"/>
              </a:lnSpc>
              <a:spcAft>
                <a:spcPts val="800"/>
              </a:spcAft>
              <a:buSzPct val="100000"/>
              <a:buChar char="•"/>
            </a:pPr>
            <a:r>
              <a:rPr lang="en-US" sz="1080" dirty="0">
                <a:solidFill>
                  <a:srgbClr val="16222E"/>
                </a:solidFill>
                <a:latin typeface="Calibri" pitchFamily="34" charset="0"/>
                <a:ea typeface="Calibri" pitchFamily="34" charset="-122"/>
                <a:cs typeface="Calibri" pitchFamily="34" charset="-120"/>
              </a:rPr>
              <a:t>Gold question/answer sets per domain</a:t>
            </a:r>
            <a:endParaRPr lang="en-US" sz="1080" dirty="0"/>
          </a:p>
          <a:p>
            <a:pPr marL="342900" indent="-342900">
              <a:lnSpc>
                <a:spcPts val="1400"/>
              </a:lnSpc>
              <a:spcAft>
                <a:spcPts val="800"/>
              </a:spcAft>
              <a:buSzPct val="100000"/>
              <a:buChar char="•"/>
            </a:pPr>
            <a:r>
              <a:rPr lang="en-US" sz="1080" dirty="0">
                <a:solidFill>
                  <a:srgbClr val="16222E"/>
                </a:solidFill>
                <a:latin typeface="Calibri" pitchFamily="34" charset="0"/>
                <a:ea typeface="Calibri" pitchFamily="34" charset="-122"/>
                <a:cs typeface="Calibri" pitchFamily="34" charset="-120"/>
              </a:rPr>
              <a:t>Regression suite run on every context or model change</a:t>
            </a:r>
            <a:endParaRPr lang="en-US" sz="1080" dirty="0"/>
          </a:p>
          <a:p>
            <a:pPr marL="342900" indent="-342900">
              <a:lnSpc>
                <a:spcPts val="1400"/>
              </a:lnSpc>
              <a:spcAft>
                <a:spcPts val="800"/>
              </a:spcAft>
              <a:buSzPct val="100000"/>
              <a:buChar char="•"/>
            </a:pPr>
            <a:r>
              <a:rPr lang="en-US" sz="1080" dirty="0">
                <a:solidFill>
                  <a:srgbClr val="16222E"/>
                </a:solidFill>
                <a:latin typeface="Calibri" pitchFamily="34" charset="0"/>
                <a:ea typeface="Calibri" pitchFamily="34" charset="-122"/>
                <a:cs typeface="Calibri" pitchFamily="34" charset="-120"/>
              </a:rPr>
              <a:t>Human review queue for low-confidence responses</a:t>
            </a:r>
            <a:endParaRPr lang="en-US" sz="1080" dirty="0"/>
          </a:p>
          <a:p>
            <a:pPr marL="342900" indent="-342900">
              <a:lnSpc>
                <a:spcPts val="1400"/>
              </a:lnSpc>
              <a:spcAft>
                <a:spcPts val="800"/>
              </a:spcAft>
              <a:buSzPct val="100000"/>
              <a:buChar char="•"/>
            </a:pPr>
            <a:r>
              <a:rPr lang="en-US" sz="1080" dirty="0">
                <a:solidFill>
                  <a:srgbClr val="16222E"/>
                </a:solidFill>
                <a:latin typeface="Calibri" pitchFamily="34" charset="0"/>
                <a:ea typeface="Calibri" pitchFamily="34" charset="-122"/>
                <a:cs typeface="Calibri" pitchFamily="34" charset="-120"/>
              </a:rPr>
              <a:t>Traceable score history per agent version</a:t>
            </a:r>
            <a:endParaRPr lang="en-US" sz="1080" dirty="0"/>
          </a:p>
        </p:txBody>
      </p:sp>
      <p:sp>
        <p:nvSpPr>
          <p:cNvPr id="26" name="Text 24"/>
          <p:cNvSpPr/>
          <p:nvPr/>
        </p:nvSpPr>
        <p:spPr>
          <a:xfrm>
            <a:off x="548640" y="5998464"/>
            <a:ext cx="11094415" cy="292608"/>
          </a:xfrm>
          <a:prstGeom prst="rect">
            <a:avLst/>
          </a:prstGeom>
          <a:noFill/>
          <a:ln/>
        </p:spPr>
        <p:txBody>
          <a:bodyPr wrap="square" lIns="0" tIns="0" rIns="0" bIns="0" rtlCol="0" anchor="ctr"/>
          <a:lstStyle/>
          <a:p>
            <a:pPr marL="0" indent="0">
              <a:buNone/>
            </a:pPr>
            <a:r>
              <a:rPr lang="en-US" sz="1150" b="1" i="1" dirty="0">
                <a:solidFill>
                  <a:srgbClr val="1B6CA8"/>
                </a:solidFill>
                <a:latin typeface="Calibri" pitchFamily="34" charset="0"/>
                <a:ea typeface="Calibri" pitchFamily="34" charset="-122"/>
                <a:cs typeface="Calibri" pitchFamily="34" charset="-120"/>
              </a:rPr>
              <a:t>None of these are AI projects. They are data engineering projects that AI finally makes non-optional.</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ASSESSMENT · D</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The AI agentic hybrid approach</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48640" y="1481328"/>
            <a:ext cx="3503066" cy="3749040"/>
          </a:xfrm>
          <a:prstGeom prst="roundRect">
            <a:avLst>
              <a:gd name="adj" fmla="val 2088"/>
            </a:avLst>
          </a:prstGeom>
          <a:solidFill>
            <a:srgbClr val="FFFFFF"/>
          </a:solidFill>
          <a:ln w="12700">
            <a:solidFill>
              <a:srgbClr val="E4EBF2"/>
            </a:solidFill>
            <a:prstDash val="solid"/>
          </a:ln>
          <a:effectLst>
            <a:outerShdw blurRad="101600" dist="25400" dir="5400000" algn="bl" rotWithShape="0">
              <a:srgbClr val="0A2240">
                <a:alpha val="12000"/>
              </a:srgbClr>
            </a:outerShdw>
          </a:effectLst>
        </p:spPr>
      </p:sp>
      <p:sp>
        <p:nvSpPr>
          <p:cNvPr id="7" name="Shape 5"/>
          <p:cNvSpPr/>
          <p:nvPr/>
        </p:nvSpPr>
        <p:spPr>
          <a:xfrm>
            <a:off x="786384" y="1700784"/>
            <a:ext cx="457200" cy="457200"/>
          </a:xfrm>
          <a:prstGeom prst="ellipse">
            <a:avLst/>
          </a:prstGeom>
          <a:solidFill>
            <a:srgbClr val="0A2240"/>
          </a:solidFill>
          <a:ln w="12700">
            <a:solidFill>
              <a:srgbClr val="0A2240"/>
            </a:solidFill>
            <a:prstDash val="solid"/>
          </a:ln>
        </p:spPr>
      </p:sp>
      <p:sp>
        <p:nvSpPr>
          <p:cNvPr id="8" name="Text 6"/>
          <p:cNvSpPr/>
          <p:nvPr/>
        </p:nvSpPr>
        <p:spPr>
          <a:xfrm>
            <a:off x="786384" y="170078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9" name="Text 7"/>
          <p:cNvSpPr/>
          <p:nvPr/>
        </p:nvSpPr>
        <p:spPr>
          <a:xfrm>
            <a:off x="1353312" y="1700784"/>
            <a:ext cx="2478938" cy="457200"/>
          </a:xfrm>
          <a:prstGeom prst="rect">
            <a:avLst/>
          </a:prstGeom>
          <a:noFill/>
          <a:ln/>
        </p:spPr>
        <p:txBody>
          <a:bodyPr wrap="square" lIns="0" tIns="0" rIns="0" bIns="0" rtlCol="0" anchor="ctr"/>
          <a:lstStyle/>
          <a:p>
            <a:pPr marL="0" indent="0">
              <a:buNone/>
            </a:pPr>
            <a:r>
              <a:rPr lang="en-US" sz="1800" b="1" dirty="0">
                <a:solidFill>
                  <a:srgbClr val="0A2240"/>
                </a:solidFill>
                <a:latin typeface="Cambria" pitchFamily="34" charset="0"/>
                <a:ea typeface="Cambria" pitchFamily="34" charset="-122"/>
                <a:cs typeface="Cambria" pitchFamily="34" charset="-120"/>
              </a:rPr>
              <a:t>Deterministic</a:t>
            </a:r>
            <a:endParaRPr lang="en-US" sz="1800" dirty="0"/>
          </a:p>
        </p:txBody>
      </p:sp>
      <p:sp>
        <p:nvSpPr>
          <p:cNvPr id="10" name="Text 8"/>
          <p:cNvSpPr/>
          <p:nvPr/>
        </p:nvSpPr>
        <p:spPr>
          <a:xfrm>
            <a:off x="786384" y="2322576"/>
            <a:ext cx="3027578" cy="274320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20" dirty="0">
                <a:solidFill>
                  <a:srgbClr val="16222E"/>
                </a:solidFill>
                <a:latin typeface="Calibri" pitchFamily="34" charset="0"/>
                <a:ea typeface="Calibri" pitchFamily="34" charset="-122"/>
                <a:cs typeface="Calibri" pitchFamily="34" charset="-120"/>
              </a:rPr>
              <a:t>Rules, orchestrations and pipelines</a:t>
            </a:r>
            <a:endParaRPr lang="en-US" sz="1120" dirty="0"/>
          </a:p>
          <a:p>
            <a:pPr marL="342900" indent="-342900">
              <a:lnSpc>
                <a:spcPts val="1500"/>
              </a:lnSpc>
              <a:spcAft>
                <a:spcPts val="800"/>
              </a:spcAft>
              <a:buSzPct val="100000"/>
              <a:buChar char="•"/>
            </a:pPr>
            <a:r>
              <a:rPr lang="en-US" sz="1120" dirty="0">
                <a:solidFill>
                  <a:srgbClr val="16222E"/>
                </a:solidFill>
                <a:latin typeface="Calibri" pitchFamily="34" charset="0"/>
                <a:ea typeface="Calibri" pitchFamily="34" charset="-122"/>
                <a:cs typeface="Calibri" pitchFamily="34" charset="-120"/>
              </a:rPr>
              <a:t>Used for: financial postings, regulated quality records, inventory movements</a:t>
            </a:r>
            <a:endParaRPr lang="en-US" sz="1120" dirty="0"/>
          </a:p>
          <a:p>
            <a:pPr marL="342900" indent="-342900">
              <a:lnSpc>
                <a:spcPts val="1500"/>
              </a:lnSpc>
              <a:spcAft>
                <a:spcPts val="800"/>
              </a:spcAft>
              <a:buSzPct val="100000"/>
              <a:buChar char="•"/>
            </a:pPr>
            <a:r>
              <a:rPr lang="en-US" sz="1120" dirty="0">
                <a:solidFill>
                  <a:srgbClr val="16222E"/>
                </a:solidFill>
                <a:latin typeface="Calibri" pitchFamily="34" charset="0"/>
                <a:ea typeface="Calibri" pitchFamily="34" charset="-122"/>
                <a:cs typeface="Calibri" pitchFamily="34" charset="-120"/>
              </a:rPr>
              <a:t>Guarantee: same input, same output, every time</a:t>
            </a:r>
            <a:endParaRPr lang="en-US" sz="1120" dirty="0"/>
          </a:p>
          <a:p>
            <a:pPr marL="342900" indent="-342900">
              <a:lnSpc>
                <a:spcPts val="1500"/>
              </a:lnSpc>
              <a:spcAft>
                <a:spcPts val="800"/>
              </a:spcAft>
              <a:buSzPct val="100000"/>
              <a:buChar char="•"/>
            </a:pPr>
            <a:r>
              <a:rPr lang="en-US" sz="1120" dirty="0">
                <a:solidFill>
                  <a:srgbClr val="16222E"/>
                </a:solidFill>
                <a:latin typeface="Calibri" pitchFamily="34" charset="0"/>
                <a:ea typeface="Calibri" pitchFamily="34" charset="-122"/>
                <a:cs typeface="Calibri" pitchFamily="34" charset="-120"/>
              </a:rPr>
              <a:t>Ball example: a JDE orchestration that creates a purchase order</a:t>
            </a:r>
            <a:endParaRPr lang="en-US" sz="1120" dirty="0"/>
          </a:p>
        </p:txBody>
      </p:sp>
      <p:sp>
        <p:nvSpPr>
          <p:cNvPr id="11" name="Shape 9"/>
          <p:cNvSpPr/>
          <p:nvPr/>
        </p:nvSpPr>
        <p:spPr>
          <a:xfrm>
            <a:off x="4344314" y="1481328"/>
            <a:ext cx="3503066" cy="3749040"/>
          </a:xfrm>
          <a:prstGeom prst="roundRect">
            <a:avLst>
              <a:gd name="adj" fmla="val 2088"/>
            </a:avLst>
          </a:prstGeom>
          <a:solidFill>
            <a:srgbClr val="FFFFFF"/>
          </a:solidFill>
          <a:ln w="12700">
            <a:solidFill>
              <a:srgbClr val="E4EBF2"/>
            </a:solidFill>
            <a:prstDash val="solid"/>
          </a:ln>
          <a:effectLst>
            <a:outerShdw blurRad="101600" dist="25400" dir="5400000" algn="bl" rotWithShape="0">
              <a:srgbClr val="0A2240">
                <a:alpha val="12000"/>
              </a:srgbClr>
            </a:outerShdw>
          </a:effectLst>
        </p:spPr>
      </p:sp>
      <p:sp>
        <p:nvSpPr>
          <p:cNvPr id="12" name="Shape 10"/>
          <p:cNvSpPr/>
          <p:nvPr/>
        </p:nvSpPr>
        <p:spPr>
          <a:xfrm>
            <a:off x="4582058" y="1700784"/>
            <a:ext cx="457200" cy="457200"/>
          </a:xfrm>
          <a:prstGeom prst="ellipse">
            <a:avLst/>
          </a:prstGeom>
          <a:solidFill>
            <a:srgbClr val="1B6CA8"/>
          </a:solidFill>
          <a:ln w="12700">
            <a:solidFill>
              <a:srgbClr val="1B6CA8"/>
            </a:solidFill>
            <a:prstDash val="solid"/>
          </a:ln>
        </p:spPr>
      </p:sp>
      <p:sp>
        <p:nvSpPr>
          <p:cNvPr id="13" name="Text 11"/>
          <p:cNvSpPr/>
          <p:nvPr/>
        </p:nvSpPr>
        <p:spPr>
          <a:xfrm>
            <a:off x="4582058" y="170078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14" name="Text 12"/>
          <p:cNvSpPr/>
          <p:nvPr/>
        </p:nvSpPr>
        <p:spPr>
          <a:xfrm>
            <a:off x="5148986" y="1700784"/>
            <a:ext cx="2478938" cy="457200"/>
          </a:xfrm>
          <a:prstGeom prst="rect">
            <a:avLst/>
          </a:prstGeom>
          <a:noFill/>
          <a:ln/>
        </p:spPr>
        <p:txBody>
          <a:bodyPr wrap="square" lIns="0" tIns="0" rIns="0" bIns="0" rtlCol="0" anchor="ctr"/>
          <a:lstStyle/>
          <a:p>
            <a:pPr marL="0" indent="0">
              <a:buNone/>
            </a:pPr>
            <a:r>
              <a:rPr lang="en-US" sz="1800" b="1" dirty="0">
                <a:solidFill>
                  <a:srgbClr val="0A2240"/>
                </a:solidFill>
                <a:latin typeface="Cambria" pitchFamily="34" charset="0"/>
                <a:ea typeface="Cambria" pitchFamily="34" charset="-122"/>
                <a:cs typeface="Cambria" pitchFamily="34" charset="-120"/>
              </a:rPr>
              <a:t>Assisted</a:t>
            </a:r>
            <a:endParaRPr lang="en-US" sz="1800" dirty="0"/>
          </a:p>
        </p:txBody>
      </p:sp>
      <p:sp>
        <p:nvSpPr>
          <p:cNvPr id="15" name="Text 13"/>
          <p:cNvSpPr/>
          <p:nvPr/>
        </p:nvSpPr>
        <p:spPr>
          <a:xfrm>
            <a:off x="4582058" y="2322576"/>
            <a:ext cx="3027578" cy="274320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20" dirty="0">
                <a:solidFill>
                  <a:srgbClr val="16222E"/>
                </a:solidFill>
                <a:latin typeface="Calibri" pitchFamily="34" charset="0"/>
                <a:ea typeface="Calibri" pitchFamily="34" charset="-122"/>
                <a:cs typeface="Calibri" pitchFamily="34" charset="-120"/>
              </a:rPr>
              <a:t>Model proposes, human disposes</a:t>
            </a:r>
            <a:endParaRPr lang="en-US" sz="1120" dirty="0"/>
          </a:p>
          <a:p>
            <a:pPr marL="342900" indent="-342900">
              <a:lnSpc>
                <a:spcPts val="1500"/>
              </a:lnSpc>
              <a:spcAft>
                <a:spcPts val="800"/>
              </a:spcAft>
              <a:buSzPct val="100000"/>
              <a:buChar char="•"/>
            </a:pPr>
            <a:r>
              <a:rPr lang="en-US" sz="1120" dirty="0">
                <a:solidFill>
                  <a:srgbClr val="16222E"/>
                </a:solidFill>
                <a:latin typeface="Calibri" pitchFamily="34" charset="0"/>
                <a:ea typeface="Calibri" pitchFamily="34" charset="-122"/>
                <a:cs typeface="Calibri" pitchFamily="34" charset="-120"/>
              </a:rPr>
              <a:t>Used for: master-data changes, engineering change proposals, supplier correspondence</a:t>
            </a:r>
            <a:endParaRPr lang="en-US" sz="1120" dirty="0"/>
          </a:p>
          <a:p>
            <a:pPr marL="342900" indent="-342900">
              <a:lnSpc>
                <a:spcPts val="1500"/>
              </a:lnSpc>
              <a:spcAft>
                <a:spcPts val="800"/>
              </a:spcAft>
              <a:buSzPct val="100000"/>
              <a:buChar char="•"/>
            </a:pPr>
            <a:r>
              <a:rPr lang="en-US" sz="1120" dirty="0">
                <a:solidFill>
                  <a:srgbClr val="16222E"/>
                </a:solidFill>
                <a:latin typeface="Calibri" pitchFamily="34" charset="0"/>
                <a:ea typeface="Calibri" pitchFamily="34" charset="-122"/>
                <a:cs typeface="Calibri" pitchFamily="34" charset="-120"/>
              </a:rPr>
              <a:t>Guarantee: no state changes without an approval event</a:t>
            </a:r>
            <a:endParaRPr lang="en-US" sz="1120" dirty="0"/>
          </a:p>
          <a:p>
            <a:pPr marL="342900" indent="-342900">
              <a:lnSpc>
                <a:spcPts val="1500"/>
              </a:lnSpc>
              <a:spcAft>
                <a:spcPts val="800"/>
              </a:spcAft>
              <a:buSzPct val="100000"/>
              <a:buChar char="•"/>
            </a:pPr>
            <a:r>
              <a:rPr lang="en-US" sz="1120" dirty="0">
                <a:solidFill>
                  <a:srgbClr val="16222E"/>
                </a:solidFill>
                <a:latin typeface="Calibri" pitchFamily="34" charset="0"/>
                <a:ea typeface="Calibri" pitchFamily="34" charset="-122"/>
                <a:cs typeface="Calibri" pitchFamily="34" charset="-120"/>
              </a:rPr>
              <a:t>Ball example: agent drafts a supplier quality notification for QA sign-off</a:t>
            </a:r>
            <a:endParaRPr lang="en-US" sz="1120" dirty="0"/>
          </a:p>
        </p:txBody>
      </p:sp>
      <p:sp>
        <p:nvSpPr>
          <p:cNvPr id="16" name="Shape 14"/>
          <p:cNvSpPr/>
          <p:nvPr/>
        </p:nvSpPr>
        <p:spPr>
          <a:xfrm>
            <a:off x="8139989" y="1481328"/>
            <a:ext cx="3503066" cy="3749040"/>
          </a:xfrm>
          <a:prstGeom prst="roundRect">
            <a:avLst>
              <a:gd name="adj" fmla="val 2088"/>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17" name="Shape 15"/>
          <p:cNvSpPr/>
          <p:nvPr/>
        </p:nvSpPr>
        <p:spPr>
          <a:xfrm>
            <a:off x="8377733" y="1700784"/>
            <a:ext cx="457200" cy="457200"/>
          </a:xfrm>
          <a:prstGeom prst="ellipse">
            <a:avLst/>
          </a:prstGeom>
          <a:solidFill>
            <a:srgbClr val="00A9E0"/>
          </a:solidFill>
          <a:ln w="12700">
            <a:solidFill>
              <a:srgbClr val="00A9E0"/>
            </a:solidFill>
            <a:prstDash val="solid"/>
          </a:ln>
        </p:spPr>
      </p:sp>
      <p:sp>
        <p:nvSpPr>
          <p:cNvPr id="18" name="Text 16"/>
          <p:cNvSpPr/>
          <p:nvPr/>
        </p:nvSpPr>
        <p:spPr>
          <a:xfrm>
            <a:off x="8377733" y="1700784"/>
            <a:ext cx="457200" cy="457200"/>
          </a:xfrm>
          <a:prstGeom prst="rect">
            <a:avLst/>
          </a:prstGeom>
          <a:noFill/>
          <a:ln/>
        </p:spPr>
        <p:txBody>
          <a:bodyPr wrap="square" lIns="0" tIns="0" rIns="0" bIns="0" rtlCol="0" anchor="ctr"/>
          <a:lstStyle/>
          <a:p>
            <a:pPr marL="0" indent="0" algn="ctr">
              <a:buNone/>
            </a:pPr>
            <a:r>
              <a:rPr lang="en-US" sz="1500" b="1" dirty="0">
                <a:solidFill>
                  <a:srgbClr val="0A2240"/>
                </a:solidFill>
                <a:latin typeface="Calibri" pitchFamily="34" charset="0"/>
                <a:ea typeface="Calibri" pitchFamily="34" charset="-122"/>
                <a:cs typeface="Calibri" pitchFamily="34" charset="-120"/>
              </a:rPr>
              <a:t>G</a:t>
            </a:r>
            <a:endParaRPr lang="en-US" sz="1500" dirty="0"/>
          </a:p>
        </p:txBody>
      </p:sp>
      <p:sp>
        <p:nvSpPr>
          <p:cNvPr id="19" name="Text 17"/>
          <p:cNvSpPr/>
          <p:nvPr/>
        </p:nvSpPr>
        <p:spPr>
          <a:xfrm>
            <a:off x="8944661" y="1700784"/>
            <a:ext cx="2478938" cy="457200"/>
          </a:xfrm>
          <a:prstGeom prst="rect">
            <a:avLst/>
          </a:prstGeom>
          <a:noFill/>
          <a:ln/>
        </p:spPr>
        <p:txBody>
          <a:bodyPr wrap="square" lIns="0" tIns="0" rIns="0" bIns="0" rtlCol="0" anchor="ctr"/>
          <a:lstStyle/>
          <a:p>
            <a:pPr marL="0" indent="0">
              <a:buNone/>
            </a:pPr>
            <a:r>
              <a:rPr lang="en-US" sz="1800" b="1" dirty="0">
                <a:solidFill>
                  <a:srgbClr val="0A2240"/>
                </a:solidFill>
                <a:latin typeface="Cambria" pitchFamily="34" charset="0"/>
                <a:ea typeface="Cambria" pitchFamily="34" charset="-122"/>
                <a:cs typeface="Cambria" pitchFamily="34" charset="-120"/>
              </a:rPr>
              <a:t>Agentic</a:t>
            </a:r>
            <a:endParaRPr lang="en-US" sz="1800" dirty="0"/>
          </a:p>
        </p:txBody>
      </p:sp>
      <p:sp>
        <p:nvSpPr>
          <p:cNvPr id="20" name="Text 18"/>
          <p:cNvSpPr/>
          <p:nvPr/>
        </p:nvSpPr>
        <p:spPr>
          <a:xfrm>
            <a:off x="8377733" y="2322576"/>
            <a:ext cx="3027578" cy="274320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20" dirty="0">
                <a:solidFill>
                  <a:srgbClr val="16222E"/>
                </a:solidFill>
                <a:latin typeface="Calibri" pitchFamily="34" charset="0"/>
                <a:ea typeface="Calibri" pitchFamily="34" charset="-122"/>
                <a:cs typeface="Calibri" pitchFamily="34" charset="-120"/>
              </a:rPr>
              <a:t>Model plans and executes within a bounded tool set</a:t>
            </a:r>
            <a:endParaRPr lang="en-US" sz="1120" dirty="0"/>
          </a:p>
          <a:p>
            <a:pPr marL="342900" indent="-342900">
              <a:lnSpc>
                <a:spcPts val="1500"/>
              </a:lnSpc>
              <a:spcAft>
                <a:spcPts val="800"/>
              </a:spcAft>
              <a:buSzPct val="100000"/>
              <a:buChar char="•"/>
            </a:pPr>
            <a:r>
              <a:rPr lang="en-US" sz="1120" dirty="0">
                <a:solidFill>
                  <a:srgbClr val="16222E"/>
                </a:solidFill>
                <a:latin typeface="Calibri" pitchFamily="34" charset="0"/>
                <a:ea typeface="Calibri" pitchFamily="34" charset="-122"/>
                <a:cs typeface="Calibri" pitchFamily="34" charset="-120"/>
              </a:rPr>
              <a:t>Used for: research, triage, test generation, document synthesis, analysis</a:t>
            </a:r>
            <a:endParaRPr lang="en-US" sz="1120" dirty="0"/>
          </a:p>
          <a:p>
            <a:pPr marL="342900" indent="-342900">
              <a:lnSpc>
                <a:spcPts val="1500"/>
              </a:lnSpc>
              <a:spcAft>
                <a:spcPts val="800"/>
              </a:spcAft>
              <a:buSzPct val="100000"/>
              <a:buChar char="•"/>
            </a:pPr>
            <a:r>
              <a:rPr lang="en-US" sz="1120" dirty="0">
                <a:solidFill>
                  <a:srgbClr val="16222E"/>
                </a:solidFill>
                <a:latin typeface="Calibri" pitchFamily="34" charset="0"/>
                <a:ea typeface="Calibri" pitchFamily="34" charset="-122"/>
                <a:cs typeface="Calibri" pitchFamily="34" charset="-120"/>
              </a:rPr>
              <a:t>Guarantee: reversible actions only, full trace, policy-bounded</a:t>
            </a:r>
            <a:endParaRPr lang="en-US" sz="1120" dirty="0"/>
          </a:p>
          <a:p>
            <a:pPr marL="342900" indent="-342900">
              <a:lnSpc>
                <a:spcPts val="1500"/>
              </a:lnSpc>
              <a:spcAft>
                <a:spcPts val="800"/>
              </a:spcAft>
              <a:buSzPct val="100000"/>
              <a:buChar char="•"/>
            </a:pPr>
            <a:r>
              <a:rPr lang="en-US" sz="1120" dirty="0">
                <a:solidFill>
                  <a:srgbClr val="16222E"/>
                </a:solidFill>
                <a:latin typeface="Calibri" pitchFamily="34" charset="0"/>
                <a:ea typeface="Calibri" pitchFamily="34" charset="-122"/>
                <a:cs typeface="Calibri" pitchFamily="34" charset="-120"/>
              </a:rPr>
              <a:t>Ball example: agent builds and runs a regression suite against a release candidate</a:t>
            </a:r>
            <a:endParaRPr lang="en-US" sz="1120" dirty="0"/>
          </a:p>
        </p:txBody>
      </p:sp>
      <p:sp>
        <p:nvSpPr>
          <p:cNvPr id="21" name="Shape 19"/>
          <p:cNvSpPr/>
          <p:nvPr/>
        </p:nvSpPr>
        <p:spPr>
          <a:xfrm>
            <a:off x="548640" y="5449824"/>
            <a:ext cx="11094415" cy="786384"/>
          </a:xfrm>
          <a:prstGeom prst="roundRect">
            <a:avLst>
              <a:gd name="adj" fmla="val 9302"/>
            </a:avLst>
          </a:prstGeom>
          <a:solidFill>
            <a:srgbClr val="0A2240"/>
          </a:solidFill>
          <a:ln w="12700">
            <a:solidFill>
              <a:srgbClr val="333333"/>
            </a:solidFill>
            <a:prstDash val="solid"/>
          </a:ln>
        </p:spPr>
      </p:sp>
      <p:sp>
        <p:nvSpPr>
          <p:cNvPr id="22" name="Text 20"/>
          <p:cNvSpPr/>
          <p:nvPr/>
        </p:nvSpPr>
        <p:spPr>
          <a:xfrm>
            <a:off x="859536" y="5449824"/>
            <a:ext cx="10472623" cy="786384"/>
          </a:xfrm>
          <a:prstGeom prst="rect">
            <a:avLst/>
          </a:prstGeom>
          <a:noFill/>
          <a:ln/>
        </p:spPr>
        <p:txBody>
          <a:bodyPr wrap="square" lIns="0" tIns="0" rIns="0" bIns="0" rtlCol="0" anchor="ctr"/>
          <a:lstStyle/>
          <a:p>
            <a:pPr marL="0" indent="0">
              <a:lnSpc>
                <a:spcPts val="1600"/>
              </a:lnSpc>
              <a:buNone/>
            </a:pPr>
            <a:r>
              <a:rPr lang="en-US" sz="1200" b="1" dirty="0">
                <a:solidFill>
                  <a:srgbClr val="FFFFFF"/>
                </a:solidFill>
                <a:latin typeface="Calibri" pitchFamily="34" charset="0"/>
                <a:ea typeface="Calibri" pitchFamily="34" charset="-122"/>
                <a:cs typeface="Calibri" pitchFamily="34" charset="-120"/>
              </a:rPr>
              <a:t>The hand-off rule: an agent may plan freely, but any action that writes to a system of record must execute through a deterministic, permissioned, logged path — an orchestration or an API with its own controls. The agent never becomes the control.</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22680" y="68580"/>
            <a:ext cx="9144000" cy="243840"/>
          </a:xfrm>
          <a:prstGeom prst="rect">
            <a:avLst/>
          </a:prstGeom>
          <a:noFill/>
          <a:ln/>
        </p:spPr>
        <p:txBody>
          <a:bodyPr wrap="square" lIns="0" tIns="0" rIns="0" bIns="0" rtlCol="0" anchor="ctr"/>
          <a:lstStyle/>
          <a:p>
            <a:r>
              <a:rPr lang="en-US" sz="1583" b="1" kern="0" spc="-17" dirty="0">
                <a:solidFill>
                  <a:srgbClr val="16294A"/>
                </a:solidFill>
                <a:latin typeface="Arial" pitchFamily="34" charset="0"/>
                <a:ea typeface="Arial" pitchFamily="34" charset="-122"/>
                <a:cs typeface="Arial" pitchFamily="34" charset="-120"/>
              </a:rPr>
              <a:t>BALL CORPORATION — ENTERPRISE AGENTIC AI ARCHITECTURE ON AZURE (2026)</a:t>
            </a:r>
            <a:endParaRPr lang="en-US" sz="1583" dirty="0"/>
          </a:p>
        </p:txBody>
      </p:sp>
      <p:sp>
        <p:nvSpPr>
          <p:cNvPr id="3" name="Text 1"/>
          <p:cNvSpPr/>
          <p:nvPr/>
        </p:nvSpPr>
        <p:spPr>
          <a:xfrm>
            <a:off x="1137920" y="335280"/>
            <a:ext cx="9144000" cy="152400"/>
          </a:xfrm>
          <a:prstGeom prst="rect">
            <a:avLst/>
          </a:prstGeom>
          <a:noFill/>
          <a:ln/>
        </p:spPr>
        <p:txBody>
          <a:bodyPr wrap="square" lIns="0" tIns="0" rIns="0" bIns="0" rtlCol="0" anchor="ctr"/>
          <a:lstStyle/>
          <a:p>
            <a:r>
              <a:rPr lang="en-US" sz="750" b="1" dirty="0">
                <a:solidFill>
                  <a:srgbClr val="2A6FB5"/>
                </a:solidFill>
                <a:latin typeface="Arial" pitchFamily="34" charset="0"/>
                <a:ea typeface="Arial" pitchFamily="34" charset="-122"/>
                <a:cs typeface="Arial" pitchFamily="34" charset="-120"/>
              </a:rPr>
              <a:t>Production-Ready  •  Modular  •  Secure  •  Observable  •  Azure-Native  •  Foundry-First  •  Cost Governed  •  Plant to Cloud</a:t>
            </a:r>
            <a:endParaRPr lang="en-US" sz="750" dirty="0"/>
          </a:p>
        </p:txBody>
      </p:sp>
      <p:sp>
        <p:nvSpPr>
          <p:cNvPr id="4" name="Shape 2"/>
          <p:cNvSpPr/>
          <p:nvPr/>
        </p:nvSpPr>
        <p:spPr>
          <a:xfrm>
            <a:off x="1122680" y="579120"/>
            <a:ext cx="1249680" cy="1402080"/>
          </a:xfrm>
          <a:prstGeom prst="roundRect">
            <a:avLst>
              <a:gd name="adj" fmla="val 2744"/>
            </a:avLst>
          </a:prstGeom>
          <a:solidFill>
            <a:srgbClr val="FFFFFF"/>
          </a:solidFill>
          <a:ln w="9525">
            <a:solidFill>
              <a:srgbClr val="C7D4E8"/>
            </a:solidFill>
            <a:prstDash val="solid"/>
          </a:ln>
        </p:spPr>
      </p:sp>
      <p:sp>
        <p:nvSpPr>
          <p:cNvPr id="5" name="Text 3"/>
          <p:cNvSpPr/>
          <p:nvPr/>
        </p:nvSpPr>
        <p:spPr>
          <a:xfrm>
            <a:off x="1122680" y="624840"/>
            <a:ext cx="1249680" cy="114300"/>
          </a:xfrm>
          <a:prstGeom prst="rect">
            <a:avLst/>
          </a:prstGeom>
          <a:noFill/>
          <a:ln/>
        </p:spPr>
        <p:txBody>
          <a:bodyPr wrap="square" lIns="0" tIns="0" rIns="0" bIns="0" rtlCol="0" anchor="ctr"/>
          <a:lstStyle/>
          <a:p>
            <a:pPr algn="ctr"/>
            <a:r>
              <a:rPr lang="en-US" sz="583" b="1" kern="0" spc="8" dirty="0">
                <a:solidFill>
                  <a:srgbClr val="1B3A6B"/>
                </a:solidFill>
                <a:latin typeface="Arial" pitchFamily="34" charset="0"/>
                <a:ea typeface="Arial" pitchFamily="34" charset="-122"/>
                <a:cs typeface="Arial" pitchFamily="34" charset="-120"/>
              </a:rPr>
              <a:t>1. CLIENT LAYER</a:t>
            </a:r>
            <a:endParaRPr lang="en-US" sz="583" dirty="0"/>
          </a:p>
        </p:txBody>
      </p:sp>
      <p:pic>
        <p:nvPicPr>
          <p:cNvPr id="6" name="Image 0" descr="/sessions/zealous-intelligent-mayer/mnt/outputs/icons7/web.png"/>
          <p:cNvPicPr>
            <a:picLocks noChangeAspect="1"/>
          </p:cNvPicPr>
          <p:nvPr/>
        </p:nvPicPr>
        <p:blipFill>
          <a:blip r:embed="rId3"/>
          <a:stretch>
            <a:fillRect/>
          </a:stretch>
        </p:blipFill>
        <p:spPr>
          <a:xfrm>
            <a:off x="1198880" y="807720"/>
            <a:ext cx="114300" cy="114300"/>
          </a:xfrm>
          <a:prstGeom prst="rect">
            <a:avLst/>
          </a:prstGeom>
        </p:spPr>
      </p:pic>
      <p:sp>
        <p:nvSpPr>
          <p:cNvPr id="7" name="Text 4"/>
          <p:cNvSpPr/>
          <p:nvPr/>
        </p:nvSpPr>
        <p:spPr>
          <a:xfrm>
            <a:off x="1351280" y="792480"/>
            <a:ext cx="960120" cy="83820"/>
          </a:xfrm>
          <a:prstGeom prst="rect">
            <a:avLst/>
          </a:prstGeom>
          <a:noFill/>
          <a:ln/>
        </p:spPr>
        <p:txBody>
          <a:bodyPr wrap="square" lIns="0" tIns="0" rIns="0" bIns="0" rtlCol="0" anchor="ctr"/>
          <a:lstStyle/>
          <a:p>
            <a:r>
              <a:rPr lang="en-US" sz="450" b="1" dirty="0">
                <a:solidFill>
                  <a:srgbClr val="2D3748"/>
                </a:solidFill>
                <a:latin typeface="Arial" pitchFamily="34" charset="0"/>
                <a:ea typeface="Arial" pitchFamily="34" charset="-122"/>
                <a:cs typeface="Arial" pitchFamily="34" charset="-120"/>
              </a:rPr>
              <a:t>Plant Ops Web App</a:t>
            </a:r>
            <a:endParaRPr lang="en-US" sz="450" dirty="0"/>
          </a:p>
        </p:txBody>
      </p:sp>
      <p:sp>
        <p:nvSpPr>
          <p:cNvPr id="8" name="Text 5"/>
          <p:cNvSpPr/>
          <p:nvPr/>
        </p:nvSpPr>
        <p:spPr>
          <a:xfrm>
            <a:off x="1351280" y="872490"/>
            <a:ext cx="960120" cy="76200"/>
          </a:xfrm>
          <a:prstGeom prst="rect">
            <a:avLst/>
          </a:prstGeom>
          <a:noFill/>
          <a:ln/>
        </p:spPr>
        <p:txBody>
          <a:bodyPr wrap="square" lIns="0" tIns="0" rIns="0" bIns="0" rtlCol="0" anchor="ctr"/>
          <a:lstStyle/>
          <a:p>
            <a:r>
              <a:rPr lang="en-US" sz="367" dirty="0">
                <a:solidFill>
                  <a:srgbClr val="77839A"/>
                </a:solidFill>
                <a:latin typeface="Arial" pitchFamily="34" charset="0"/>
                <a:ea typeface="Arial" pitchFamily="34" charset="-122"/>
                <a:cs typeface="Arial" pitchFamily="34" charset="-120"/>
              </a:rPr>
              <a:t>(React / Next.js)</a:t>
            </a:r>
            <a:endParaRPr lang="en-US" sz="367" dirty="0"/>
          </a:p>
        </p:txBody>
      </p:sp>
      <p:pic>
        <p:nvPicPr>
          <p:cNvPr id="9" name="Image 1" descr="/sessions/zealous-intelligent-mayer/mnt/outputs/icons7/mobile.png"/>
          <p:cNvPicPr>
            <a:picLocks noChangeAspect="1"/>
          </p:cNvPicPr>
          <p:nvPr/>
        </p:nvPicPr>
        <p:blipFill>
          <a:blip r:embed="rId4"/>
          <a:stretch>
            <a:fillRect/>
          </a:stretch>
        </p:blipFill>
        <p:spPr>
          <a:xfrm>
            <a:off x="1198880" y="1036320"/>
            <a:ext cx="114300" cy="114300"/>
          </a:xfrm>
          <a:prstGeom prst="rect">
            <a:avLst/>
          </a:prstGeom>
        </p:spPr>
      </p:pic>
      <p:sp>
        <p:nvSpPr>
          <p:cNvPr id="10" name="Text 6"/>
          <p:cNvSpPr/>
          <p:nvPr/>
        </p:nvSpPr>
        <p:spPr>
          <a:xfrm>
            <a:off x="1351280" y="1021080"/>
            <a:ext cx="960120" cy="83820"/>
          </a:xfrm>
          <a:prstGeom prst="rect">
            <a:avLst/>
          </a:prstGeom>
          <a:noFill/>
          <a:ln/>
        </p:spPr>
        <p:txBody>
          <a:bodyPr wrap="square" lIns="0" tIns="0" rIns="0" bIns="0" rtlCol="0" anchor="ctr"/>
          <a:lstStyle/>
          <a:p>
            <a:r>
              <a:rPr lang="en-US" sz="450" b="1" dirty="0">
                <a:solidFill>
                  <a:srgbClr val="2D3748"/>
                </a:solidFill>
                <a:latin typeface="Arial" pitchFamily="34" charset="0"/>
                <a:ea typeface="Arial" pitchFamily="34" charset="-122"/>
                <a:cs typeface="Arial" pitchFamily="34" charset="-120"/>
              </a:rPr>
              <a:t>Mobile Apps</a:t>
            </a:r>
            <a:endParaRPr lang="en-US" sz="450" dirty="0"/>
          </a:p>
        </p:txBody>
      </p:sp>
      <p:sp>
        <p:nvSpPr>
          <p:cNvPr id="11" name="Text 7"/>
          <p:cNvSpPr/>
          <p:nvPr/>
        </p:nvSpPr>
        <p:spPr>
          <a:xfrm>
            <a:off x="1351280" y="1101090"/>
            <a:ext cx="960120" cy="76200"/>
          </a:xfrm>
          <a:prstGeom prst="rect">
            <a:avLst/>
          </a:prstGeom>
          <a:noFill/>
          <a:ln/>
        </p:spPr>
        <p:txBody>
          <a:bodyPr wrap="square" lIns="0" tIns="0" rIns="0" bIns="0" rtlCol="0" anchor="ctr"/>
          <a:lstStyle/>
          <a:p>
            <a:r>
              <a:rPr lang="en-US" sz="367" dirty="0">
                <a:solidFill>
                  <a:srgbClr val="77839A"/>
                </a:solidFill>
                <a:latin typeface="Arial" pitchFamily="34" charset="0"/>
                <a:ea typeface="Arial" pitchFamily="34" charset="-122"/>
                <a:cs typeface="Arial" pitchFamily="34" charset="-120"/>
              </a:rPr>
              <a:t>(iOS, Android — line ops)</a:t>
            </a:r>
            <a:endParaRPr lang="en-US" sz="367" dirty="0"/>
          </a:p>
        </p:txBody>
      </p:sp>
      <p:pic>
        <p:nvPicPr>
          <p:cNvPr id="12" name="Image 2" descr="/sessions/zealous-intelligent-mayer/mnt/outputs/icons7/desktop.png"/>
          <p:cNvPicPr>
            <a:picLocks noChangeAspect="1"/>
          </p:cNvPicPr>
          <p:nvPr/>
        </p:nvPicPr>
        <p:blipFill>
          <a:blip r:embed="rId5"/>
          <a:stretch>
            <a:fillRect/>
          </a:stretch>
        </p:blipFill>
        <p:spPr>
          <a:xfrm>
            <a:off x="1198880" y="1264920"/>
            <a:ext cx="114300" cy="114300"/>
          </a:xfrm>
          <a:prstGeom prst="rect">
            <a:avLst/>
          </a:prstGeom>
        </p:spPr>
      </p:pic>
      <p:sp>
        <p:nvSpPr>
          <p:cNvPr id="13" name="Text 8"/>
          <p:cNvSpPr/>
          <p:nvPr/>
        </p:nvSpPr>
        <p:spPr>
          <a:xfrm>
            <a:off x="1351280" y="1249680"/>
            <a:ext cx="960120" cy="83820"/>
          </a:xfrm>
          <a:prstGeom prst="rect">
            <a:avLst/>
          </a:prstGeom>
          <a:noFill/>
          <a:ln/>
        </p:spPr>
        <p:txBody>
          <a:bodyPr wrap="square" lIns="0" tIns="0" rIns="0" bIns="0" rtlCol="0" anchor="ctr"/>
          <a:lstStyle/>
          <a:p>
            <a:r>
              <a:rPr lang="en-US" sz="450" b="1" dirty="0">
                <a:solidFill>
                  <a:srgbClr val="2D3748"/>
                </a:solidFill>
                <a:latin typeface="Arial" pitchFamily="34" charset="0"/>
                <a:ea typeface="Arial" pitchFamily="34" charset="-122"/>
                <a:cs typeface="Arial" pitchFamily="34" charset="-120"/>
              </a:rPr>
              <a:t>Teams App / Copilot</a:t>
            </a:r>
            <a:endParaRPr lang="en-US" sz="450" dirty="0"/>
          </a:p>
        </p:txBody>
      </p:sp>
      <p:sp>
        <p:nvSpPr>
          <p:cNvPr id="14" name="Text 9"/>
          <p:cNvSpPr/>
          <p:nvPr/>
        </p:nvSpPr>
        <p:spPr>
          <a:xfrm>
            <a:off x="1351280" y="1329690"/>
            <a:ext cx="960120" cy="76200"/>
          </a:xfrm>
          <a:prstGeom prst="rect">
            <a:avLst/>
          </a:prstGeom>
          <a:noFill/>
          <a:ln/>
        </p:spPr>
        <p:txBody>
          <a:bodyPr wrap="square" lIns="0" tIns="0" rIns="0" bIns="0" rtlCol="0" anchor="ctr"/>
          <a:lstStyle/>
          <a:p>
            <a:r>
              <a:rPr lang="en-US" sz="367" dirty="0">
                <a:solidFill>
                  <a:srgbClr val="77839A"/>
                </a:solidFill>
                <a:latin typeface="Arial" pitchFamily="34" charset="0"/>
                <a:ea typeface="Arial" pitchFamily="34" charset="-122"/>
                <a:cs typeface="Arial" pitchFamily="34" charset="-120"/>
              </a:rPr>
              <a:t>(Microsoft 365)</a:t>
            </a:r>
            <a:endParaRPr lang="en-US" sz="367" dirty="0"/>
          </a:p>
        </p:txBody>
      </p:sp>
      <p:pic>
        <p:nvPicPr>
          <p:cNvPr id="15" name="Image 3" descr="/sessions/zealous-intelligent-mayer/mnt/outputs/icons7/cli.png"/>
          <p:cNvPicPr>
            <a:picLocks noChangeAspect="1"/>
          </p:cNvPicPr>
          <p:nvPr/>
        </p:nvPicPr>
        <p:blipFill>
          <a:blip r:embed="rId6"/>
          <a:stretch>
            <a:fillRect/>
          </a:stretch>
        </p:blipFill>
        <p:spPr>
          <a:xfrm>
            <a:off x="1198880" y="1493520"/>
            <a:ext cx="114300" cy="114300"/>
          </a:xfrm>
          <a:prstGeom prst="rect">
            <a:avLst/>
          </a:prstGeom>
        </p:spPr>
      </p:pic>
      <p:sp>
        <p:nvSpPr>
          <p:cNvPr id="16" name="Text 10"/>
          <p:cNvSpPr/>
          <p:nvPr/>
        </p:nvSpPr>
        <p:spPr>
          <a:xfrm>
            <a:off x="1351280" y="1478280"/>
            <a:ext cx="960120" cy="83820"/>
          </a:xfrm>
          <a:prstGeom prst="rect">
            <a:avLst/>
          </a:prstGeom>
          <a:noFill/>
          <a:ln/>
        </p:spPr>
        <p:txBody>
          <a:bodyPr wrap="square" lIns="0" tIns="0" rIns="0" bIns="0" rtlCol="0" anchor="ctr"/>
          <a:lstStyle/>
          <a:p>
            <a:r>
              <a:rPr lang="en-US" sz="450" b="1" dirty="0">
                <a:solidFill>
                  <a:srgbClr val="2D3748"/>
                </a:solidFill>
                <a:latin typeface="Arial" pitchFamily="34" charset="0"/>
                <a:ea typeface="Arial" pitchFamily="34" charset="-122"/>
                <a:cs typeface="Arial" pitchFamily="34" charset="-120"/>
              </a:rPr>
              <a:t>CLI / Terminal</a:t>
            </a:r>
            <a:endParaRPr lang="en-US" sz="450" dirty="0"/>
          </a:p>
        </p:txBody>
      </p:sp>
      <p:sp>
        <p:nvSpPr>
          <p:cNvPr id="17" name="Text 11"/>
          <p:cNvSpPr/>
          <p:nvPr/>
        </p:nvSpPr>
        <p:spPr>
          <a:xfrm>
            <a:off x="1351280" y="1558290"/>
            <a:ext cx="960120" cy="76200"/>
          </a:xfrm>
          <a:prstGeom prst="rect">
            <a:avLst/>
          </a:prstGeom>
          <a:noFill/>
          <a:ln/>
        </p:spPr>
        <p:txBody>
          <a:bodyPr wrap="square" lIns="0" tIns="0" rIns="0" bIns="0" rtlCol="0" anchor="ctr"/>
          <a:lstStyle/>
          <a:p>
            <a:r>
              <a:rPr lang="en-US" sz="367" dirty="0">
                <a:solidFill>
                  <a:srgbClr val="77839A"/>
                </a:solidFill>
                <a:latin typeface="Arial" pitchFamily="34" charset="0"/>
                <a:ea typeface="Arial" pitchFamily="34" charset="-122"/>
                <a:cs typeface="Arial" pitchFamily="34" charset="-120"/>
              </a:rPr>
              <a:t>(Engineering power users)</a:t>
            </a:r>
            <a:endParaRPr lang="en-US" sz="367" dirty="0"/>
          </a:p>
        </p:txBody>
      </p:sp>
      <p:pic>
        <p:nvPicPr>
          <p:cNvPr id="18" name="Image 4" descr="/sessions/zealous-intelligent-mayer/mnt/outputs/icons7/api.png"/>
          <p:cNvPicPr>
            <a:picLocks noChangeAspect="1"/>
          </p:cNvPicPr>
          <p:nvPr/>
        </p:nvPicPr>
        <p:blipFill>
          <a:blip r:embed="rId7"/>
          <a:stretch>
            <a:fillRect/>
          </a:stretch>
        </p:blipFill>
        <p:spPr>
          <a:xfrm>
            <a:off x="1198880" y="1722120"/>
            <a:ext cx="114300" cy="114300"/>
          </a:xfrm>
          <a:prstGeom prst="rect">
            <a:avLst/>
          </a:prstGeom>
        </p:spPr>
      </p:pic>
      <p:sp>
        <p:nvSpPr>
          <p:cNvPr id="19" name="Text 12"/>
          <p:cNvSpPr/>
          <p:nvPr/>
        </p:nvSpPr>
        <p:spPr>
          <a:xfrm>
            <a:off x="1351280" y="1706880"/>
            <a:ext cx="960120" cy="83820"/>
          </a:xfrm>
          <a:prstGeom prst="rect">
            <a:avLst/>
          </a:prstGeom>
          <a:noFill/>
          <a:ln/>
        </p:spPr>
        <p:txBody>
          <a:bodyPr wrap="square" lIns="0" tIns="0" rIns="0" bIns="0" rtlCol="0" anchor="ctr"/>
          <a:lstStyle/>
          <a:p>
            <a:r>
              <a:rPr lang="en-US" sz="450" b="1" dirty="0">
                <a:solidFill>
                  <a:srgbClr val="2D3748"/>
                </a:solidFill>
                <a:latin typeface="Arial" pitchFamily="34" charset="0"/>
                <a:ea typeface="Arial" pitchFamily="34" charset="-122"/>
                <a:cs typeface="Arial" pitchFamily="34" charset="-120"/>
              </a:rPr>
              <a:t>Partner APIs</a:t>
            </a:r>
            <a:endParaRPr lang="en-US" sz="450" dirty="0"/>
          </a:p>
        </p:txBody>
      </p:sp>
      <p:sp>
        <p:nvSpPr>
          <p:cNvPr id="20" name="Text 13"/>
          <p:cNvSpPr/>
          <p:nvPr/>
        </p:nvSpPr>
        <p:spPr>
          <a:xfrm>
            <a:off x="1351280" y="1786890"/>
            <a:ext cx="960120" cy="76200"/>
          </a:xfrm>
          <a:prstGeom prst="rect">
            <a:avLst/>
          </a:prstGeom>
          <a:noFill/>
          <a:ln/>
        </p:spPr>
        <p:txBody>
          <a:bodyPr wrap="square" lIns="0" tIns="0" rIns="0" bIns="0" rtlCol="0" anchor="ctr"/>
          <a:lstStyle/>
          <a:p>
            <a:r>
              <a:rPr lang="en-US" sz="367" dirty="0">
                <a:solidFill>
                  <a:srgbClr val="77839A"/>
                </a:solidFill>
                <a:latin typeface="Arial" pitchFamily="34" charset="0"/>
                <a:ea typeface="Arial" pitchFamily="34" charset="-122"/>
                <a:cs typeface="Arial" pitchFamily="34" charset="-120"/>
              </a:rPr>
              <a:t>(Suppliers, co-packers)</a:t>
            </a:r>
            <a:endParaRPr lang="en-US" sz="367" dirty="0"/>
          </a:p>
        </p:txBody>
      </p:sp>
      <p:sp>
        <p:nvSpPr>
          <p:cNvPr id="21" name="Shape 14"/>
          <p:cNvSpPr/>
          <p:nvPr/>
        </p:nvSpPr>
        <p:spPr>
          <a:xfrm>
            <a:off x="2616200" y="579120"/>
            <a:ext cx="1036320" cy="1310640"/>
          </a:xfrm>
          <a:prstGeom prst="roundRect">
            <a:avLst>
              <a:gd name="adj" fmla="val 3309"/>
            </a:avLst>
          </a:prstGeom>
          <a:solidFill>
            <a:srgbClr val="FFFFFF"/>
          </a:solidFill>
          <a:ln w="9525">
            <a:solidFill>
              <a:srgbClr val="C7D4E8"/>
            </a:solidFill>
            <a:prstDash val="solid"/>
          </a:ln>
        </p:spPr>
      </p:sp>
      <p:sp>
        <p:nvSpPr>
          <p:cNvPr id="22" name="Text 15"/>
          <p:cNvSpPr/>
          <p:nvPr/>
        </p:nvSpPr>
        <p:spPr>
          <a:xfrm>
            <a:off x="2616200" y="624840"/>
            <a:ext cx="1036320" cy="114300"/>
          </a:xfrm>
          <a:prstGeom prst="rect">
            <a:avLst/>
          </a:prstGeom>
          <a:noFill/>
          <a:ln/>
        </p:spPr>
        <p:txBody>
          <a:bodyPr wrap="square" lIns="0" tIns="0" rIns="0" bIns="0" rtlCol="0" anchor="ctr"/>
          <a:lstStyle/>
          <a:p>
            <a:pPr algn="ctr"/>
            <a:r>
              <a:rPr lang="en-US" sz="583" b="1" kern="0" spc="8" dirty="0">
                <a:solidFill>
                  <a:srgbClr val="1B3A6B"/>
                </a:solidFill>
                <a:latin typeface="Arial" pitchFamily="34" charset="0"/>
                <a:ea typeface="Arial" pitchFamily="34" charset="-122"/>
                <a:cs typeface="Arial" pitchFamily="34" charset="-120"/>
              </a:rPr>
              <a:t>2. API GATEWAY</a:t>
            </a:r>
            <a:endParaRPr lang="en-US" sz="583" dirty="0"/>
          </a:p>
        </p:txBody>
      </p:sp>
      <p:sp>
        <p:nvSpPr>
          <p:cNvPr id="23" name="Shape 16"/>
          <p:cNvSpPr/>
          <p:nvPr/>
        </p:nvSpPr>
        <p:spPr>
          <a:xfrm>
            <a:off x="2692400" y="792480"/>
            <a:ext cx="883920" cy="152400"/>
          </a:xfrm>
          <a:prstGeom prst="roundRect">
            <a:avLst>
              <a:gd name="adj" fmla="val 15000"/>
            </a:avLst>
          </a:prstGeom>
          <a:solidFill>
            <a:srgbClr val="F7FAFD"/>
          </a:solidFill>
          <a:ln w="9525">
            <a:solidFill>
              <a:srgbClr val="C7D4E8"/>
            </a:solidFill>
            <a:prstDash val="solid"/>
          </a:ln>
        </p:spPr>
      </p:sp>
      <p:sp>
        <p:nvSpPr>
          <p:cNvPr id="24" name="Text 17"/>
          <p:cNvSpPr/>
          <p:nvPr/>
        </p:nvSpPr>
        <p:spPr>
          <a:xfrm>
            <a:off x="2722880" y="792480"/>
            <a:ext cx="822960" cy="15240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Route Management</a:t>
            </a:r>
            <a:endParaRPr lang="en-US" sz="433" dirty="0"/>
          </a:p>
        </p:txBody>
      </p:sp>
      <p:sp>
        <p:nvSpPr>
          <p:cNvPr id="25" name="Shape 18"/>
          <p:cNvSpPr/>
          <p:nvPr/>
        </p:nvSpPr>
        <p:spPr>
          <a:xfrm>
            <a:off x="2692400" y="971550"/>
            <a:ext cx="883920" cy="152400"/>
          </a:xfrm>
          <a:prstGeom prst="roundRect">
            <a:avLst>
              <a:gd name="adj" fmla="val 15000"/>
            </a:avLst>
          </a:prstGeom>
          <a:solidFill>
            <a:srgbClr val="F7FAFD"/>
          </a:solidFill>
          <a:ln w="9525">
            <a:solidFill>
              <a:srgbClr val="C7D4E8"/>
            </a:solidFill>
            <a:prstDash val="solid"/>
          </a:ln>
        </p:spPr>
      </p:sp>
      <p:sp>
        <p:nvSpPr>
          <p:cNvPr id="26" name="Text 19"/>
          <p:cNvSpPr/>
          <p:nvPr/>
        </p:nvSpPr>
        <p:spPr>
          <a:xfrm>
            <a:off x="2722880" y="971550"/>
            <a:ext cx="822960" cy="15240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Rate Limiting</a:t>
            </a:r>
            <a:endParaRPr lang="en-US" sz="433" dirty="0"/>
          </a:p>
        </p:txBody>
      </p:sp>
      <p:sp>
        <p:nvSpPr>
          <p:cNvPr id="27" name="Shape 20"/>
          <p:cNvSpPr/>
          <p:nvPr/>
        </p:nvSpPr>
        <p:spPr>
          <a:xfrm>
            <a:off x="2692400" y="1150620"/>
            <a:ext cx="883920" cy="152400"/>
          </a:xfrm>
          <a:prstGeom prst="roundRect">
            <a:avLst>
              <a:gd name="adj" fmla="val 15000"/>
            </a:avLst>
          </a:prstGeom>
          <a:solidFill>
            <a:srgbClr val="F7FAFD"/>
          </a:solidFill>
          <a:ln w="9525">
            <a:solidFill>
              <a:srgbClr val="C7D4E8"/>
            </a:solidFill>
            <a:prstDash val="solid"/>
          </a:ln>
        </p:spPr>
      </p:sp>
      <p:sp>
        <p:nvSpPr>
          <p:cNvPr id="28" name="Text 21"/>
          <p:cNvSpPr/>
          <p:nvPr/>
        </p:nvSpPr>
        <p:spPr>
          <a:xfrm>
            <a:off x="2722880" y="1150620"/>
            <a:ext cx="822960" cy="15240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Load Balancing</a:t>
            </a:r>
            <a:endParaRPr lang="en-US" sz="433" dirty="0"/>
          </a:p>
        </p:txBody>
      </p:sp>
      <p:sp>
        <p:nvSpPr>
          <p:cNvPr id="29" name="Shape 22"/>
          <p:cNvSpPr/>
          <p:nvPr/>
        </p:nvSpPr>
        <p:spPr>
          <a:xfrm>
            <a:off x="2692400" y="1329690"/>
            <a:ext cx="883920" cy="152400"/>
          </a:xfrm>
          <a:prstGeom prst="roundRect">
            <a:avLst>
              <a:gd name="adj" fmla="val 15000"/>
            </a:avLst>
          </a:prstGeom>
          <a:solidFill>
            <a:srgbClr val="F7FAFD"/>
          </a:solidFill>
          <a:ln w="9525">
            <a:solidFill>
              <a:srgbClr val="C7D4E8"/>
            </a:solidFill>
            <a:prstDash val="solid"/>
          </a:ln>
        </p:spPr>
      </p:sp>
      <p:sp>
        <p:nvSpPr>
          <p:cNvPr id="30" name="Text 23"/>
          <p:cNvSpPr/>
          <p:nvPr/>
        </p:nvSpPr>
        <p:spPr>
          <a:xfrm>
            <a:off x="2722880" y="1329690"/>
            <a:ext cx="822960" cy="15240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API Versioning</a:t>
            </a:r>
            <a:endParaRPr lang="en-US" sz="433" dirty="0"/>
          </a:p>
        </p:txBody>
      </p:sp>
      <p:sp>
        <p:nvSpPr>
          <p:cNvPr id="31" name="Shape 24"/>
          <p:cNvSpPr/>
          <p:nvPr/>
        </p:nvSpPr>
        <p:spPr>
          <a:xfrm>
            <a:off x="2692400" y="1508760"/>
            <a:ext cx="883920" cy="152400"/>
          </a:xfrm>
          <a:prstGeom prst="roundRect">
            <a:avLst>
              <a:gd name="adj" fmla="val 15000"/>
            </a:avLst>
          </a:prstGeom>
          <a:solidFill>
            <a:srgbClr val="F7FAFD"/>
          </a:solidFill>
          <a:ln w="9525">
            <a:solidFill>
              <a:srgbClr val="C7D4E8"/>
            </a:solidFill>
            <a:prstDash val="solid"/>
          </a:ln>
        </p:spPr>
      </p:sp>
      <p:sp>
        <p:nvSpPr>
          <p:cNvPr id="32" name="Text 25"/>
          <p:cNvSpPr/>
          <p:nvPr/>
        </p:nvSpPr>
        <p:spPr>
          <a:xfrm>
            <a:off x="2722880" y="1508760"/>
            <a:ext cx="822960" cy="15240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Request Validation</a:t>
            </a:r>
            <a:endParaRPr lang="en-US" sz="433" dirty="0"/>
          </a:p>
        </p:txBody>
      </p:sp>
      <p:sp>
        <p:nvSpPr>
          <p:cNvPr id="33" name="Shape 26"/>
          <p:cNvSpPr/>
          <p:nvPr/>
        </p:nvSpPr>
        <p:spPr>
          <a:xfrm>
            <a:off x="2692400" y="1687830"/>
            <a:ext cx="883920" cy="152400"/>
          </a:xfrm>
          <a:prstGeom prst="roundRect">
            <a:avLst>
              <a:gd name="adj" fmla="val 15000"/>
            </a:avLst>
          </a:prstGeom>
          <a:solidFill>
            <a:srgbClr val="F7FAFD"/>
          </a:solidFill>
          <a:ln w="9525">
            <a:solidFill>
              <a:srgbClr val="C7D4E8"/>
            </a:solidFill>
            <a:prstDash val="solid"/>
          </a:ln>
        </p:spPr>
      </p:sp>
      <p:sp>
        <p:nvSpPr>
          <p:cNvPr id="34" name="Text 27"/>
          <p:cNvSpPr/>
          <p:nvPr/>
        </p:nvSpPr>
        <p:spPr>
          <a:xfrm>
            <a:off x="2722880" y="1687830"/>
            <a:ext cx="822960" cy="15240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Logging &amp; Monitoring</a:t>
            </a:r>
            <a:endParaRPr lang="en-US" sz="433" dirty="0"/>
          </a:p>
        </p:txBody>
      </p:sp>
      <p:sp>
        <p:nvSpPr>
          <p:cNvPr id="35" name="Text 28"/>
          <p:cNvSpPr/>
          <p:nvPr/>
        </p:nvSpPr>
        <p:spPr>
          <a:xfrm>
            <a:off x="2616200" y="1905000"/>
            <a:ext cx="1036320" cy="83820"/>
          </a:xfrm>
          <a:prstGeom prst="rect">
            <a:avLst/>
          </a:prstGeom>
          <a:noFill/>
          <a:ln/>
        </p:spPr>
        <p:txBody>
          <a:bodyPr wrap="square" lIns="0" tIns="0" rIns="0" bIns="0" rtlCol="0" anchor="ctr"/>
          <a:lstStyle/>
          <a:p>
            <a:pPr algn="ctr"/>
            <a:r>
              <a:rPr lang="en-US" sz="383" i="1" dirty="0">
                <a:solidFill>
                  <a:srgbClr val="77839A"/>
                </a:solidFill>
                <a:latin typeface="Arial" pitchFamily="34" charset="0"/>
                <a:ea typeface="Arial" pitchFamily="34" charset="-122"/>
                <a:cs typeface="Arial" pitchFamily="34" charset="-120"/>
              </a:rPr>
              <a:t>Azure Front Door + API Management</a:t>
            </a:r>
            <a:endParaRPr lang="en-US" sz="383" dirty="0"/>
          </a:p>
        </p:txBody>
      </p:sp>
      <p:sp>
        <p:nvSpPr>
          <p:cNvPr id="36" name="Shape 29"/>
          <p:cNvSpPr/>
          <p:nvPr/>
        </p:nvSpPr>
        <p:spPr>
          <a:xfrm>
            <a:off x="4109720" y="579120"/>
            <a:ext cx="1554480" cy="1402080"/>
          </a:xfrm>
          <a:prstGeom prst="roundRect">
            <a:avLst>
              <a:gd name="adj" fmla="val 2446"/>
            </a:avLst>
          </a:prstGeom>
          <a:solidFill>
            <a:srgbClr val="FFFFFF"/>
          </a:solidFill>
          <a:ln w="9525">
            <a:solidFill>
              <a:srgbClr val="C7D4E8"/>
            </a:solidFill>
            <a:prstDash val="solid"/>
          </a:ln>
        </p:spPr>
      </p:sp>
      <p:sp>
        <p:nvSpPr>
          <p:cNvPr id="37" name="Text 30"/>
          <p:cNvSpPr/>
          <p:nvPr/>
        </p:nvSpPr>
        <p:spPr>
          <a:xfrm>
            <a:off x="4109720" y="624840"/>
            <a:ext cx="1554480" cy="114300"/>
          </a:xfrm>
          <a:prstGeom prst="rect">
            <a:avLst/>
          </a:prstGeom>
          <a:noFill/>
          <a:ln/>
        </p:spPr>
        <p:txBody>
          <a:bodyPr wrap="square" lIns="0" tIns="0" rIns="0" bIns="0" rtlCol="0" anchor="ctr"/>
          <a:lstStyle/>
          <a:p>
            <a:pPr algn="ctr"/>
            <a:r>
              <a:rPr lang="en-US" sz="550" b="1" kern="0" spc="8" dirty="0">
                <a:solidFill>
                  <a:srgbClr val="1B3A6B"/>
                </a:solidFill>
                <a:latin typeface="Arial" pitchFamily="34" charset="0"/>
                <a:ea typeface="Arial" pitchFamily="34" charset="-122"/>
                <a:cs typeface="Arial" pitchFamily="34" charset="-120"/>
              </a:rPr>
              <a:t>3. AUTHENTICATION &amp; AUTHORIZATION</a:t>
            </a:r>
            <a:endParaRPr lang="en-US" sz="550" dirty="0"/>
          </a:p>
        </p:txBody>
      </p:sp>
      <p:sp>
        <p:nvSpPr>
          <p:cNvPr id="38" name="Shape 31"/>
          <p:cNvSpPr/>
          <p:nvPr/>
        </p:nvSpPr>
        <p:spPr>
          <a:xfrm>
            <a:off x="4185920" y="807720"/>
            <a:ext cx="1402080" cy="160020"/>
          </a:xfrm>
          <a:prstGeom prst="roundRect">
            <a:avLst>
              <a:gd name="adj" fmla="val 14286"/>
            </a:avLst>
          </a:prstGeom>
          <a:solidFill>
            <a:srgbClr val="F7FAFD"/>
          </a:solidFill>
          <a:ln w="9525">
            <a:solidFill>
              <a:srgbClr val="C7D4E8"/>
            </a:solidFill>
            <a:prstDash val="solid"/>
          </a:ln>
        </p:spPr>
      </p:sp>
      <p:pic>
        <p:nvPicPr>
          <p:cNvPr id="39" name="Image 5" descr="/sessions/zealous-intelligent-mayer/mnt/outputs/icons7/key.png"/>
          <p:cNvPicPr>
            <a:picLocks noChangeAspect="1"/>
          </p:cNvPicPr>
          <p:nvPr/>
        </p:nvPicPr>
        <p:blipFill>
          <a:blip r:embed="rId8"/>
          <a:stretch>
            <a:fillRect/>
          </a:stretch>
        </p:blipFill>
        <p:spPr>
          <a:xfrm>
            <a:off x="4231640" y="842010"/>
            <a:ext cx="91440" cy="91440"/>
          </a:xfrm>
          <a:prstGeom prst="rect">
            <a:avLst/>
          </a:prstGeom>
        </p:spPr>
      </p:pic>
      <p:sp>
        <p:nvSpPr>
          <p:cNvPr id="40" name="Text 32"/>
          <p:cNvSpPr/>
          <p:nvPr/>
        </p:nvSpPr>
        <p:spPr>
          <a:xfrm>
            <a:off x="4368800" y="807720"/>
            <a:ext cx="1173480" cy="16002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OAuth2 / OIDC</a:t>
            </a:r>
            <a:endParaRPr lang="en-US" sz="433" dirty="0"/>
          </a:p>
        </p:txBody>
      </p:sp>
      <p:sp>
        <p:nvSpPr>
          <p:cNvPr id="41" name="Shape 33"/>
          <p:cNvSpPr/>
          <p:nvPr/>
        </p:nvSpPr>
        <p:spPr>
          <a:xfrm>
            <a:off x="4185920" y="994410"/>
            <a:ext cx="1402080" cy="160020"/>
          </a:xfrm>
          <a:prstGeom prst="roundRect">
            <a:avLst>
              <a:gd name="adj" fmla="val 14286"/>
            </a:avLst>
          </a:prstGeom>
          <a:solidFill>
            <a:srgbClr val="F7FAFD"/>
          </a:solidFill>
          <a:ln w="9525">
            <a:solidFill>
              <a:srgbClr val="C7D4E8"/>
            </a:solidFill>
            <a:prstDash val="solid"/>
          </a:ln>
        </p:spPr>
      </p:sp>
      <p:pic>
        <p:nvPicPr>
          <p:cNvPr id="42" name="Image 6" descr="/sessions/zealous-intelligent-mayer/mnt/outputs/icons7/token.png"/>
          <p:cNvPicPr>
            <a:picLocks noChangeAspect="1"/>
          </p:cNvPicPr>
          <p:nvPr/>
        </p:nvPicPr>
        <p:blipFill>
          <a:blip r:embed="rId9"/>
          <a:stretch>
            <a:fillRect/>
          </a:stretch>
        </p:blipFill>
        <p:spPr>
          <a:xfrm>
            <a:off x="4231640" y="1028700"/>
            <a:ext cx="91440" cy="91440"/>
          </a:xfrm>
          <a:prstGeom prst="rect">
            <a:avLst/>
          </a:prstGeom>
        </p:spPr>
      </p:pic>
      <p:sp>
        <p:nvSpPr>
          <p:cNvPr id="43" name="Text 34"/>
          <p:cNvSpPr/>
          <p:nvPr/>
        </p:nvSpPr>
        <p:spPr>
          <a:xfrm>
            <a:off x="4368800" y="994410"/>
            <a:ext cx="1173480" cy="16002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Token Validation (JWT)</a:t>
            </a:r>
            <a:endParaRPr lang="en-US" sz="433" dirty="0"/>
          </a:p>
        </p:txBody>
      </p:sp>
      <p:sp>
        <p:nvSpPr>
          <p:cNvPr id="44" name="Shape 35"/>
          <p:cNvSpPr/>
          <p:nvPr/>
        </p:nvSpPr>
        <p:spPr>
          <a:xfrm>
            <a:off x="4185920" y="1181100"/>
            <a:ext cx="1402080" cy="160020"/>
          </a:xfrm>
          <a:prstGeom prst="roundRect">
            <a:avLst>
              <a:gd name="adj" fmla="val 14286"/>
            </a:avLst>
          </a:prstGeom>
          <a:solidFill>
            <a:srgbClr val="F7FAFD"/>
          </a:solidFill>
          <a:ln w="9525">
            <a:solidFill>
              <a:srgbClr val="C7D4E8"/>
            </a:solidFill>
            <a:prstDash val="solid"/>
          </a:ln>
        </p:spPr>
      </p:sp>
      <p:pic>
        <p:nvPicPr>
          <p:cNvPr id="45" name="Image 7" descr="/sessions/zealous-intelligent-mayer/mnt/outputs/icons7/rbac.png"/>
          <p:cNvPicPr>
            <a:picLocks noChangeAspect="1"/>
          </p:cNvPicPr>
          <p:nvPr/>
        </p:nvPicPr>
        <p:blipFill>
          <a:blip r:embed="rId10"/>
          <a:stretch>
            <a:fillRect/>
          </a:stretch>
        </p:blipFill>
        <p:spPr>
          <a:xfrm>
            <a:off x="4231640" y="1215390"/>
            <a:ext cx="91440" cy="91440"/>
          </a:xfrm>
          <a:prstGeom prst="rect">
            <a:avLst/>
          </a:prstGeom>
        </p:spPr>
      </p:pic>
      <p:sp>
        <p:nvSpPr>
          <p:cNvPr id="46" name="Text 36"/>
          <p:cNvSpPr/>
          <p:nvPr/>
        </p:nvSpPr>
        <p:spPr>
          <a:xfrm>
            <a:off x="4368800" y="1181100"/>
            <a:ext cx="1173480" cy="16002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RBAC / ABAC</a:t>
            </a:r>
            <a:endParaRPr lang="en-US" sz="433" dirty="0"/>
          </a:p>
        </p:txBody>
      </p:sp>
      <p:sp>
        <p:nvSpPr>
          <p:cNvPr id="47" name="Shape 37"/>
          <p:cNvSpPr/>
          <p:nvPr/>
        </p:nvSpPr>
        <p:spPr>
          <a:xfrm>
            <a:off x="4185920" y="1367790"/>
            <a:ext cx="1402080" cy="160020"/>
          </a:xfrm>
          <a:prstGeom prst="roundRect">
            <a:avLst>
              <a:gd name="adj" fmla="val 14286"/>
            </a:avLst>
          </a:prstGeom>
          <a:solidFill>
            <a:srgbClr val="F7FAFD"/>
          </a:solidFill>
          <a:ln w="9525">
            <a:solidFill>
              <a:srgbClr val="C7D4E8"/>
            </a:solidFill>
            <a:prstDash val="solid"/>
          </a:ln>
        </p:spPr>
      </p:sp>
      <p:pic>
        <p:nvPicPr>
          <p:cNvPr id="48" name="Image 8" descr="/sessions/zealous-intelligent-mayer/mnt/outputs/icons7/session.png"/>
          <p:cNvPicPr>
            <a:picLocks noChangeAspect="1"/>
          </p:cNvPicPr>
          <p:nvPr/>
        </p:nvPicPr>
        <p:blipFill>
          <a:blip r:embed="rId11"/>
          <a:stretch>
            <a:fillRect/>
          </a:stretch>
        </p:blipFill>
        <p:spPr>
          <a:xfrm>
            <a:off x="4231640" y="1402080"/>
            <a:ext cx="91440" cy="91440"/>
          </a:xfrm>
          <a:prstGeom prst="rect">
            <a:avLst/>
          </a:prstGeom>
        </p:spPr>
      </p:pic>
      <p:sp>
        <p:nvSpPr>
          <p:cNvPr id="49" name="Text 38"/>
          <p:cNvSpPr/>
          <p:nvPr/>
        </p:nvSpPr>
        <p:spPr>
          <a:xfrm>
            <a:off x="4368800" y="1367790"/>
            <a:ext cx="1173480" cy="16002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Conditional Access</a:t>
            </a:r>
            <a:endParaRPr lang="en-US" sz="433" dirty="0"/>
          </a:p>
        </p:txBody>
      </p:sp>
      <p:sp>
        <p:nvSpPr>
          <p:cNvPr id="50" name="Shape 39"/>
          <p:cNvSpPr/>
          <p:nvPr/>
        </p:nvSpPr>
        <p:spPr>
          <a:xfrm>
            <a:off x="4185920" y="1554480"/>
            <a:ext cx="1402080" cy="160020"/>
          </a:xfrm>
          <a:prstGeom prst="roundRect">
            <a:avLst>
              <a:gd name="adj" fmla="val 14286"/>
            </a:avLst>
          </a:prstGeom>
          <a:solidFill>
            <a:srgbClr val="F7FAFD"/>
          </a:solidFill>
          <a:ln w="9525">
            <a:solidFill>
              <a:srgbClr val="C7D4E8"/>
            </a:solidFill>
            <a:prstDash val="solid"/>
          </a:ln>
        </p:spPr>
      </p:sp>
      <p:pic>
        <p:nvPicPr>
          <p:cNvPr id="51" name="Image 9" descr="/sessions/zealous-intelligent-mayer/mnt/outputs/icons7/mfa.png"/>
          <p:cNvPicPr>
            <a:picLocks noChangeAspect="1"/>
          </p:cNvPicPr>
          <p:nvPr/>
        </p:nvPicPr>
        <p:blipFill>
          <a:blip r:embed="rId12"/>
          <a:stretch>
            <a:fillRect/>
          </a:stretch>
        </p:blipFill>
        <p:spPr>
          <a:xfrm>
            <a:off x="4231640" y="1588770"/>
            <a:ext cx="91440" cy="91440"/>
          </a:xfrm>
          <a:prstGeom prst="rect">
            <a:avLst/>
          </a:prstGeom>
        </p:spPr>
      </p:pic>
      <p:sp>
        <p:nvSpPr>
          <p:cNvPr id="52" name="Text 40"/>
          <p:cNvSpPr/>
          <p:nvPr/>
        </p:nvSpPr>
        <p:spPr>
          <a:xfrm>
            <a:off x="4368800" y="1554480"/>
            <a:ext cx="1173480" cy="16002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Multi-Factor Auth / PIM</a:t>
            </a:r>
            <a:endParaRPr lang="en-US" sz="433" dirty="0"/>
          </a:p>
        </p:txBody>
      </p:sp>
      <p:sp>
        <p:nvSpPr>
          <p:cNvPr id="53" name="Shape 41"/>
          <p:cNvSpPr/>
          <p:nvPr/>
        </p:nvSpPr>
        <p:spPr>
          <a:xfrm>
            <a:off x="4185920" y="1741170"/>
            <a:ext cx="1402080" cy="160020"/>
          </a:xfrm>
          <a:prstGeom prst="roundRect">
            <a:avLst>
              <a:gd name="adj" fmla="val 14286"/>
            </a:avLst>
          </a:prstGeom>
          <a:solidFill>
            <a:srgbClr val="F7FAFD"/>
          </a:solidFill>
          <a:ln w="9525">
            <a:solidFill>
              <a:srgbClr val="C7D4E8"/>
            </a:solidFill>
            <a:prstDash val="solid"/>
          </a:ln>
        </p:spPr>
      </p:sp>
      <p:pic>
        <p:nvPicPr>
          <p:cNvPr id="54" name="Image 10" descr="/sessions/zealous-intelligent-mayer/mnt/outputs/icons7/perms.png"/>
          <p:cNvPicPr>
            <a:picLocks noChangeAspect="1"/>
          </p:cNvPicPr>
          <p:nvPr/>
        </p:nvPicPr>
        <p:blipFill>
          <a:blip r:embed="rId13"/>
          <a:stretch>
            <a:fillRect/>
          </a:stretch>
        </p:blipFill>
        <p:spPr>
          <a:xfrm>
            <a:off x="4231640" y="1775460"/>
            <a:ext cx="91440" cy="91440"/>
          </a:xfrm>
          <a:prstGeom prst="rect">
            <a:avLst/>
          </a:prstGeom>
        </p:spPr>
      </p:pic>
      <p:sp>
        <p:nvSpPr>
          <p:cNvPr id="55" name="Text 42"/>
          <p:cNvSpPr/>
          <p:nvPr/>
        </p:nvSpPr>
        <p:spPr>
          <a:xfrm>
            <a:off x="4368800" y="1741170"/>
            <a:ext cx="1173480" cy="16002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Fine-Grained Permissions</a:t>
            </a:r>
            <a:endParaRPr lang="en-US" sz="433" dirty="0"/>
          </a:p>
        </p:txBody>
      </p:sp>
      <p:sp>
        <p:nvSpPr>
          <p:cNvPr id="56" name="Text 43"/>
          <p:cNvSpPr/>
          <p:nvPr/>
        </p:nvSpPr>
        <p:spPr>
          <a:xfrm>
            <a:off x="4109720" y="1889760"/>
            <a:ext cx="1554480" cy="83820"/>
          </a:xfrm>
          <a:prstGeom prst="rect">
            <a:avLst/>
          </a:prstGeom>
          <a:noFill/>
          <a:ln/>
        </p:spPr>
        <p:txBody>
          <a:bodyPr wrap="square" lIns="0" tIns="0" rIns="0" bIns="0" rtlCol="0" anchor="ctr"/>
          <a:lstStyle/>
          <a:p>
            <a:pPr algn="ctr"/>
            <a:r>
              <a:rPr lang="en-US" sz="383" i="1" dirty="0">
                <a:solidFill>
                  <a:srgbClr val="77839A"/>
                </a:solidFill>
                <a:latin typeface="Arial" pitchFamily="34" charset="0"/>
                <a:ea typeface="Arial" pitchFamily="34" charset="-122"/>
                <a:cs typeface="Arial" pitchFamily="34" charset="-120"/>
              </a:rPr>
              <a:t>Microsoft Entra ID</a:t>
            </a:r>
            <a:endParaRPr lang="en-US" sz="383" dirty="0"/>
          </a:p>
        </p:txBody>
      </p:sp>
      <p:sp>
        <p:nvSpPr>
          <p:cNvPr id="57" name="Shape 44"/>
          <p:cNvSpPr/>
          <p:nvPr/>
        </p:nvSpPr>
        <p:spPr>
          <a:xfrm>
            <a:off x="5847080" y="579120"/>
            <a:ext cx="1950720" cy="1402080"/>
          </a:xfrm>
          <a:prstGeom prst="roundRect">
            <a:avLst>
              <a:gd name="adj" fmla="val 2446"/>
            </a:avLst>
          </a:prstGeom>
          <a:solidFill>
            <a:srgbClr val="FFFFFF"/>
          </a:solidFill>
          <a:ln w="9525">
            <a:solidFill>
              <a:srgbClr val="C7D4E8"/>
            </a:solidFill>
            <a:prstDash val="solid"/>
          </a:ln>
        </p:spPr>
      </p:sp>
      <p:sp>
        <p:nvSpPr>
          <p:cNvPr id="58" name="Text 45"/>
          <p:cNvSpPr/>
          <p:nvPr/>
        </p:nvSpPr>
        <p:spPr>
          <a:xfrm>
            <a:off x="5847080" y="624840"/>
            <a:ext cx="1950720" cy="114300"/>
          </a:xfrm>
          <a:prstGeom prst="rect">
            <a:avLst/>
          </a:prstGeom>
          <a:noFill/>
          <a:ln/>
        </p:spPr>
        <p:txBody>
          <a:bodyPr wrap="square" lIns="0" tIns="0" rIns="0" bIns="0" rtlCol="0" anchor="ctr"/>
          <a:lstStyle/>
          <a:p>
            <a:pPr algn="ctr"/>
            <a:r>
              <a:rPr lang="en-US" sz="583" b="1" kern="0" spc="8" dirty="0">
                <a:solidFill>
                  <a:srgbClr val="1B3A6B"/>
                </a:solidFill>
                <a:latin typeface="Arial" pitchFamily="34" charset="0"/>
                <a:ea typeface="Arial" pitchFamily="34" charset="-122"/>
                <a:cs typeface="Arial" pitchFamily="34" charset="-120"/>
              </a:rPr>
              <a:t>4. ADMIN &amp; OPERATIONS PANEL</a:t>
            </a:r>
            <a:endParaRPr lang="en-US" sz="583" dirty="0"/>
          </a:p>
        </p:txBody>
      </p:sp>
      <p:pic>
        <p:nvPicPr>
          <p:cNvPr id="59" name="Image 11" descr="/sessions/zealous-intelligent-mayer/mnt/outputs/icons7/users.png"/>
          <p:cNvPicPr>
            <a:picLocks noChangeAspect="1"/>
          </p:cNvPicPr>
          <p:nvPr/>
        </p:nvPicPr>
        <p:blipFill>
          <a:blip r:embed="rId14"/>
          <a:stretch>
            <a:fillRect/>
          </a:stretch>
        </p:blipFill>
        <p:spPr>
          <a:xfrm>
            <a:off x="5938520" y="891540"/>
            <a:ext cx="106680" cy="106680"/>
          </a:xfrm>
          <a:prstGeom prst="rect">
            <a:avLst/>
          </a:prstGeom>
        </p:spPr>
      </p:pic>
      <p:sp>
        <p:nvSpPr>
          <p:cNvPr id="60" name="Text 46"/>
          <p:cNvSpPr/>
          <p:nvPr/>
        </p:nvSpPr>
        <p:spPr>
          <a:xfrm>
            <a:off x="6083300" y="838200"/>
            <a:ext cx="769620" cy="22098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User &amp; Role Management</a:t>
            </a:r>
            <a:endParaRPr lang="en-US" sz="433" dirty="0"/>
          </a:p>
        </p:txBody>
      </p:sp>
      <p:pic>
        <p:nvPicPr>
          <p:cNvPr id="61" name="Image 12" descr="/sessions/zealous-intelligent-mayer/mnt/outputs/icons7/models.png"/>
          <p:cNvPicPr>
            <a:picLocks noChangeAspect="1"/>
          </p:cNvPicPr>
          <p:nvPr/>
        </p:nvPicPr>
        <p:blipFill>
          <a:blip r:embed="rId15"/>
          <a:stretch>
            <a:fillRect/>
          </a:stretch>
        </p:blipFill>
        <p:spPr>
          <a:xfrm>
            <a:off x="5938520" y="1112520"/>
            <a:ext cx="106680" cy="106680"/>
          </a:xfrm>
          <a:prstGeom prst="rect">
            <a:avLst/>
          </a:prstGeom>
        </p:spPr>
      </p:pic>
      <p:sp>
        <p:nvSpPr>
          <p:cNvPr id="62" name="Text 47"/>
          <p:cNvSpPr/>
          <p:nvPr/>
        </p:nvSpPr>
        <p:spPr>
          <a:xfrm>
            <a:off x="6083300" y="1059180"/>
            <a:ext cx="769620" cy="22098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AI Providers &amp; Models</a:t>
            </a:r>
            <a:endParaRPr lang="en-US" sz="433" dirty="0"/>
          </a:p>
        </p:txBody>
      </p:sp>
      <p:pic>
        <p:nvPicPr>
          <p:cNvPr id="63" name="Image 13" descr="/sessions/zealous-intelligent-mayer/mnt/outputs/icons7/registry.png"/>
          <p:cNvPicPr>
            <a:picLocks noChangeAspect="1"/>
          </p:cNvPicPr>
          <p:nvPr/>
        </p:nvPicPr>
        <p:blipFill>
          <a:blip r:embed="rId16"/>
          <a:stretch>
            <a:fillRect/>
          </a:stretch>
        </p:blipFill>
        <p:spPr>
          <a:xfrm>
            <a:off x="5938520" y="1333500"/>
            <a:ext cx="106680" cy="106680"/>
          </a:xfrm>
          <a:prstGeom prst="rect">
            <a:avLst/>
          </a:prstGeom>
        </p:spPr>
      </p:pic>
      <p:sp>
        <p:nvSpPr>
          <p:cNvPr id="64" name="Text 48"/>
          <p:cNvSpPr/>
          <p:nvPr/>
        </p:nvSpPr>
        <p:spPr>
          <a:xfrm>
            <a:off x="6083300" y="1280160"/>
            <a:ext cx="769620" cy="22098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Agent Registry</a:t>
            </a:r>
            <a:endParaRPr lang="en-US" sz="433" dirty="0"/>
          </a:p>
        </p:txBody>
      </p:sp>
      <p:pic>
        <p:nvPicPr>
          <p:cNvPr id="65" name="Image 14" descr="/sessions/zealous-intelligent-mayer/mnt/outputs/icons7/workflow.png"/>
          <p:cNvPicPr>
            <a:picLocks noChangeAspect="1"/>
          </p:cNvPicPr>
          <p:nvPr/>
        </p:nvPicPr>
        <p:blipFill>
          <a:blip r:embed="rId17"/>
          <a:stretch>
            <a:fillRect/>
          </a:stretch>
        </p:blipFill>
        <p:spPr>
          <a:xfrm>
            <a:off x="5938520" y="1554480"/>
            <a:ext cx="106680" cy="106680"/>
          </a:xfrm>
          <a:prstGeom prst="rect">
            <a:avLst/>
          </a:prstGeom>
        </p:spPr>
      </p:pic>
      <p:sp>
        <p:nvSpPr>
          <p:cNvPr id="66" name="Text 49"/>
          <p:cNvSpPr/>
          <p:nvPr/>
        </p:nvSpPr>
        <p:spPr>
          <a:xfrm>
            <a:off x="6083300" y="1501140"/>
            <a:ext cx="769620" cy="22098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Workflows &amp; Templates</a:t>
            </a:r>
            <a:endParaRPr lang="en-US" sz="433" dirty="0"/>
          </a:p>
        </p:txBody>
      </p:sp>
      <p:pic>
        <p:nvPicPr>
          <p:cNvPr id="67" name="Image 15" descr="/sessions/zealous-intelligent-mayer/mnt/outputs/icons7/prompt.png"/>
          <p:cNvPicPr>
            <a:picLocks noChangeAspect="1"/>
          </p:cNvPicPr>
          <p:nvPr/>
        </p:nvPicPr>
        <p:blipFill>
          <a:blip r:embed="rId18"/>
          <a:stretch>
            <a:fillRect/>
          </a:stretch>
        </p:blipFill>
        <p:spPr>
          <a:xfrm>
            <a:off x="5938520" y="1775460"/>
            <a:ext cx="106680" cy="106680"/>
          </a:xfrm>
          <a:prstGeom prst="rect">
            <a:avLst/>
          </a:prstGeom>
        </p:spPr>
      </p:pic>
      <p:sp>
        <p:nvSpPr>
          <p:cNvPr id="68" name="Text 50"/>
          <p:cNvSpPr/>
          <p:nvPr/>
        </p:nvSpPr>
        <p:spPr>
          <a:xfrm>
            <a:off x="6083300" y="1722120"/>
            <a:ext cx="769620" cy="22098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Prompt Management</a:t>
            </a:r>
            <a:endParaRPr lang="en-US" sz="433" dirty="0"/>
          </a:p>
        </p:txBody>
      </p:sp>
      <p:pic>
        <p:nvPicPr>
          <p:cNvPr id="69" name="Image 16" descr="/sessions/zealous-intelligent-mayer/mnt/outputs/icons7/kb.png"/>
          <p:cNvPicPr>
            <a:picLocks noChangeAspect="1"/>
          </p:cNvPicPr>
          <p:nvPr/>
        </p:nvPicPr>
        <p:blipFill>
          <a:blip r:embed="rId19"/>
          <a:stretch>
            <a:fillRect/>
          </a:stretch>
        </p:blipFill>
        <p:spPr>
          <a:xfrm>
            <a:off x="6898640" y="891540"/>
            <a:ext cx="106680" cy="106680"/>
          </a:xfrm>
          <a:prstGeom prst="rect">
            <a:avLst/>
          </a:prstGeom>
        </p:spPr>
      </p:pic>
      <p:sp>
        <p:nvSpPr>
          <p:cNvPr id="70" name="Text 51"/>
          <p:cNvSpPr/>
          <p:nvPr/>
        </p:nvSpPr>
        <p:spPr>
          <a:xfrm>
            <a:off x="7043420" y="838200"/>
            <a:ext cx="693420" cy="22098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Knowledge Bases</a:t>
            </a:r>
            <a:endParaRPr lang="en-US" sz="433" dirty="0"/>
          </a:p>
        </p:txBody>
      </p:sp>
      <p:pic>
        <p:nvPicPr>
          <p:cNvPr id="71" name="Image 17" descr="/sessions/zealous-intelligent-mayer/mnt/outputs/icons7/settings.png"/>
          <p:cNvPicPr>
            <a:picLocks noChangeAspect="1"/>
          </p:cNvPicPr>
          <p:nvPr/>
        </p:nvPicPr>
        <p:blipFill>
          <a:blip r:embed="rId20"/>
          <a:stretch>
            <a:fillRect/>
          </a:stretch>
        </p:blipFill>
        <p:spPr>
          <a:xfrm>
            <a:off x="6898640" y="1112520"/>
            <a:ext cx="106680" cy="106680"/>
          </a:xfrm>
          <a:prstGeom prst="rect">
            <a:avLst/>
          </a:prstGeom>
        </p:spPr>
      </p:pic>
      <p:sp>
        <p:nvSpPr>
          <p:cNvPr id="72" name="Text 52"/>
          <p:cNvSpPr/>
          <p:nvPr/>
        </p:nvSpPr>
        <p:spPr>
          <a:xfrm>
            <a:off x="7043420" y="1059180"/>
            <a:ext cx="693420" cy="22098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System Settings</a:t>
            </a:r>
            <a:endParaRPr lang="en-US" sz="433" dirty="0"/>
          </a:p>
        </p:txBody>
      </p:sp>
      <p:pic>
        <p:nvPicPr>
          <p:cNvPr id="73" name="Image 18" descr="/sessions/zealous-intelligent-mayer/mnt/outputs/icons7/monitor.png"/>
          <p:cNvPicPr>
            <a:picLocks noChangeAspect="1"/>
          </p:cNvPicPr>
          <p:nvPr/>
        </p:nvPicPr>
        <p:blipFill>
          <a:blip r:embed="rId21"/>
          <a:stretch>
            <a:fillRect/>
          </a:stretch>
        </p:blipFill>
        <p:spPr>
          <a:xfrm>
            <a:off x="6898640" y="1333500"/>
            <a:ext cx="106680" cy="106680"/>
          </a:xfrm>
          <a:prstGeom prst="rect">
            <a:avLst/>
          </a:prstGeom>
        </p:spPr>
      </p:pic>
      <p:sp>
        <p:nvSpPr>
          <p:cNvPr id="74" name="Text 53"/>
          <p:cNvSpPr/>
          <p:nvPr/>
        </p:nvSpPr>
        <p:spPr>
          <a:xfrm>
            <a:off x="7043420" y="1280160"/>
            <a:ext cx="693420" cy="22098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Logs &amp; Monitoring</a:t>
            </a:r>
            <a:endParaRPr lang="en-US" sz="433" dirty="0"/>
          </a:p>
        </p:txBody>
      </p:sp>
      <p:pic>
        <p:nvPicPr>
          <p:cNvPr id="75" name="Image 19" descr="/sessions/zealous-intelligent-mayer/mnt/outputs/icons7/billing.png"/>
          <p:cNvPicPr>
            <a:picLocks noChangeAspect="1"/>
          </p:cNvPicPr>
          <p:nvPr/>
        </p:nvPicPr>
        <p:blipFill>
          <a:blip r:embed="rId22"/>
          <a:stretch>
            <a:fillRect/>
          </a:stretch>
        </p:blipFill>
        <p:spPr>
          <a:xfrm>
            <a:off x="6898640" y="1554480"/>
            <a:ext cx="106680" cy="106680"/>
          </a:xfrm>
          <a:prstGeom prst="rect">
            <a:avLst/>
          </a:prstGeom>
        </p:spPr>
      </p:pic>
      <p:sp>
        <p:nvSpPr>
          <p:cNvPr id="76" name="Text 54"/>
          <p:cNvSpPr/>
          <p:nvPr/>
        </p:nvSpPr>
        <p:spPr>
          <a:xfrm>
            <a:off x="7043420" y="1501140"/>
            <a:ext cx="693420" cy="22098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Billing &amp; Usage</a:t>
            </a:r>
            <a:endParaRPr lang="en-US" sz="433" dirty="0"/>
          </a:p>
        </p:txBody>
      </p:sp>
      <p:pic>
        <p:nvPicPr>
          <p:cNvPr id="77" name="Image 20" descr="/sessions/zealous-intelligent-mayer/mnt/outputs/icons7/policy.png"/>
          <p:cNvPicPr>
            <a:picLocks noChangeAspect="1"/>
          </p:cNvPicPr>
          <p:nvPr/>
        </p:nvPicPr>
        <p:blipFill>
          <a:blip r:embed="rId12"/>
          <a:stretch>
            <a:fillRect/>
          </a:stretch>
        </p:blipFill>
        <p:spPr>
          <a:xfrm>
            <a:off x="6898640" y="1775460"/>
            <a:ext cx="106680" cy="106680"/>
          </a:xfrm>
          <a:prstGeom prst="rect">
            <a:avLst/>
          </a:prstGeom>
        </p:spPr>
      </p:pic>
      <p:sp>
        <p:nvSpPr>
          <p:cNvPr id="78" name="Text 55"/>
          <p:cNvSpPr/>
          <p:nvPr/>
        </p:nvSpPr>
        <p:spPr>
          <a:xfrm>
            <a:off x="7043420" y="1722120"/>
            <a:ext cx="693420" cy="220980"/>
          </a:xfrm>
          <a:prstGeom prst="rect">
            <a:avLst/>
          </a:prstGeom>
          <a:noFill/>
          <a:ln/>
        </p:spPr>
        <p:txBody>
          <a:bodyPr wrap="square" lIns="0" tIns="0" rIns="0" bIns="0" rtlCol="0" anchor="ctr"/>
          <a:lstStyle/>
          <a:p>
            <a:r>
              <a:rPr lang="en-US" sz="433" dirty="0">
                <a:solidFill>
                  <a:srgbClr val="2D3748"/>
                </a:solidFill>
                <a:latin typeface="Arial" pitchFamily="34" charset="0"/>
                <a:ea typeface="Arial" pitchFamily="34" charset="-122"/>
                <a:cs typeface="Arial" pitchFamily="34" charset="-120"/>
              </a:rPr>
              <a:t>Security &amp; Policies</a:t>
            </a:r>
            <a:endParaRPr lang="en-US" sz="433" dirty="0"/>
          </a:p>
        </p:txBody>
      </p:sp>
      <p:sp>
        <p:nvSpPr>
          <p:cNvPr id="79" name="Shape 56"/>
          <p:cNvSpPr/>
          <p:nvPr/>
        </p:nvSpPr>
        <p:spPr>
          <a:xfrm>
            <a:off x="7904480" y="579120"/>
            <a:ext cx="2240280" cy="1402080"/>
          </a:xfrm>
          <a:prstGeom prst="roundRect">
            <a:avLst>
              <a:gd name="adj" fmla="val 2446"/>
            </a:avLst>
          </a:prstGeom>
          <a:solidFill>
            <a:srgbClr val="FFFFFF"/>
          </a:solidFill>
          <a:ln w="9525">
            <a:solidFill>
              <a:srgbClr val="C7D4E8"/>
            </a:solidFill>
            <a:prstDash val="solid"/>
          </a:ln>
        </p:spPr>
      </p:sp>
      <p:sp>
        <p:nvSpPr>
          <p:cNvPr id="80" name="Text 57"/>
          <p:cNvSpPr/>
          <p:nvPr/>
        </p:nvSpPr>
        <p:spPr>
          <a:xfrm>
            <a:off x="7904480" y="624840"/>
            <a:ext cx="2240280" cy="114300"/>
          </a:xfrm>
          <a:prstGeom prst="rect">
            <a:avLst/>
          </a:prstGeom>
          <a:noFill/>
          <a:ln/>
        </p:spPr>
        <p:txBody>
          <a:bodyPr wrap="square" lIns="0" tIns="0" rIns="0" bIns="0" rtlCol="0" anchor="ctr"/>
          <a:lstStyle/>
          <a:p>
            <a:pPr algn="ctr"/>
            <a:r>
              <a:rPr lang="en-US" sz="583" b="1" kern="0" spc="8" dirty="0">
                <a:solidFill>
                  <a:srgbClr val="1B3A6B"/>
                </a:solidFill>
                <a:latin typeface="Arial" pitchFamily="34" charset="0"/>
                <a:ea typeface="Arial" pitchFamily="34" charset="-122"/>
                <a:cs typeface="Arial" pitchFamily="34" charset="-120"/>
              </a:rPr>
              <a:t>5. AI GATEWAY (MODEL ROUTER)</a:t>
            </a:r>
            <a:endParaRPr lang="en-US" sz="583" dirty="0"/>
          </a:p>
        </p:txBody>
      </p:sp>
      <p:sp>
        <p:nvSpPr>
          <p:cNvPr id="81" name="Text 58"/>
          <p:cNvSpPr/>
          <p:nvPr/>
        </p:nvSpPr>
        <p:spPr>
          <a:xfrm>
            <a:off x="7904480" y="762000"/>
            <a:ext cx="2240280" cy="83820"/>
          </a:xfrm>
          <a:prstGeom prst="rect">
            <a:avLst/>
          </a:prstGeom>
          <a:noFill/>
          <a:ln/>
        </p:spPr>
        <p:txBody>
          <a:bodyPr wrap="square" lIns="0" tIns="0" rIns="0" bIns="0" rtlCol="0" anchor="ctr"/>
          <a:lstStyle/>
          <a:p>
            <a:pPr algn="ctr"/>
            <a:r>
              <a:rPr lang="en-US" sz="400" b="1" dirty="0">
                <a:solidFill>
                  <a:srgbClr val="2A6FB5"/>
                </a:solidFill>
                <a:latin typeface="Arial" pitchFamily="34" charset="0"/>
                <a:ea typeface="Arial" pitchFamily="34" charset="-122"/>
                <a:cs typeface="Arial" pitchFamily="34" charset="-120"/>
              </a:rPr>
              <a:t>Unified API  •  Model Routing  •  Fallbacks  •  Cost Optimization  •  A/B Testing</a:t>
            </a:r>
            <a:endParaRPr lang="en-US" sz="400" dirty="0"/>
          </a:p>
        </p:txBody>
      </p:sp>
      <p:sp>
        <p:nvSpPr>
          <p:cNvPr id="82" name="Shape 59"/>
          <p:cNvSpPr/>
          <p:nvPr/>
        </p:nvSpPr>
        <p:spPr>
          <a:xfrm>
            <a:off x="7980680" y="883920"/>
            <a:ext cx="327660" cy="274320"/>
          </a:xfrm>
          <a:prstGeom prst="roundRect">
            <a:avLst>
              <a:gd name="adj" fmla="val 8333"/>
            </a:avLst>
          </a:prstGeom>
          <a:solidFill>
            <a:srgbClr val="F7FAFD"/>
          </a:solidFill>
          <a:ln w="9525">
            <a:solidFill>
              <a:srgbClr val="C7D4E8"/>
            </a:solidFill>
            <a:prstDash val="solid"/>
          </a:ln>
        </p:spPr>
      </p:sp>
      <p:sp>
        <p:nvSpPr>
          <p:cNvPr id="83" name="Text 60"/>
          <p:cNvSpPr/>
          <p:nvPr/>
        </p:nvSpPr>
        <p:spPr>
          <a:xfrm>
            <a:off x="7988300" y="906780"/>
            <a:ext cx="312420" cy="91440"/>
          </a:xfrm>
          <a:prstGeom prst="rect">
            <a:avLst/>
          </a:prstGeom>
          <a:noFill/>
          <a:ln/>
        </p:spPr>
        <p:txBody>
          <a:bodyPr wrap="square" lIns="0" tIns="0" rIns="0" bIns="0" rtlCol="0" anchor="ctr"/>
          <a:lstStyle/>
          <a:p>
            <a:pPr algn="ctr"/>
            <a:r>
              <a:rPr lang="en-US" sz="383" b="1" dirty="0">
                <a:solidFill>
                  <a:srgbClr val="2D3748"/>
                </a:solidFill>
                <a:latin typeface="Arial" pitchFamily="34" charset="0"/>
                <a:ea typeface="Arial" pitchFamily="34" charset="-122"/>
                <a:cs typeface="Arial" pitchFamily="34" charset="-120"/>
              </a:rPr>
              <a:t>Azure OpenAI</a:t>
            </a:r>
            <a:endParaRPr lang="en-US" sz="383" dirty="0"/>
          </a:p>
        </p:txBody>
      </p:sp>
      <p:sp>
        <p:nvSpPr>
          <p:cNvPr id="84" name="Text 61"/>
          <p:cNvSpPr/>
          <p:nvPr/>
        </p:nvSpPr>
        <p:spPr>
          <a:xfrm>
            <a:off x="7988300" y="1005840"/>
            <a:ext cx="312420" cy="83820"/>
          </a:xfrm>
          <a:prstGeom prst="rect">
            <a:avLst/>
          </a:prstGeom>
          <a:noFill/>
          <a:ln/>
        </p:spPr>
        <p:txBody>
          <a:bodyPr wrap="square" lIns="0" tIns="0" rIns="0" bIns="0" rtlCol="0" anchor="ctr"/>
          <a:lstStyle/>
          <a:p>
            <a:pPr algn="ctr"/>
            <a:r>
              <a:rPr lang="en-US" sz="333" dirty="0">
                <a:solidFill>
                  <a:srgbClr val="77839A"/>
                </a:solidFill>
                <a:latin typeface="Arial" pitchFamily="34" charset="0"/>
                <a:ea typeface="Arial" pitchFamily="34" charset="-122"/>
                <a:cs typeface="Arial" pitchFamily="34" charset="-120"/>
              </a:rPr>
              <a:t>(GPT-4.1 / 4o)</a:t>
            </a:r>
            <a:endParaRPr lang="en-US" sz="333" dirty="0"/>
          </a:p>
        </p:txBody>
      </p:sp>
      <p:sp>
        <p:nvSpPr>
          <p:cNvPr id="85" name="Shape 62"/>
          <p:cNvSpPr/>
          <p:nvPr/>
        </p:nvSpPr>
        <p:spPr>
          <a:xfrm>
            <a:off x="8332724" y="883920"/>
            <a:ext cx="327660" cy="274320"/>
          </a:xfrm>
          <a:prstGeom prst="roundRect">
            <a:avLst>
              <a:gd name="adj" fmla="val 8333"/>
            </a:avLst>
          </a:prstGeom>
          <a:solidFill>
            <a:srgbClr val="F7FAFD"/>
          </a:solidFill>
          <a:ln w="9525">
            <a:solidFill>
              <a:srgbClr val="C7D4E8"/>
            </a:solidFill>
            <a:prstDash val="solid"/>
          </a:ln>
        </p:spPr>
      </p:sp>
      <p:sp>
        <p:nvSpPr>
          <p:cNvPr id="86" name="Text 63"/>
          <p:cNvSpPr/>
          <p:nvPr/>
        </p:nvSpPr>
        <p:spPr>
          <a:xfrm>
            <a:off x="8340344" y="906780"/>
            <a:ext cx="312420" cy="91440"/>
          </a:xfrm>
          <a:prstGeom prst="rect">
            <a:avLst/>
          </a:prstGeom>
          <a:noFill/>
          <a:ln/>
        </p:spPr>
        <p:txBody>
          <a:bodyPr wrap="square" lIns="0" tIns="0" rIns="0" bIns="0" rtlCol="0" anchor="ctr"/>
          <a:lstStyle/>
          <a:p>
            <a:pPr algn="ctr"/>
            <a:r>
              <a:rPr lang="en-US" sz="383" b="1" dirty="0">
                <a:solidFill>
                  <a:srgbClr val="2D3748"/>
                </a:solidFill>
                <a:latin typeface="Arial" pitchFamily="34" charset="0"/>
                <a:ea typeface="Arial" pitchFamily="34" charset="-122"/>
                <a:cs typeface="Arial" pitchFamily="34" charset="-120"/>
              </a:rPr>
              <a:t>Foundry</a:t>
            </a:r>
            <a:endParaRPr lang="en-US" sz="383" dirty="0"/>
          </a:p>
        </p:txBody>
      </p:sp>
      <p:sp>
        <p:nvSpPr>
          <p:cNvPr id="87" name="Text 64"/>
          <p:cNvSpPr/>
          <p:nvPr/>
        </p:nvSpPr>
        <p:spPr>
          <a:xfrm>
            <a:off x="8340344" y="1005840"/>
            <a:ext cx="312420" cy="83820"/>
          </a:xfrm>
          <a:prstGeom prst="rect">
            <a:avLst/>
          </a:prstGeom>
          <a:noFill/>
          <a:ln/>
        </p:spPr>
        <p:txBody>
          <a:bodyPr wrap="square" lIns="0" tIns="0" rIns="0" bIns="0" rtlCol="0" anchor="ctr"/>
          <a:lstStyle/>
          <a:p>
            <a:pPr algn="ctr"/>
            <a:r>
              <a:rPr lang="en-US" sz="333" dirty="0">
                <a:solidFill>
                  <a:srgbClr val="77839A"/>
                </a:solidFill>
                <a:latin typeface="Arial" pitchFamily="34" charset="0"/>
                <a:ea typeface="Arial" pitchFamily="34" charset="-122"/>
                <a:cs typeface="Arial" pitchFamily="34" charset="-120"/>
              </a:rPr>
              <a:t>(Llama 3.x)</a:t>
            </a:r>
            <a:endParaRPr lang="en-US" sz="333" dirty="0"/>
          </a:p>
        </p:txBody>
      </p:sp>
      <p:sp>
        <p:nvSpPr>
          <p:cNvPr id="88" name="Shape 65"/>
          <p:cNvSpPr/>
          <p:nvPr/>
        </p:nvSpPr>
        <p:spPr>
          <a:xfrm>
            <a:off x="8684768" y="883920"/>
            <a:ext cx="327660" cy="274320"/>
          </a:xfrm>
          <a:prstGeom prst="roundRect">
            <a:avLst>
              <a:gd name="adj" fmla="val 8333"/>
            </a:avLst>
          </a:prstGeom>
          <a:solidFill>
            <a:srgbClr val="F7FAFD"/>
          </a:solidFill>
          <a:ln w="9525">
            <a:solidFill>
              <a:srgbClr val="C7D4E8"/>
            </a:solidFill>
            <a:prstDash val="solid"/>
          </a:ln>
        </p:spPr>
      </p:sp>
      <p:sp>
        <p:nvSpPr>
          <p:cNvPr id="89" name="Text 66"/>
          <p:cNvSpPr/>
          <p:nvPr/>
        </p:nvSpPr>
        <p:spPr>
          <a:xfrm>
            <a:off x="8692388" y="906780"/>
            <a:ext cx="312420" cy="91440"/>
          </a:xfrm>
          <a:prstGeom prst="rect">
            <a:avLst/>
          </a:prstGeom>
          <a:noFill/>
          <a:ln/>
        </p:spPr>
        <p:txBody>
          <a:bodyPr wrap="square" lIns="0" tIns="0" rIns="0" bIns="0" rtlCol="0" anchor="ctr"/>
          <a:lstStyle/>
          <a:p>
            <a:pPr algn="ctr"/>
            <a:r>
              <a:rPr lang="en-US" sz="383" b="1" dirty="0">
                <a:solidFill>
                  <a:srgbClr val="2D3748"/>
                </a:solidFill>
                <a:latin typeface="Arial" pitchFamily="34" charset="0"/>
                <a:ea typeface="Arial" pitchFamily="34" charset="-122"/>
                <a:cs typeface="Arial" pitchFamily="34" charset="-120"/>
              </a:rPr>
              <a:t>Foundry</a:t>
            </a:r>
            <a:endParaRPr lang="en-US" sz="383" dirty="0"/>
          </a:p>
        </p:txBody>
      </p:sp>
      <p:sp>
        <p:nvSpPr>
          <p:cNvPr id="90" name="Text 67"/>
          <p:cNvSpPr/>
          <p:nvPr/>
        </p:nvSpPr>
        <p:spPr>
          <a:xfrm>
            <a:off x="8692388" y="1005840"/>
            <a:ext cx="312420" cy="83820"/>
          </a:xfrm>
          <a:prstGeom prst="rect">
            <a:avLst/>
          </a:prstGeom>
          <a:noFill/>
          <a:ln/>
        </p:spPr>
        <p:txBody>
          <a:bodyPr wrap="square" lIns="0" tIns="0" rIns="0" bIns="0" rtlCol="0" anchor="ctr"/>
          <a:lstStyle/>
          <a:p>
            <a:pPr algn="ctr"/>
            <a:r>
              <a:rPr lang="en-US" sz="333" dirty="0">
                <a:solidFill>
                  <a:srgbClr val="77839A"/>
                </a:solidFill>
                <a:latin typeface="Arial" pitchFamily="34" charset="0"/>
                <a:ea typeface="Arial" pitchFamily="34" charset="-122"/>
                <a:cs typeface="Arial" pitchFamily="34" charset="-120"/>
              </a:rPr>
              <a:t>(Mistral)</a:t>
            </a:r>
            <a:endParaRPr lang="en-US" sz="333" dirty="0"/>
          </a:p>
        </p:txBody>
      </p:sp>
      <p:sp>
        <p:nvSpPr>
          <p:cNvPr id="91" name="Shape 68"/>
          <p:cNvSpPr/>
          <p:nvPr/>
        </p:nvSpPr>
        <p:spPr>
          <a:xfrm>
            <a:off x="9036812" y="883920"/>
            <a:ext cx="327660" cy="274320"/>
          </a:xfrm>
          <a:prstGeom prst="roundRect">
            <a:avLst>
              <a:gd name="adj" fmla="val 8333"/>
            </a:avLst>
          </a:prstGeom>
          <a:solidFill>
            <a:srgbClr val="F7FAFD"/>
          </a:solidFill>
          <a:ln w="9525">
            <a:solidFill>
              <a:srgbClr val="C7D4E8"/>
            </a:solidFill>
            <a:prstDash val="solid"/>
          </a:ln>
        </p:spPr>
      </p:sp>
      <p:sp>
        <p:nvSpPr>
          <p:cNvPr id="92" name="Text 69"/>
          <p:cNvSpPr/>
          <p:nvPr/>
        </p:nvSpPr>
        <p:spPr>
          <a:xfrm>
            <a:off x="9044432" y="906780"/>
            <a:ext cx="312420" cy="91440"/>
          </a:xfrm>
          <a:prstGeom prst="rect">
            <a:avLst/>
          </a:prstGeom>
          <a:noFill/>
          <a:ln/>
        </p:spPr>
        <p:txBody>
          <a:bodyPr wrap="square" lIns="0" tIns="0" rIns="0" bIns="0" rtlCol="0" anchor="ctr"/>
          <a:lstStyle/>
          <a:p>
            <a:pPr algn="ctr"/>
            <a:r>
              <a:rPr lang="en-US" sz="383" b="1" dirty="0">
                <a:solidFill>
                  <a:srgbClr val="2D3748"/>
                </a:solidFill>
                <a:latin typeface="Arial" pitchFamily="34" charset="0"/>
                <a:ea typeface="Arial" pitchFamily="34" charset="-122"/>
                <a:cs typeface="Arial" pitchFamily="34" charset="-120"/>
              </a:rPr>
              <a:t>Foundry</a:t>
            </a:r>
            <a:endParaRPr lang="en-US" sz="383" dirty="0"/>
          </a:p>
        </p:txBody>
      </p:sp>
      <p:sp>
        <p:nvSpPr>
          <p:cNvPr id="93" name="Text 70"/>
          <p:cNvSpPr/>
          <p:nvPr/>
        </p:nvSpPr>
        <p:spPr>
          <a:xfrm>
            <a:off x="9044432" y="1005840"/>
            <a:ext cx="312420" cy="83820"/>
          </a:xfrm>
          <a:prstGeom prst="rect">
            <a:avLst/>
          </a:prstGeom>
          <a:noFill/>
          <a:ln/>
        </p:spPr>
        <p:txBody>
          <a:bodyPr wrap="square" lIns="0" tIns="0" rIns="0" bIns="0" rtlCol="0" anchor="ctr"/>
          <a:lstStyle/>
          <a:p>
            <a:pPr algn="ctr"/>
            <a:r>
              <a:rPr lang="en-US" sz="333" dirty="0">
                <a:solidFill>
                  <a:srgbClr val="77839A"/>
                </a:solidFill>
                <a:latin typeface="Arial" pitchFamily="34" charset="0"/>
                <a:ea typeface="Arial" pitchFamily="34" charset="-122"/>
                <a:cs typeface="Arial" pitchFamily="34" charset="-120"/>
              </a:rPr>
              <a:t>(DeepSeek)</a:t>
            </a:r>
            <a:endParaRPr lang="en-US" sz="333" dirty="0"/>
          </a:p>
        </p:txBody>
      </p:sp>
      <p:sp>
        <p:nvSpPr>
          <p:cNvPr id="94" name="Shape 71"/>
          <p:cNvSpPr/>
          <p:nvPr/>
        </p:nvSpPr>
        <p:spPr>
          <a:xfrm>
            <a:off x="9388856" y="883920"/>
            <a:ext cx="327660" cy="274320"/>
          </a:xfrm>
          <a:prstGeom prst="roundRect">
            <a:avLst>
              <a:gd name="adj" fmla="val 8333"/>
            </a:avLst>
          </a:prstGeom>
          <a:solidFill>
            <a:srgbClr val="F7FAFD"/>
          </a:solidFill>
          <a:ln w="9525">
            <a:solidFill>
              <a:srgbClr val="C7D4E8"/>
            </a:solidFill>
            <a:prstDash val="solid"/>
          </a:ln>
        </p:spPr>
      </p:sp>
      <p:sp>
        <p:nvSpPr>
          <p:cNvPr id="95" name="Text 72"/>
          <p:cNvSpPr/>
          <p:nvPr/>
        </p:nvSpPr>
        <p:spPr>
          <a:xfrm>
            <a:off x="9396476" y="906780"/>
            <a:ext cx="312420" cy="91440"/>
          </a:xfrm>
          <a:prstGeom prst="rect">
            <a:avLst/>
          </a:prstGeom>
          <a:noFill/>
          <a:ln/>
        </p:spPr>
        <p:txBody>
          <a:bodyPr wrap="square" lIns="0" tIns="0" rIns="0" bIns="0" rtlCol="0" anchor="ctr"/>
          <a:lstStyle/>
          <a:p>
            <a:pPr algn="ctr"/>
            <a:r>
              <a:rPr lang="en-US" sz="383" b="1" dirty="0">
                <a:solidFill>
                  <a:srgbClr val="2D3748"/>
                </a:solidFill>
                <a:latin typeface="Arial" pitchFamily="34" charset="0"/>
                <a:ea typeface="Arial" pitchFamily="34" charset="-122"/>
                <a:cs typeface="Arial" pitchFamily="34" charset="-120"/>
              </a:rPr>
              <a:t>Foundry</a:t>
            </a:r>
            <a:endParaRPr lang="en-US" sz="383" dirty="0"/>
          </a:p>
        </p:txBody>
      </p:sp>
      <p:sp>
        <p:nvSpPr>
          <p:cNvPr id="96" name="Text 73"/>
          <p:cNvSpPr/>
          <p:nvPr/>
        </p:nvSpPr>
        <p:spPr>
          <a:xfrm>
            <a:off x="9396476" y="1005840"/>
            <a:ext cx="312420" cy="83820"/>
          </a:xfrm>
          <a:prstGeom prst="rect">
            <a:avLst/>
          </a:prstGeom>
          <a:noFill/>
          <a:ln/>
        </p:spPr>
        <p:txBody>
          <a:bodyPr wrap="square" lIns="0" tIns="0" rIns="0" bIns="0" rtlCol="0" anchor="ctr"/>
          <a:lstStyle/>
          <a:p>
            <a:pPr algn="ctr"/>
            <a:r>
              <a:rPr lang="en-US" sz="333" dirty="0">
                <a:solidFill>
                  <a:srgbClr val="77839A"/>
                </a:solidFill>
                <a:latin typeface="Arial" pitchFamily="34" charset="0"/>
                <a:ea typeface="Arial" pitchFamily="34" charset="-122"/>
                <a:cs typeface="Arial" pitchFamily="34" charset="-120"/>
              </a:rPr>
              <a:t>(Phi-4)</a:t>
            </a:r>
            <a:endParaRPr lang="en-US" sz="333" dirty="0"/>
          </a:p>
        </p:txBody>
      </p:sp>
      <p:sp>
        <p:nvSpPr>
          <p:cNvPr id="97" name="Shape 74"/>
          <p:cNvSpPr/>
          <p:nvPr/>
        </p:nvSpPr>
        <p:spPr>
          <a:xfrm>
            <a:off x="9740900" y="883920"/>
            <a:ext cx="327660" cy="274320"/>
          </a:xfrm>
          <a:prstGeom prst="roundRect">
            <a:avLst>
              <a:gd name="adj" fmla="val 8333"/>
            </a:avLst>
          </a:prstGeom>
          <a:solidFill>
            <a:srgbClr val="F7FAFD"/>
          </a:solidFill>
          <a:ln w="9525">
            <a:solidFill>
              <a:srgbClr val="C7D4E8"/>
            </a:solidFill>
            <a:prstDash val="solid"/>
          </a:ln>
        </p:spPr>
      </p:sp>
      <p:sp>
        <p:nvSpPr>
          <p:cNvPr id="98" name="Text 75"/>
          <p:cNvSpPr/>
          <p:nvPr/>
        </p:nvSpPr>
        <p:spPr>
          <a:xfrm>
            <a:off x="9748520" y="906780"/>
            <a:ext cx="312420" cy="91440"/>
          </a:xfrm>
          <a:prstGeom prst="rect">
            <a:avLst/>
          </a:prstGeom>
          <a:noFill/>
          <a:ln/>
        </p:spPr>
        <p:txBody>
          <a:bodyPr wrap="square" lIns="0" tIns="0" rIns="0" bIns="0" rtlCol="0" anchor="ctr"/>
          <a:lstStyle/>
          <a:p>
            <a:pPr algn="ctr"/>
            <a:r>
              <a:rPr lang="en-US" sz="383" b="1" dirty="0">
                <a:solidFill>
                  <a:srgbClr val="2D3748"/>
                </a:solidFill>
                <a:latin typeface="Arial" pitchFamily="34" charset="0"/>
                <a:ea typeface="Arial" pitchFamily="34" charset="-122"/>
                <a:cs typeface="Arial" pitchFamily="34" charset="-120"/>
              </a:rPr>
              <a:t>Foundry</a:t>
            </a:r>
            <a:endParaRPr lang="en-US" sz="383" dirty="0"/>
          </a:p>
        </p:txBody>
      </p:sp>
      <p:sp>
        <p:nvSpPr>
          <p:cNvPr id="99" name="Text 76"/>
          <p:cNvSpPr/>
          <p:nvPr/>
        </p:nvSpPr>
        <p:spPr>
          <a:xfrm>
            <a:off x="9748520" y="1005840"/>
            <a:ext cx="312420" cy="83820"/>
          </a:xfrm>
          <a:prstGeom prst="rect">
            <a:avLst/>
          </a:prstGeom>
          <a:noFill/>
          <a:ln/>
        </p:spPr>
        <p:txBody>
          <a:bodyPr wrap="square" lIns="0" tIns="0" rIns="0" bIns="0" rtlCol="0" anchor="ctr"/>
          <a:lstStyle/>
          <a:p>
            <a:pPr algn="ctr"/>
            <a:r>
              <a:rPr lang="en-US" sz="333" dirty="0">
                <a:solidFill>
                  <a:srgbClr val="77839A"/>
                </a:solidFill>
                <a:latin typeface="Arial" pitchFamily="34" charset="0"/>
                <a:ea typeface="Arial" pitchFamily="34" charset="-122"/>
                <a:cs typeface="Arial" pitchFamily="34" charset="-120"/>
              </a:rPr>
              <a:t>(Grok)</a:t>
            </a:r>
            <a:endParaRPr lang="en-US" sz="333" dirty="0"/>
          </a:p>
        </p:txBody>
      </p:sp>
      <p:sp>
        <p:nvSpPr>
          <p:cNvPr id="100" name="Shape 77"/>
          <p:cNvSpPr/>
          <p:nvPr/>
        </p:nvSpPr>
        <p:spPr>
          <a:xfrm>
            <a:off x="7980680" y="1219200"/>
            <a:ext cx="678180" cy="274320"/>
          </a:xfrm>
          <a:prstGeom prst="roundRect">
            <a:avLst>
              <a:gd name="adj" fmla="val 8333"/>
            </a:avLst>
          </a:prstGeom>
          <a:solidFill>
            <a:srgbClr val="F7FAFD"/>
          </a:solidFill>
          <a:ln w="9525">
            <a:solidFill>
              <a:srgbClr val="C7D4E8"/>
            </a:solidFill>
            <a:prstDash val="solid"/>
          </a:ln>
        </p:spPr>
      </p:sp>
      <p:sp>
        <p:nvSpPr>
          <p:cNvPr id="101" name="Text 78"/>
          <p:cNvSpPr/>
          <p:nvPr/>
        </p:nvSpPr>
        <p:spPr>
          <a:xfrm>
            <a:off x="7995920" y="1242060"/>
            <a:ext cx="647700" cy="91440"/>
          </a:xfrm>
          <a:prstGeom prst="rect">
            <a:avLst/>
          </a:prstGeom>
          <a:noFill/>
          <a:ln/>
        </p:spPr>
        <p:txBody>
          <a:bodyPr wrap="square" lIns="0" tIns="0" rIns="0" bIns="0" rtlCol="0" anchor="ctr"/>
          <a:lstStyle/>
          <a:p>
            <a:pPr algn="ctr"/>
            <a:r>
              <a:rPr lang="en-US" sz="400" b="1" dirty="0">
                <a:solidFill>
                  <a:srgbClr val="2D3748"/>
                </a:solidFill>
                <a:latin typeface="Arial" pitchFamily="34" charset="0"/>
                <a:ea typeface="Arial" pitchFamily="34" charset="-122"/>
                <a:cs typeface="Arial" pitchFamily="34" charset="-120"/>
              </a:rPr>
              <a:t>Anthropic Claude</a:t>
            </a:r>
            <a:endParaRPr lang="en-US" sz="400" dirty="0"/>
          </a:p>
        </p:txBody>
      </p:sp>
      <p:sp>
        <p:nvSpPr>
          <p:cNvPr id="102" name="Text 79"/>
          <p:cNvSpPr/>
          <p:nvPr/>
        </p:nvSpPr>
        <p:spPr>
          <a:xfrm>
            <a:off x="7995920" y="1341120"/>
            <a:ext cx="647700" cy="83820"/>
          </a:xfrm>
          <a:prstGeom prst="rect">
            <a:avLst/>
          </a:prstGeom>
          <a:noFill/>
          <a:ln/>
        </p:spPr>
        <p:txBody>
          <a:bodyPr wrap="square" lIns="0" tIns="0" rIns="0" bIns="0" rtlCol="0" anchor="ctr"/>
          <a:lstStyle/>
          <a:p>
            <a:pPr algn="ctr"/>
            <a:r>
              <a:rPr lang="en-US" sz="350" dirty="0">
                <a:solidFill>
                  <a:srgbClr val="77839A"/>
                </a:solidFill>
                <a:latin typeface="Arial" pitchFamily="34" charset="0"/>
                <a:ea typeface="Arial" pitchFamily="34" charset="-122"/>
                <a:cs typeface="Arial" pitchFamily="34" charset="-120"/>
              </a:rPr>
              <a:t>(via APIM)</a:t>
            </a:r>
            <a:endParaRPr lang="en-US" sz="350" dirty="0"/>
          </a:p>
        </p:txBody>
      </p:sp>
      <p:sp>
        <p:nvSpPr>
          <p:cNvPr id="103" name="Shape 80"/>
          <p:cNvSpPr/>
          <p:nvPr/>
        </p:nvSpPr>
        <p:spPr>
          <a:xfrm>
            <a:off x="8685530" y="1219200"/>
            <a:ext cx="678180" cy="274320"/>
          </a:xfrm>
          <a:prstGeom prst="roundRect">
            <a:avLst>
              <a:gd name="adj" fmla="val 8333"/>
            </a:avLst>
          </a:prstGeom>
          <a:solidFill>
            <a:srgbClr val="F7FAFD"/>
          </a:solidFill>
          <a:ln w="9525">
            <a:solidFill>
              <a:srgbClr val="C7D4E8"/>
            </a:solidFill>
            <a:prstDash val="solid"/>
          </a:ln>
        </p:spPr>
      </p:sp>
      <p:sp>
        <p:nvSpPr>
          <p:cNvPr id="104" name="Text 81"/>
          <p:cNvSpPr/>
          <p:nvPr/>
        </p:nvSpPr>
        <p:spPr>
          <a:xfrm>
            <a:off x="8700770" y="1242060"/>
            <a:ext cx="647700" cy="91440"/>
          </a:xfrm>
          <a:prstGeom prst="rect">
            <a:avLst/>
          </a:prstGeom>
          <a:noFill/>
          <a:ln/>
        </p:spPr>
        <p:txBody>
          <a:bodyPr wrap="square" lIns="0" tIns="0" rIns="0" bIns="0" rtlCol="0" anchor="ctr"/>
          <a:lstStyle/>
          <a:p>
            <a:pPr algn="ctr"/>
            <a:r>
              <a:rPr lang="en-US" sz="400" b="1" dirty="0">
                <a:solidFill>
                  <a:srgbClr val="2D3748"/>
                </a:solidFill>
                <a:latin typeface="Arial" pitchFamily="34" charset="0"/>
                <a:ea typeface="Arial" pitchFamily="34" charset="-122"/>
                <a:cs typeface="Arial" pitchFamily="34" charset="-120"/>
              </a:rPr>
              <a:t>Google Gemini</a:t>
            </a:r>
            <a:endParaRPr lang="en-US" sz="400" dirty="0"/>
          </a:p>
        </p:txBody>
      </p:sp>
      <p:sp>
        <p:nvSpPr>
          <p:cNvPr id="105" name="Text 82"/>
          <p:cNvSpPr/>
          <p:nvPr/>
        </p:nvSpPr>
        <p:spPr>
          <a:xfrm>
            <a:off x="8700770" y="1341120"/>
            <a:ext cx="647700" cy="83820"/>
          </a:xfrm>
          <a:prstGeom prst="rect">
            <a:avLst/>
          </a:prstGeom>
          <a:noFill/>
          <a:ln/>
        </p:spPr>
        <p:txBody>
          <a:bodyPr wrap="square" lIns="0" tIns="0" rIns="0" bIns="0" rtlCol="0" anchor="ctr"/>
          <a:lstStyle/>
          <a:p>
            <a:pPr algn="ctr"/>
            <a:r>
              <a:rPr lang="en-US" sz="350" dirty="0">
                <a:solidFill>
                  <a:srgbClr val="77839A"/>
                </a:solidFill>
                <a:latin typeface="Arial" pitchFamily="34" charset="0"/>
                <a:ea typeface="Arial" pitchFamily="34" charset="-122"/>
                <a:cs typeface="Arial" pitchFamily="34" charset="-120"/>
              </a:rPr>
              <a:t>(via APIM)</a:t>
            </a:r>
            <a:endParaRPr lang="en-US" sz="350" dirty="0"/>
          </a:p>
        </p:txBody>
      </p:sp>
      <p:sp>
        <p:nvSpPr>
          <p:cNvPr id="106" name="Shape 83"/>
          <p:cNvSpPr/>
          <p:nvPr/>
        </p:nvSpPr>
        <p:spPr>
          <a:xfrm>
            <a:off x="9390380" y="1219200"/>
            <a:ext cx="678180" cy="274320"/>
          </a:xfrm>
          <a:prstGeom prst="roundRect">
            <a:avLst>
              <a:gd name="adj" fmla="val 8333"/>
            </a:avLst>
          </a:prstGeom>
          <a:solidFill>
            <a:srgbClr val="F7FAFD"/>
          </a:solidFill>
          <a:ln w="9525">
            <a:solidFill>
              <a:srgbClr val="C7D4E8"/>
            </a:solidFill>
            <a:prstDash val="solid"/>
          </a:ln>
        </p:spPr>
      </p:sp>
      <p:sp>
        <p:nvSpPr>
          <p:cNvPr id="107" name="Text 84"/>
          <p:cNvSpPr/>
          <p:nvPr/>
        </p:nvSpPr>
        <p:spPr>
          <a:xfrm>
            <a:off x="9405620" y="1242060"/>
            <a:ext cx="647700" cy="91440"/>
          </a:xfrm>
          <a:prstGeom prst="rect">
            <a:avLst/>
          </a:prstGeom>
          <a:noFill/>
          <a:ln/>
        </p:spPr>
        <p:txBody>
          <a:bodyPr wrap="square" lIns="0" tIns="0" rIns="0" bIns="0" rtlCol="0" anchor="ctr"/>
          <a:lstStyle/>
          <a:p>
            <a:pPr algn="ctr"/>
            <a:r>
              <a:rPr lang="en-US" sz="400" b="1" dirty="0">
                <a:solidFill>
                  <a:srgbClr val="2D3748"/>
                </a:solidFill>
                <a:latin typeface="Arial" pitchFamily="34" charset="0"/>
                <a:ea typeface="Arial" pitchFamily="34" charset="-122"/>
                <a:cs typeface="Arial" pitchFamily="34" charset="-120"/>
              </a:rPr>
              <a:t>Self-Hosted</a:t>
            </a:r>
            <a:endParaRPr lang="en-US" sz="400" dirty="0"/>
          </a:p>
        </p:txBody>
      </p:sp>
      <p:sp>
        <p:nvSpPr>
          <p:cNvPr id="108" name="Text 85"/>
          <p:cNvSpPr/>
          <p:nvPr/>
        </p:nvSpPr>
        <p:spPr>
          <a:xfrm>
            <a:off x="9405620" y="1341120"/>
            <a:ext cx="647700" cy="83820"/>
          </a:xfrm>
          <a:prstGeom prst="rect">
            <a:avLst/>
          </a:prstGeom>
          <a:noFill/>
          <a:ln/>
        </p:spPr>
        <p:txBody>
          <a:bodyPr wrap="square" lIns="0" tIns="0" rIns="0" bIns="0" rtlCol="0" anchor="ctr"/>
          <a:lstStyle/>
          <a:p>
            <a:pPr algn="ctr"/>
            <a:r>
              <a:rPr lang="en-US" sz="350" dirty="0">
                <a:solidFill>
                  <a:srgbClr val="77839A"/>
                </a:solidFill>
                <a:latin typeface="Arial" pitchFamily="34" charset="0"/>
                <a:ea typeface="Arial" pitchFamily="34" charset="-122"/>
                <a:cs typeface="Arial" pitchFamily="34" charset="-120"/>
              </a:rPr>
              <a:t>(AKS + vLLM)</a:t>
            </a:r>
            <a:endParaRPr lang="en-US" sz="350" dirty="0"/>
          </a:p>
        </p:txBody>
      </p:sp>
      <p:sp>
        <p:nvSpPr>
          <p:cNvPr id="109" name="Shape 86"/>
          <p:cNvSpPr/>
          <p:nvPr/>
        </p:nvSpPr>
        <p:spPr>
          <a:xfrm>
            <a:off x="7980680" y="1569720"/>
            <a:ext cx="2087880" cy="213360"/>
          </a:xfrm>
          <a:prstGeom prst="roundRect">
            <a:avLst>
              <a:gd name="adj" fmla="val 10714"/>
            </a:avLst>
          </a:prstGeom>
          <a:solidFill>
            <a:srgbClr val="EEF5FC"/>
          </a:solidFill>
          <a:ln w="9525">
            <a:solidFill>
              <a:srgbClr val="BFD8F0"/>
            </a:solidFill>
            <a:prstDash val="solid"/>
          </a:ln>
        </p:spPr>
      </p:sp>
      <p:sp>
        <p:nvSpPr>
          <p:cNvPr id="110" name="Text 87"/>
          <p:cNvSpPr/>
          <p:nvPr/>
        </p:nvSpPr>
        <p:spPr>
          <a:xfrm>
            <a:off x="7995920" y="1569720"/>
            <a:ext cx="2057400" cy="213360"/>
          </a:xfrm>
          <a:prstGeom prst="rect">
            <a:avLst/>
          </a:prstGeom>
          <a:noFill/>
          <a:ln/>
        </p:spPr>
        <p:txBody>
          <a:bodyPr wrap="square" lIns="0" tIns="0" rIns="0" bIns="0" rtlCol="0" anchor="ctr"/>
          <a:lstStyle/>
          <a:p>
            <a:pPr algn="ctr"/>
            <a:r>
              <a:rPr lang="en-US" sz="450" b="1" dirty="0">
                <a:solidFill>
                  <a:srgbClr val="1B3A6B"/>
                </a:solidFill>
                <a:latin typeface="Arial" pitchFamily="34" charset="0"/>
                <a:ea typeface="Arial" pitchFamily="34" charset="-122"/>
                <a:cs typeface="Arial" pitchFamily="34" charset="-120"/>
              </a:rPr>
              <a:t>Azure API Management AI Gateway  /  Foundry Model Router</a:t>
            </a:r>
            <a:endParaRPr lang="en-US" sz="450" dirty="0"/>
          </a:p>
        </p:txBody>
      </p:sp>
      <p:sp>
        <p:nvSpPr>
          <p:cNvPr id="111" name="Text 88"/>
          <p:cNvSpPr/>
          <p:nvPr/>
        </p:nvSpPr>
        <p:spPr>
          <a:xfrm>
            <a:off x="7904480" y="1828800"/>
            <a:ext cx="2240280" cy="83820"/>
          </a:xfrm>
          <a:prstGeom prst="rect">
            <a:avLst/>
          </a:prstGeom>
          <a:noFill/>
          <a:ln/>
        </p:spPr>
        <p:txBody>
          <a:bodyPr wrap="square" lIns="0" tIns="0" rIns="0" bIns="0" rtlCol="0" anchor="ctr"/>
          <a:lstStyle/>
          <a:p>
            <a:pPr algn="ctr"/>
            <a:r>
              <a:rPr lang="en-US" sz="367" i="1" dirty="0">
                <a:solidFill>
                  <a:srgbClr val="77839A"/>
                </a:solidFill>
                <a:latin typeface="Arial" pitchFamily="34" charset="0"/>
                <a:ea typeface="Arial" pitchFamily="34" charset="-122"/>
                <a:cs typeface="Arial" pitchFamily="34" charset="-120"/>
              </a:rPr>
              <a:t>Token limits, quotas and fallbacks enforced per plant &amp; business unit</a:t>
            </a:r>
            <a:endParaRPr lang="en-US" sz="367" dirty="0"/>
          </a:p>
        </p:txBody>
      </p:sp>
      <p:sp>
        <p:nvSpPr>
          <p:cNvPr id="112" name="Shape 89"/>
          <p:cNvSpPr/>
          <p:nvPr/>
        </p:nvSpPr>
        <p:spPr>
          <a:xfrm>
            <a:off x="10266680" y="579120"/>
            <a:ext cx="830580" cy="3825240"/>
          </a:xfrm>
          <a:prstGeom prst="roundRect">
            <a:avLst>
              <a:gd name="adj" fmla="val 4128"/>
            </a:avLst>
          </a:prstGeom>
          <a:solidFill>
            <a:srgbClr val="FFF8F7"/>
          </a:solidFill>
          <a:ln w="9525">
            <a:solidFill>
              <a:srgbClr val="EFC0BA"/>
            </a:solidFill>
            <a:prstDash val="solid"/>
          </a:ln>
        </p:spPr>
      </p:sp>
      <p:sp>
        <p:nvSpPr>
          <p:cNvPr id="113" name="Text 90"/>
          <p:cNvSpPr/>
          <p:nvPr/>
        </p:nvSpPr>
        <p:spPr>
          <a:xfrm>
            <a:off x="10266680" y="624840"/>
            <a:ext cx="830580" cy="114300"/>
          </a:xfrm>
          <a:prstGeom prst="rect">
            <a:avLst/>
          </a:prstGeom>
          <a:noFill/>
          <a:ln/>
        </p:spPr>
        <p:txBody>
          <a:bodyPr wrap="square" lIns="0" tIns="0" rIns="0" bIns="0" rtlCol="0" anchor="ctr"/>
          <a:lstStyle/>
          <a:p>
            <a:pPr algn="ctr"/>
            <a:r>
              <a:rPr lang="en-US" sz="533" b="1" kern="0" spc="8" dirty="0">
                <a:solidFill>
                  <a:srgbClr val="C0392B"/>
                </a:solidFill>
                <a:latin typeface="Arial" pitchFamily="34" charset="0"/>
                <a:ea typeface="Arial" pitchFamily="34" charset="-122"/>
                <a:cs typeface="Arial" pitchFamily="34" charset="-120"/>
              </a:rPr>
              <a:t>22. SECURITY &amp;</a:t>
            </a:r>
            <a:endParaRPr lang="en-US" sz="533" dirty="0"/>
          </a:p>
          <a:p>
            <a:pPr algn="ctr"/>
            <a:r>
              <a:rPr lang="en-US" sz="533" b="1" kern="0" spc="8" dirty="0">
                <a:solidFill>
                  <a:srgbClr val="C0392B"/>
                </a:solidFill>
                <a:latin typeface="Arial" pitchFamily="34" charset="0"/>
                <a:ea typeface="Arial" pitchFamily="34" charset="-122"/>
                <a:cs typeface="Arial" pitchFamily="34" charset="-120"/>
              </a:rPr>
              <a:t>GOVERNANCE</a:t>
            </a:r>
            <a:endParaRPr lang="en-US" sz="533" dirty="0"/>
          </a:p>
        </p:txBody>
      </p:sp>
      <p:pic>
        <p:nvPicPr>
          <p:cNvPr id="114" name="Image 21" descr="/sessions/zealous-intelligent-mayer/mnt/outputs/icons7/key.png"/>
          <p:cNvPicPr>
            <a:picLocks noChangeAspect="1"/>
          </p:cNvPicPr>
          <p:nvPr/>
        </p:nvPicPr>
        <p:blipFill>
          <a:blip r:embed="rId8"/>
          <a:stretch>
            <a:fillRect/>
          </a:stretch>
        </p:blipFill>
        <p:spPr>
          <a:xfrm>
            <a:off x="10327640" y="883920"/>
            <a:ext cx="106680" cy="106680"/>
          </a:xfrm>
          <a:prstGeom prst="rect">
            <a:avLst/>
          </a:prstGeom>
        </p:spPr>
      </p:pic>
      <p:sp>
        <p:nvSpPr>
          <p:cNvPr id="115" name="Text 91"/>
          <p:cNvSpPr/>
          <p:nvPr/>
        </p:nvSpPr>
        <p:spPr>
          <a:xfrm>
            <a:off x="10472420" y="868680"/>
            <a:ext cx="571500" cy="83820"/>
          </a:xfrm>
          <a:prstGeom prst="rect">
            <a:avLst/>
          </a:prstGeom>
          <a:noFill/>
          <a:ln/>
        </p:spPr>
        <p:txBody>
          <a:bodyPr wrap="square" lIns="0" tIns="0" rIns="0" bIns="0" rtlCol="0" anchor="ctr"/>
          <a:lstStyle/>
          <a:p>
            <a:r>
              <a:rPr lang="en-US" sz="417" b="1" dirty="0">
                <a:solidFill>
                  <a:srgbClr val="2D3748"/>
                </a:solidFill>
                <a:latin typeface="Arial" pitchFamily="34" charset="0"/>
                <a:ea typeface="Arial" pitchFamily="34" charset="-122"/>
                <a:cs typeface="Arial" pitchFamily="34" charset="-120"/>
              </a:rPr>
              <a:t>Key Vault /</a:t>
            </a:r>
            <a:endParaRPr lang="en-US" sz="417" dirty="0"/>
          </a:p>
        </p:txBody>
      </p:sp>
      <p:sp>
        <p:nvSpPr>
          <p:cNvPr id="116" name="Text 92"/>
          <p:cNvSpPr/>
          <p:nvPr/>
        </p:nvSpPr>
        <p:spPr>
          <a:xfrm>
            <a:off x="10472420" y="948690"/>
            <a:ext cx="571500" cy="76200"/>
          </a:xfrm>
          <a:prstGeom prst="rect">
            <a:avLst/>
          </a:prstGeom>
          <a:noFill/>
          <a:ln/>
        </p:spPr>
        <p:txBody>
          <a:bodyPr wrap="square" lIns="0" tIns="0" rIns="0" bIns="0" rtlCol="0" anchor="ctr"/>
          <a:lstStyle/>
          <a:p>
            <a:r>
              <a:rPr lang="en-US" sz="350" dirty="0">
                <a:solidFill>
                  <a:srgbClr val="77839A"/>
                </a:solidFill>
                <a:latin typeface="Arial" pitchFamily="34" charset="0"/>
                <a:ea typeface="Arial" pitchFamily="34" charset="-122"/>
                <a:cs typeface="Arial" pitchFamily="34" charset="-120"/>
              </a:rPr>
              <a:t>Managed HSM</a:t>
            </a:r>
            <a:endParaRPr lang="en-US" sz="350" dirty="0"/>
          </a:p>
        </p:txBody>
      </p:sp>
      <p:pic>
        <p:nvPicPr>
          <p:cNvPr id="117" name="Image 22" descr="/sessions/zealous-intelligent-mayer/mnt/outputs/icons7/lock.png"/>
          <p:cNvPicPr>
            <a:picLocks noChangeAspect="1"/>
          </p:cNvPicPr>
          <p:nvPr/>
        </p:nvPicPr>
        <p:blipFill>
          <a:blip r:embed="rId23"/>
          <a:stretch>
            <a:fillRect/>
          </a:stretch>
        </p:blipFill>
        <p:spPr>
          <a:xfrm>
            <a:off x="10327640" y="1219200"/>
            <a:ext cx="106680" cy="106680"/>
          </a:xfrm>
          <a:prstGeom prst="rect">
            <a:avLst/>
          </a:prstGeom>
        </p:spPr>
      </p:pic>
      <p:sp>
        <p:nvSpPr>
          <p:cNvPr id="118" name="Text 93"/>
          <p:cNvSpPr/>
          <p:nvPr/>
        </p:nvSpPr>
        <p:spPr>
          <a:xfrm>
            <a:off x="10472420" y="1203960"/>
            <a:ext cx="571500" cy="83820"/>
          </a:xfrm>
          <a:prstGeom prst="rect">
            <a:avLst/>
          </a:prstGeom>
          <a:noFill/>
          <a:ln/>
        </p:spPr>
        <p:txBody>
          <a:bodyPr wrap="square" lIns="0" tIns="0" rIns="0" bIns="0" rtlCol="0" anchor="ctr"/>
          <a:lstStyle/>
          <a:p>
            <a:r>
              <a:rPr lang="en-US" sz="417" b="1" dirty="0">
                <a:solidFill>
                  <a:srgbClr val="2D3748"/>
                </a:solidFill>
                <a:latin typeface="Arial" pitchFamily="34" charset="0"/>
                <a:ea typeface="Arial" pitchFamily="34" charset="-122"/>
                <a:cs typeface="Arial" pitchFamily="34" charset="-120"/>
              </a:rPr>
              <a:t>Encryption</a:t>
            </a:r>
            <a:endParaRPr lang="en-US" sz="417" dirty="0"/>
          </a:p>
        </p:txBody>
      </p:sp>
      <p:sp>
        <p:nvSpPr>
          <p:cNvPr id="119" name="Text 94"/>
          <p:cNvSpPr/>
          <p:nvPr/>
        </p:nvSpPr>
        <p:spPr>
          <a:xfrm>
            <a:off x="10472420" y="1283970"/>
            <a:ext cx="571500" cy="76200"/>
          </a:xfrm>
          <a:prstGeom prst="rect">
            <a:avLst/>
          </a:prstGeom>
          <a:noFill/>
          <a:ln/>
        </p:spPr>
        <p:txBody>
          <a:bodyPr wrap="square" lIns="0" tIns="0" rIns="0" bIns="0" rtlCol="0" anchor="ctr"/>
          <a:lstStyle/>
          <a:p>
            <a:r>
              <a:rPr lang="en-US" sz="350" dirty="0">
                <a:solidFill>
                  <a:srgbClr val="77839A"/>
                </a:solidFill>
                <a:latin typeface="Arial" pitchFamily="34" charset="0"/>
                <a:ea typeface="Arial" pitchFamily="34" charset="-122"/>
                <a:cs typeface="Arial" pitchFamily="34" charset="-120"/>
              </a:rPr>
              <a:t>(CMK, TDE, TLS)</a:t>
            </a:r>
            <a:endParaRPr lang="en-US" sz="350" dirty="0"/>
          </a:p>
        </p:txBody>
      </p:sp>
      <p:pic>
        <p:nvPicPr>
          <p:cNvPr id="120" name="Image 23" descr="/sessions/zealous-intelligent-mayer/mnt/outputs/icons7/mask.png"/>
          <p:cNvPicPr>
            <a:picLocks noChangeAspect="1"/>
          </p:cNvPicPr>
          <p:nvPr/>
        </p:nvPicPr>
        <p:blipFill>
          <a:blip r:embed="rId24"/>
          <a:stretch>
            <a:fillRect/>
          </a:stretch>
        </p:blipFill>
        <p:spPr>
          <a:xfrm>
            <a:off x="10327640" y="1554480"/>
            <a:ext cx="106680" cy="106680"/>
          </a:xfrm>
          <a:prstGeom prst="rect">
            <a:avLst/>
          </a:prstGeom>
        </p:spPr>
      </p:pic>
      <p:sp>
        <p:nvSpPr>
          <p:cNvPr id="121" name="Text 95"/>
          <p:cNvSpPr/>
          <p:nvPr/>
        </p:nvSpPr>
        <p:spPr>
          <a:xfrm>
            <a:off x="10472420" y="1539240"/>
            <a:ext cx="571500" cy="83820"/>
          </a:xfrm>
          <a:prstGeom prst="rect">
            <a:avLst/>
          </a:prstGeom>
          <a:noFill/>
          <a:ln/>
        </p:spPr>
        <p:txBody>
          <a:bodyPr wrap="square" lIns="0" tIns="0" rIns="0" bIns="0" rtlCol="0" anchor="ctr"/>
          <a:lstStyle/>
          <a:p>
            <a:r>
              <a:rPr lang="en-US" sz="417" b="1" dirty="0">
                <a:solidFill>
                  <a:srgbClr val="2D3748"/>
                </a:solidFill>
                <a:latin typeface="Arial" pitchFamily="34" charset="0"/>
                <a:ea typeface="Arial" pitchFamily="34" charset="-122"/>
                <a:cs typeface="Arial" pitchFamily="34" charset="-120"/>
              </a:rPr>
              <a:t>PII Protection</a:t>
            </a:r>
            <a:endParaRPr lang="en-US" sz="417" dirty="0"/>
          </a:p>
        </p:txBody>
      </p:sp>
      <p:sp>
        <p:nvSpPr>
          <p:cNvPr id="122" name="Text 96"/>
          <p:cNvSpPr/>
          <p:nvPr/>
        </p:nvSpPr>
        <p:spPr>
          <a:xfrm>
            <a:off x="10472420" y="1619250"/>
            <a:ext cx="571500" cy="76200"/>
          </a:xfrm>
          <a:prstGeom prst="rect">
            <a:avLst/>
          </a:prstGeom>
          <a:noFill/>
          <a:ln/>
        </p:spPr>
        <p:txBody>
          <a:bodyPr wrap="square" lIns="0" tIns="0" rIns="0" bIns="0" rtlCol="0" anchor="ctr"/>
          <a:lstStyle/>
          <a:p>
            <a:r>
              <a:rPr lang="en-US" sz="350" dirty="0">
                <a:solidFill>
                  <a:srgbClr val="77839A"/>
                </a:solidFill>
                <a:latin typeface="Arial" pitchFamily="34" charset="0"/>
                <a:ea typeface="Arial" pitchFamily="34" charset="-122"/>
                <a:cs typeface="Arial" pitchFamily="34" charset="-120"/>
              </a:rPr>
              <a:t>&amp; Masking (Purview)</a:t>
            </a:r>
            <a:endParaRPr lang="en-US" sz="350" dirty="0"/>
          </a:p>
        </p:txBody>
      </p:sp>
      <p:pic>
        <p:nvPicPr>
          <p:cNvPr id="123" name="Image 24" descr="/sessions/zealous-intelligent-mayer/mnt/outputs/icons7/shield.png"/>
          <p:cNvPicPr>
            <a:picLocks noChangeAspect="1"/>
          </p:cNvPicPr>
          <p:nvPr/>
        </p:nvPicPr>
        <p:blipFill>
          <a:blip r:embed="rId25"/>
          <a:stretch>
            <a:fillRect/>
          </a:stretch>
        </p:blipFill>
        <p:spPr>
          <a:xfrm>
            <a:off x="10327640" y="1889760"/>
            <a:ext cx="106680" cy="106680"/>
          </a:xfrm>
          <a:prstGeom prst="rect">
            <a:avLst/>
          </a:prstGeom>
        </p:spPr>
      </p:pic>
      <p:sp>
        <p:nvSpPr>
          <p:cNvPr id="124" name="Text 97"/>
          <p:cNvSpPr/>
          <p:nvPr/>
        </p:nvSpPr>
        <p:spPr>
          <a:xfrm>
            <a:off x="10472420" y="1874520"/>
            <a:ext cx="571500" cy="83820"/>
          </a:xfrm>
          <a:prstGeom prst="rect">
            <a:avLst/>
          </a:prstGeom>
          <a:noFill/>
          <a:ln/>
        </p:spPr>
        <p:txBody>
          <a:bodyPr wrap="square" lIns="0" tIns="0" rIns="0" bIns="0" rtlCol="0" anchor="ctr"/>
          <a:lstStyle/>
          <a:p>
            <a:r>
              <a:rPr lang="en-US" sz="417" b="1" dirty="0">
                <a:solidFill>
                  <a:srgbClr val="2D3748"/>
                </a:solidFill>
                <a:latin typeface="Arial" pitchFamily="34" charset="0"/>
                <a:ea typeface="Arial" pitchFamily="34" charset="-122"/>
                <a:cs typeface="Arial" pitchFamily="34" charset="-120"/>
              </a:rPr>
              <a:t>Prompt Shields</a:t>
            </a:r>
            <a:endParaRPr lang="en-US" sz="417" dirty="0"/>
          </a:p>
        </p:txBody>
      </p:sp>
      <p:sp>
        <p:nvSpPr>
          <p:cNvPr id="125" name="Text 98"/>
          <p:cNvSpPr/>
          <p:nvPr/>
        </p:nvSpPr>
        <p:spPr>
          <a:xfrm>
            <a:off x="10472420" y="1954530"/>
            <a:ext cx="571500" cy="76200"/>
          </a:xfrm>
          <a:prstGeom prst="rect">
            <a:avLst/>
          </a:prstGeom>
          <a:noFill/>
          <a:ln/>
        </p:spPr>
        <p:txBody>
          <a:bodyPr wrap="square" lIns="0" tIns="0" rIns="0" bIns="0" rtlCol="0" anchor="ctr"/>
          <a:lstStyle/>
          <a:p>
            <a:r>
              <a:rPr lang="en-US" sz="350" dirty="0">
                <a:solidFill>
                  <a:srgbClr val="77839A"/>
                </a:solidFill>
                <a:latin typeface="Arial" pitchFamily="34" charset="0"/>
                <a:ea typeface="Arial" pitchFamily="34" charset="-122"/>
                <a:cs typeface="Arial" pitchFamily="34" charset="-120"/>
              </a:rPr>
              <a:t>(Injection defence)</a:t>
            </a:r>
            <a:endParaRPr lang="en-US" sz="350" dirty="0"/>
          </a:p>
        </p:txBody>
      </p:sp>
      <p:pic>
        <p:nvPicPr>
          <p:cNvPr id="126" name="Image 25" descr="/sessions/zealous-intelligent-mayer/mnt/outputs/icons7/filter.png"/>
          <p:cNvPicPr>
            <a:picLocks noChangeAspect="1"/>
          </p:cNvPicPr>
          <p:nvPr/>
        </p:nvPicPr>
        <p:blipFill>
          <a:blip r:embed="rId26"/>
          <a:stretch>
            <a:fillRect/>
          </a:stretch>
        </p:blipFill>
        <p:spPr>
          <a:xfrm>
            <a:off x="10327640" y="2225040"/>
            <a:ext cx="106680" cy="106680"/>
          </a:xfrm>
          <a:prstGeom prst="rect">
            <a:avLst/>
          </a:prstGeom>
        </p:spPr>
      </p:pic>
      <p:sp>
        <p:nvSpPr>
          <p:cNvPr id="127" name="Text 99"/>
          <p:cNvSpPr/>
          <p:nvPr/>
        </p:nvSpPr>
        <p:spPr>
          <a:xfrm>
            <a:off x="10472420" y="2209800"/>
            <a:ext cx="571500" cy="83820"/>
          </a:xfrm>
          <a:prstGeom prst="rect">
            <a:avLst/>
          </a:prstGeom>
          <a:noFill/>
          <a:ln/>
        </p:spPr>
        <p:txBody>
          <a:bodyPr wrap="square" lIns="0" tIns="0" rIns="0" bIns="0" rtlCol="0" anchor="ctr"/>
          <a:lstStyle/>
          <a:p>
            <a:r>
              <a:rPr lang="en-US" sz="417" b="1" dirty="0">
                <a:solidFill>
                  <a:srgbClr val="2D3748"/>
                </a:solidFill>
                <a:latin typeface="Arial" pitchFamily="34" charset="0"/>
                <a:ea typeface="Arial" pitchFamily="34" charset="-122"/>
                <a:cs typeface="Arial" pitchFamily="34" charset="-120"/>
              </a:rPr>
              <a:t>Content Safety</a:t>
            </a:r>
            <a:endParaRPr lang="en-US" sz="417" dirty="0"/>
          </a:p>
        </p:txBody>
      </p:sp>
      <p:sp>
        <p:nvSpPr>
          <p:cNvPr id="128" name="Text 100"/>
          <p:cNvSpPr/>
          <p:nvPr/>
        </p:nvSpPr>
        <p:spPr>
          <a:xfrm>
            <a:off x="10472420" y="2289810"/>
            <a:ext cx="571500" cy="76200"/>
          </a:xfrm>
          <a:prstGeom prst="rect">
            <a:avLst/>
          </a:prstGeom>
          <a:noFill/>
          <a:ln/>
        </p:spPr>
        <p:txBody>
          <a:bodyPr wrap="square" lIns="0" tIns="0" rIns="0" bIns="0" rtlCol="0" anchor="ctr"/>
          <a:lstStyle/>
          <a:p>
            <a:r>
              <a:rPr lang="en-US" sz="350" dirty="0">
                <a:solidFill>
                  <a:srgbClr val="77839A"/>
                </a:solidFill>
                <a:latin typeface="Arial" pitchFamily="34" charset="0"/>
                <a:ea typeface="Arial" pitchFamily="34" charset="-122"/>
                <a:cs typeface="Arial" pitchFamily="34" charset="-120"/>
              </a:rPr>
              <a:t>&amp; Guardrails</a:t>
            </a:r>
            <a:endParaRPr lang="en-US" sz="350" dirty="0"/>
          </a:p>
        </p:txBody>
      </p:sp>
      <p:pic>
        <p:nvPicPr>
          <p:cNvPr id="129" name="Image 26" descr="/sessions/zealous-intelligent-mayer/mnt/outputs/icons7/rate.png"/>
          <p:cNvPicPr>
            <a:picLocks noChangeAspect="1"/>
          </p:cNvPicPr>
          <p:nvPr/>
        </p:nvPicPr>
        <p:blipFill>
          <a:blip r:embed="rId27"/>
          <a:stretch>
            <a:fillRect/>
          </a:stretch>
        </p:blipFill>
        <p:spPr>
          <a:xfrm>
            <a:off x="10327640" y="2560320"/>
            <a:ext cx="106680" cy="106680"/>
          </a:xfrm>
          <a:prstGeom prst="rect">
            <a:avLst/>
          </a:prstGeom>
        </p:spPr>
      </p:pic>
      <p:sp>
        <p:nvSpPr>
          <p:cNvPr id="130" name="Text 101"/>
          <p:cNvSpPr/>
          <p:nvPr/>
        </p:nvSpPr>
        <p:spPr>
          <a:xfrm>
            <a:off x="10472420" y="2545080"/>
            <a:ext cx="571500" cy="83820"/>
          </a:xfrm>
          <a:prstGeom prst="rect">
            <a:avLst/>
          </a:prstGeom>
          <a:noFill/>
          <a:ln/>
        </p:spPr>
        <p:txBody>
          <a:bodyPr wrap="square" lIns="0" tIns="0" rIns="0" bIns="0" rtlCol="0" anchor="ctr"/>
          <a:lstStyle/>
          <a:p>
            <a:r>
              <a:rPr lang="en-US" sz="417" b="1" dirty="0">
                <a:solidFill>
                  <a:srgbClr val="2D3748"/>
                </a:solidFill>
                <a:latin typeface="Arial" pitchFamily="34" charset="0"/>
                <a:ea typeface="Arial" pitchFamily="34" charset="-122"/>
                <a:cs typeface="Arial" pitchFamily="34" charset="-120"/>
              </a:rPr>
              <a:t>Rate Limiting</a:t>
            </a:r>
            <a:endParaRPr lang="en-US" sz="417" dirty="0"/>
          </a:p>
        </p:txBody>
      </p:sp>
      <p:sp>
        <p:nvSpPr>
          <p:cNvPr id="131" name="Text 102"/>
          <p:cNvSpPr/>
          <p:nvPr/>
        </p:nvSpPr>
        <p:spPr>
          <a:xfrm>
            <a:off x="10472420" y="2625090"/>
            <a:ext cx="571500" cy="76200"/>
          </a:xfrm>
          <a:prstGeom prst="rect">
            <a:avLst/>
          </a:prstGeom>
          <a:noFill/>
          <a:ln/>
        </p:spPr>
        <p:txBody>
          <a:bodyPr wrap="square" lIns="0" tIns="0" rIns="0" bIns="0" rtlCol="0" anchor="ctr"/>
          <a:lstStyle/>
          <a:p>
            <a:r>
              <a:rPr lang="en-US" sz="350" dirty="0">
                <a:solidFill>
                  <a:srgbClr val="77839A"/>
                </a:solidFill>
                <a:latin typeface="Arial" pitchFamily="34" charset="0"/>
                <a:ea typeface="Arial" pitchFamily="34" charset="-122"/>
                <a:cs typeface="Arial" pitchFamily="34" charset="-120"/>
              </a:rPr>
              <a:t>&amp; Abuse Prevention</a:t>
            </a:r>
            <a:endParaRPr lang="en-US" sz="350" dirty="0"/>
          </a:p>
        </p:txBody>
      </p:sp>
      <p:pic>
        <p:nvPicPr>
          <p:cNvPr id="132" name="Image 27" descr="/sessions/zealous-intelligent-mayer/mnt/outputs/icons7/audit.png"/>
          <p:cNvPicPr>
            <a:picLocks noChangeAspect="1"/>
          </p:cNvPicPr>
          <p:nvPr/>
        </p:nvPicPr>
        <p:blipFill>
          <a:blip r:embed="rId28"/>
          <a:stretch>
            <a:fillRect/>
          </a:stretch>
        </p:blipFill>
        <p:spPr>
          <a:xfrm>
            <a:off x="10327640" y="2895600"/>
            <a:ext cx="106680" cy="106680"/>
          </a:xfrm>
          <a:prstGeom prst="rect">
            <a:avLst/>
          </a:prstGeom>
        </p:spPr>
      </p:pic>
      <p:sp>
        <p:nvSpPr>
          <p:cNvPr id="133" name="Text 103"/>
          <p:cNvSpPr/>
          <p:nvPr/>
        </p:nvSpPr>
        <p:spPr>
          <a:xfrm>
            <a:off x="10472420" y="2880360"/>
            <a:ext cx="571500" cy="83820"/>
          </a:xfrm>
          <a:prstGeom prst="rect">
            <a:avLst/>
          </a:prstGeom>
          <a:noFill/>
          <a:ln/>
        </p:spPr>
        <p:txBody>
          <a:bodyPr wrap="square" lIns="0" tIns="0" rIns="0" bIns="0" rtlCol="0" anchor="ctr"/>
          <a:lstStyle/>
          <a:p>
            <a:r>
              <a:rPr lang="en-US" sz="417" b="1" dirty="0">
                <a:solidFill>
                  <a:srgbClr val="2D3748"/>
                </a:solidFill>
                <a:latin typeface="Arial" pitchFamily="34" charset="0"/>
                <a:ea typeface="Arial" pitchFamily="34" charset="-122"/>
                <a:cs typeface="Arial" pitchFamily="34" charset="-120"/>
              </a:rPr>
              <a:t>Audit Logs</a:t>
            </a:r>
            <a:endParaRPr lang="en-US" sz="417" dirty="0"/>
          </a:p>
        </p:txBody>
      </p:sp>
      <p:sp>
        <p:nvSpPr>
          <p:cNvPr id="134" name="Text 104"/>
          <p:cNvSpPr/>
          <p:nvPr/>
        </p:nvSpPr>
        <p:spPr>
          <a:xfrm>
            <a:off x="10472420" y="2960370"/>
            <a:ext cx="571500" cy="76200"/>
          </a:xfrm>
          <a:prstGeom prst="rect">
            <a:avLst/>
          </a:prstGeom>
          <a:noFill/>
          <a:ln/>
        </p:spPr>
        <p:txBody>
          <a:bodyPr wrap="square" lIns="0" tIns="0" rIns="0" bIns="0" rtlCol="0" anchor="ctr"/>
          <a:lstStyle/>
          <a:p>
            <a:r>
              <a:rPr lang="en-US" sz="350" dirty="0">
                <a:solidFill>
                  <a:srgbClr val="77839A"/>
                </a:solidFill>
                <a:latin typeface="Arial" pitchFamily="34" charset="0"/>
                <a:ea typeface="Arial" pitchFamily="34" charset="-122"/>
                <a:cs typeface="Arial" pitchFamily="34" charset="-120"/>
              </a:rPr>
              <a:t>&amp; Compliance</a:t>
            </a:r>
            <a:endParaRPr lang="en-US" sz="350" dirty="0"/>
          </a:p>
        </p:txBody>
      </p:sp>
      <p:pic>
        <p:nvPicPr>
          <p:cNvPr id="135" name="Image 28" descr="/sessions/zealous-intelligent-mayer/mnt/outputs/icons7/lineage.png"/>
          <p:cNvPicPr>
            <a:picLocks noChangeAspect="1"/>
          </p:cNvPicPr>
          <p:nvPr/>
        </p:nvPicPr>
        <p:blipFill>
          <a:blip r:embed="rId29"/>
          <a:stretch>
            <a:fillRect/>
          </a:stretch>
        </p:blipFill>
        <p:spPr>
          <a:xfrm>
            <a:off x="10327640" y="3230880"/>
            <a:ext cx="106680" cy="106680"/>
          </a:xfrm>
          <a:prstGeom prst="rect">
            <a:avLst/>
          </a:prstGeom>
        </p:spPr>
      </p:pic>
      <p:sp>
        <p:nvSpPr>
          <p:cNvPr id="136" name="Text 105"/>
          <p:cNvSpPr/>
          <p:nvPr/>
        </p:nvSpPr>
        <p:spPr>
          <a:xfrm>
            <a:off x="10472420" y="3215640"/>
            <a:ext cx="571500" cy="83820"/>
          </a:xfrm>
          <a:prstGeom prst="rect">
            <a:avLst/>
          </a:prstGeom>
          <a:noFill/>
          <a:ln/>
        </p:spPr>
        <p:txBody>
          <a:bodyPr wrap="square" lIns="0" tIns="0" rIns="0" bIns="0" rtlCol="0" anchor="ctr"/>
          <a:lstStyle/>
          <a:p>
            <a:r>
              <a:rPr lang="en-US" sz="417" b="1" dirty="0">
                <a:solidFill>
                  <a:srgbClr val="2D3748"/>
                </a:solidFill>
                <a:latin typeface="Arial" pitchFamily="34" charset="0"/>
                <a:ea typeface="Arial" pitchFamily="34" charset="-122"/>
                <a:cs typeface="Arial" pitchFamily="34" charset="-120"/>
              </a:rPr>
              <a:t>Data Lineage</a:t>
            </a:r>
            <a:endParaRPr lang="en-US" sz="417" dirty="0"/>
          </a:p>
        </p:txBody>
      </p:sp>
      <p:sp>
        <p:nvSpPr>
          <p:cNvPr id="137" name="Text 106"/>
          <p:cNvSpPr/>
          <p:nvPr/>
        </p:nvSpPr>
        <p:spPr>
          <a:xfrm>
            <a:off x="10472420" y="3295650"/>
            <a:ext cx="571500" cy="76200"/>
          </a:xfrm>
          <a:prstGeom prst="rect">
            <a:avLst/>
          </a:prstGeom>
          <a:noFill/>
          <a:ln/>
        </p:spPr>
        <p:txBody>
          <a:bodyPr wrap="square" lIns="0" tIns="0" rIns="0" bIns="0" rtlCol="0" anchor="ctr"/>
          <a:lstStyle/>
          <a:p>
            <a:r>
              <a:rPr lang="en-US" sz="350" dirty="0">
                <a:solidFill>
                  <a:srgbClr val="77839A"/>
                </a:solidFill>
                <a:latin typeface="Arial" pitchFamily="34" charset="0"/>
                <a:ea typeface="Arial" pitchFamily="34" charset="-122"/>
                <a:cs typeface="Arial" pitchFamily="34" charset="-120"/>
              </a:rPr>
              <a:t>(Purview governance)</a:t>
            </a:r>
            <a:endParaRPr lang="en-US" sz="350" dirty="0"/>
          </a:p>
        </p:txBody>
      </p:sp>
      <p:pic>
        <p:nvPicPr>
          <p:cNvPr id="138" name="Image 29" descr="/sessions/zealous-intelligent-mayer/mnt/outputs/icons7/policy.png"/>
          <p:cNvPicPr>
            <a:picLocks noChangeAspect="1"/>
          </p:cNvPicPr>
          <p:nvPr/>
        </p:nvPicPr>
        <p:blipFill>
          <a:blip r:embed="rId12"/>
          <a:stretch>
            <a:fillRect/>
          </a:stretch>
        </p:blipFill>
        <p:spPr>
          <a:xfrm>
            <a:off x="10327640" y="3566160"/>
            <a:ext cx="106680" cy="106680"/>
          </a:xfrm>
          <a:prstGeom prst="rect">
            <a:avLst/>
          </a:prstGeom>
        </p:spPr>
      </p:pic>
      <p:sp>
        <p:nvSpPr>
          <p:cNvPr id="139" name="Text 107"/>
          <p:cNvSpPr/>
          <p:nvPr/>
        </p:nvSpPr>
        <p:spPr>
          <a:xfrm>
            <a:off x="10472420" y="3550920"/>
            <a:ext cx="571500" cy="83820"/>
          </a:xfrm>
          <a:prstGeom prst="rect">
            <a:avLst/>
          </a:prstGeom>
          <a:noFill/>
          <a:ln/>
        </p:spPr>
        <p:txBody>
          <a:bodyPr wrap="square" lIns="0" tIns="0" rIns="0" bIns="0" rtlCol="0" anchor="ctr"/>
          <a:lstStyle/>
          <a:p>
            <a:r>
              <a:rPr lang="en-US" sz="417" b="1" dirty="0">
                <a:solidFill>
                  <a:srgbClr val="2D3748"/>
                </a:solidFill>
                <a:latin typeface="Arial" pitchFamily="34" charset="0"/>
                <a:ea typeface="Arial" pitchFamily="34" charset="-122"/>
                <a:cs typeface="Arial" pitchFamily="34" charset="-120"/>
              </a:rPr>
              <a:t>Azure Policy</a:t>
            </a:r>
            <a:endParaRPr lang="en-US" sz="417" dirty="0"/>
          </a:p>
        </p:txBody>
      </p:sp>
      <p:sp>
        <p:nvSpPr>
          <p:cNvPr id="140" name="Text 108"/>
          <p:cNvSpPr/>
          <p:nvPr/>
        </p:nvSpPr>
        <p:spPr>
          <a:xfrm>
            <a:off x="10472420" y="3630930"/>
            <a:ext cx="571500" cy="76200"/>
          </a:xfrm>
          <a:prstGeom prst="rect">
            <a:avLst/>
          </a:prstGeom>
          <a:noFill/>
          <a:ln/>
        </p:spPr>
        <p:txBody>
          <a:bodyPr wrap="square" lIns="0" tIns="0" rIns="0" bIns="0" rtlCol="0" anchor="ctr"/>
          <a:lstStyle/>
          <a:p>
            <a:r>
              <a:rPr lang="en-US" sz="350" dirty="0">
                <a:solidFill>
                  <a:srgbClr val="77839A"/>
                </a:solidFill>
                <a:latin typeface="Arial" pitchFamily="34" charset="0"/>
                <a:ea typeface="Arial" pitchFamily="34" charset="-122"/>
                <a:cs typeface="Arial" pitchFamily="34" charset="-120"/>
              </a:rPr>
              <a:t>&amp; Defender for Cloud</a:t>
            </a:r>
            <a:endParaRPr lang="en-US" sz="350" dirty="0"/>
          </a:p>
        </p:txBody>
      </p:sp>
      <p:pic>
        <p:nvPicPr>
          <p:cNvPr id="141" name="Image 30" descr="/sessions/zealous-intelligent-mayer/mnt/outputs/icons7/cert.png"/>
          <p:cNvPicPr>
            <a:picLocks noChangeAspect="1"/>
          </p:cNvPicPr>
          <p:nvPr/>
        </p:nvPicPr>
        <p:blipFill>
          <a:blip r:embed="rId30"/>
          <a:stretch>
            <a:fillRect/>
          </a:stretch>
        </p:blipFill>
        <p:spPr>
          <a:xfrm>
            <a:off x="10327640" y="3901440"/>
            <a:ext cx="106680" cy="106680"/>
          </a:xfrm>
          <a:prstGeom prst="rect">
            <a:avLst/>
          </a:prstGeom>
        </p:spPr>
      </p:pic>
      <p:sp>
        <p:nvSpPr>
          <p:cNvPr id="142" name="Text 109"/>
          <p:cNvSpPr/>
          <p:nvPr/>
        </p:nvSpPr>
        <p:spPr>
          <a:xfrm>
            <a:off x="10472420" y="3886200"/>
            <a:ext cx="571500" cy="83820"/>
          </a:xfrm>
          <a:prstGeom prst="rect">
            <a:avLst/>
          </a:prstGeom>
          <a:noFill/>
          <a:ln/>
        </p:spPr>
        <p:txBody>
          <a:bodyPr wrap="square" lIns="0" tIns="0" rIns="0" bIns="0" rtlCol="0" anchor="ctr"/>
          <a:lstStyle/>
          <a:p>
            <a:r>
              <a:rPr lang="en-US" sz="417" b="1" dirty="0">
                <a:solidFill>
                  <a:srgbClr val="2D3748"/>
                </a:solidFill>
                <a:latin typeface="Arial" pitchFamily="34" charset="0"/>
                <a:ea typeface="Arial" pitchFamily="34" charset="-122"/>
                <a:cs typeface="Arial" pitchFamily="34" charset="-120"/>
              </a:rPr>
              <a:t>Compliance</a:t>
            </a:r>
            <a:endParaRPr lang="en-US" sz="417" dirty="0"/>
          </a:p>
        </p:txBody>
      </p:sp>
      <p:sp>
        <p:nvSpPr>
          <p:cNvPr id="143" name="Text 110"/>
          <p:cNvSpPr/>
          <p:nvPr/>
        </p:nvSpPr>
        <p:spPr>
          <a:xfrm>
            <a:off x="10472420" y="3966210"/>
            <a:ext cx="571500" cy="76200"/>
          </a:xfrm>
          <a:prstGeom prst="rect">
            <a:avLst/>
          </a:prstGeom>
          <a:noFill/>
          <a:ln/>
        </p:spPr>
        <p:txBody>
          <a:bodyPr wrap="square" lIns="0" tIns="0" rIns="0" bIns="0" rtlCol="0" anchor="ctr"/>
          <a:lstStyle/>
          <a:p>
            <a:r>
              <a:rPr lang="en-US" sz="350" dirty="0">
                <a:solidFill>
                  <a:srgbClr val="77839A"/>
                </a:solidFill>
                <a:latin typeface="Arial" pitchFamily="34" charset="0"/>
                <a:ea typeface="Arial" pitchFamily="34" charset="-122"/>
                <a:cs typeface="Arial" pitchFamily="34" charset="-120"/>
              </a:rPr>
              <a:t>(GDPR, SOC 2, ISO)</a:t>
            </a:r>
            <a:endParaRPr lang="en-US" sz="350" dirty="0"/>
          </a:p>
        </p:txBody>
      </p:sp>
      <p:sp>
        <p:nvSpPr>
          <p:cNvPr id="144" name="Shape 111"/>
          <p:cNvSpPr/>
          <p:nvPr/>
        </p:nvSpPr>
        <p:spPr>
          <a:xfrm>
            <a:off x="1122680" y="2118360"/>
            <a:ext cx="6042660" cy="990600"/>
          </a:xfrm>
          <a:prstGeom prst="roundRect">
            <a:avLst>
              <a:gd name="adj" fmla="val 3462"/>
            </a:avLst>
          </a:prstGeom>
          <a:solidFill>
            <a:srgbClr val="FBFAFE"/>
          </a:solidFill>
          <a:ln w="9525">
            <a:solidFill>
              <a:srgbClr val="D3CCEC"/>
            </a:solidFill>
            <a:prstDash val="solid"/>
          </a:ln>
        </p:spPr>
      </p:sp>
      <p:sp>
        <p:nvSpPr>
          <p:cNvPr id="145" name="Text 112"/>
          <p:cNvSpPr/>
          <p:nvPr/>
        </p:nvSpPr>
        <p:spPr>
          <a:xfrm>
            <a:off x="2235200" y="2164080"/>
            <a:ext cx="3810000" cy="114300"/>
          </a:xfrm>
          <a:prstGeom prst="rect">
            <a:avLst/>
          </a:prstGeom>
          <a:noFill/>
          <a:ln/>
        </p:spPr>
        <p:txBody>
          <a:bodyPr wrap="square" lIns="0" tIns="0" rIns="0" bIns="0" rtlCol="0" anchor="ctr"/>
          <a:lstStyle/>
          <a:p>
            <a:pPr algn="ctr"/>
            <a:r>
              <a:rPr lang="en-US" sz="600" b="1" kern="0" spc="8" dirty="0">
                <a:solidFill>
                  <a:srgbClr val="5B4B9E"/>
                </a:solidFill>
                <a:latin typeface="Arial" pitchFamily="34" charset="0"/>
                <a:ea typeface="Arial" pitchFamily="34" charset="-122"/>
                <a:cs typeface="Arial" pitchFamily="34" charset="-120"/>
              </a:rPr>
              <a:t>6. AGENT ORCHESTRATOR &amp; WORKFLOW ENGINE</a:t>
            </a:r>
            <a:endParaRPr lang="en-US" sz="600" dirty="0"/>
          </a:p>
        </p:txBody>
      </p:sp>
      <p:sp>
        <p:nvSpPr>
          <p:cNvPr id="146" name="Text 113"/>
          <p:cNvSpPr/>
          <p:nvPr/>
        </p:nvSpPr>
        <p:spPr>
          <a:xfrm>
            <a:off x="1214120" y="2225040"/>
            <a:ext cx="1021080" cy="773430"/>
          </a:xfrm>
          <a:prstGeom prst="rect">
            <a:avLst/>
          </a:prstGeom>
          <a:noFill/>
          <a:ln/>
        </p:spPr>
        <p:txBody>
          <a:bodyPr wrap="square" lIns="0" tIns="0" rIns="0" bIns="0" rtlCol="0" anchor="ctr"/>
          <a:lstStyle/>
          <a:p>
            <a:pPr marL="63497" indent="-63497">
              <a:buSzPct val="100000"/>
              <a:buChar char="•"/>
            </a:pPr>
            <a:r>
              <a:rPr lang="en-US" sz="417" dirty="0">
                <a:solidFill>
                  <a:srgbClr val="2D3748"/>
                </a:solidFill>
                <a:latin typeface="Arial" pitchFamily="34" charset="0"/>
                <a:ea typeface="Arial" pitchFamily="34" charset="-122"/>
                <a:cs typeface="Arial" pitchFamily="34" charset="-120"/>
              </a:rPr>
              <a:t>Workflow Orchestration</a:t>
            </a:r>
            <a:endParaRPr lang="en-US" sz="417" dirty="0"/>
          </a:p>
          <a:p>
            <a:pPr marL="63497" indent="-63497">
              <a:buSzPct val="100000"/>
              <a:buChar char="•"/>
            </a:pPr>
            <a:r>
              <a:rPr lang="en-US" sz="417" dirty="0">
                <a:solidFill>
                  <a:srgbClr val="2D3748"/>
                </a:solidFill>
                <a:latin typeface="Arial" pitchFamily="34" charset="0"/>
                <a:ea typeface="Arial" pitchFamily="34" charset="-122"/>
                <a:cs typeface="Arial" pitchFamily="34" charset="-120"/>
              </a:rPr>
              <a:t>State Management</a:t>
            </a:r>
            <a:endParaRPr lang="en-US" sz="417" dirty="0"/>
          </a:p>
          <a:p>
            <a:pPr marL="63497" indent="-63497">
              <a:buSzPct val="100000"/>
              <a:buChar char="•"/>
            </a:pPr>
            <a:r>
              <a:rPr lang="en-US" sz="417" dirty="0">
                <a:solidFill>
                  <a:srgbClr val="2D3748"/>
                </a:solidFill>
                <a:latin typeface="Arial" pitchFamily="34" charset="0"/>
                <a:ea typeface="Arial" pitchFamily="34" charset="-122"/>
                <a:cs typeface="Arial" pitchFamily="34" charset="-120"/>
              </a:rPr>
              <a:t>Checkpoints</a:t>
            </a:r>
            <a:endParaRPr lang="en-US" sz="417" dirty="0"/>
          </a:p>
          <a:p>
            <a:pPr marL="63497" indent="-63497">
              <a:buSzPct val="100000"/>
              <a:buChar char="•"/>
            </a:pPr>
            <a:r>
              <a:rPr lang="en-US" sz="417" dirty="0">
                <a:solidFill>
                  <a:srgbClr val="2D3748"/>
                </a:solidFill>
                <a:latin typeface="Arial" pitchFamily="34" charset="0"/>
                <a:ea typeface="Arial" pitchFamily="34" charset="-122"/>
                <a:cs typeface="Arial" pitchFamily="34" charset="-120"/>
              </a:rPr>
              <a:t>Retries &amp; Timeouts</a:t>
            </a:r>
            <a:endParaRPr lang="en-US" sz="417" dirty="0"/>
          </a:p>
          <a:p>
            <a:pPr marL="63497" indent="-63497">
              <a:buSzPct val="100000"/>
              <a:buChar char="•"/>
            </a:pPr>
            <a:r>
              <a:rPr lang="en-US" sz="417" dirty="0">
                <a:solidFill>
                  <a:srgbClr val="2D3748"/>
                </a:solidFill>
                <a:latin typeface="Arial" pitchFamily="34" charset="0"/>
                <a:ea typeface="Arial" pitchFamily="34" charset="-122"/>
                <a:cs typeface="Arial" pitchFamily="34" charset="-120"/>
              </a:rPr>
              <a:t>Human-in-the-Loop</a:t>
            </a:r>
            <a:endParaRPr lang="en-US" sz="417" dirty="0"/>
          </a:p>
          <a:p>
            <a:pPr marL="63497" indent="-63497">
              <a:buSzPct val="100000"/>
              <a:buChar char="•"/>
            </a:pPr>
            <a:r>
              <a:rPr lang="en-US" sz="417" dirty="0">
                <a:solidFill>
                  <a:srgbClr val="2D3748"/>
                </a:solidFill>
                <a:latin typeface="Arial" pitchFamily="34" charset="0"/>
                <a:ea typeface="Arial" pitchFamily="34" charset="-122"/>
                <a:cs typeface="Arial" pitchFamily="34" charset="-120"/>
              </a:rPr>
              <a:t>Parallel Execution</a:t>
            </a:r>
            <a:endParaRPr lang="en-US" sz="417" dirty="0"/>
          </a:p>
          <a:p>
            <a:pPr marL="63497" indent="-63497">
              <a:buSzPct val="100000"/>
              <a:buChar char="•"/>
            </a:pPr>
            <a:r>
              <a:rPr lang="en-US" sz="417" dirty="0">
                <a:solidFill>
                  <a:srgbClr val="2D3748"/>
                </a:solidFill>
                <a:latin typeface="Arial" pitchFamily="34" charset="0"/>
                <a:ea typeface="Arial" pitchFamily="34" charset="-122"/>
                <a:cs typeface="Arial" pitchFamily="34" charset="-120"/>
              </a:rPr>
              <a:t>Event Driven</a:t>
            </a:r>
            <a:endParaRPr lang="en-US" sz="417" dirty="0"/>
          </a:p>
        </p:txBody>
      </p:sp>
      <p:sp>
        <p:nvSpPr>
          <p:cNvPr id="147" name="Shape 114"/>
          <p:cNvSpPr/>
          <p:nvPr/>
        </p:nvSpPr>
        <p:spPr>
          <a:xfrm>
            <a:off x="2326640" y="2331720"/>
            <a:ext cx="777240" cy="182880"/>
          </a:xfrm>
          <a:prstGeom prst="roundRect">
            <a:avLst>
              <a:gd name="adj" fmla="val 12500"/>
            </a:avLst>
          </a:prstGeom>
          <a:solidFill>
            <a:srgbClr val="FFFFFF"/>
          </a:solidFill>
          <a:ln w="9525">
            <a:solidFill>
              <a:srgbClr val="D3CCEC"/>
            </a:solidFill>
            <a:prstDash val="solid"/>
          </a:ln>
        </p:spPr>
      </p:sp>
      <p:sp>
        <p:nvSpPr>
          <p:cNvPr id="148" name="Text 115"/>
          <p:cNvSpPr/>
          <p:nvPr/>
        </p:nvSpPr>
        <p:spPr>
          <a:xfrm>
            <a:off x="2341880" y="2331720"/>
            <a:ext cx="746760" cy="182880"/>
          </a:xfrm>
          <a:prstGeom prst="rect">
            <a:avLst/>
          </a:prstGeom>
          <a:noFill/>
          <a:ln/>
        </p:spPr>
        <p:txBody>
          <a:bodyPr wrap="square" lIns="0" tIns="0" rIns="0" bIns="0" rtlCol="0" anchor="ctr"/>
          <a:lstStyle/>
          <a:p>
            <a:pPr algn="ctr"/>
            <a:r>
              <a:rPr lang="en-US" sz="400" b="1" dirty="0">
                <a:solidFill>
                  <a:srgbClr val="2D3748"/>
                </a:solidFill>
                <a:latin typeface="Arial" pitchFamily="34" charset="0"/>
                <a:ea typeface="Arial" pitchFamily="34" charset="-122"/>
                <a:cs typeface="Arial" pitchFamily="34" charset="-120"/>
              </a:rPr>
              <a:t>Foundry Agent</a:t>
            </a:r>
            <a:endParaRPr lang="en-US" sz="400" dirty="0"/>
          </a:p>
          <a:p>
            <a:pPr algn="ctr"/>
            <a:r>
              <a:rPr lang="en-US" sz="400" b="1" dirty="0">
                <a:solidFill>
                  <a:srgbClr val="2D3748"/>
                </a:solidFill>
                <a:latin typeface="Arial" pitchFamily="34" charset="0"/>
                <a:ea typeface="Arial" pitchFamily="34" charset="-122"/>
                <a:cs typeface="Arial" pitchFamily="34" charset="-120"/>
              </a:rPr>
              <a:t>Service</a:t>
            </a:r>
            <a:endParaRPr lang="en-US" sz="400" dirty="0"/>
          </a:p>
        </p:txBody>
      </p:sp>
      <p:sp>
        <p:nvSpPr>
          <p:cNvPr id="149" name="Shape 116"/>
          <p:cNvSpPr/>
          <p:nvPr/>
        </p:nvSpPr>
        <p:spPr>
          <a:xfrm>
            <a:off x="3149600" y="2331720"/>
            <a:ext cx="777240" cy="182880"/>
          </a:xfrm>
          <a:prstGeom prst="roundRect">
            <a:avLst>
              <a:gd name="adj" fmla="val 12500"/>
            </a:avLst>
          </a:prstGeom>
          <a:solidFill>
            <a:srgbClr val="FFFFFF"/>
          </a:solidFill>
          <a:ln w="9525">
            <a:solidFill>
              <a:srgbClr val="D3CCEC"/>
            </a:solidFill>
            <a:prstDash val="solid"/>
          </a:ln>
        </p:spPr>
      </p:sp>
      <p:sp>
        <p:nvSpPr>
          <p:cNvPr id="150" name="Text 117"/>
          <p:cNvSpPr/>
          <p:nvPr/>
        </p:nvSpPr>
        <p:spPr>
          <a:xfrm>
            <a:off x="3164840" y="2331720"/>
            <a:ext cx="746760" cy="182880"/>
          </a:xfrm>
          <a:prstGeom prst="rect">
            <a:avLst/>
          </a:prstGeom>
          <a:noFill/>
          <a:ln/>
        </p:spPr>
        <p:txBody>
          <a:bodyPr wrap="square" lIns="0" tIns="0" rIns="0" bIns="0" rtlCol="0" anchor="ctr"/>
          <a:lstStyle/>
          <a:p>
            <a:pPr algn="ctr"/>
            <a:r>
              <a:rPr lang="en-US" sz="400" b="1" dirty="0">
                <a:solidFill>
                  <a:srgbClr val="2D3748"/>
                </a:solidFill>
                <a:latin typeface="Arial" pitchFamily="34" charset="0"/>
                <a:ea typeface="Arial" pitchFamily="34" charset="-122"/>
                <a:cs typeface="Arial" pitchFamily="34" charset="-120"/>
              </a:rPr>
              <a:t>Semantic</a:t>
            </a:r>
            <a:endParaRPr lang="en-US" sz="400" dirty="0"/>
          </a:p>
          <a:p>
            <a:pPr algn="ctr"/>
            <a:r>
              <a:rPr lang="en-US" sz="400" b="1" dirty="0">
                <a:solidFill>
                  <a:srgbClr val="2D3748"/>
                </a:solidFill>
                <a:latin typeface="Arial" pitchFamily="34" charset="0"/>
                <a:ea typeface="Arial" pitchFamily="34" charset="-122"/>
                <a:cs typeface="Arial" pitchFamily="34" charset="-120"/>
              </a:rPr>
              <a:t>Kernel</a:t>
            </a:r>
            <a:endParaRPr lang="en-US" sz="400" dirty="0"/>
          </a:p>
        </p:txBody>
      </p:sp>
      <p:sp>
        <p:nvSpPr>
          <p:cNvPr id="151" name="Shape 118"/>
          <p:cNvSpPr/>
          <p:nvPr/>
        </p:nvSpPr>
        <p:spPr>
          <a:xfrm>
            <a:off x="3972560" y="2331720"/>
            <a:ext cx="777240" cy="182880"/>
          </a:xfrm>
          <a:prstGeom prst="roundRect">
            <a:avLst>
              <a:gd name="adj" fmla="val 12500"/>
            </a:avLst>
          </a:prstGeom>
          <a:solidFill>
            <a:srgbClr val="FFFFFF"/>
          </a:solidFill>
          <a:ln w="9525">
            <a:solidFill>
              <a:srgbClr val="D3CCEC"/>
            </a:solidFill>
            <a:prstDash val="solid"/>
          </a:ln>
        </p:spPr>
      </p:sp>
      <p:sp>
        <p:nvSpPr>
          <p:cNvPr id="152" name="Text 119"/>
          <p:cNvSpPr/>
          <p:nvPr/>
        </p:nvSpPr>
        <p:spPr>
          <a:xfrm>
            <a:off x="3987800" y="2331720"/>
            <a:ext cx="746760" cy="182880"/>
          </a:xfrm>
          <a:prstGeom prst="rect">
            <a:avLst/>
          </a:prstGeom>
          <a:noFill/>
          <a:ln/>
        </p:spPr>
        <p:txBody>
          <a:bodyPr wrap="square" lIns="0" tIns="0" rIns="0" bIns="0" rtlCol="0" anchor="ctr"/>
          <a:lstStyle/>
          <a:p>
            <a:pPr algn="ctr"/>
            <a:r>
              <a:rPr lang="en-US" sz="400" b="1" dirty="0">
                <a:solidFill>
                  <a:srgbClr val="2D3748"/>
                </a:solidFill>
                <a:latin typeface="Arial" pitchFamily="34" charset="0"/>
                <a:ea typeface="Arial" pitchFamily="34" charset="-122"/>
                <a:cs typeface="Arial" pitchFamily="34" charset="-120"/>
              </a:rPr>
              <a:t>AutoGen</a:t>
            </a:r>
            <a:endParaRPr lang="en-US" sz="400" dirty="0"/>
          </a:p>
        </p:txBody>
      </p:sp>
      <p:sp>
        <p:nvSpPr>
          <p:cNvPr id="153" name="Shape 120"/>
          <p:cNvSpPr/>
          <p:nvPr/>
        </p:nvSpPr>
        <p:spPr>
          <a:xfrm>
            <a:off x="4795520" y="2331720"/>
            <a:ext cx="777240" cy="182880"/>
          </a:xfrm>
          <a:prstGeom prst="roundRect">
            <a:avLst>
              <a:gd name="adj" fmla="val 12500"/>
            </a:avLst>
          </a:prstGeom>
          <a:solidFill>
            <a:srgbClr val="FFFFFF"/>
          </a:solidFill>
          <a:ln w="9525">
            <a:solidFill>
              <a:srgbClr val="D3CCEC"/>
            </a:solidFill>
            <a:prstDash val="solid"/>
          </a:ln>
        </p:spPr>
      </p:sp>
      <p:sp>
        <p:nvSpPr>
          <p:cNvPr id="154" name="Text 121"/>
          <p:cNvSpPr/>
          <p:nvPr/>
        </p:nvSpPr>
        <p:spPr>
          <a:xfrm>
            <a:off x="4810760" y="2331720"/>
            <a:ext cx="746760" cy="182880"/>
          </a:xfrm>
          <a:prstGeom prst="rect">
            <a:avLst/>
          </a:prstGeom>
          <a:noFill/>
          <a:ln/>
        </p:spPr>
        <p:txBody>
          <a:bodyPr wrap="square" lIns="0" tIns="0" rIns="0" bIns="0" rtlCol="0" anchor="ctr"/>
          <a:lstStyle/>
          <a:p>
            <a:pPr algn="ctr"/>
            <a:r>
              <a:rPr lang="en-US" sz="400" b="1" dirty="0">
                <a:solidFill>
                  <a:srgbClr val="2D3748"/>
                </a:solidFill>
                <a:latin typeface="Arial" pitchFamily="34" charset="0"/>
                <a:ea typeface="Arial" pitchFamily="34" charset="-122"/>
                <a:cs typeface="Arial" pitchFamily="34" charset="-120"/>
              </a:rPr>
              <a:t>LangGraph</a:t>
            </a:r>
            <a:endParaRPr lang="en-US" sz="400" dirty="0"/>
          </a:p>
        </p:txBody>
      </p:sp>
      <p:sp>
        <p:nvSpPr>
          <p:cNvPr id="155" name="Shape 122"/>
          <p:cNvSpPr/>
          <p:nvPr/>
        </p:nvSpPr>
        <p:spPr>
          <a:xfrm>
            <a:off x="5618480" y="2331720"/>
            <a:ext cx="777240" cy="182880"/>
          </a:xfrm>
          <a:prstGeom prst="roundRect">
            <a:avLst>
              <a:gd name="adj" fmla="val 12500"/>
            </a:avLst>
          </a:prstGeom>
          <a:solidFill>
            <a:srgbClr val="FFFFFF"/>
          </a:solidFill>
          <a:ln w="9525">
            <a:solidFill>
              <a:srgbClr val="D3CCEC"/>
            </a:solidFill>
            <a:prstDash val="solid"/>
          </a:ln>
        </p:spPr>
      </p:sp>
      <p:sp>
        <p:nvSpPr>
          <p:cNvPr id="156" name="Text 123"/>
          <p:cNvSpPr/>
          <p:nvPr/>
        </p:nvSpPr>
        <p:spPr>
          <a:xfrm>
            <a:off x="5633720" y="2331720"/>
            <a:ext cx="746760" cy="182880"/>
          </a:xfrm>
          <a:prstGeom prst="rect">
            <a:avLst/>
          </a:prstGeom>
          <a:noFill/>
          <a:ln/>
        </p:spPr>
        <p:txBody>
          <a:bodyPr wrap="square" lIns="0" tIns="0" rIns="0" bIns="0" rtlCol="0" anchor="ctr"/>
          <a:lstStyle/>
          <a:p>
            <a:pPr algn="ctr"/>
            <a:r>
              <a:rPr lang="en-US" sz="400" b="1" dirty="0">
                <a:solidFill>
                  <a:srgbClr val="2D3748"/>
                </a:solidFill>
                <a:latin typeface="Arial" pitchFamily="34" charset="0"/>
                <a:ea typeface="Arial" pitchFamily="34" charset="-122"/>
                <a:cs typeface="Arial" pitchFamily="34" charset="-120"/>
              </a:rPr>
              <a:t>Durable</a:t>
            </a:r>
            <a:endParaRPr lang="en-US" sz="400" dirty="0"/>
          </a:p>
          <a:p>
            <a:pPr algn="ctr"/>
            <a:r>
              <a:rPr lang="en-US" sz="400" b="1" dirty="0">
                <a:solidFill>
                  <a:srgbClr val="2D3748"/>
                </a:solidFill>
                <a:latin typeface="Arial" pitchFamily="34" charset="0"/>
                <a:ea typeface="Arial" pitchFamily="34" charset="-122"/>
                <a:cs typeface="Arial" pitchFamily="34" charset="-120"/>
              </a:rPr>
              <a:t>Functions</a:t>
            </a:r>
            <a:endParaRPr lang="en-US" sz="400" dirty="0"/>
          </a:p>
        </p:txBody>
      </p:sp>
      <p:sp>
        <p:nvSpPr>
          <p:cNvPr id="157" name="Shape 124"/>
          <p:cNvSpPr/>
          <p:nvPr/>
        </p:nvSpPr>
        <p:spPr>
          <a:xfrm>
            <a:off x="6441440" y="2331720"/>
            <a:ext cx="777240" cy="182880"/>
          </a:xfrm>
          <a:prstGeom prst="roundRect">
            <a:avLst>
              <a:gd name="adj" fmla="val 12500"/>
            </a:avLst>
          </a:prstGeom>
          <a:solidFill>
            <a:srgbClr val="FFFFFF"/>
          </a:solidFill>
          <a:ln w="9525">
            <a:solidFill>
              <a:srgbClr val="D3CCEC"/>
            </a:solidFill>
            <a:prstDash val="solid"/>
          </a:ln>
        </p:spPr>
      </p:sp>
      <p:sp>
        <p:nvSpPr>
          <p:cNvPr id="158" name="Text 125"/>
          <p:cNvSpPr/>
          <p:nvPr/>
        </p:nvSpPr>
        <p:spPr>
          <a:xfrm>
            <a:off x="6456680" y="2331720"/>
            <a:ext cx="746760" cy="182880"/>
          </a:xfrm>
          <a:prstGeom prst="rect">
            <a:avLst/>
          </a:prstGeom>
          <a:noFill/>
          <a:ln/>
        </p:spPr>
        <p:txBody>
          <a:bodyPr wrap="square" lIns="0" tIns="0" rIns="0" bIns="0" rtlCol="0" anchor="ctr"/>
          <a:lstStyle/>
          <a:p>
            <a:pPr algn="ctr"/>
            <a:r>
              <a:rPr lang="en-US" sz="400" b="1" dirty="0">
                <a:solidFill>
                  <a:srgbClr val="2D3748"/>
                </a:solidFill>
                <a:latin typeface="Arial" pitchFamily="34" charset="0"/>
                <a:ea typeface="Arial" pitchFamily="34" charset="-122"/>
                <a:cs typeface="Arial" pitchFamily="34" charset="-120"/>
              </a:rPr>
              <a:t>Logic Apps</a:t>
            </a:r>
            <a:endParaRPr lang="en-US" sz="400" dirty="0"/>
          </a:p>
        </p:txBody>
      </p:sp>
      <p:sp>
        <p:nvSpPr>
          <p:cNvPr id="159" name="Text 126"/>
          <p:cNvSpPr/>
          <p:nvPr/>
        </p:nvSpPr>
        <p:spPr>
          <a:xfrm>
            <a:off x="2326640" y="2575560"/>
            <a:ext cx="4754880" cy="91440"/>
          </a:xfrm>
          <a:prstGeom prst="rect">
            <a:avLst/>
          </a:prstGeom>
          <a:noFill/>
          <a:ln/>
        </p:spPr>
        <p:txBody>
          <a:bodyPr wrap="square" lIns="0" tIns="0" rIns="0" bIns="0" rtlCol="0" anchor="ctr"/>
          <a:lstStyle/>
          <a:p>
            <a:pPr algn="ctr"/>
            <a:r>
              <a:rPr lang="en-US" sz="450" b="1" dirty="0">
                <a:solidFill>
                  <a:srgbClr val="5B4B9E"/>
                </a:solidFill>
                <a:latin typeface="Arial" pitchFamily="34" charset="0"/>
                <a:ea typeface="Arial" pitchFamily="34" charset="-122"/>
                <a:cs typeface="Arial" pitchFamily="34" charset="-120"/>
              </a:rPr>
              <a:t>Agent Types (Examples)</a:t>
            </a:r>
            <a:endParaRPr lang="en-US" sz="450" dirty="0"/>
          </a:p>
        </p:txBody>
      </p:sp>
      <p:sp>
        <p:nvSpPr>
          <p:cNvPr id="160" name="Shape 127"/>
          <p:cNvSpPr/>
          <p:nvPr/>
        </p:nvSpPr>
        <p:spPr>
          <a:xfrm>
            <a:off x="2326640" y="2712720"/>
            <a:ext cx="556260" cy="182880"/>
          </a:xfrm>
          <a:prstGeom prst="roundRect">
            <a:avLst>
              <a:gd name="adj" fmla="val 12500"/>
            </a:avLst>
          </a:prstGeom>
          <a:solidFill>
            <a:srgbClr val="FFFFFF"/>
          </a:solidFill>
          <a:ln w="9525">
            <a:solidFill>
              <a:srgbClr val="D3CCEC"/>
            </a:solidFill>
            <a:prstDash val="solid"/>
          </a:ln>
        </p:spPr>
      </p:sp>
      <p:sp>
        <p:nvSpPr>
          <p:cNvPr id="161" name="Text 128"/>
          <p:cNvSpPr/>
          <p:nvPr/>
        </p:nvSpPr>
        <p:spPr>
          <a:xfrm>
            <a:off x="2341880" y="2712720"/>
            <a:ext cx="525780" cy="182880"/>
          </a:xfrm>
          <a:prstGeom prst="rect">
            <a:avLst/>
          </a:prstGeom>
          <a:noFill/>
          <a:ln/>
        </p:spPr>
        <p:txBody>
          <a:bodyPr wrap="square" lIns="0" tIns="0" rIns="0" bIns="0" rtlCol="0" anchor="ctr"/>
          <a:lstStyle/>
          <a:p>
            <a:pPr algn="ctr"/>
            <a:r>
              <a:rPr lang="en-US" sz="383" b="1" dirty="0">
                <a:solidFill>
                  <a:srgbClr val="2D3748"/>
                </a:solidFill>
                <a:latin typeface="Arial" pitchFamily="34" charset="0"/>
                <a:ea typeface="Arial" pitchFamily="34" charset="-122"/>
                <a:cs typeface="Arial" pitchFamily="34" charset="-120"/>
              </a:rPr>
              <a:t>Planner</a:t>
            </a:r>
            <a:endParaRPr lang="en-US" sz="383" dirty="0"/>
          </a:p>
          <a:p>
            <a:pPr algn="ctr"/>
            <a:r>
              <a:rPr lang="en-US" sz="383" b="1" dirty="0">
                <a:solidFill>
                  <a:srgbClr val="2D3748"/>
                </a:solidFill>
                <a:latin typeface="Arial" pitchFamily="34" charset="0"/>
                <a:ea typeface="Arial" pitchFamily="34" charset="-122"/>
                <a:cs typeface="Arial" pitchFamily="34" charset="-120"/>
              </a:rPr>
              <a:t>Agent</a:t>
            </a:r>
            <a:endParaRPr lang="en-US" sz="383" dirty="0"/>
          </a:p>
        </p:txBody>
      </p:sp>
      <p:sp>
        <p:nvSpPr>
          <p:cNvPr id="162" name="Shape 129"/>
          <p:cNvSpPr/>
          <p:nvPr/>
        </p:nvSpPr>
        <p:spPr>
          <a:xfrm>
            <a:off x="2921000" y="2712720"/>
            <a:ext cx="556260" cy="182880"/>
          </a:xfrm>
          <a:prstGeom prst="roundRect">
            <a:avLst>
              <a:gd name="adj" fmla="val 12500"/>
            </a:avLst>
          </a:prstGeom>
          <a:solidFill>
            <a:srgbClr val="FFFFFF"/>
          </a:solidFill>
          <a:ln w="9525">
            <a:solidFill>
              <a:srgbClr val="D3CCEC"/>
            </a:solidFill>
            <a:prstDash val="solid"/>
          </a:ln>
        </p:spPr>
      </p:sp>
      <p:sp>
        <p:nvSpPr>
          <p:cNvPr id="163" name="Text 130"/>
          <p:cNvSpPr/>
          <p:nvPr/>
        </p:nvSpPr>
        <p:spPr>
          <a:xfrm>
            <a:off x="2936240" y="2712720"/>
            <a:ext cx="525780" cy="182880"/>
          </a:xfrm>
          <a:prstGeom prst="rect">
            <a:avLst/>
          </a:prstGeom>
          <a:noFill/>
          <a:ln/>
        </p:spPr>
        <p:txBody>
          <a:bodyPr wrap="square" lIns="0" tIns="0" rIns="0" bIns="0" rtlCol="0" anchor="ctr"/>
          <a:lstStyle/>
          <a:p>
            <a:pPr algn="ctr"/>
            <a:r>
              <a:rPr lang="en-US" sz="383" b="1" dirty="0">
                <a:solidFill>
                  <a:srgbClr val="2D3748"/>
                </a:solidFill>
                <a:latin typeface="Arial" pitchFamily="34" charset="0"/>
                <a:ea typeface="Arial" pitchFamily="34" charset="-122"/>
                <a:cs typeface="Arial" pitchFamily="34" charset="-120"/>
              </a:rPr>
              <a:t>Quality</a:t>
            </a:r>
            <a:endParaRPr lang="en-US" sz="383" dirty="0"/>
          </a:p>
          <a:p>
            <a:pPr algn="ctr"/>
            <a:r>
              <a:rPr lang="en-US" sz="383" b="1" dirty="0">
                <a:solidFill>
                  <a:srgbClr val="2D3748"/>
                </a:solidFill>
                <a:latin typeface="Arial" pitchFamily="34" charset="0"/>
                <a:ea typeface="Arial" pitchFamily="34" charset="-122"/>
                <a:cs typeface="Arial" pitchFamily="34" charset="-120"/>
              </a:rPr>
              <a:t>Agent</a:t>
            </a:r>
            <a:endParaRPr lang="en-US" sz="383" dirty="0"/>
          </a:p>
        </p:txBody>
      </p:sp>
      <p:sp>
        <p:nvSpPr>
          <p:cNvPr id="164" name="Shape 131"/>
          <p:cNvSpPr/>
          <p:nvPr/>
        </p:nvSpPr>
        <p:spPr>
          <a:xfrm>
            <a:off x="3515360" y="2712720"/>
            <a:ext cx="556260" cy="182880"/>
          </a:xfrm>
          <a:prstGeom prst="roundRect">
            <a:avLst>
              <a:gd name="adj" fmla="val 12500"/>
            </a:avLst>
          </a:prstGeom>
          <a:solidFill>
            <a:srgbClr val="FFFFFF"/>
          </a:solidFill>
          <a:ln w="9525">
            <a:solidFill>
              <a:srgbClr val="D3CCEC"/>
            </a:solidFill>
            <a:prstDash val="solid"/>
          </a:ln>
        </p:spPr>
      </p:sp>
      <p:sp>
        <p:nvSpPr>
          <p:cNvPr id="165" name="Text 132"/>
          <p:cNvSpPr/>
          <p:nvPr/>
        </p:nvSpPr>
        <p:spPr>
          <a:xfrm>
            <a:off x="3530600" y="2712720"/>
            <a:ext cx="525780" cy="182880"/>
          </a:xfrm>
          <a:prstGeom prst="rect">
            <a:avLst/>
          </a:prstGeom>
          <a:noFill/>
          <a:ln/>
        </p:spPr>
        <p:txBody>
          <a:bodyPr wrap="square" lIns="0" tIns="0" rIns="0" bIns="0" rtlCol="0" anchor="ctr"/>
          <a:lstStyle/>
          <a:p>
            <a:pPr algn="ctr"/>
            <a:r>
              <a:rPr lang="en-US" sz="383" b="1" dirty="0">
                <a:solidFill>
                  <a:srgbClr val="2D3748"/>
                </a:solidFill>
                <a:latin typeface="Arial" pitchFamily="34" charset="0"/>
                <a:ea typeface="Arial" pitchFamily="34" charset="-122"/>
                <a:cs typeface="Arial" pitchFamily="34" charset="-120"/>
              </a:rPr>
              <a:t>Maintenance</a:t>
            </a:r>
            <a:endParaRPr lang="en-US" sz="383" dirty="0"/>
          </a:p>
          <a:p>
            <a:pPr algn="ctr"/>
            <a:r>
              <a:rPr lang="en-US" sz="383" b="1" dirty="0">
                <a:solidFill>
                  <a:srgbClr val="2D3748"/>
                </a:solidFill>
                <a:latin typeface="Arial" pitchFamily="34" charset="0"/>
                <a:ea typeface="Arial" pitchFamily="34" charset="-122"/>
                <a:cs typeface="Arial" pitchFamily="34" charset="-120"/>
              </a:rPr>
              <a:t>Agent</a:t>
            </a:r>
            <a:endParaRPr lang="en-US" sz="383" dirty="0"/>
          </a:p>
        </p:txBody>
      </p:sp>
      <p:sp>
        <p:nvSpPr>
          <p:cNvPr id="166" name="Shape 133"/>
          <p:cNvSpPr/>
          <p:nvPr/>
        </p:nvSpPr>
        <p:spPr>
          <a:xfrm>
            <a:off x="4109720" y="2712720"/>
            <a:ext cx="556260" cy="182880"/>
          </a:xfrm>
          <a:prstGeom prst="roundRect">
            <a:avLst>
              <a:gd name="adj" fmla="val 12500"/>
            </a:avLst>
          </a:prstGeom>
          <a:solidFill>
            <a:srgbClr val="FFFFFF"/>
          </a:solidFill>
          <a:ln w="9525">
            <a:solidFill>
              <a:srgbClr val="D3CCEC"/>
            </a:solidFill>
            <a:prstDash val="solid"/>
          </a:ln>
        </p:spPr>
      </p:sp>
      <p:sp>
        <p:nvSpPr>
          <p:cNvPr id="167" name="Text 134"/>
          <p:cNvSpPr/>
          <p:nvPr/>
        </p:nvSpPr>
        <p:spPr>
          <a:xfrm>
            <a:off x="4124960" y="2712720"/>
            <a:ext cx="525780" cy="182880"/>
          </a:xfrm>
          <a:prstGeom prst="rect">
            <a:avLst/>
          </a:prstGeom>
          <a:noFill/>
          <a:ln/>
        </p:spPr>
        <p:txBody>
          <a:bodyPr wrap="square" lIns="0" tIns="0" rIns="0" bIns="0" rtlCol="0" anchor="ctr"/>
          <a:lstStyle/>
          <a:p>
            <a:pPr algn="ctr"/>
            <a:r>
              <a:rPr lang="en-US" sz="383" b="1" dirty="0">
                <a:solidFill>
                  <a:srgbClr val="2D3748"/>
                </a:solidFill>
                <a:latin typeface="Arial" pitchFamily="34" charset="0"/>
                <a:ea typeface="Arial" pitchFamily="34" charset="-122"/>
                <a:cs typeface="Arial" pitchFamily="34" charset="-120"/>
              </a:rPr>
              <a:t>Supply</a:t>
            </a:r>
            <a:endParaRPr lang="en-US" sz="383" dirty="0"/>
          </a:p>
          <a:p>
            <a:pPr algn="ctr"/>
            <a:r>
              <a:rPr lang="en-US" sz="383" b="1" dirty="0">
                <a:solidFill>
                  <a:srgbClr val="2D3748"/>
                </a:solidFill>
                <a:latin typeface="Arial" pitchFamily="34" charset="0"/>
                <a:ea typeface="Arial" pitchFamily="34" charset="-122"/>
                <a:cs typeface="Arial" pitchFamily="34" charset="-120"/>
              </a:rPr>
              <a:t>Agent</a:t>
            </a:r>
            <a:endParaRPr lang="en-US" sz="383" dirty="0"/>
          </a:p>
        </p:txBody>
      </p:sp>
      <p:sp>
        <p:nvSpPr>
          <p:cNvPr id="168" name="Shape 135"/>
          <p:cNvSpPr/>
          <p:nvPr/>
        </p:nvSpPr>
        <p:spPr>
          <a:xfrm>
            <a:off x="4704080" y="2712720"/>
            <a:ext cx="556260" cy="182880"/>
          </a:xfrm>
          <a:prstGeom prst="roundRect">
            <a:avLst>
              <a:gd name="adj" fmla="val 12500"/>
            </a:avLst>
          </a:prstGeom>
          <a:solidFill>
            <a:srgbClr val="FFFFFF"/>
          </a:solidFill>
          <a:ln w="9525">
            <a:solidFill>
              <a:srgbClr val="D3CCEC"/>
            </a:solidFill>
            <a:prstDash val="solid"/>
          </a:ln>
        </p:spPr>
      </p:sp>
      <p:sp>
        <p:nvSpPr>
          <p:cNvPr id="169" name="Text 136"/>
          <p:cNvSpPr/>
          <p:nvPr/>
        </p:nvSpPr>
        <p:spPr>
          <a:xfrm>
            <a:off x="4719320" y="2712720"/>
            <a:ext cx="525780" cy="182880"/>
          </a:xfrm>
          <a:prstGeom prst="rect">
            <a:avLst/>
          </a:prstGeom>
          <a:noFill/>
          <a:ln/>
        </p:spPr>
        <p:txBody>
          <a:bodyPr wrap="square" lIns="0" tIns="0" rIns="0" bIns="0" rtlCol="0" anchor="ctr"/>
          <a:lstStyle/>
          <a:p>
            <a:pPr algn="ctr"/>
            <a:r>
              <a:rPr lang="en-US" sz="383" b="1" dirty="0">
                <a:solidFill>
                  <a:srgbClr val="2D3748"/>
                </a:solidFill>
                <a:latin typeface="Arial" pitchFamily="34" charset="0"/>
                <a:ea typeface="Arial" pitchFamily="34" charset="-122"/>
                <a:cs typeface="Arial" pitchFamily="34" charset="-120"/>
              </a:rPr>
              <a:t>Spec</a:t>
            </a:r>
            <a:endParaRPr lang="en-US" sz="383" dirty="0"/>
          </a:p>
          <a:p>
            <a:pPr algn="ctr"/>
            <a:r>
              <a:rPr lang="en-US" sz="383" b="1" dirty="0">
                <a:solidFill>
                  <a:srgbClr val="2D3748"/>
                </a:solidFill>
                <a:latin typeface="Arial" pitchFamily="34" charset="0"/>
                <a:ea typeface="Arial" pitchFamily="34" charset="-122"/>
                <a:cs typeface="Arial" pitchFamily="34" charset="-120"/>
              </a:rPr>
              <a:t>Agent</a:t>
            </a:r>
            <a:endParaRPr lang="en-US" sz="383" dirty="0"/>
          </a:p>
        </p:txBody>
      </p:sp>
      <p:sp>
        <p:nvSpPr>
          <p:cNvPr id="170" name="Shape 137"/>
          <p:cNvSpPr/>
          <p:nvPr/>
        </p:nvSpPr>
        <p:spPr>
          <a:xfrm>
            <a:off x="5298440" y="2712720"/>
            <a:ext cx="556260" cy="182880"/>
          </a:xfrm>
          <a:prstGeom prst="roundRect">
            <a:avLst>
              <a:gd name="adj" fmla="val 12500"/>
            </a:avLst>
          </a:prstGeom>
          <a:solidFill>
            <a:srgbClr val="FFFFFF"/>
          </a:solidFill>
          <a:ln w="9525">
            <a:solidFill>
              <a:srgbClr val="D3CCEC"/>
            </a:solidFill>
            <a:prstDash val="solid"/>
          </a:ln>
        </p:spPr>
      </p:sp>
      <p:sp>
        <p:nvSpPr>
          <p:cNvPr id="171" name="Text 138"/>
          <p:cNvSpPr/>
          <p:nvPr/>
        </p:nvSpPr>
        <p:spPr>
          <a:xfrm>
            <a:off x="5313680" y="2712720"/>
            <a:ext cx="525780" cy="182880"/>
          </a:xfrm>
          <a:prstGeom prst="rect">
            <a:avLst/>
          </a:prstGeom>
          <a:noFill/>
          <a:ln/>
        </p:spPr>
        <p:txBody>
          <a:bodyPr wrap="square" lIns="0" tIns="0" rIns="0" bIns="0" rtlCol="0" anchor="ctr"/>
          <a:lstStyle/>
          <a:p>
            <a:pPr algn="ctr"/>
            <a:r>
              <a:rPr lang="en-US" sz="383" b="1" dirty="0">
                <a:solidFill>
                  <a:srgbClr val="2D3748"/>
                </a:solidFill>
                <a:latin typeface="Arial" pitchFamily="34" charset="0"/>
                <a:ea typeface="Arial" pitchFamily="34" charset="-122"/>
                <a:cs typeface="Arial" pitchFamily="34" charset="-120"/>
              </a:rPr>
              <a:t>Sustainability</a:t>
            </a:r>
            <a:endParaRPr lang="en-US" sz="383" dirty="0"/>
          </a:p>
          <a:p>
            <a:pPr algn="ctr"/>
            <a:r>
              <a:rPr lang="en-US" sz="383" b="1" dirty="0">
                <a:solidFill>
                  <a:srgbClr val="2D3748"/>
                </a:solidFill>
                <a:latin typeface="Arial" pitchFamily="34" charset="0"/>
                <a:ea typeface="Arial" pitchFamily="34" charset="-122"/>
                <a:cs typeface="Arial" pitchFamily="34" charset="-120"/>
              </a:rPr>
              <a:t>Agent</a:t>
            </a:r>
            <a:endParaRPr lang="en-US" sz="383" dirty="0"/>
          </a:p>
        </p:txBody>
      </p:sp>
      <p:sp>
        <p:nvSpPr>
          <p:cNvPr id="172" name="Shape 139"/>
          <p:cNvSpPr/>
          <p:nvPr/>
        </p:nvSpPr>
        <p:spPr>
          <a:xfrm>
            <a:off x="5892800" y="2712720"/>
            <a:ext cx="556260" cy="182880"/>
          </a:xfrm>
          <a:prstGeom prst="roundRect">
            <a:avLst>
              <a:gd name="adj" fmla="val 12500"/>
            </a:avLst>
          </a:prstGeom>
          <a:solidFill>
            <a:srgbClr val="FFFFFF"/>
          </a:solidFill>
          <a:ln w="9525">
            <a:solidFill>
              <a:srgbClr val="D3CCEC"/>
            </a:solidFill>
            <a:prstDash val="solid"/>
          </a:ln>
        </p:spPr>
      </p:sp>
      <p:sp>
        <p:nvSpPr>
          <p:cNvPr id="173" name="Text 140"/>
          <p:cNvSpPr/>
          <p:nvPr/>
        </p:nvSpPr>
        <p:spPr>
          <a:xfrm>
            <a:off x="5908040" y="2712720"/>
            <a:ext cx="525780" cy="182880"/>
          </a:xfrm>
          <a:prstGeom prst="rect">
            <a:avLst/>
          </a:prstGeom>
          <a:noFill/>
          <a:ln/>
        </p:spPr>
        <p:txBody>
          <a:bodyPr wrap="square" lIns="0" tIns="0" rIns="0" bIns="0" rtlCol="0" anchor="ctr"/>
          <a:lstStyle/>
          <a:p>
            <a:pPr algn="ctr"/>
            <a:r>
              <a:rPr lang="en-US" sz="383" b="1" dirty="0">
                <a:solidFill>
                  <a:srgbClr val="2D3748"/>
                </a:solidFill>
                <a:latin typeface="Arial" pitchFamily="34" charset="0"/>
                <a:ea typeface="Arial" pitchFamily="34" charset="-122"/>
                <a:cs typeface="Arial" pitchFamily="34" charset="-120"/>
              </a:rPr>
              <a:t>Analyst</a:t>
            </a:r>
            <a:endParaRPr lang="en-US" sz="383" dirty="0"/>
          </a:p>
          <a:p>
            <a:pPr algn="ctr"/>
            <a:r>
              <a:rPr lang="en-US" sz="383" b="1" dirty="0">
                <a:solidFill>
                  <a:srgbClr val="2D3748"/>
                </a:solidFill>
                <a:latin typeface="Arial" pitchFamily="34" charset="0"/>
                <a:ea typeface="Arial" pitchFamily="34" charset="-122"/>
                <a:cs typeface="Arial" pitchFamily="34" charset="-120"/>
              </a:rPr>
              <a:t>Agent</a:t>
            </a:r>
            <a:endParaRPr lang="en-US" sz="383" dirty="0"/>
          </a:p>
        </p:txBody>
      </p:sp>
      <p:sp>
        <p:nvSpPr>
          <p:cNvPr id="174" name="Shape 141"/>
          <p:cNvSpPr/>
          <p:nvPr/>
        </p:nvSpPr>
        <p:spPr>
          <a:xfrm>
            <a:off x="6487160" y="2712720"/>
            <a:ext cx="556260" cy="182880"/>
          </a:xfrm>
          <a:prstGeom prst="roundRect">
            <a:avLst>
              <a:gd name="adj" fmla="val 12500"/>
            </a:avLst>
          </a:prstGeom>
          <a:solidFill>
            <a:srgbClr val="FFFFFF"/>
          </a:solidFill>
          <a:ln w="9525">
            <a:solidFill>
              <a:srgbClr val="D3CCEC"/>
            </a:solidFill>
            <a:prstDash val="solid"/>
          </a:ln>
        </p:spPr>
      </p:sp>
      <p:sp>
        <p:nvSpPr>
          <p:cNvPr id="175" name="Text 142"/>
          <p:cNvSpPr/>
          <p:nvPr/>
        </p:nvSpPr>
        <p:spPr>
          <a:xfrm>
            <a:off x="6502400" y="2712720"/>
            <a:ext cx="525780" cy="182880"/>
          </a:xfrm>
          <a:prstGeom prst="rect">
            <a:avLst/>
          </a:prstGeom>
          <a:noFill/>
          <a:ln/>
        </p:spPr>
        <p:txBody>
          <a:bodyPr wrap="square" lIns="0" tIns="0" rIns="0" bIns="0" rtlCol="0" anchor="ctr"/>
          <a:lstStyle/>
          <a:p>
            <a:pPr algn="ctr"/>
            <a:r>
              <a:rPr lang="en-US" sz="383" b="1" dirty="0">
                <a:solidFill>
                  <a:srgbClr val="2D3748"/>
                </a:solidFill>
                <a:latin typeface="Arial" pitchFamily="34" charset="0"/>
                <a:ea typeface="Arial" pitchFamily="34" charset="-122"/>
                <a:cs typeface="Arial" pitchFamily="34" charset="-120"/>
              </a:rPr>
              <a:t>…More</a:t>
            </a:r>
            <a:endParaRPr lang="en-US" sz="383" dirty="0"/>
          </a:p>
          <a:p>
            <a:pPr algn="ctr"/>
            <a:r>
              <a:rPr lang="en-US" sz="383" b="1" dirty="0">
                <a:solidFill>
                  <a:srgbClr val="2D3748"/>
                </a:solidFill>
                <a:latin typeface="Arial" pitchFamily="34" charset="0"/>
                <a:ea typeface="Arial" pitchFamily="34" charset="-122"/>
                <a:cs typeface="Arial" pitchFamily="34" charset="-120"/>
              </a:rPr>
              <a:t>Agents</a:t>
            </a:r>
            <a:endParaRPr lang="en-US" sz="383" dirty="0"/>
          </a:p>
        </p:txBody>
      </p:sp>
      <p:sp>
        <p:nvSpPr>
          <p:cNvPr id="176" name="Shape 143"/>
          <p:cNvSpPr/>
          <p:nvPr/>
        </p:nvSpPr>
        <p:spPr>
          <a:xfrm>
            <a:off x="7447280" y="2118360"/>
            <a:ext cx="2697480" cy="990600"/>
          </a:xfrm>
          <a:prstGeom prst="roundRect">
            <a:avLst>
              <a:gd name="adj" fmla="val 3462"/>
            </a:avLst>
          </a:prstGeom>
          <a:solidFill>
            <a:srgbClr val="FFFDF8"/>
          </a:solidFill>
          <a:ln w="9525">
            <a:solidFill>
              <a:srgbClr val="EBD6AE"/>
            </a:solidFill>
            <a:prstDash val="solid"/>
          </a:ln>
        </p:spPr>
      </p:sp>
      <p:sp>
        <p:nvSpPr>
          <p:cNvPr id="177" name="Text 144"/>
          <p:cNvSpPr/>
          <p:nvPr/>
        </p:nvSpPr>
        <p:spPr>
          <a:xfrm>
            <a:off x="7447280" y="2164080"/>
            <a:ext cx="2697480" cy="114300"/>
          </a:xfrm>
          <a:prstGeom prst="rect">
            <a:avLst/>
          </a:prstGeom>
          <a:noFill/>
          <a:ln/>
        </p:spPr>
        <p:txBody>
          <a:bodyPr wrap="square" lIns="0" tIns="0" rIns="0" bIns="0" rtlCol="0" anchor="ctr"/>
          <a:lstStyle/>
          <a:p>
            <a:pPr algn="ctr"/>
            <a:r>
              <a:rPr lang="en-US" sz="583" b="1" kern="0" spc="8" dirty="0">
                <a:solidFill>
                  <a:srgbClr val="B4761C"/>
                </a:solidFill>
                <a:latin typeface="Arial" pitchFamily="34" charset="0"/>
                <a:ea typeface="Arial" pitchFamily="34" charset="-122"/>
                <a:cs typeface="Arial" pitchFamily="34" charset="-120"/>
              </a:rPr>
              <a:t>7. MEMORY LAYER</a:t>
            </a:r>
            <a:endParaRPr lang="en-US" sz="583" dirty="0"/>
          </a:p>
        </p:txBody>
      </p:sp>
      <p:sp>
        <p:nvSpPr>
          <p:cNvPr id="178" name="Shape 145"/>
          <p:cNvSpPr/>
          <p:nvPr/>
        </p:nvSpPr>
        <p:spPr>
          <a:xfrm>
            <a:off x="7538720" y="2331720"/>
            <a:ext cx="807720" cy="274320"/>
          </a:xfrm>
          <a:prstGeom prst="roundRect">
            <a:avLst>
              <a:gd name="adj" fmla="val 8333"/>
            </a:avLst>
          </a:prstGeom>
          <a:solidFill>
            <a:srgbClr val="FFFFFF"/>
          </a:solidFill>
          <a:ln w="9525">
            <a:solidFill>
              <a:srgbClr val="EBD6AE"/>
            </a:solidFill>
            <a:prstDash val="solid"/>
          </a:ln>
        </p:spPr>
      </p:sp>
      <p:sp>
        <p:nvSpPr>
          <p:cNvPr id="179" name="Text 146"/>
          <p:cNvSpPr/>
          <p:nvPr/>
        </p:nvSpPr>
        <p:spPr>
          <a:xfrm>
            <a:off x="7553960" y="2354580"/>
            <a:ext cx="777240" cy="91440"/>
          </a:xfrm>
          <a:prstGeom prst="rect">
            <a:avLst/>
          </a:prstGeom>
          <a:noFill/>
          <a:ln/>
        </p:spPr>
        <p:txBody>
          <a:bodyPr wrap="square" lIns="0" tIns="0" rIns="0" bIns="0" rtlCol="0" anchor="ctr"/>
          <a:lstStyle/>
          <a:p>
            <a:pPr algn="ctr"/>
            <a:r>
              <a:rPr lang="en-US" sz="417" b="1" dirty="0">
                <a:solidFill>
                  <a:srgbClr val="2D3748"/>
                </a:solidFill>
                <a:latin typeface="Arial" pitchFamily="34" charset="0"/>
                <a:ea typeface="Arial" pitchFamily="34" charset="-122"/>
                <a:cs typeface="Arial" pitchFamily="34" charset="-120"/>
              </a:rPr>
              <a:t>Working Memory</a:t>
            </a:r>
            <a:endParaRPr lang="en-US" sz="417" dirty="0"/>
          </a:p>
        </p:txBody>
      </p:sp>
      <p:sp>
        <p:nvSpPr>
          <p:cNvPr id="180" name="Text 147"/>
          <p:cNvSpPr/>
          <p:nvPr/>
        </p:nvSpPr>
        <p:spPr>
          <a:xfrm>
            <a:off x="7553960" y="2453640"/>
            <a:ext cx="777240" cy="83820"/>
          </a:xfrm>
          <a:prstGeom prst="rect">
            <a:avLst/>
          </a:prstGeom>
          <a:noFill/>
          <a:ln/>
        </p:spPr>
        <p:txBody>
          <a:bodyPr wrap="square" lIns="0" tIns="0" rIns="0" bIns="0" rtlCol="0" anchor="ctr"/>
          <a:lstStyle/>
          <a:p>
            <a:pPr algn="ctr"/>
            <a:r>
              <a:rPr lang="en-US" sz="367" dirty="0">
                <a:solidFill>
                  <a:srgbClr val="77839A"/>
                </a:solidFill>
                <a:latin typeface="Arial" pitchFamily="34" charset="0"/>
                <a:ea typeface="Arial" pitchFamily="34" charset="-122"/>
                <a:cs typeface="Arial" pitchFamily="34" charset="-120"/>
              </a:rPr>
              <a:t>(Short-term)</a:t>
            </a:r>
            <a:endParaRPr lang="en-US" sz="367" dirty="0"/>
          </a:p>
        </p:txBody>
      </p:sp>
      <p:sp>
        <p:nvSpPr>
          <p:cNvPr id="181" name="Shape 148"/>
          <p:cNvSpPr/>
          <p:nvPr/>
        </p:nvSpPr>
        <p:spPr>
          <a:xfrm>
            <a:off x="8392160" y="2331720"/>
            <a:ext cx="807720" cy="274320"/>
          </a:xfrm>
          <a:prstGeom prst="roundRect">
            <a:avLst>
              <a:gd name="adj" fmla="val 8333"/>
            </a:avLst>
          </a:prstGeom>
          <a:solidFill>
            <a:srgbClr val="FFFFFF"/>
          </a:solidFill>
          <a:ln w="9525">
            <a:solidFill>
              <a:srgbClr val="EBD6AE"/>
            </a:solidFill>
            <a:prstDash val="solid"/>
          </a:ln>
        </p:spPr>
      </p:sp>
      <p:sp>
        <p:nvSpPr>
          <p:cNvPr id="182" name="Text 149"/>
          <p:cNvSpPr/>
          <p:nvPr/>
        </p:nvSpPr>
        <p:spPr>
          <a:xfrm>
            <a:off x="8407400" y="2354580"/>
            <a:ext cx="777240" cy="91440"/>
          </a:xfrm>
          <a:prstGeom prst="rect">
            <a:avLst/>
          </a:prstGeom>
          <a:noFill/>
          <a:ln/>
        </p:spPr>
        <p:txBody>
          <a:bodyPr wrap="square" lIns="0" tIns="0" rIns="0" bIns="0" rtlCol="0" anchor="ctr"/>
          <a:lstStyle/>
          <a:p>
            <a:pPr algn="ctr"/>
            <a:r>
              <a:rPr lang="en-US" sz="417" b="1" dirty="0">
                <a:solidFill>
                  <a:srgbClr val="2D3748"/>
                </a:solidFill>
                <a:latin typeface="Arial" pitchFamily="34" charset="0"/>
                <a:ea typeface="Arial" pitchFamily="34" charset="-122"/>
                <a:cs typeface="Arial" pitchFamily="34" charset="-120"/>
              </a:rPr>
              <a:t>Conversation Memory</a:t>
            </a:r>
            <a:endParaRPr lang="en-US" sz="417" dirty="0"/>
          </a:p>
        </p:txBody>
      </p:sp>
      <p:sp>
        <p:nvSpPr>
          <p:cNvPr id="183" name="Text 150"/>
          <p:cNvSpPr/>
          <p:nvPr/>
        </p:nvSpPr>
        <p:spPr>
          <a:xfrm>
            <a:off x="8407400" y="2453640"/>
            <a:ext cx="777240" cy="83820"/>
          </a:xfrm>
          <a:prstGeom prst="rect">
            <a:avLst/>
          </a:prstGeom>
          <a:noFill/>
          <a:ln/>
        </p:spPr>
        <p:txBody>
          <a:bodyPr wrap="square" lIns="0" tIns="0" rIns="0" bIns="0" rtlCol="0" anchor="ctr"/>
          <a:lstStyle/>
          <a:p>
            <a:pPr algn="ctr"/>
            <a:r>
              <a:rPr lang="en-US" sz="367" dirty="0">
                <a:solidFill>
                  <a:srgbClr val="77839A"/>
                </a:solidFill>
                <a:latin typeface="Arial" pitchFamily="34" charset="0"/>
                <a:ea typeface="Arial" pitchFamily="34" charset="-122"/>
                <a:cs typeface="Arial" pitchFamily="34" charset="-120"/>
              </a:rPr>
              <a:t>(Session)</a:t>
            </a:r>
            <a:endParaRPr lang="en-US" sz="367" dirty="0"/>
          </a:p>
        </p:txBody>
      </p:sp>
      <p:sp>
        <p:nvSpPr>
          <p:cNvPr id="184" name="Shape 151"/>
          <p:cNvSpPr/>
          <p:nvPr/>
        </p:nvSpPr>
        <p:spPr>
          <a:xfrm>
            <a:off x="9245600" y="2331720"/>
            <a:ext cx="807720" cy="274320"/>
          </a:xfrm>
          <a:prstGeom prst="roundRect">
            <a:avLst>
              <a:gd name="adj" fmla="val 8333"/>
            </a:avLst>
          </a:prstGeom>
          <a:solidFill>
            <a:srgbClr val="FFFFFF"/>
          </a:solidFill>
          <a:ln w="9525">
            <a:solidFill>
              <a:srgbClr val="EBD6AE"/>
            </a:solidFill>
            <a:prstDash val="solid"/>
          </a:ln>
        </p:spPr>
      </p:sp>
      <p:sp>
        <p:nvSpPr>
          <p:cNvPr id="185" name="Text 152"/>
          <p:cNvSpPr/>
          <p:nvPr/>
        </p:nvSpPr>
        <p:spPr>
          <a:xfrm>
            <a:off x="9260840" y="2354580"/>
            <a:ext cx="777240" cy="91440"/>
          </a:xfrm>
          <a:prstGeom prst="rect">
            <a:avLst/>
          </a:prstGeom>
          <a:noFill/>
          <a:ln/>
        </p:spPr>
        <p:txBody>
          <a:bodyPr wrap="square" lIns="0" tIns="0" rIns="0" bIns="0" rtlCol="0" anchor="ctr"/>
          <a:lstStyle/>
          <a:p>
            <a:pPr algn="ctr"/>
            <a:r>
              <a:rPr lang="en-US" sz="417" b="1" dirty="0">
                <a:solidFill>
                  <a:srgbClr val="2D3748"/>
                </a:solidFill>
                <a:latin typeface="Arial" pitchFamily="34" charset="0"/>
                <a:ea typeface="Arial" pitchFamily="34" charset="-122"/>
                <a:cs typeface="Arial" pitchFamily="34" charset="-120"/>
              </a:rPr>
              <a:t>Long-Term Memory</a:t>
            </a:r>
            <a:endParaRPr lang="en-US" sz="417" dirty="0"/>
          </a:p>
        </p:txBody>
      </p:sp>
      <p:sp>
        <p:nvSpPr>
          <p:cNvPr id="186" name="Text 153"/>
          <p:cNvSpPr/>
          <p:nvPr/>
        </p:nvSpPr>
        <p:spPr>
          <a:xfrm>
            <a:off x="9260840" y="2453640"/>
            <a:ext cx="777240" cy="83820"/>
          </a:xfrm>
          <a:prstGeom prst="rect">
            <a:avLst/>
          </a:prstGeom>
          <a:noFill/>
          <a:ln/>
        </p:spPr>
        <p:txBody>
          <a:bodyPr wrap="square" lIns="0" tIns="0" rIns="0" bIns="0" rtlCol="0" anchor="ctr"/>
          <a:lstStyle/>
          <a:p>
            <a:pPr algn="ctr"/>
            <a:r>
              <a:rPr lang="en-US" sz="367" dirty="0">
                <a:solidFill>
                  <a:srgbClr val="77839A"/>
                </a:solidFill>
                <a:latin typeface="Arial" pitchFamily="34" charset="0"/>
                <a:ea typeface="Arial" pitchFamily="34" charset="-122"/>
                <a:cs typeface="Arial" pitchFamily="34" charset="-120"/>
              </a:rPr>
              <a:t>(Persistent)</a:t>
            </a:r>
            <a:endParaRPr lang="en-US" sz="367" dirty="0"/>
          </a:p>
        </p:txBody>
      </p:sp>
      <p:sp>
        <p:nvSpPr>
          <p:cNvPr id="187" name="Shape 154"/>
          <p:cNvSpPr/>
          <p:nvPr/>
        </p:nvSpPr>
        <p:spPr>
          <a:xfrm>
            <a:off x="7660640" y="2682240"/>
            <a:ext cx="1173480" cy="274320"/>
          </a:xfrm>
          <a:prstGeom prst="roundRect">
            <a:avLst>
              <a:gd name="adj" fmla="val 8333"/>
            </a:avLst>
          </a:prstGeom>
          <a:solidFill>
            <a:srgbClr val="FFFFFF"/>
          </a:solidFill>
          <a:ln w="9525">
            <a:solidFill>
              <a:srgbClr val="EBD6AE"/>
            </a:solidFill>
            <a:prstDash val="solid"/>
          </a:ln>
        </p:spPr>
      </p:sp>
      <p:sp>
        <p:nvSpPr>
          <p:cNvPr id="188" name="Text 155"/>
          <p:cNvSpPr/>
          <p:nvPr/>
        </p:nvSpPr>
        <p:spPr>
          <a:xfrm>
            <a:off x="7675880" y="2705100"/>
            <a:ext cx="1143000" cy="91440"/>
          </a:xfrm>
          <a:prstGeom prst="rect">
            <a:avLst/>
          </a:prstGeom>
          <a:noFill/>
          <a:ln/>
        </p:spPr>
        <p:txBody>
          <a:bodyPr wrap="square" lIns="0" tIns="0" rIns="0" bIns="0" rtlCol="0" anchor="ctr"/>
          <a:lstStyle/>
          <a:p>
            <a:pPr algn="ctr"/>
            <a:r>
              <a:rPr lang="en-US" sz="417" b="1" dirty="0">
                <a:solidFill>
                  <a:srgbClr val="2D3748"/>
                </a:solidFill>
                <a:latin typeface="Arial" pitchFamily="34" charset="0"/>
                <a:ea typeface="Arial" pitchFamily="34" charset="-122"/>
                <a:cs typeface="Arial" pitchFamily="34" charset="-120"/>
              </a:rPr>
              <a:t>Semantic Memory</a:t>
            </a:r>
            <a:endParaRPr lang="en-US" sz="417" dirty="0"/>
          </a:p>
        </p:txBody>
      </p:sp>
      <p:sp>
        <p:nvSpPr>
          <p:cNvPr id="189" name="Text 156"/>
          <p:cNvSpPr/>
          <p:nvPr/>
        </p:nvSpPr>
        <p:spPr>
          <a:xfrm>
            <a:off x="7675880" y="2804160"/>
            <a:ext cx="1143000" cy="83820"/>
          </a:xfrm>
          <a:prstGeom prst="rect">
            <a:avLst/>
          </a:prstGeom>
          <a:noFill/>
          <a:ln/>
        </p:spPr>
        <p:txBody>
          <a:bodyPr wrap="square" lIns="0" tIns="0" rIns="0" bIns="0" rtlCol="0" anchor="ctr"/>
          <a:lstStyle/>
          <a:p>
            <a:pPr algn="ctr"/>
            <a:r>
              <a:rPr lang="en-US" sz="367" dirty="0">
                <a:solidFill>
                  <a:srgbClr val="77839A"/>
                </a:solidFill>
                <a:latin typeface="Arial" pitchFamily="34" charset="0"/>
                <a:ea typeface="Arial" pitchFamily="34" charset="-122"/>
                <a:cs typeface="Arial" pitchFamily="34" charset="-120"/>
              </a:rPr>
              <a:t>(Embeddings — AI Search)</a:t>
            </a:r>
            <a:endParaRPr lang="en-US" sz="367" dirty="0"/>
          </a:p>
        </p:txBody>
      </p:sp>
      <p:sp>
        <p:nvSpPr>
          <p:cNvPr id="190" name="Shape 157"/>
          <p:cNvSpPr/>
          <p:nvPr/>
        </p:nvSpPr>
        <p:spPr>
          <a:xfrm>
            <a:off x="8895080" y="2682240"/>
            <a:ext cx="1173480" cy="274320"/>
          </a:xfrm>
          <a:prstGeom prst="roundRect">
            <a:avLst>
              <a:gd name="adj" fmla="val 8333"/>
            </a:avLst>
          </a:prstGeom>
          <a:solidFill>
            <a:srgbClr val="FFFFFF"/>
          </a:solidFill>
          <a:ln w="9525">
            <a:solidFill>
              <a:srgbClr val="EBD6AE"/>
            </a:solidFill>
            <a:prstDash val="solid"/>
          </a:ln>
        </p:spPr>
      </p:sp>
      <p:sp>
        <p:nvSpPr>
          <p:cNvPr id="191" name="Text 158"/>
          <p:cNvSpPr/>
          <p:nvPr/>
        </p:nvSpPr>
        <p:spPr>
          <a:xfrm>
            <a:off x="8910320" y="2705100"/>
            <a:ext cx="1143000" cy="91440"/>
          </a:xfrm>
          <a:prstGeom prst="rect">
            <a:avLst/>
          </a:prstGeom>
          <a:noFill/>
          <a:ln/>
        </p:spPr>
        <p:txBody>
          <a:bodyPr wrap="square" lIns="0" tIns="0" rIns="0" bIns="0" rtlCol="0" anchor="ctr"/>
          <a:lstStyle/>
          <a:p>
            <a:pPr algn="ctr"/>
            <a:r>
              <a:rPr lang="en-US" sz="417" b="1" dirty="0">
                <a:solidFill>
                  <a:srgbClr val="2D3748"/>
                </a:solidFill>
                <a:latin typeface="Arial" pitchFamily="34" charset="0"/>
                <a:ea typeface="Arial" pitchFamily="34" charset="-122"/>
                <a:cs typeface="Arial" pitchFamily="34" charset="-120"/>
              </a:rPr>
              <a:t>Episodic Memory</a:t>
            </a:r>
            <a:endParaRPr lang="en-US" sz="417" dirty="0"/>
          </a:p>
        </p:txBody>
      </p:sp>
      <p:sp>
        <p:nvSpPr>
          <p:cNvPr id="192" name="Text 159"/>
          <p:cNvSpPr/>
          <p:nvPr/>
        </p:nvSpPr>
        <p:spPr>
          <a:xfrm>
            <a:off x="8910320" y="2804160"/>
            <a:ext cx="1143000" cy="83820"/>
          </a:xfrm>
          <a:prstGeom prst="rect">
            <a:avLst/>
          </a:prstGeom>
          <a:noFill/>
          <a:ln/>
        </p:spPr>
        <p:txBody>
          <a:bodyPr wrap="square" lIns="0" tIns="0" rIns="0" bIns="0" rtlCol="0" anchor="ctr"/>
          <a:lstStyle/>
          <a:p>
            <a:pPr algn="ctr"/>
            <a:r>
              <a:rPr lang="en-US" sz="367" dirty="0">
                <a:solidFill>
                  <a:srgbClr val="77839A"/>
                </a:solidFill>
                <a:latin typeface="Arial" pitchFamily="34" charset="0"/>
                <a:ea typeface="Arial" pitchFamily="34" charset="-122"/>
                <a:cs typeface="Arial" pitchFamily="34" charset="-120"/>
              </a:rPr>
              <a:t>(Events &amp; experiences)</a:t>
            </a:r>
            <a:endParaRPr lang="en-US" sz="367" dirty="0"/>
          </a:p>
        </p:txBody>
      </p:sp>
      <p:sp>
        <p:nvSpPr>
          <p:cNvPr id="193" name="Text 160"/>
          <p:cNvSpPr/>
          <p:nvPr/>
        </p:nvSpPr>
        <p:spPr>
          <a:xfrm>
            <a:off x="7447280" y="3002280"/>
            <a:ext cx="2697480" cy="83820"/>
          </a:xfrm>
          <a:prstGeom prst="rect">
            <a:avLst/>
          </a:prstGeom>
          <a:noFill/>
          <a:ln/>
        </p:spPr>
        <p:txBody>
          <a:bodyPr wrap="square" lIns="0" tIns="0" rIns="0" bIns="0" rtlCol="0" anchor="ctr"/>
          <a:lstStyle/>
          <a:p>
            <a:pPr algn="ctr"/>
            <a:r>
              <a:rPr lang="en-US" sz="367" i="1" dirty="0">
                <a:solidFill>
                  <a:srgbClr val="77839A"/>
                </a:solidFill>
                <a:latin typeface="Arial" pitchFamily="34" charset="0"/>
                <a:ea typeface="Arial" pitchFamily="34" charset="-122"/>
                <a:cs typeface="Arial" pitchFamily="34" charset="-120"/>
              </a:rPr>
              <a:t>Cosmos DB  ·  Azure Cache for Redis  ·  Azure AI Search</a:t>
            </a:r>
            <a:endParaRPr lang="en-US" sz="367" dirty="0"/>
          </a:p>
        </p:txBody>
      </p:sp>
      <p:sp>
        <p:nvSpPr>
          <p:cNvPr id="194" name="Shape 161"/>
          <p:cNvSpPr/>
          <p:nvPr/>
        </p:nvSpPr>
        <p:spPr>
          <a:xfrm>
            <a:off x="1122680" y="3276600"/>
            <a:ext cx="952500" cy="1089660"/>
          </a:xfrm>
          <a:prstGeom prst="roundRect">
            <a:avLst>
              <a:gd name="adj" fmla="val 3600"/>
            </a:avLst>
          </a:prstGeom>
          <a:solidFill>
            <a:srgbClr val="FFFFFF"/>
          </a:solidFill>
          <a:ln w="9525">
            <a:solidFill>
              <a:srgbClr val="BFE0CE"/>
            </a:solidFill>
            <a:prstDash val="solid"/>
          </a:ln>
        </p:spPr>
      </p:sp>
      <p:sp>
        <p:nvSpPr>
          <p:cNvPr id="195" name="Text 162"/>
          <p:cNvSpPr/>
          <p:nvPr/>
        </p:nvSpPr>
        <p:spPr>
          <a:xfrm>
            <a:off x="1122680" y="3322320"/>
            <a:ext cx="952500" cy="114300"/>
          </a:xfrm>
          <a:prstGeom prst="rect">
            <a:avLst/>
          </a:prstGeom>
          <a:noFill/>
          <a:ln/>
        </p:spPr>
        <p:txBody>
          <a:bodyPr wrap="square" lIns="0" tIns="0" rIns="0" bIns="0" rtlCol="0" anchor="ctr"/>
          <a:lstStyle/>
          <a:p>
            <a:pPr algn="ctr"/>
            <a:r>
              <a:rPr lang="en-US" sz="533" b="1" kern="0" spc="8" dirty="0">
                <a:solidFill>
                  <a:srgbClr val="2E7D5B"/>
                </a:solidFill>
                <a:latin typeface="Arial" pitchFamily="34" charset="0"/>
                <a:ea typeface="Arial" pitchFamily="34" charset="-122"/>
                <a:cs typeface="Arial" pitchFamily="34" charset="-120"/>
              </a:rPr>
              <a:t>8. RAG PIPELINE</a:t>
            </a:r>
            <a:endParaRPr lang="en-US" sz="533" dirty="0"/>
          </a:p>
        </p:txBody>
      </p:sp>
      <p:sp>
        <p:nvSpPr>
          <p:cNvPr id="196" name="Text 163"/>
          <p:cNvSpPr/>
          <p:nvPr/>
        </p:nvSpPr>
        <p:spPr>
          <a:xfrm>
            <a:off x="1198880" y="3489960"/>
            <a:ext cx="807720" cy="773430"/>
          </a:xfrm>
          <a:prstGeom prst="rect">
            <a:avLst/>
          </a:prstGeom>
          <a:noFill/>
          <a:ln/>
        </p:spPr>
        <p:txBody>
          <a:bodyPr wrap="square" lIns="0" tIns="0" rIns="0" bIns="0" rtlCol="0" anchor="ctr"/>
          <a:lstStyle/>
          <a:p>
            <a:pPr marL="63497" indent="-63497">
              <a:buSzPct val="100000"/>
              <a:buChar char="•"/>
            </a:pPr>
            <a:r>
              <a:rPr lang="en-US" sz="417" dirty="0">
                <a:solidFill>
                  <a:srgbClr val="2D3748"/>
                </a:solidFill>
                <a:latin typeface="Arial" pitchFamily="34" charset="0"/>
                <a:ea typeface="Arial" pitchFamily="34" charset="-122"/>
                <a:cs typeface="Arial" pitchFamily="34" charset="-120"/>
              </a:rPr>
              <a:t>Document Ingestion</a:t>
            </a:r>
            <a:endParaRPr lang="en-US" sz="417" dirty="0"/>
          </a:p>
          <a:p>
            <a:pPr marL="63497" indent="-63497">
              <a:buSzPct val="100000"/>
              <a:buChar char="•"/>
            </a:pPr>
            <a:r>
              <a:rPr lang="en-US" sz="417" dirty="0">
                <a:solidFill>
                  <a:srgbClr val="2D3748"/>
                </a:solidFill>
                <a:latin typeface="Arial" pitchFamily="34" charset="0"/>
                <a:ea typeface="Arial" pitchFamily="34" charset="-122"/>
                <a:cs typeface="Arial" pitchFamily="34" charset="-120"/>
              </a:rPr>
              <a:t>OCR / Parsing</a:t>
            </a:r>
            <a:endParaRPr lang="en-US" sz="417" dirty="0"/>
          </a:p>
          <a:p>
            <a:pPr marL="63497" indent="-63497">
              <a:buSzPct val="100000"/>
              <a:buChar char="•"/>
            </a:pPr>
            <a:r>
              <a:rPr lang="en-US" sz="417" dirty="0">
                <a:solidFill>
                  <a:srgbClr val="2D3748"/>
                </a:solidFill>
                <a:latin typeface="Arial" pitchFamily="34" charset="0"/>
                <a:ea typeface="Arial" pitchFamily="34" charset="-122"/>
                <a:cs typeface="Arial" pitchFamily="34" charset="-120"/>
              </a:rPr>
              <a:t>Chunking</a:t>
            </a:r>
            <a:endParaRPr lang="en-US" sz="417" dirty="0"/>
          </a:p>
          <a:p>
            <a:pPr marL="63497" indent="-63497">
              <a:buSzPct val="100000"/>
              <a:buChar char="•"/>
            </a:pPr>
            <a:r>
              <a:rPr lang="en-US" sz="417" dirty="0">
                <a:solidFill>
                  <a:srgbClr val="2D3748"/>
                </a:solidFill>
                <a:latin typeface="Arial" pitchFamily="34" charset="0"/>
                <a:ea typeface="Arial" pitchFamily="34" charset="-122"/>
                <a:cs typeface="Arial" pitchFamily="34" charset="-120"/>
              </a:rPr>
              <a:t>Metadata Extraction</a:t>
            </a:r>
            <a:endParaRPr lang="en-US" sz="417" dirty="0"/>
          </a:p>
          <a:p>
            <a:pPr marL="63497" indent="-63497">
              <a:buSzPct val="100000"/>
              <a:buChar char="•"/>
            </a:pPr>
            <a:r>
              <a:rPr lang="en-US" sz="417" dirty="0">
                <a:solidFill>
                  <a:srgbClr val="2D3748"/>
                </a:solidFill>
                <a:latin typeface="Arial" pitchFamily="34" charset="0"/>
                <a:ea typeface="Arial" pitchFamily="34" charset="-122"/>
                <a:cs typeface="Arial" pitchFamily="34" charset="-120"/>
              </a:rPr>
              <a:t>Embedding Generation</a:t>
            </a:r>
            <a:endParaRPr lang="en-US" sz="417" dirty="0"/>
          </a:p>
          <a:p>
            <a:pPr marL="63497" indent="-63497">
              <a:buSzPct val="100000"/>
              <a:buChar char="•"/>
            </a:pPr>
            <a:r>
              <a:rPr lang="en-US" sz="417" dirty="0">
                <a:solidFill>
                  <a:srgbClr val="2D3748"/>
                </a:solidFill>
                <a:latin typeface="Arial" pitchFamily="34" charset="0"/>
                <a:ea typeface="Arial" pitchFamily="34" charset="-122"/>
                <a:cs typeface="Arial" pitchFamily="34" charset="-120"/>
              </a:rPr>
              <a:t>Quality Validation</a:t>
            </a:r>
            <a:endParaRPr lang="en-US" sz="417" dirty="0"/>
          </a:p>
          <a:p>
            <a:pPr marL="63497" indent="-63497">
              <a:buSzPct val="100000"/>
              <a:buChar char="•"/>
            </a:pPr>
            <a:r>
              <a:rPr lang="en-US" sz="417" dirty="0">
                <a:solidFill>
                  <a:srgbClr val="2D3748"/>
                </a:solidFill>
                <a:latin typeface="Arial" pitchFamily="34" charset="0"/>
                <a:ea typeface="Arial" pitchFamily="34" charset="-122"/>
                <a:cs typeface="Arial" pitchFamily="34" charset="-120"/>
              </a:rPr>
              <a:t>Indexing</a:t>
            </a:r>
            <a:endParaRPr lang="en-US" sz="417" dirty="0"/>
          </a:p>
        </p:txBody>
      </p:sp>
      <p:sp>
        <p:nvSpPr>
          <p:cNvPr id="197" name="Shape 164"/>
          <p:cNvSpPr/>
          <p:nvPr/>
        </p:nvSpPr>
        <p:spPr>
          <a:xfrm>
            <a:off x="2242820" y="3276600"/>
            <a:ext cx="1005840" cy="1089660"/>
          </a:xfrm>
          <a:prstGeom prst="roundRect">
            <a:avLst>
              <a:gd name="adj" fmla="val 3409"/>
            </a:avLst>
          </a:prstGeom>
          <a:solidFill>
            <a:srgbClr val="FFFFFF"/>
          </a:solidFill>
          <a:ln w="9525">
            <a:solidFill>
              <a:srgbClr val="BFE0CE"/>
            </a:solidFill>
            <a:prstDash val="solid"/>
          </a:ln>
        </p:spPr>
      </p:sp>
      <p:sp>
        <p:nvSpPr>
          <p:cNvPr id="198" name="Text 165"/>
          <p:cNvSpPr/>
          <p:nvPr/>
        </p:nvSpPr>
        <p:spPr>
          <a:xfrm>
            <a:off x="2242820" y="3322320"/>
            <a:ext cx="1005840" cy="114300"/>
          </a:xfrm>
          <a:prstGeom prst="rect">
            <a:avLst/>
          </a:prstGeom>
          <a:noFill/>
          <a:ln/>
        </p:spPr>
        <p:txBody>
          <a:bodyPr wrap="square" lIns="0" tIns="0" rIns="0" bIns="0" rtlCol="0" anchor="ctr"/>
          <a:lstStyle/>
          <a:p>
            <a:pPr algn="ctr"/>
            <a:r>
              <a:rPr lang="en-US" sz="533" b="1" kern="0" spc="8" dirty="0">
                <a:solidFill>
                  <a:srgbClr val="2E7D5B"/>
                </a:solidFill>
                <a:latin typeface="Arial" pitchFamily="34" charset="0"/>
                <a:ea typeface="Arial" pitchFamily="34" charset="-122"/>
                <a:cs typeface="Arial" pitchFamily="34" charset="-120"/>
              </a:rPr>
              <a:t>9. EMBEDDING LAYER</a:t>
            </a:r>
            <a:endParaRPr lang="en-US" sz="533" dirty="0"/>
          </a:p>
        </p:txBody>
      </p:sp>
      <p:pic>
        <p:nvPicPr>
          <p:cNvPr id="199" name="Image 31" descr="/sessions/zealous-intelligent-mayer/mnt/outputs/icons7/embed.png"/>
          <p:cNvPicPr>
            <a:picLocks noChangeAspect="1"/>
          </p:cNvPicPr>
          <p:nvPr/>
        </p:nvPicPr>
        <p:blipFill>
          <a:blip r:embed="rId31"/>
          <a:stretch>
            <a:fillRect/>
          </a:stretch>
        </p:blipFill>
        <p:spPr>
          <a:xfrm>
            <a:off x="2319020" y="3529965"/>
            <a:ext cx="83820" cy="83820"/>
          </a:xfrm>
          <a:prstGeom prst="rect">
            <a:avLst/>
          </a:prstGeom>
        </p:spPr>
      </p:pic>
      <p:sp>
        <p:nvSpPr>
          <p:cNvPr id="200" name="Text 166"/>
          <p:cNvSpPr/>
          <p:nvPr/>
        </p:nvSpPr>
        <p:spPr>
          <a:xfrm>
            <a:off x="2440940" y="3505200"/>
            <a:ext cx="746760" cy="14097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text-embedding-3-large</a:t>
            </a:r>
            <a:endParaRPr lang="en-US" sz="383" dirty="0"/>
          </a:p>
        </p:txBody>
      </p:sp>
      <p:pic>
        <p:nvPicPr>
          <p:cNvPr id="201" name="Image 32" descr="/sessions/zealous-intelligent-mayer/mnt/outputs/icons7/embed.png"/>
          <p:cNvPicPr>
            <a:picLocks noChangeAspect="1"/>
          </p:cNvPicPr>
          <p:nvPr/>
        </p:nvPicPr>
        <p:blipFill>
          <a:blip r:embed="rId31"/>
          <a:stretch>
            <a:fillRect/>
          </a:stretch>
        </p:blipFill>
        <p:spPr>
          <a:xfrm>
            <a:off x="2319020" y="3670935"/>
            <a:ext cx="83820" cy="83820"/>
          </a:xfrm>
          <a:prstGeom prst="rect">
            <a:avLst/>
          </a:prstGeom>
        </p:spPr>
      </p:pic>
      <p:sp>
        <p:nvSpPr>
          <p:cNvPr id="202" name="Text 167"/>
          <p:cNvSpPr/>
          <p:nvPr/>
        </p:nvSpPr>
        <p:spPr>
          <a:xfrm>
            <a:off x="2440940" y="3646170"/>
            <a:ext cx="746760" cy="14097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text-embedding-3-small</a:t>
            </a:r>
            <a:endParaRPr lang="en-US" sz="383" dirty="0"/>
          </a:p>
        </p:txBody>
      </p:sp>
      <p:pic>
        <p:nvPicPr>
          <p:cNvPr id="203" name="Image 33" descr="/sessions/zealous-intelligent-mayer/mnt/outputs/icons7/embed.png"/>
          <p:cNvPicPr>
            <a:picLocks noChangeAspect="1"/>
          </p:cNvPicPr>
          <p:nvPr/>
        </p:nvPicPr>
        <p:blipFill>
          <a:blip r:embed="rId31"/>
          <a:stretch>
            <a:fillRect/>
          </a:stretch>
        </p:blipFill>
        <p:spPr>
          <a:xfrm>
            <a:off x="2319020" y="3811905"/>
            <a:ext cx="83820" cy="83820"/>
          </a:xfrm>
          <a:prstGeom prst="rect">
            <a:avLst/>
          </a:prstGeom>
        </p:spPr>
      </p:pic>
      <p:sp>
        <p:nvSpPr>
          <p:cNvPr id="204" name="Text 168"/>
          <p:cNvSpPr/>
          <p:nvPr/>
        </p:nvSpPr>
        <p:spPr>
          <a:xfrm>
            <a:off x="2440940" y="3787140"/>
            <a:ext cx="746760" cy="14097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Cohere Embed v3 (Foundry)</a:t>
            </a:r>
            <a:endParaRPr lang="en-US" sz="383" dirty="0"/>
          </a:p>
        </p:txBody>
      </p:sp>
      <p:pic>
        <p:nvPicPr>
          <p:cNvPr id="205" name="Image 34" descr="/sessions/zealous-intelligent-mayer/mnt/outputs/icons7/embed.png"/>
          <p:cNvPicPr>
            <a:picLocks noChangeAspect="1"/>
          </p:cNvPicPr>
          <p:nvPr/>
        </p:nvPicPr>
        <p:blipFill>
          <a:blip r:embed="rId31"/>
          <a:stretch>
            <a:fillRect/>
          </a:stretch>
        </p:blipFill>
        <p:spPr>
          <a:xfrm>
            <a:off x="2319020" y="3952875"/>
            <a:ext cx="83820" cy="83820"/>
          </a:xfrm>
          <a:prstGeom prst="rect">
            <a:avLst/>
          </a:prstGeom>
        </p:spPr>
      </p:pic>
      <p:sp>
        <p:nvSpPr>
          <p:cNvPr id="206" name="Text 169"/>
          <p:cNvSpPr/>
          <p:nvPr/>
        </p:nvSpPr>
        <p:spPr>
          <a:xfrm>
            <a:off x="2440940" y="3928110"/>
            <a:ext cx="746760" cy="14097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NV-Embed (Foundry)</a:t>
            </a:r>
            <a:endParaRPr lang="en-US" sz="383" dirty="0"/>
          </a:p>
        </p:txBody>
      </p:sp>
      <p:pic>
        <p:nvPicPr>
          <p:cNvPr id="207" name="Image 35" descr="/sessions/zealous-intelligent-mayer/mnt/outputs/icons7/embed.png"/>
          <p:cNvPicPr>
            <a:picLocks noChangeAspect="1"/>
          </p:cNvPicPr>
          <p:nvPr/>
        </p:nvPicPr>
        <p:blipFill>
          <a:blip r:embed="rId31"/>
          <a:stretch>
            <a:fillRect/>
          </a:stretch>
        </p:blipFill>
        <p:spPr>
          <a:xfrm>
            <a:off x="2319020" y="4093845"/>
            <a:ext cx="83820" cy="83820"/>
          </a:xfrm>
          <a:prstGeom prst="rect">
            <a:avLst/>
          </a:prstGeom>
        </p:spPr>
      </p:pic>
      <p:sp>
        <p:nvSpPr>
          <p:cNvPr id="208" name="Text 170"/>
          <p:cNvSpPr/>
          <p:nvPr/>
        </p:nvSpPr>
        <p:spPr>
          <a:xfrm>
            <a:off x="2440940" y="4069080"/>
            <a:ext cx="746760" cy="14097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BGE / E5 (AKS self-host)</a:t>
            </a:r>
            <a:endParaRPr lang="en-US" sz="383" dirty="0"/>
          </a:p>
        </p:txBody>
      </p:sp>
      <p:pic>
        <p:nvPicPr>
          <p:cNvPr id="209" name="Image 36" descr="/sessions/zealous-intelligent-mayer/mnt/outputs/icons7/embed.png"/>
          <p:cNvPicPr>
            <a:picLocks noChangeAspect="1"/>
          </p:cNvPicPr>
          <p:nvPr/>
        </p:nvPicPr>
        <p:blipFill>
          <a:blip r:embed="rId31"/>
          <a:stretch>
            <a:fillRect/>
          </a:stretch>
        </p:blipFill>
        <p:spPr>
          <a:xfrm>
            <a:off x="2319020" y="4234815"/>
            <a:ext cx="83820" cy="83820"/>
          </a:xfrm>
          <a:prstGeom prst="rect">
            <a:avLst/>
          </a:prstGeom>
        </p:spPr>
      </p:pic>
      <p:sp>
        <p:nvSpPr>
          <p:cNvPr id="210" name="Text 171"/>
          <p:cNvSpPr/>
          <p:nvPr/>
        </p:nvSpPr>
        <p:spPr>
          <a:xfrm>
            <a:off x="2440940" y="4210050"/>
            <a:ext cx="746760" cy="14097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…More Models</a:t>
            </a:r>
            <a:endParaRPr lang="en-US" sz="383" dirty="0"/>
          </a:p>
        </p:txBody>
      </p:sp>
      <p:sp>
        <p:nvSpPr>
          <p:cNvPr id="211" name="Shape 172"/>
          <p:cNvSpPr/>
          <p:nvPr/>
        </p:nvSpPr>
        <p:spPr>
          <a:xfrm>
            <a:off x="3393440" y="3276600"/>
            <a:ext cx="1112520" cy="1089660"/>
          </a:xfrm>
          <a:prstGeom prst="roundRect">
            <a:avLst>
              <a:gd name="adj" fmla="val 3147"/>
            </a:avLst>
          </a:prstGeom>
          <a:solidFill>
            <a:srgbClr val="FFFFFF"/>
          </a:solidFill>
          <a:ln w="9525">
            <a:solidFill>
              <a:srgbClr val="BFE0CE"/>
            </a:solidFill>
            <a:prstDash val="solid"/>
          </a:ln>
        </p:spPr>
      </p:sp>
      <p:sp>
        <p:nvSpPr>
          <p:cNvPr id="212" name="Text 173"/>
          <p:cNvSpPr/>
          <p:nvPr/>
        </p:nvSpPr>
        <p:spPr>
          <a:xfrm>
            <a:off x="3393440" y="3322320"/>
            <a:ext cx="1112520" cy="114300"/>
          </a:xfrm>
          <a:prstGeom prst="rect">
            <a:avLst/>
          </a:prstGeom>
          <a:noFill/>
          <a:ln/>
        </p:spPr>
        <p:txBody>
          <a:bodyPr wrap="square" lIns="0" tIns="0" rIns="0" bIns="0" rtlCol="0" anchor="ctr"/>
          <a:lstStyle/>
          <a:p>
            <a:pPr algn="ctr"/>
            <a:r>
              <a:rPr lang="en-US" sz="517" b="1" kern="0" spc="8" dirty="0">
                <a:solidFill>
                  <a:srgbClr val="2E7D5B"/>
                </a:solidFill>
                <a:latin typeface="Arial" pitchFamily="34" charset="0"/>
                <a:ea typeface="Arial" pitchFamily="34" charset="-122"/>
                <a:cs typeface="Arial" pitchFamily="34" charset="-120"/>
              </a:rPr>
              <a:t>10. VECTOR &amp; SEARCH LAYER</a:t>
            </a:r>
            <a:endParaRPr lang="en-US" sz="517" dirty="0"/>
          </a:p>
        </p:txBody>
      </p:sp>
      <p:pic>
        <p:nvPicPr>
          <p:cNvPr id="213" name="Image 37" descr="/sessions/zealous-intelligent-mayer/mnt/outputs/icons7/search.png"/>
          <p:cNvPicPr>
            <a:picLocks noChangeAspect="1"/>
          </p:cNvPicPr>
          <p:nvPr/>
        </p:nvPicPr>
        <p:blipFill>
          <a:blip r:embed="rId32"/>
          <a:stretch>
            <a:fillRect/>
          </a:stretch>
        </p:blipFill>
        <p:spPr>
          <a:xfrm>
            <a:off x="3469640" y="3554730"/>
            <a:ext cx="91440" cy="91440"/>
          </a:xfrm>
          <a:prstGeom prst="rect">
            <a:avLst/>
          </a:prstGeom>
        </p:spPr>
      </p:pic>
      <p:sp>
        <p:nvSpPr>
          <p:cNvPr id="214" name="Text 174"/>
          <p:cNvSpPr/>
          <p:nvPr/>
        </p:nvSpPr>
        <p:spPr>
          <a:xfrm>
            <a:off x="3599180" y="3520440"/>
            <a:ext cx="845820" cy="167640"/>
          </a:xfrm>
          <a:prstGeom prst="rect">
            <a:avLst/>
          </a:prstGeom>
          <a:noFill/>
          <a:ln/>
        </p:spPr>
        <p:txBody>
          <a:bodyPr wrap="square" lIns="0" tIns="0" rIns="0" bIns="0" rtlCol="0" anchor="ctr"/>
          <a:lstStyle/>
          <a:p>
            <a:r>
              <a:rPr lang="en-US" sz="400" dirty="0">
                <a:solidFill>
                  <a:srgbClr val="2D3748"/>
                </a:solidFill>
                <a:latin typeface="Arial" pitchFamily="34" charset="0"/>
                <a:ea typeface="Arial" pitchFamily="34" charset="-122"/>
                <a:cs typeface="Arial" pitchFamily="34" charset="-120"/>
              </a:rPr>
              <a:t>Azure AI Search (Vector)</a:t>
            </a:r>
            <a:endParaRPr lang="en-US" sz="400" dirty="0"/>
          </a:p>
        </p:txBody>
      </p:sp>
      <p:pic>
        <p:nvPicPr>
          <p:cNvPr id="215" name="Image 38" descr="/sessions/zealous-intelligent-mayer/mnt/outputs/icons7/db.png"/>
          <p:cNvPicPr>
            <a:picLocks noChangeAspect="1"/>
          </p:cNvPicPr>
          <p:nvPr/>
        </p:nvPicPr>
        <p:blipFill>
          <a:blip r:embed="rId33"/>
          <a:stretch>
            <a:fillRect/>
          </a:stretch>
        </p:blipFill>
        <p:spPr>
          <a:xfrm>
            <a:off x="3469640" y="3722370"/>
            <a:ext cx="91440" cy="91440"/>
          </a:xfrm>
          <a:prstGeom prst="rect">
            <a:avLst/>
          </a:prstGeom>
        </p:spPr>
      </p:pic>
      <p:sp>
        <p:nvSpPr>
          <p:cNvPr id="216" name="Text 175"/>
          <p:cNvSpPr/>
          <p:nvPr/>
        </p:nvSpPr>
        <p:spPr>
          <a:xfrm>
            <a:off x="3599180" y="3688080"/>
            <a:ext cx="845820" cy="167640"/>
          </a:xfrm>
          <a:prstGeom prst="rect">
            <a:avLst/>
          </a:prstGeom>
          <a:noFill/>
          <a:ln/>
        </p:spPr>
        <p:txBody>
          <a:bodyPr wrap="square" lIns="0" tIns="0" rIns="0" bIns="0" rtlCol="0" anchor="ctr"/>
          <a:lstStyle/>
          <a:p>
            <a:r>
              <a:rPr lang="en-US" sz="400" dirty="0">
                <a:solidFill>
                  <a:srgbClr val="2D3748"/>
                </a:solidFill>
                <a:latin typeface="Arial" pitchFamily="34" charset="0"/>
                <a:ea typeface="Arial" pitchFamily="34" charset="-122"/>
                <a:cs typeface="Arial" pitchFamily="34" charset="-120"/>
              </a:rPr>
              <a:t>pgvector (Azure PostgreSQL)</a:t>
            </a:r>
            <a:endParaRPr lang="en-US" sz="400" dirty="0"/>
          </a:p>
        </p:txBody>
      </p:sp>
      <p:pic>
        <p:nvPicPr>
          <p:cNvPr id="217" name="Image 39" descr="/sessions/zealous-intelligent-mayer/mnt/outputs/icons7/db.png"/>
          <p:cNvPicPr>
            <a:picLocks noChangeAspect="1"/>
          </p:cNvPicPr>
          <p:nvPr/>
        </p:nvPicPr>
        <p:blipFill>
          <a:blip r:embed="rId33"/>
          <a:stretch>
            <a:fillRect/>
          </a:stretch>
        </p:blipFill>
        <p:spPr>
          <a:xfrm>
            <a:off x="3469640" y="3890010"/>
            <a:ext cx="91440" cy="91440"/>
          </a:xfrm>
          <a:prstGeom prst="rect">
            <a:avLst/>
          </a:prstGeom>
        </p:spPr>
      </p:pic>
      <p:sp>
        <p:nvSpPr>
          <p:cNvPr id="218" name="Text 176"/>
          <p:cNvSpPr/>
          <p:nvPr/>
        </p:nvSpPr>
        <p:spPr>
          <a:xfrm>
            <a:off x="3599180" y="3855720"/>
            <a:ext cx="845820" cy="167640"/>
          </a:xfrm>
          <a:prstGeom prst="rect">
            <a:avLst/>
          </a:prstGeom>
          <a:noFill/>
          <a:ln/>
        </p:spPr>
        <p:txBody>
          <a:bodyPr wrap="square" lIns="0" tIns="0" rIns="0" bIns="0" rtlCol="0" anchor="ctr"/>
          <a:lstStyle/>
          <a:p>
            <a:r>
              <a:rPr lang="en-US" sz="400" dirty="0">
                <a:solidFill>
                  <a:srgbClr val="2D3748"/>
                </a:solidFill>
                <a:latin typeface="Arial" pitchFamily="34" charset="0"/>
                <a:ea typeface="Arial" pitchFamily="34" charset="-122"/>
                <a:cs typeface="Arial" pitchFamily="34" charset="-120"/>
              </a:rPr>
              <a:t>Cosmos DB (DiskANN)</a:t>
            </a:r>
            <a:endParaRPr lang="en-US" sz="400" dirty="0"/>
          </a:p>
        </p:txBody>
      </p:sp>
      <p:sp>
        <p:nvSpPr>
          <p:cNvPr id="219" name="Shape 177"/>
          <p:cNvSpPr/>
          <p:nvPr/>
        </p:nvSpPr>
        <p:spPr>
          <a:xfrm>
            <a:off x="3484880" y="4038600"/>
            <a:ext cx="929640" cy="259080"/>
          </a:xfrm>
          <a:prstGeom prst="roundRect">
            <a:avLst>
              <a:gd name="adj" fmla="val 8824"/>
            </a:avLst>
          </a:prstGeom>
          <a:solidFill>
            <a:srgbClr val="F3FAF6"/>
          </a:solidFill>
          <a:ln w="9525">
            <a:solidFill>
              <a:srgbClr val="BFE0CE"/>
            </a:solidFill>
            <a:prstDash val="solid"/>
          </a:ln>
        </p:spPr>
      </p:sp>
      <p:sp>
        <p:nvSpPr>
          <p:cNvPr id="220" name="Text 178"/>
          <p:cNvSpPr/>
          <p:nvPr/>
        </p:nvSpPr>
        <p:spPr>
          <a:xfrm>
            <a:off x="3500120" y="4038600"/>
            <a:ext cx="899160" cy="259080"/>
          </a:xfrm>
          <a:prstGeom prst="rect">
            <a:avLst/>
          </a:prstGeom>
          <a:noFill/>
          <a:ln/>
        </p:spPr>
        <p:txBody>
          <a:bodyPr wrap="square" lIns="0" tIns="0" rIns="0" bIns="0" rtlCol="0" anchor="ctr"/>
          <a:lstStyle/>
          <a:p>
            <a:pPr algn="ctr"/>
            <a:r>
              <a:rPr lang="en-US" sz="367" b="1" dirty="0">
                <a:solidFill>
                  <a:srgbClr val="2D3748"/>
                </a:solidFill>
                <a:latin typeface="Arial" pitchFamily="34" charset="0"/>
                <a:ea typeface="Arial" pitchFamily="34" charset="-122"/>
                <a:cs typeface="Arial" pitchFamily="34" charset="-120"/>
              </a:rPr>
              <a:t>Hybrid Search</a:t>
            </a:r>
            <a:endParaRPr lang="en-US" sz="367" dirty="0"/>
          </a:p>
          <a:p>
            <a:pPr algn="ctr"/>
            <a:r>
              <a:rPr lang="en-US" sz="367" b="1" dirty="0">
                <a:solidFill>
                  <a:srgbClr val="2D3748"/>
                </a:solidFill>
                <a:latin typeface="Arial" pitchFamily="34" charset="0"/>
                <a:ea typeface="Arial" pitchFamily="34" charset="-122"/>
                <a:cs typeface="Arial" pitchFamily="34" charset="-120"/>
              </a:rPr>
              <a:t>(Vector + BM25 + Semantic Ranker)</a:t>
            </a:r>
            <a:endParaRPr lang="en-US" sz="367" dirty="0"/>
          </a:p>
        </p:txBody>
      </p:sp>
      <p:sp>
        <p:nvSpPr>
          <p:cNvPr id="221" name="Shape 179"/>
          <p:cNvSpPr/>
          <p:nvPr/>
        </p:nvSpPr>
        <p:spPr>
          <a:xfrm>
            <a:off x="4643120" y="3276600"/>
            <a:ext cx="1043940" cy="1089660"/>
          </a:xfrm>
          <a:prstGeom prst="roundRect">
            <a:avLst>
              <a:gd name="adj" fmla="val 3285"/>
            </a:avLst>
          </a:prstGeom>
          <a:solidFill>
            <a:srgbClr val="FFFFFF"/>
          </a:solidFill>
          <a:ln w="9525">
            <a:solidFill>
              <a:srgbClr val="BFE0CE"/>
            </a:solidFill>
            <a:prstDash val="solid"/>
          </a:ln>
        </p:spPr>
      </p:sp>
      <p:sp>
        <p:nvSpPr>
          <p:cNvPr id="222" name="Text 180"/>
          <p:cNvSpPr/>
          <p:nvPr/>
        </p:nvSpPr>
        <p:spPr>
          <a:xfrm>
            <a:off x="4643120" y="3322320"/>
            <a:ext cx="1043940" cy="114300"/>
          </a:xfrm>
          <a:prstGeom prst="rect">
            <a:avLst/>
          </a:prstGeom>
          <a:noFill/>
          <a:ln/>
        </p:spPr>
        <p:txBody>
          <a:bodyPr wrap="square" lIns="0" tIns="0" rIns="0" bIns="0" rtlCol="0" anchor="ctr"/>
          <a:lstStyle/>
          <a:p>
            <a:pPr algn="ctr"/>
            <a:r>
              <a:rPr lang="en-US" sz="517" b="1" kern="0" spc="8" dirty="0">
                <a:solidFill>
                  <a:srgbClr val="2E7D5B"/>
                </a:solidFill>
                <a:latin typeface="Arial" pitchFamily="34" charset="0"/>
                <a:ea typeface="Arial" pitchFamily="34" charset="-122"/>
                <a:cs typeface="Arial" pitchFamily="34" charset="-120"/>
              </a:rPr>
              <a:t>11. KNOWLEDGE GRAPH</a:t>
            </a:r>
            <a:endParaRPr lang="en-US" sz="517" dirty="0"/>
          </a:p>
        </p:txBody>
      </p:sp>
      <p:pic>
        <p:nvPicPr>
          <p:cNvPr id="223" name="Image 40" descr="/sessions/zealous-intelligent-mayer/mnt/outputs/icons7/graph.png"/>
          <p:cNvPicPr>
            <a:picLocks noChangeAspect="1"/>
          </p:cNvPicPr>
          <p:nvPr/>
        </p:nvPicPr>
        <p:blipFill>
          <a:blip r:embed="rId34"/>
          <a:stretch>
            <a:fillRect/>
          </a:stretch>
        </p:blipFill>
        <p:spPr>
          <a:xfrm>
            <a:off x="4719320" y="3550920"/>
            <a:ext cx="83820" cy="83820"/>
          </a:xfrm>
          <a:prstGeom prst="rect">
            <a:avLst/>
          </a:prstGeom>
        </p:spPr>
      </p:pic>
      <p:sp>
        <p:nvSpPr>
          <p:cNvPr id="224" name="Text 181"/>
          <p:cNvSpPr/>
          <p:nvPr/>
        </p:nvSpPr>
        <p:spPr>
          <a:xfrm>
            <a:off x="4841240" y="3520440"/>
            <a:ext cx="784860" cy="15240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Cosmos DB Gremlin</a:t>
            </a:r>
            <a:endParaRPr lang="en-US" sz="383" dirty="0"/>
          </a:p>
        </p:txBody>
      </p:sp>
      <p:pic>
        <p:nvPicPr>
          <p:cNvPr id="225" name="Image 41" descr="/sessions/zealous-intelligent-mayer/mnt/outputs/icons7/graph.png"/>
          <p:cNvPicPr>
            <a:picLocks noChangeAspect="1"/>
          </p:cNvPicPr>
          <p:nvPr/>
        </p:nvPicPr>
        <p:blipFill>
          <a:blip r:embed="rId34"/>
          <a:stretch>
            <a:fillRect/>
          </a:stretch>
        </p:blipFill>
        <p:spPr>
          <a:xfrm>
            <a:off x="4719320" y="3703320"/>
            <a:ext cx="83820" cy="83820"/>
          </a:xfrm>
          <a:prstGeom prst="rect">
            <a:avLst/>
          </a:prstGeom>
        </p:spPr>
      </p:pic>
      <p:sp>
        <p:nvSpPr>
          <p:cNvPr id="226" name="Text 182"/>
          <p:cNvSpPr/>
          <p:nvPr/>
        </p:nvSpPr>
        <p:spPr>
          <a:xfrm>
            <a:off x="4841240" y="3672840"/>
            <a:ext cx="784860" cy="15240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GraphRAG (Azure)</a:t>
            </a:r>
            <a:endParaRPr lang="en-US" sz="383" dirty="0"/>
          </a:p>
        </p:txBody>
      </p:sp>
      <p:pic>
        <p:nvPicPr>
          <p:cNvPr id="227" name="Image 42" descr="/sessions/zealous-intelligent-mayer/mnt/outputs/icons7/meta.png"/>
          <p:cNvPicPr>
            <a:picLocks noChangeAspect="1"/>
          </p:cNvPicPr>
          <p:nvPr/>
        </p:nvPicPr>
        <p:blipFill>
          <a:blip r:embed="rId35"/>
          <a:stretch>
            <a:fillRect/>
          </a:stretch>
        </p:blipFill>
        <p:spPr>
          <a:xfrm>
            <a:off x="4719320" y="3855720"/>
            <a:ext cx="83820" cy="83820"/>
          </a:xfrm>
          <a:prstGeom prst="rect">
            <a:avLst/>
          </a:prstGeom>
        </p:spPr>
      </p:pic>
      <p:sp>
        <p:nvSpPr>
          <p:cNvPr id="228" name="Text 183"/>
          <p:cNvSpPr/>
          <p:nvPr/>
        </p:nvSpPr>
        <p:spPr>
          <a:xfrm>
            <a:off x="4841240" y="3825240"/>
            <a:ext cx="784860" cy="15240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Entity Extraction (AI Language)</a:t>
            </a:r>
            <a:endParaRPr lang="en-US" sz="383" dirty="0"/>
          </a:p>
        </p:txBody>
      </p:sp>
      <p:pic>
        <p:nvPicPr>
          <p:cNvPr id="229" name="Image 43" descr="/sessions/zealous-intelligent-mayer/mnt/outputs/icons7/link.png"/>
          <p:cNvPicPr>
            <a:picLocks noChangeAspect="1"/>
          </p:cNvPicPr>
          <p:nvPr/>
        </p:nvPicPr>
        <p:blipFill>
          <a:blip r:embed="rId36"/>
          <a:stretch>
            <a:fillRect/>
          </a:stretch>
        </p:blipFill>
        <p:spPr>
          <a:xfrm>
            <a:off x="4719320" y="4008120"/>
            <a:ext cx="83820" cy="83820"/>
          </a:xfrm>
          <a:prstGeom prst="rect">
            <a:avLst/>
          </a:prstGeom>
        </p:spPr>
      </p:pic>
      <p:sp>
        <p:nvSpPr>
          <p:cNvPr id="230" name="Text 184"/>
          <p:cNvSpPr/>
          <p:nvPr/>
        </p:nvSpPr>
        <p:spPr>
          <a:xfrm>
            <a:off x="4841240" y="3977640"/>
            <a:ext cx="784860" cy="15240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Relationships &amp; Linking</a:t>
            </a:r>
            <a:endParaRPr lang="en-US" sz="383" dirty="0"/>
          </a:p>
        </p:txBody>
      </p:sp>
      <p:pic>
        <p:nvPicPr>
          <p:cNvPr id="231" name="Image 44" descr="/sessions/zealous-intelligent-mayer/mnt/outputs/icons7/code.png"/>
          <p:cNvPicPr>
            <a:picLocks noChangeAspect="1"/>
          </p:cNvPicPr>
          <p:nvPr/>
        </p:nvPicPr>
        <p:blipFill>
          <a:blip r:embed="rId37"/>
          <a:stretch>
            <a:fillRect/>
          </a:stretch>
        </p:blipFill>
        <p:spPr>
          <a:xfrm>
            <a:off x="4719320" y="4160520"/>
            <a:ext cx="83820" cy="83820"/>
          </a:xfrm>
          <a:prstGeom prst="rect">
            <a:avLst/>
          </a:prstGeom>
        </p:spPr>
      </p:pic>
      <p:sp>
        <p:nvSpPr>
          <p:cNvPr id="232" name="Text 185"/>
          <p:cNvSpPr/>
          <p:nvPr/>
        </p:nvSpPr>
        <p:spPr>
          <a:xfrm>
            <a:off x="4841240" y="4130040"/>
            <a:ext cx="784860" cy="15240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Gremlin / Cypher queries</a:t>
            </a:r>
            <a:endParaRPr lang="en-US" sz="383" dirty="0"/>
          </a:p>
        </p:txBody>
      </p:sp>
      <p:sp>
        <p:nvSpPr>
          <p:cNvPr id="233" name="Shape 186"/>
          <p:cNvSpPr/>
          <p:nvPr/>
        </p:nvSpPr>
        <p:spPr>
          <a:xfrm>
            <a:off x="5816600" y="3276600"/>
            <a:ext cx="1600200" cy="1089660"/>
          </a:xfrm>
          <a:prstGeom prst="roundRect">
            <a:avLst>
              <a:gd name="adj" fmla="val 3147"/>
            </a:avLst>
          </a:prstGeom>
          <a:solidFill>
            <a:srgbClr val="FFFFFF"/>
          </a:solidFill>
          <a:ln w="9525">
            <a:solidFill>
              <a:srgbClr val="BFD8F0"/>
            </a:solidFill>
            <a:prstDash val="solid"/>
          </a:ln>
        </p:spPr>
      </p:sp>
      <p:sp>
        <p:nvSpPr>
          <p:cNvPr id="234" name="Text 187"/>
          <p:cNvSpPr/>
          <p:nvPr/>
        </p:nvSpPr>
        <p:spPr>
          <a:xfrm>
            <a:off x="5816600" y="3322320"/>
            <a:ext cx="1600200" cy="114300"/>
          </a:xfrm>
          <a:prstGeom prst="rect">
            <a:avLst/>
          </a:prstGeom>
          <a:noFill/>
          <a:ln/>
        </p:spPr>
        <p:txBody>
          <a:bodyPr wrap="square" lIns="0" tIns="0" rIns="0" bIns="0" rtlCol="0" anchor="ctr"/>
          <a:lstStyle/>
          <a:p>
            <a:pPr algn="ctr"/>
            <a:r>
              <a:rPr lang="en-US" sz="550" b="1" kern="0" spc="8" dirty="0">
                <a:solidFill>
                  <a:srgbClr val="2A6FB5"/>
                </a:solidFill>
                <a:latin typeface="Arial" pitchFamily="34" charset="0"/>
                <a:ea typeface="Arial" pitchFamily="34" charset="-122"/>
                <a:cs typeface="Arial" pitchFamily="34" charset="-120"/>
              </a:rPr>
              <a:t>12. TOOL &amp; MCP LAYER</a:t>
            </a:r>
            <a:endParaRPr lang="en-US" sz="550" dirty="0"/>
          </a:p>
        </p:txBody>
      </p:sp>
      <p:sp>
        <p:nvSpPr>
          <p:cNvPr id="235" name="Shape 188"/>
          <p:cNvSpPr/>
          <p:nvPr/>
        </p:nvSpPr>
        <p:spPr>
          <a:xfrm>
            <a:off x="5892800" y="3474720"/>
            <a:ext cx="1447800" cy="655320"/>
          </a:xfrm>
          <a:prstGeom prst="roundRect">
            <a:avLst>
              <a:gd name="adj" fmla="val 3488"/>
            </a:avLst>
          </a:prstGeom>
          <a:solidFill>
            <a:srgbClr val="F6FAFE"/>
          </a:solidFill>
          <a:ln w="9525">
            <a:solidFill>
              <a:srgbClr val="BFD8F0"/>
            </a:solidFill>
            <a:prstDash val="solid"/>
          </a:ln>
        </p:spPr>
      </p:sp>
      <p:sp>
        <p:nvSpPr>
          <p:cNvPr id="236" name="Text 189"/>
          <p:cNvSpPr/>
          <p:nvPr/>
        </p:nvSpPr>
        <p:spPr>
          <a:xfrm>
            <a:off x="5892800" y="3497580"/>
            <a:ext cx="1447800" cy="91440"/>
          </a:xfrm>
          <a:prstGeom prst="rect">
            <a:avLst/>
          </a:prstGeom>
          <a:noFill/>
          <a:ln/>
        </p:spPr>
        <p:txBody>
          <a:bodyPr wrap="square" lIns="0" tIns="0" rIns="0" bIns="0" rtlCol="0" anchor="ctr"/>
          <a:lstStyle/>
          <a:p>
            <a:pPr algn="ctr"/>
            <a:r>
              <a:rPr lang="en-US" sz="417" b="1" dirty="0">
                <a:solidFill>
                  <a:srgbClr val="2D3748"/>
                </a:solidFill>
                <a:latin typeface="Arial" pitchFamily="34" charset="0"/>
                <a:ea typeface="Arial" pitchFamily="34" charset="-122"/>
                <a:cs typeface="Arial" pitchFamily="34" charset="-120"/>
              </a:rPr>
              <a:t>MCP Servers (Examples)</a:t>
            </a:r>
            <a:endParaRPr lang="en-US" sz="417" dirty="0"/>
          </a:p>
        </p:txBody>
      </p:sp>
      <p:pic>
        <p:nvPicPr>
          <p:cNvPr id="237" name="Image 45" descr="/sessions/zealous-intelligent-mayer/mnt/outputs/icons7/server.png"/>
          <p:cNvPicPr>
            <a:picLocks noChangeAspect="1"/>
          </p:cNvPicPr>
          <p:nvPr/>
        </p:nvPicPr>
        <p:blipFill>
          <a:blip r:embed="rId38"/>
          <a:stretch>
            <a:fillRect/>
          </a:stretch>
        </p:blipFill>
        <p:spPr>
          <a:xfrm>
            <a:off x="5953760" y="3644265"/>
            <a:ext cx="76200" cy="76200"/>
          </a:xfrm>
          <a:prstGeom prst="rect">
            <a:avLst/>
          </a:prstGeom>
        </p:spPr>
      </p:pic>
      <p:sp>
        <p:nvSpPr>
          <p:cNvPr id="238" name="Text 190"/>
          <p:cNvSpPr/>
          <p:nvPr/>
        </p:nvSpPr>
        <p:spPr>
          <a:xfrm>
            <a:off x="6068060" y="3627120"/>
            <a:ext cx="541020" cy="11811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SAP S/4HANA</a:t>
            </a:r>
            <a:endParaRPr lang="en-US" sz="383" dirty="0"/>
          </a:p>
        </p:txBody>
      </p:sp>
      <p:pic>
        <p:nvPicPr>
          <p:cNvPr id="239" name="Image 46" descr="/sessions/zealous-intelligent-mayer/mnt/outputs/icons7/area.png"/>
          <p:cNvPicPr>
            <a:picLocks noChangeAspect="1"/>
          </p:cNvPicPr>
          <p:nvPr/>
        </p:nvPicPr>
        <p:blipFill>
          <a:blip r:embed="rId39"/>
          <a:stretch>
            <a:fillRect/>
          </a:stretch>
        </p:blipFill>
        <p:spPr>
          <a:xfrm>
            <a:off x="5953760" y="3762375"/>
            <a:ext cx="76200" cy="76200"/>
          </a:xfrm>
          <a:prstGeom prst="rect">
            <a:avLst/>
          </a:prstGeom>
        </p:spPr>
      </p:pic>
      <p:sp>
        <p:nvSpPr>
          <p:cNvPr id="240" name="Text 191"/>
          <p:cNvSpPr/>
          <p:nvPr/>
        </p:nvSpPr>
        <p:spPr>
          <a:xfrm>
            <a:off x="6068060" y="3745230"/>
            <a:ext cx="541020" cy="11811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AVEVA PI</a:t>
            </a:r>
            <a:endParaRPr lang="en-US" sz="383" dirty="0"/>
          </a:p>
        </p:txBody>
      </p:sp>
      <p:pic>
        <p:nvPicPr>
          <p:cNvPr id="241" name="Image 47" descr="/sessions/zealous-intelligent-mayer/mnt/outputs/icons7/factory.png"/>
          <p:cNvPicPr>
            <a:picLocks noChangeAspect="1"/>
          </p:cNvPicPr>
          <p:nvPr/>
        </p:nvPicPr>
        <p:blipFill>
          <a:blip r:embed="rId40"/>
          <a:stretch>
            <a:fillRect/>
          </a:stretch>
        </p:blipFill>
        <p:spPr>
          <a:xfrm>
            <a:off x="5953760" y="3880485"/>
            <a:ext cx="76200" cy="76200"/>
          </a:xfrm>
          <a:prstGeom prst="rect">
            <a:avLst/>
          </a:prstGeom>
        </p:spPr>
      </p:pic>
      <p:sp>
        <p:nvSpPr>
          <p:cNvPr id="242" name="Text 192"/>
          <p:cNvSpPr/>
          <p:nvPr/>
        </p:nvSpPr>
        <p:spPr>
          <a:xfrm>
            <a:off x="6068060" y="3863340"/>
            <a:ext cx="541020" cy="11811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FactoryTalk MES</a:t>
            </a:r>
            <a:endParaRPr lang="en-US" sz="383" dirty="0"/>
          </a:p>
        </p:txBody>
      </p:sp>
      <p:pic>
        <p:nvPicPr>
          <p:cNvPr id="243" name="Image 48" descr="/sessions/zealous-intelligent-mayer/mnt/outputs/icons7/db.png"/>
          <p:cNvPicPr>
            <a:picLocks noChangeAspect="1"/>
          </p:cNvPicPr>
          <p:nvPr/>
        </p:nvPicPr>
        <p:blipFill>
          <a:blip r:embed="rId33"/>
          <a:stretch>
            <a:fillRect/>
          </a:stretch>
        </p:blipFill>
        <p:spPr>
          <a:xfrm>
            <a:off x="5953760" y="3998595"/>
            <a:ext cx="76200" cy="76200"/>
          </a:xfrm>
          <a:prstGeom prst="rect">
            <a:avLst/>
          </a:prstGeom>
        </p:spPr>
      </p:pic>
      <p:sp>
        <p:nvSpPr>
          <p:cNvPr id="244" name="Text 193"/>
          <p:cNvSpPr/>
          <p:nvPr/>
        </p:nvSpPr>
        <p:spPr>
          <a:xfrm>
            <a:off x="6068060" y="3981450"/>
            <a:ext cx="541020" cy="11811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Azure SQL / Cosmos</a:t>
            </a:r>
            <a:endParaRPr lang="en-US" sz="383" dirty="0"/>
          </a:p>
        </p:txBody>
      </p:sp>
      <p:pic>
        <p:nvPicPr>
          <p:cNvPr id="245" name="Image 49" descr="/sessions/zealous-intelligent-mayer/mnt/outputs/icons7/files.png"/>
          <p:cNvPicPr>
            <a:picLocks noChangeAspect="1"/>
          </p:cNvPicPr>
          <p:nvPr/>
        </p:nvPicPr>
        <p:blipFill>
          <a:blip r:embed="rId41"/>
          <a:stretch>
            <a:fillRect/>
          </a:stretch>
        </p:blipFill>
        <p:spPr>
          <a:xfrm>
            <a:off x="6685280" y="3644265"/>
            <a:ext cx="76200" cy="76200"/>
          </a:xfrm>
          <a:prstGeom prst="rect">
            <a:avLst/>
          </a:prstGeom>
        </p:spPr>
      </p:pic>
      <p:sp>
        <p:nvSpPr>
          <p:cNvPr id="246" name="Text 194"/>
          <p:cNvSpPr/>
          <p:nvPr/>
        </p:nvSpPr>
        <p:spPr>
          <a:xfrm>
            <a:off x="6799580" y="3627120"/>
            <a:ext cx="495300" cy="11811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SharePoint / Files</a:t>
            </a:r>
            <a:endParaRPr lang="en-US" sz="383" dirty="0"/>
          </a:p>
        </p:txBody>
      </p:sp>
      <p:pic>
        <p:nvPicPr>
          <p:cNvPr id="247" name="Image 50" descr="/sessions/zealous-intelligent-mayer/mnt/outputs/icons7/api.png"/>
          <p:cNvPicPr>
            <a:picLocks noChangeAspect="1"/>
          </p:cNvPicPr>
          <p:nvPr/>
        </p:nvPicPr>
        <p:blipFill>
          <a:blip r:embed="rId7"/>
          <a:stretch>
            <a:fillRect/>
          </a:stretch>
        </p:blipFill>
        <p:spPr>
          <a:xfrm>
            <a:off x="6685280" y="3762375"/>
            <a:ext cx="76200" cy="76200"/>
          </a:xfrm>
          <a:prstGeom prst="rect">
            <a:avLst/>
          </a:prstGeom>
        </p:spPr>
      </p:pic>
      <p:sp>
        <p:nvSpPr>
          <p:cNvPr id="248" name="Text 195"/>
          <p:cNvSpPr/>
          <p:nvPr/>
        </p:nvSpPr>
        <p:spPr>
          <a:xfrm>
            <a:off x="6799580" y="3745230"/>
            <a:ext cx="495300" cy="11811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Graph / Webhooks</a:t>
            </a:r>
            <a:endParaRPr lang="en-US" sz="383" dirty="0"/>
          </a:p>
        </p:txBody>
      </p:sp>
      <p:pic>
        <p:nvPicPr>
          <p:cNvPr id="249" name="Image 51" descr="/sessions/zealous-intelligent-mayer/mnt/outputs/icons7/cost.png"/>
          <p:cNvPicPr>
            <a:picLocks noChangeAspect="1"/>
          </p:cNvPicPr>
          <p:nvPr/>
        </p:nvPicPr>
        <p:blipFill>
          <a:blip r:embed="rId42"/>
          <a:stretch>
            <a:fillRect/>
          </a:stretch>
        </p:blipFill>
        <p:spPr>
          <a:xfrm>
            <a:off x="6685280" y="3880485"/>
            <a:ext cx="76200" cy="76200"/>
          </a:xfrm>
          <a:prstGeom prst="rect">
            <a:avLst/>
          </a:prstGeom>
        </p:spPr>
      </p:pic>
      <p:sp>
        <p:nvSpPr>
          <p:cNvPr id="250" name="Text 196"/>
          <p:cNvSpPr/>
          <p:nvPr/>
        </p:nvSpPr>
        <p:spPr>
          <a:xfrm>
            <a:off x="6799580" y="3863340"/>
            <a:ext cx="495300" cy="11811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Coupa / Ariba</a:t>
            </a:r>
            <a:endParaRPr lang="en-US" sz="383" dirty="0"/>
          </a:p>
        </p:txBody>
      </p:sp>
      <p:pic>
        <p:nvPicPr>
          <p:cNvPr id="251" name="Image 52" descr="/sessions/zealous-intelligent-mayer/mnt/outputs/icons7/layers.png"/>
          <p:cNvPicPr>
            <a:picLocks noChangeAspect="1"/>
          </p:cNvPicPr>
          <p:nvPr/>
        </p:nvPicPr>
        <p:blipFill>
          <a:blip r:embed="rId43"/>
          <a:stretch>
            <a:fillRect/>
          </a:stretch>
        </p:blipFill>
        <p:spPr>
          <a:xfrm>
            <a:off x="6685280" y="3998595"/>
            <a:ext cx="76200" cy="76200"/>
          </a:xfrm>
          <a:prstGeom prst="rect">
            <a:avLst/>
          </a:prstGeom>
        </p:spPr>
      </p:pic>
      <p:sp>
        <p:nvSpPr>
          <p:cNvPr id="252" name="Text 197"/>
          <p:cNvSpPr/>
          <p:nvPr/>
        </p:nvSpPr>
        <p:spPr>
          <a:xfrm>
            <a:off x="6799580" y="3981450"/>
            <a:ext cx="495300" cy="11811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…More</a:t>
            </a:r>
            <a:endParaRPr lang="en-US" sz="383" dirty="0"/>
          </a:p>
        </p:txBody>
      </p:sp>
      <p:sp>
        <p:nvSpPr>
          <p:cNvPr id="253" name="Shape 198"/>
          <p:cNvSpPr/>
          <p:nvPr/>
        </p:nvSpPr>
        <p:spPr>
          <a:xfrm>
            <a:off x="5892800" y="4160520"/>
            <a:ext cx="1447800" cy="152400"/>
          </a:xfrm>
          <a:prstGeom prst="roundRect">
            <a:avLst>
              <a:gd name="adj" fmla="val 15000"/>
            </a:avLst>
          </a:prstGeom>
          <a:solidFill>
            <a:srgbClr val="EEF5FC"/>
          </a:solidFill>
          <a:ln w="9525">
            <a:solidFill>
              <a:srgbClr val="BFD8F0"/>
            </a:solidFill>
            <a:prstDash val="solid"/>
          </a:ln>
        </p:spPr>
      </p:sp>
      <p:sp>
        <p:nvSpPr>
          <p:cNvPr id="254" name="Text 199"/>
          <p:cNvSpPr/>
          <p:nvPr/>
        </p:nvSpPr>
        <p:spPr>
          <a:xfrm>
            <a:off x="5892800" y="4160520"/>
            <a:ext cx="1447800" cy="152400"/>
          </a:xfrm>
          <a:prstGeom prst="rect">
            <a:avLst/>
          </a:prstGeom>
          <a:noFill/>
          <a:ln/>
        </p:spPr>
        <p:txBody>
          <a:bodyPr wrap="square" lIns="0" tIns="0" rIns="0" bIns="0" rtlCol="0" anchor="ctr"/>
          <a:lstStyle/>
          <a:p>
            <a:pPr algn="ctr"/>
            <a:r>
              <a:rPr lang="en-US" sz="417" b="1" dirty="0">
                <a:solidFill>
                  <a:srgbClr val="1B3A6B"/>
                </a:solidFill>
                <a:latin typeface="Arial" pitchFamily="34" charset="0"/>
                <a:ea typeface="Arial" pitchFamily="34" charset="-122"/>
                <a:cs typeface="Arial" pitchFamily="34" charset="-120"/>
              </a:rPr>
              <a:t>Tool Registry &amp; Permissions</a:t>
            </a:r>
            <a:endParaRPr lang="en-US" sz="417" dirty="0"/>
          </a:p>
        </p:txBody>
      </p:sp>
      <p:sp>
        <p:nvSpPr>
          <p:cNvPr id="255" name="Shape 200"/>
          <p:cNvSpPr/>
          <p:nvPr/>
        </p:nvSpPr>
        <p:spPr>
          <a:xfrm>
            <a:off x="7599680" y="3276600"/>
            <a:ext cx="1059180" cy="1089660"/>
          </a:xfrm>
          <a:prstGeom prst="roundRect">
            <a:avLst>
              <a:gd name="adj" fmla="val 3237"/>
            </a:avLst>
          </a:prstGeom>
          <a:solidFill>
            <a:srgbClr val="FFFDF8"/>
          </a:solidFill>
          <a:ln w="9525">
            <a:solidFill>
              <a:srgbClr val="EBD6AE"/>
            </a:solidFill>
            <a:prstDash val="solid"/>
          </a:ln>
        </p:spPr>
      </p:sp>
      <p:sp>
        <p:nvSpPr>
          <p:cNvPr id="256" name="Text 201"/>
          <p:cNvSpPr/>
          <p:nvPr/>
        </p:nvSpPr>
        <p:spPr>
          <a:xfrm>
            <a:off x="7599680" y="3322320"/>
            <a:ext cx="1059180" cy="114300"/>
          </a:xfrm>
          <a:prstGeom prst="rect">
            <a:avLst/>
          </a:prstGeom>
          <a:noFill/>
          <a:ln/>
        </p:spPr>
        <p:txBody>
          <a:bodyPr wrap="square" lIns="0" tIns="0" rIns="0" bIns="0" rtlCol="0" anchor="ctr"/>
          <a:lstStyle/>
          <a:p>
            <a:pPr algn="ctr"/>
            <a:r>
              <a:rPr lang="en-US" sz="533" b="1" kern="0" spc="8" dirty="0">
                <a:solidFill>
                  <a:srgbClr val="B4761C"/>
                </a:solidFill>
                <a:latin typeface="Arial" pitchFamily="34" charset="0"/>
                <a:ea typeface="Arial" pitchFamily="34" charset="-122"/>
                <a:cs typeface="Arial" pitchFamily="34" charset="-120"/>
              </a:rPr>
              <a:t>13. CACHE LAYER</a:t>
            </a:r>
            <a:endParaRPr lang="en-US" sz="533" dirty="0"/>
          </a:p>
        </p:txBody>
      </p:sp>
      <p:pic>
        <p:nvPicPr>
          <p:cNvPr id="257" name="Image 53" descr="/sessions/zealous-intelligent-mayer/mnt/outputs/icons7/cache.png"/>
          <p:cNvPicPr>
            <a:picLocks noChangeAspect="1"/>
          </p:cNvPicPr>
          <p:nvPr/>
        </p:nvPicPr>
        <p:blipFill>
          <a:blip r:embed="rId44"/>
          <a:stretch>
            <a:fillRect/>
          </a:stretch>
        </p:blipFill>
        <p:spPr>
          <a:xfrm>
            <a:off x="7691120" y="3596640"/>
            <a:ext cx="91440" cy="91440"/>
          </a:xfrm>
          <a:prstGeom prst="rect">
            <a:avLst/>
          </a:prstGeom>
        </p:spPr>
      </p:pic>
      <p:sp>
        <p:nvSpPr>
          <p:cNvPr id="258" name="Text 202"/>
          <p:cNvSpPr/>
          <p:nvPr/>
        </p:nvSpPr>
        <p:spPr>
          <a:xfrm>
            <a:off x="7820660" y="3550920"/>
            <a:ext cx="754380" cy="190500"/>
          </a:xfrm>
          <a:prstGeom prst="rect">
            <a:avLst/>
          </a:prstGeom>
          <a:noFill/>
          <a:ln/>
        </p:spPr>
        <p:txBody>
          <a:bodyPr wrap="square" lIns="0" tIns="0" rIns="0" bIns="0" rtlCol="0" anchor="ctr"/>
          <a:lstStyle/>
          <a:p>
            <a:r>
              <a:rPr lang="en-US" sz="400" dirty="0">
                <a:solidFill>
                  <a:srgbClr val="2D3748"/>
                </a:solidFill>
                <a:latin typeface="Arial" pitchFamily="34" charset="0"/>
                <a:ea typeface="Arial" pitchFamily="34" charset="-122"/>
                <a:cs typeface="Arial" pitchFamily="34" charset="-120"/>
              </a:rPr>
              <a:t>Azure Cache for Redis</a:t>
            </a:r>
            <a:endParaRPr lang="en-US" sz="400" dirty="0"/>
          </a:p>
        </p:txBody>
      </p:sp>
      <p:pic>
        <p:nvPicPr>
          <p:cNvPr id="259" name="Image 54" descr="/sessions/zealous-intelligent-mayer/mnt/outputs/icons7/cache.png"/>
          <p:cNvPicPr>
            <a:picLocks noChangeAspect="1"/>
          </p:cNvPicPr>
          <p:nvPr/>
        </p:nvPicPr>
        <p:blipFill>
          <a:blip r:embed="rId44"/>
          <a:stretch>
            <a:fillRect/>
          </a:stretch>
        </p:blipFill>
        <p:spPr>
          <a:xfrm>
            <a:off x="7691120" y="3787140"/>
            <a:ext cx="91440" cy="91440"/>
          </a:xfrm>
          <a:prstGeom prst="rect">
            <a:avLst/>
          </a:prstGeom>
        </p:spPr>
      </p:pic>
      <p:sp>
        <p:nvSpPr>
          <p:cNvPr id="260" name="Text 203"/>
          <p:cNvSpPr/>
          <p:nvPr/>
        </p:nvSpPr>
        <p:spPr>
          <a:xfrm>
            <a:off x="7820660" y="3741420"/>
            <a:ext cx="754380" cy="190500"/>
          </a:xfrm>
          <a:prstGeom prst="rect">
            <a:avLst/>
          </a:prstGeom>
          <a:noFill/>
          <a:ln/>
        </p:spPr>
        <p:txBody>
          <a:bodyPr wrap="square" lIns="0" tIns="0" rIns="0" bIns="0" rtlCol="0" anchor="ctr"/>
          <a:lstStyle/>
          <a:p>
            <a:r>
              <a:rPr lang="en-US" sz="400" dirty="0">
                <a:solidFill>
                  <a:srgbClr val="2D3748"/>
                </a:solidFill>
                <a:latin typeface="Arial" pitchFamily="34" charset="0"/>
                <a:ea typeface="Arial" pitchFamily="34" charset="-122"/>
                <a:cs typeface="Arial" pitchFamily="34" charset="-120"/>
              </a:rPr>
              <a:t>Semantic Cache (APIM)</a:t>
            </a:r>
            <a:endParaRPr lang="en-US" sz="400" dirty="0"/>
          </a:p>
        </p:txBody>
      </p:sp>
      <p:pic>
        <p:nvPicPr>
          <p:cNvPr id="261" name="Image 55" descr="/sessions/zealous-intelligent-mayer/mnt/outputs/icons7/cache.png"/>
          <p:cNvPicPr>
            <a:picLocks noChangeAspect="1"/>
          </p:cNvPicPr>
          <p:nvPr/>
        </p:nvPicPr>
        <p:blipFill>
          <a:blip r:embed="rId44"/>
          <a:stretch>
            <a:fillRect/>
          </a:stretch>
        </p:blipFill>
        <p:spPr>
          <a:xfrm>
            <a:off x="7691120" y="3977640"/>
            <a:ext cx="91440" cy="91440"/>
          </a:xfrm>
          <a:prstGeom prst="rect">
            <a:avLst/>
          </a:prstGeom>
        </p:spPr>
      </p:pic>
      <p:sp>
        <p:nvSpPr>
          <p:cNvPr id="262" name="Text 204"/>
          <p:cNvSpPr/>
          <p:nvPr/>
        </p:nvSpPr>
        <p:spPr>
          <a:xfrm>
            <a:off x="7820660" y="3931920"/>
            <a:ext cx="754380" cy="190500"/>
          </a:xfrm>
          <a:prstGeom prst="rect">
            <a:avLst/>
          </a:prstGeom>
          <a:noFill/>
          <a:ln/>
        </p:spPr>
        <p:txBody>
          <a:bodyPr wrap="square" lIns="0" tIns="0" rIns="0" bIns="0" rtlCol="0" anchor="ctr"/>
          <a:lstStyle/>
          <a:p>
            <a:r>
              <a:rPr lang="en-US" sz="400" dirty="0">
                <a:solidFill>
                  <a:srgbClr val="2D3748"/>
                </a:solidFill>
                <a:latin typeface="Arial" pitchFamily="34" charset="0"/>
                <a:ea typeface="Arial" pitchFamily="34" charset="-122"/>
                <a:cs typeface="Arial" pitchFamily="34" charset="-120"/>
              </a:rPr>
              <a:t>Embedding Cache</a:t>
            </a:r>
            <a:endParaRPr lang="en-US" sz="400" dirty="0"/>
          </a:p>
        </p:txBody>
      </p:sp>
      <p:pic>
        <p:nvPicPr>
          <p:cNvPr id="263" name="Image 56" descr="/sessions/zealous-intelligent-mayer/mnt/outputs/icons7/cache.png"/>
          <p:cNvPicPr>
            <a:picLocks noChangeAspect="1"/>
          </p:cNvPicPr>
          <p:nvPr/>
        </p:nvPicPr>
        <p:blipFill>
          <a:blip r:embed="rId44"/>
          <a:stretch>
            <a:fillRect/>
          </a:stretch>
        </p:blipFill>
        <p:spPr>
          <a:xfrm>
            <a:off x="7691120" y="4168140"/>
            <a:ext cx="91440" cy="91440"/>
          </a:xfrm>
          <a:prstGeom prst="rect">
            <a:avLst/>
          </a:prstGeom>
        </p:spPr>
      </p:pic>
      <p:sp>
        <p:nvSpPr>
          <p:cNvPr id="264" name="Text 205"/>
          <p:cNvSpPr/>
          <p:nvPr/>
        </p:nvSpPr>
        <p:spPr>
          <a:xfrm>
            <a:off x="7820660" y="4122420"/>
            <a:ext cx="754380" cy="190500"/>
          </a:xfrm>
          <a:prstGeom prst="rect">
            <a:avLst/>
          </a:prstGeom>
          <a:noFill/>
          <a:ln/>
        </p:spPr>
        <p:txBody>
          <a:bodyPr wrap="square" lIns="0" tIns="0" rIns="0" bIns="0" rtlCol="0" anchor="ctr"/>
          <a:lstStyle/>
          <a:p>
            <a:r>
              <a:rPr lang="en-US" sz="400" dirty="0">
                <a:solidFill>
                  <a:srgbClr val="2D3748"/>
                </a:solidFill>
                <a:latin typeface="Arial" pitchFamily="34" charset="0"/>
                <a:ea typeface="Arial" pitchFamily="34" charset="-122"/>
                <a:cs typeface="Arial" pitchFamily="34" charset="-120"/>
              </a:rPr>
              <a:t>Response Cache</a:t>
            </a:r>
            <a:endParaRPr lang="en-US" sz="400" dirty="0"/>
          </a:p>
        </p:txBody>
      </p:sp>
      <p:sp>
        <p:nvSpPr>
          <p:cNvPr id="265" name="Shape 206"/>
          <p:cNvSpPr/>
          <p:nvPr/>
        </p:nvSpPr>
        <p:spPr>
          <a:xfrm>
            <a:off x="8818880" y="3276600"/>
            <a:ext cx="1203960" cy="1089660"/>
          </a:xfrm>
          <a:prstGeom prst="roundRect">
            <a:avLst>
              <a:gd name="adj" fmla="val 3147"/>
            </a:avLst>
          </a:prstGeom>
          <a:solidFill>
            <a:srgbClr val="FFFDF8"/>
          </a:solidFill>
          <a:ln w="9525">
            <a:solidFill>
              <a:srgbClr val="EBD6AE"/>
            </a:solidFill>
            <a:prstDash val="solid"/>
          </a:ln>
        </p:spPr>
      </p:sp>
      <p:sp>
        <p:nvSpPr>
          <p:cNvPr id="266" name="Text 207"/>
          <p:cNvSpPr/>
          <p:nvPr/>
        </p:nvSpPr>
        <p:spPr>
          <a:xfrm>
            <a:off x="8818880" y="3322320"/>
            <a:ext cx="1203960" cy="114300"/>
          </a:xfrm>
          <a:prstGeom prst="rect">
            <a:avLst/>
          </a:prstGeom>
          <a:noFill/>
          <a:ln/>
        </p:spPr>
        <p:txBody>
          <a:bodyPr wrap="square" lIns="0" tIns="0" rIns="0" bIns="0" rtlCol="0" anchor="ctr"/>
          <a:lstStyle/>
          <a:p>
            <a:pPr algn="ctr"/>
            <a:r>
              <a:rPr lang="en-US" sz="533" b="1" kern="0" spc="8" dirty="0">
                <a:solidFill>
                  <a:srgbClr val="B4761C"/>
                </a:solidFill>
                <a:latin typeface="Arial" pitchFamily="34" charset="0"/>
                <a:ea typeface="Arial" pitchFamily="34" charset="-122"/>
                <a:cs typeface="Arial" pitchFamily="34" charset="-120"/>
              </a:rPr>
              <a:t>14. QUEUE &amp; EVENT BUS</a:t>
            </a:r>
            <a:endParaRPr lang="en-US" sz="533" dirty="0"/>
          </a:p>
        </p:txBody>
      </p:sp>
      <p:pic>
        <p:nvPicPr>
          <p:cNvPr id="267" name="Image 57" descr="/sessions/zealous-intelligent-mayer/mnt/outputs/icons7/bus.png"/>
          <p:cNvPicPr>
            <a:picLocks noChangeAspect="1"/>
          </p:cNvPicPr>
          <p:nvPr/>
        </p:nvPicPr>
        <p:blipFill>
          <a:blip r:embed="rId45"/>
          <a:stretch>
            <a:fillRect/>
          </a:stretch>
        </p:blipFill>
        <p:spPr>
          <a:xfrm>
            <a:off x="8910320" y="3545205"/>
            <a:ext cx="83820" cy="83820"/>
          </a:xfrm>
          <a:prstGeom prst="rect">
            <a:avLst/>
          </a:prstGeom>
        </p:spPr>
      </p:pic>
      <p:sp>
        <p:nvSpPr>
          <p:cNvPr id="268" name="Text 208"/>
          <p:cNvSpPr/>
          <p:nvPr/>
        </p:nvSpPr>
        <p:spPr>
          <a:xfrm>
            <a:off x="9032240" y="3520440"/>
            <a:ext cx="914400" cy="14097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Azure Service Bus</a:t>
            </a:r>
            <a:endParaRPr lang="en-US" sz="383" dirty="0"/>
          </a:p>
        </p:txBody>
      </p:sp>
      <p:pic>
        <p:nvPicPr>
          <p:cNvPr id="269" name="Image 58" descr="/sessions/zealous-intelligent-mayer/mnt/outputs/icons7/bus.png"/>
          <p:cNvPicPr>
            <a:picLocks noChangeAspect="1"/>
          </p:cNvPicPr>
          <p:nvPr/>
        </p:nvPicPr>
        <p:blipFill>
          <a:blip r:embed="rId45"/>
          <a:stretch>
            <a:fillRect/>
          </a:stretch>
        </p:blipFill>
        <p:spPr>
          <a:xfrm>
            <a:off x="8910320" y="3686175"/>
            <a:ext cx="83820" cy="83820"/>
          </a:xfrm>
          <a:prstGeom prst="rect">
            <a:avLst/>
          </a:prstGeom>
        </p:spPr>
      </p:pic>
      <p:sp>
        <p:nvSpPr>
          <p:cNvPr id="270" name="Text 209"/>
          <p:cNvSpPr/>
          <p:nvPr/>
        </p:nvSpPr>
        <p:spPr>
          <a:xfrm>
            <a:off x="9032240" y="3661410"/>
            <a:ext cx="914400" cy="14097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Event Hubs (Kafka)</a:t>
            </a:r>
            <a:endParaRPr lang="en-US" sz="383" dirty="0"/>
          </a:p>
        </p:txBody>
      </p:sp>
      <p:pic>
        <p:nvPicPr>
          <p:cNvPr id="271" name="Image 59" descr="/sessions/zealous-intelligent-mayer/mnt/outputs/icons7/bus.png"/>
          <p:cNvPicPr>
            <a:picLocks noChangeAspect="1"/>
          </p:cNvPicPr>
          <p:nvPr/>
        </p:nvPicPr>
        <p:blipFill>
          <a:blip r:embed="rId45"/>
          <a:stretch>
            <a:fillRect/>
          </a:stretch>
        </p:blipFill>
        <p:spPr>
          <a:xfrm>
            <a:off x="8910320" y="3827145"/>
            <a:ext cx="83820" cy="83820"/>
          </a:xfrm>
          <a:prstGeom prst="rect">
            <a:avLst/>
          </a:prstGeom>
        </p:spPr>
      </p:pic>
      <p:sp>
        <p:nvSpPr>
          <p:cNvPr id="272" name="Text 210"/>
          <p:cNvSpPr/>
          <p:nvPr/>
        </p:nvSpPr>
        <p:spPr>
          <a:xfrm>
            <a:off x="9032240" y="3802380"/>
            <a:ext cx="914400" cy="14097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Event Grid</a:t>
            </a:r>
            <a:endParaRPr lang="en-US" sz="383" dirty="0"/>
          </a:p>
        </p:txBody>
      </p:sp>
      <p:pic>
        <p:nvPicPr>
          <p:cNvPr id="273" name="Image 60" descr="/sessions/zealous-intelligent-mayer/mnt/outputs/icons7/layers.png"/>
          <p:cNvPicPr>
            <a:picLocks noChangeAspect="1"/>
          </p:cNvPicPr>
          <p:nvPr/>
        </p:nvPicPr>
        <p:blipFill>
          <a:blip r:embed="rId43"/>
          <a:stretch>
            <a:fillRect/>
          </a:stretch>
        </p:blipFill>
        <p:spPr>
          <a:xfrm>
            <a:off x="8910320" y="3968115"/>
            <a:ext cx="83820" cy="83820"/>
          </a:xfrm>
          <a:prstGeom prst="rect">
            <a:avLst/>
          </a:prstGeom>
        </p:spPr>
      </p:pic>
      <p:sp>
        <p:nvSpPr>
          <p:cNvPr id="274" name="Text 211"/>
          <p:cNvSpPr/>
          <p:nvPr/>
        </p:nvSpPr>
        <p:spPr>
          <a:xfrm>
            <a:off x="9032240" y="3943350"/>
            <a:ext cx="914400" cy="14097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Storage Queues</a:t>
            </a:r>
            <a:endParaRPr lang="en-US" sz="383" dirty="0"/>
          </a:p>
        </p:txBody>
      </p:sp>
      <p:pic>
        <p:nvPicPr>
          <p:cNvPr id="275" name="Image 61" descr="/sessions/zealous-intelligent-mayer/mnt/outputs/icons7/workflow.png"/>
          <p:cNvPicPr>
            <a:picLocks noChangeAspect="1"/>
          </p:cNvPicPr>
          <p:nvPr/>
        </p:nvPicPr>
        <p:blipFill>
          <a:blip r:embed="rId17"/>
          <a:stretch>
            <a:fillRect/>
          </a:stretch>
        </p:blipFill>
        <p:spPr>
          <a:xfrm>
            <a:off x="8910320" y="4109085"/>
            <a:ext cx="83820" cy="83820"/>
          </a:xfrm>
          <a:prstGeom prst="rect">
            <a:avLst/>
          </a:prstGeom>
        </p:spPr>
      </p:pic>
      <p:sp>
        <p:nvSpPr>
          <p:cNvPr id="276" name="Text 212"/>
          <p:cNvSpPr/>
          <p:nvPr/>
        </p:nvSpPr>
        <p:spPr>
          <a:xfrm>
            <a:off x="9032240" y="4084320"/>
            <a:ext cx="914400" cy="14097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Durable Functions</a:t>
            </a:r>
            <a:endParaRPr lang="en-US" sz="383" dirty="0"/>
          </a:p>
        </p:txBody>
      </p:sp>
      <p:pic>
        <p:nvPicPr>
          <p:cNvPr id="277" name="Image 62" descr="/sessions/zealous-intelligent-mayer/mnt/outputs/icons7/gears.png"/>
          <p:cNvPicPr>
            <a:picLocks noChangeAspect="1"/>
          </p:cNvPicPr>
          <p:nvPr/>
        </p:nvPicPr>
        <p:blipFill>
          <a:blip r:embed="rId46"/>
          <a:stretch>
            <a:fillRect/>
          </a:stretch>
        </p:blipFill>
        <p:spPr>
          <a:xfrm>
            <a:off x="8910320" y="4250055"/>
            <a:ext cx="83820" cy="83820"/>
          </a:xfrm>
          <a:prstGeom prst="rect">
            <a:avLst/>
          </a:prstGeom>
        </p:spPr>
      </p:pic>
      <p:sp>
        <p:nvSpPr>
          <p:cNvPr id="278" name="Text 213"/>
          <p:cNvSpPr/>
          <p:nvPr/>
        </p:nvSpPr>
        <p:spPr>
          <a:xfrm>
            <a:off x="9032240" y="4225290"/>
            <a:ext cx="914400" cy="14097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Logic Apps (Workflows)</a:t>
            </a:r>
            <a:endParaRPr lang="en-US" sz="383" dirty="0"/>
          </a:p>
        </p:txBody>
      </p:sp>
      <p:sp>
        <p:nvSpPr>
          <p:cNvPr id="279" name="Shape 214"/>
          <p:cNvSpPr/>
          <p:nvPr/>
        </p:nvSpPr>
        <p:spPr>
          <a:xfrm>
            <a:off x="1122680" y="4533900"/>
            <a:ext cx="1059180" cy="1021080"/>
          </a:xfrm>
          <a:prstGeom prst="roundRect">
            <a:avLst>
              <a:gd name="adj" fmla="val 3358"/>
            </a:avLst>
          </a:prstGeom>
          <a:solidFill>
            <a:srgbClr val="FFFFFF"/>
          </a:solidFill>
          <a:ln w="9525">
            <a:solidFill>
              <a:srgbClr val="C7D4E8"/>
            </a:solidFill>
            <a:prstDash val="solid"/>
          </a:ln>
        </p:spPr>
      </p:sp>
      <p:sp>
        <p:nvSpPr>
          <p:cNvPr id="280" name="Text 215"/>
          <p:cNvSpPr/>
          <p:nvPr/>
        </p:nvSpPr>
        <p:spPr>
          <a:xfrm>
            <a:off x="1122680" y="4572000"/>
            <a:ext cx="1059180" cy="114300"/>
          </a:xfrm>
          <a:prstGeom prst="rect">
            <a:avLst/>
          </a:prstGeom>
          <a:noFill/>
          <a:ln/>
        </p:spPr>
        <p:txBody>
          <a:bodyPr wrap="square" lIns="0" tIns="0" rIns="0" bIns="0" rtlCol="0" anchor="ctr"/>
          <a:lstStyle/>
          <a:p>
            <a:pPr algn="ctr"/>
            <a:r>
              <a:rPr lang="en-US" sz="533" b="1" kern="0" spc="8" dirty="0">
                <a:solidFill>
                  <a:srgbClr val="1B3A6B"/>
                </a:solidFill>
                <a:latin typeface="Arial" pitchFamily="34" charset="0"/>
                <a:ea typeface="Arial" pitchFamily="34" charset="-122"/>
                <a:cs typeface="Arial" pitchFamily="34" charset="-120"/>
              </a:rPr>
              <a:t>15. DATA LAYER</a:t>
            </a:r>
            <a:endParaRPr lang="en-US" sz="533" dirty="0"/>
          </a:p>
        </p:txBody>
      </p:sp>
      <p:pic>
        <p:nvPicPr>
          <p:cNvPr id="281" name="Image 63" descr="/sessions/zealous-intelligent-mayer/mnt/outputs/icons7/db.png"/>
          <p:cNvPicPr>
            <a:picLocks noChangeAspect="1"/>
          </p:cNvPicPr>
          <p:nvPr/>
        </p:nvPicPr>
        <p:blipFill>
          <a:blip r:embed="rId33"/>
          <a:stretch>
            <a:fillRect/>
          </a:stretch>
        </p:blipFill>
        <p:spPr>
          <a:xfrm>
            <a:off x="1198880" y="4770120"/>
            <a:ext cx="83820" cy="83820"/>
          </a:xfrm>
          <a:prstGeom prst="rect">
            <a:avLst/>
          </a:prstGeom>
        </p:spPr>
      </p:pic>
      <p:sp>
        <p:nvSpPr>
          <p:cNvPr id="282" name="Text 216"/>
          <p:cNvSpPr/>
          <p:nvPr/>
        </p:nvSpPr>
        <p:spPr>
          <a:xfrm>
            <a:off x="1320800" y="4739640"/>
            <a:ext cx="800100" cy="152400"/>
          </a:xfrm>
          <a:prstGeom prst="rect">
            <a:avLst/>
          </a:prstGeom>
          <a:noFill/>
          <a:ln/>
        </p:spPr>
        <p:txBody>
          <a:bodyPr wrap="square" lIns="0" tIns="0" rIns="0" bIns="0" rtlCol="0" anchor="ctr"/>
          <a:lstStyle/>
          <a:p>
            <a:r>
              <a:rPr lang="en-US" sz="392" dirty="0">
                <a:solidFill>
                  <a:srgbClr val="2D3748"/>
                </a:solidFill>
                <a:latin typeface="Arial" pitchFamily="34" charset="0"/>
                <a:ea typeface="Arial" pitchFamily="34" charset="-122"/>
                <a:cs typeface="Arial" pitchFamily="34" charset="-120"/>
              </a:rPr>
              <a:t>Azure SQL (Primary DB)</a:t>
            </a:r>
            <a:endParaRPr lang="en-US" sz="392" dirty="0"/>
          </a:p>
        </p:txBody>
      </p:sp>
      <p:pic>
        <p:nvPicPr>
          <p:cNvPr id="283" name="Image 64" descr="/sessions/zealous-intelligent-mayer/mnt/outputs/icons7/db.png"/>
          <p:cNvPicPr>
            <a:picLocks noChangeAspect="1"/>
          </p:cNvPicPr>
          <p:nvPr/>
        </p:nvPicPr>
        <p:blipFill>
          <a:blip r:embed="rId33"/>
          <a:stretch>
            <a:fillRect/>
          </a:stretch>
        </p:blipFill>
        <p:spPr>
          <a:xfrm>
            <a:off x="1198880" y="4922520"/>
            <a:ext cx="83820" cy="83820"/>
          </a:xfrm>
          <a:prstGeom prst="rect">
            <a:avLst/>
          </a:prstGeom>
        </p:spPr>
      </p:pic>
      <p:sp>
        <p:nvSpPr>
          <p:cNvPr id="284" name="Text 217"/>
          <p:cNvSpPr/>
          <p:nvPr/>
        </p:nvSpPr>
        <p:spPr>
          <a:xfrm>
            <a:off x="1320800" y="4892040"/>
            <a:ext cx="800100" cy="152400"/>
          </a:xfrm>
          <a:prstGeom prst="rect">
            <a:avLst/>
          </a:prstGeom>
          <a:noFill/>
          <a:ln/>
        </p:spPr>
        <p:txBody>
          <a:bodyPr wrap="square" lIns="0" tIns="0" rIns="0" bIns="0" rtlCol="0" anchor="ctr"/>
          <a:lstStyle/>
          <a:p>
            <a:r>
              <a:rPr lang="en-US" sz="392" dirty="0">
                <a:solidFill>
                  <a:srgbClr val="2D3748"/>
                </a:solidFill>
                <a:latin typeface="Arial" pitchFamily="34" charset="0"/>
                <a:ea typeface="Arial" pitchFamily="34" charset="-122"/>
                <a:cs typeface="Arial" pitchFamily="34" charset="-120"/>
              </a:rPr>
              <a:t>PostgreSQL + pgvector</a:t>
            </a:r>
            <a:endParaRPr lang="en-US" sz="392" dirty="0"/>
          </a:p>
        </p:txBody>
      </p:sp>
      <p:sp>
        <p:nvSpPr>
          <p:cNvPr id="285" name="Text 218"/>
          <p:cNvSpPr/>
          <p:nvPr/>
        </p:nvSpPr>
        <p:spPr>
          <a:xfrm>
            <a:off x="1244600" y="5059680"/>
            <a:ext cx="868680" cy="441960"/>
          </a:xfrm>
          <a:prstGeom prst="rect">
            <a:avLst/>
          </a:prstGeom>
          <a:noFill/>
          <a:ln/>
        </p:spPr>
        <p:txBody>
          <a:bodyPr wrap="square" lIns="0" tIns="0" rIns="0" bIns="0" rtlCol="0" anchor="ctr"/>
          <a:lstStyle/>
          <a:p>
            <a:pPr marL="63497" indent="-63497">
              <a:buSzPct val="100000"/>
              <a:buChar char="•"/>
            </a:pPr>
            <a:r>
              <a:rPr lang="en-US" sz="392" dirty="0">
                <a:solidFill>
                  <a:srgbClr val="2D3748"/>
                </a:solidFill>
                <a:latin typeface="Arial" pitchFamily="34" charset="0"/>
                <a:ea typeface="Arial" pitchFamily="34" charset="-122"/>
                <a:cs typeface="Arial" pitchFamily="34" charset="-120"/>
              </a:rPr>
              <a:t>Operational Data</a:t>
            </a:r>
            <a:endParaRPr lang="en-US" sz="392" dirty="0"/>
          </a:p>
          <a:p>
            <a:pPr marL="63497" indent="-63497">
              <a:buSzPct val="100000"/>
              <a:buChar char="•"/>
            </a:pPr>
            <a:r>
              <a:rPr lang="en-US" sz="392" dirty="0">
                <a:solidFill>
                  <a:srgbClr val="2D3748"/>
                </a:solidFill>
                <a:latin typeface="Arial" pitchFamily="34" charset="0"/>
                <a:ea typeface="Arial" pitchFamily="34" charset="-122"/>
                <a:cs typeface="Arial" pitchFamily="34" charset="-120"/>
              </a:rPr>
              <a:t>User &amp; Role Data</a:t>
            </a:r>
            <a:endParaRPr lang="en-US" sz="392" dirty="0"/>
          </a:p>
          <a:p>
            <a:pPr marL="63497" indent="-63497">
              <a:buSzPct val="100000"/>
              <a:buChar char="•"/>
            </a:pPr>
            <a:r>
              <a:rPr lang="en-US" sz="392" dirty="0">
                <a:solidFill>
                  <a:srgbClr val="2D3748"/>
                </a:solidFill>
                <a:latin typeface="Arial" pitchFamily="34" charset="0"/>
                <a:ea typeface="Arial" pitchFamily="34" charset="-122"/>
                <a:cs typeface="Arial" pitchFamily="34" charset="-120"/>
              </a:rPr>
              <a:t>Metadata</a:t>
            </a:r>
            <a:endParaRPr lang="en-US" sz="392" dirty="0"/>
          </a:p>
          <a:p>
            <a:pPr marL="63497" indent="-63497">
              <a:buSzPct val="100000"/>
              <a:buChar char="•"/>
            </a:pPr>
            <a:r>
              <a:rPr lang="en-US" sz="392" dirty="0">
                <a:solidFill>
                  <a:srgbClr val="2D3748"/>
                </a:solidFill>
                <a:latin typeface="Arial" pitchFamily="34" charset="0"/>
                <a:ea typeface="Arial" pitchFamily="34" charset="-122"/>
                <a:cs typeface="Arial" pitchFamily="34" charset="-120"/>
              </a:rPr>
              <a:t>Fabric Analytics</a:t>
            </a:r>
            <a:endParaRPr lang="en-US" sz="392" dirty="0"/>
          </a:p>
        </p:txBody>
      </p:sp>
      <p:sp>
        <p:nvSpPr>
          <p:cNvPr id="286" name="Shape 219"/>
          <p:cNvSpPr/>
          <p:nvPr/>
        </p:nvSpPr>
        <p:spPr>
          <a:xfrm>
            <a:off x="2258060" y="4533900"/>
            <a:ext cx="1043940" cy="1021080"/>
          </a:xfrm>
          <a:prstGeom prst="roundRect">
            <a:avLst>
              <a:gd name="adj" fmla="val 3358"/>
            </a:avLst>
          </a:prstGeom>
          <a:solidFill>
            <a:srgbClr val="FFFFFF"/>
          </a:solidFill>
          <a:ln w="9525">
            <a:solidFill>
              <a:srgbClr val="C7D4E8"/>
            </a:solidFill>
            <a:prstDash val="solid"/>
          </a:ln>
        </p:spPr>
      </p:sp>
      <p:sp>
        <p:nvSpPr>
          <p:cNvPr id="287" name="Text 220"/>
          <p:cNvSpPr/>
          <p:nvPr/>
        </p:nvSpPr>
        <p:spPr>
          <a:xfrm>
            <a:off x="2258060" y="4572000"/>
            <a:ext cx="1043940" cy="114300"/>
          </a:xfrm>
          <a:prstGeom prst="rect">
            <a:avLst/>
          </a:prstGeom>
          <a:noFill/>
          <a:ln/>
        </p:spPr>
        <p:txBody>
          <a:bodyPr wrap="square" lIns="0" tIns="0" rIns="0" bIns="0" rtlCol="0" anchor="ctr"/>
          <a:lstStyle/>
          <a:p>
            <a:pPr algn="ctr"/>
            <a:r>
              <a:rPr lang="en-US" sz="533" b="1" kern="0" spc="8" dirty="0">
                <a:solidFill>
                  <a:srgbClr val="1B3A6B"/>
                </a:solidFill>
                <a:latin typeface="Arial" pitchFamily="34" charset="0"/>
                <a:ea typeface="Arial" pitchFamily="34" charset="-122"/>
                <a:cs typeface="Arial" pitchFamily="34" charset="-120"/>
              </a:rPr>
              <a:t>16. OBJECT STORAGE</a:t>
            </a:r>
            <a:endParaRPr lang="en-US" sz="533" dirty="0"/>
          </a:p>
        </p:txBody>
      </p:sp>
      <p:pic>
        <p:nvPicPr>
          <p:cNvPr id="288" name="Image 65" descr="/sessions/zealous-intelligent-mayer/mnt/outputs/icons7/storage.png"/>
          <p:cNvPicPr>
            <a:picLocks noChangeAspect="1"/>
          </p:cNvPicPr>
          <p:nvPr/>
        </p:nvPicPr>
        <p:blipFill>
          <a:blip r:embed="rId47"/>
          <a:stretch>
            <a:fillRect/>
          </a:stretch>
        </p:blipFill>
        <p:spPr>
          <a:xfrm>
            <a:off x="2334260" y="4752975"/>
            <a:ext cx="76200" cy="76200"/>
          </a:xfrm>
          <a:prstGeom prst="rect">
            <a:avLst/>
          </a:prstGeom>
        </p:spPr>
      </p:pic>
      <p:sp>
        <p:nvSpPr>
          <p:cNvPr id="289" name="Text 221"/>
          <p:cNvSpPr/>
          <p:nvPr/>
        </p:nvSpPr>
        <p:spPr>
          <a:xfrm>
            <a:off x="2448560" y="4739640"/>
            <a:ext cx="792480" cy="11049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Blob Storage (Hot / Cool)</a:t>
            </a:r>
            <a:endParaRPr lang="en-US" sz="375" dirty="0"/>
          </a:p>
        </p:txBody>
      </p:sp>
      <p:pic>
        <p:nvPicPr>
          <p:cNvPr id="290" name="Image 66" descr="/sessions/zealous-intelligent-mayer/mnt/outputs/icons7/storage.png"/>
          <p:cNvPicPr>
            <a:picLocks noChangeAspect="1"/>
          </p:cNvPicPr>
          <p:nvPr/>
        </p:nvPicPr>
        <p:blipFill>
          <a:blip r:embed="rId47"/>
          <a:stretch>
            <a:fillRect/>
          </a:stretch>
        </p:blipFill>
        <p:spPr>
          <a:xfrm>
            <a:off x="2334260" y="4863465"/>
            <a:ext cx="76200" cy="76200"/>
          </a:xfrm>
          <a:prstGeom prst="rect">
            <a:avLst/>
          </a:prstGeom>
        </p:spPr>
      </p:pic>
      <p:sp>
        <p:nvSpPr>
          <p:cNvPr id="291" name="Text 222"/>
          <p:cNvSpPr/>
          <p:nvPr/>
        </p:nvSpPr>
        <p:spPr>
          <a:xfrm>
            <a:off x="2448560" y="4850130"/>
            <a:ext cx="792480" cy="11049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ADLS Gen2</a:t>
            </a:r>
            <a:endParaRPr lang="en-US" sz="375" dirty="0"/>
          </a:p>
        </p:txBody>
      </p:sp>
      <p:pic>
        <p:nvPicPr>
          <p:cNvPr id="292" name="Image 67" descr="/sessions/zealous-intelligent-mayer/mnt/outputs/icons7/folder.png"/>
          <p:cNvPicPr>
            <a:picLocks noChangeAspect="1"/>
          </p:cNvPicPr>
          <p:nvPr/>
        </p:nvPicPr>
        <p:blipFill>
          <a:blip r:embed="rId48"/>
          <a:stretch>
            <a:fillRect/>
          </a:stretch>
        </p:blipFill>
        <p:spPr>
          <a:xfrm>
            <a:off x="2334260" y="4973955"/>
            <a:ext cx="76200" cy="76200"/>
          </a:xfrm>
          <a:prstGeom prst="rect">
            <a:avLst/>
          </a:prstGeom>
        </p:spPr>
      </p:pic>
      <p:sp>
        <p:nvSpPr>
          <p:cNvPr id="293" name="Text 223"/>
          <p:cNvSpPr/>
          <p:nvPr/>
        </p:nvSpPr>
        <p:spPr>
          <a:xfrm>
            <a:off x="2448560" y="4960620"/>
            <a:ext cx="792480" cy="11049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Azure Files</a:t>
            </a:r>
            <a:endParaRPr lang="en-US" sz="375" dirty="0"/>
          </a:p>
        </p:txBody>
      </p:sp>
      <p:pic>
        <p:nvPicPr>
          <p:cNvPr id="294" name="Image 68" descr="/sessions/zealous-intelligent-mayer/mnt/outputs/icons7/doc.png"/>
          <p:cNvPicPr>
            <a:picLocks noChangeAspect="1"/>
          </p:cNvPicPr>
          <p:nvPr/>
        </p:nvPicPr>
        <p:blipFill>
          <a:blip r:embed="rId49"/>
          <a:stretch>
            <a:fillRect/>
          </a:stretch>
        </p:blipFill>
        <p:spPr>
          <a:xfrm>
            <a:off x="2334260" y="5084445"/>
            <a:ext cx="76200" cy="76200"/>
          </a:xfrm>
          <a:prstGeom prst="rect">
            <a:avLst/>
          </a:prstGeom>
        </p:spPr>
      </p:pic>
      <p:sp>
        <p:nvSpPr>
          <p:cNvPr id="295" name="Text 224"/>
          <p:cNvSpPr/>
          <p:nvPr/>
        </p:nvSpPr>
        <p:spPr>
          <a:xfrm>
            <a:off x="2448560" y="5071110"/>
            <a:ext cx="792480" cy="11049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Documents &amp; Specs</a:t>
            </a:r>
            <a:endParaRPr lang="en-US" sz="375" dirty="0"/>
          </a:p>
        </p:txBody>
      </p:sp>
      <p:pic>
        <p:nvPicPr>
          <p:cNvPr id="296" name="Image 69" descr="/sessions/zealous-intelligent-mayer/mnt/outputs/icons7/image.png"/>
          <p:cNvPicPr>
            <a:picLocks noChangeAspect="1"/>
          </p:cNvPicPr>
          <p:nvPr/>
        </p:nvPicPr>
        <p:blipFill>
          <a:blip r:embed="rId50"/>
          <a:stretch>
            <a:fillRect/>
          </a:stretch>
        </p:blipFill>
        <p:spPr>
          <a:xfrm>
            <a:off x="2334260" y="5194935"/>
            <a:ext cx="76200" cy="76200"/>
          </a:xfrm>
          <a:prstGeom prst="rect">
            <a:avLst/>
          </a:prstGeom>
        </p:spPr>
      </p:pic>
      <p:sp>
        <p:nvSpPr>
          <p:cNvPr id="297" name="Text 225"/>
          <p:cNvSpPr/>
          <p:nvPr/>
        </p:nvSpPr>
        <p:spPr>
          <a:xfrm>
            <a:off x="2448560" y="5181600"/>
            <a:ext cx="792480" cy="11049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Images (defect photos)</a:t>
            </a:r>
            <a:endParaRPr lang="en-US" sz="375" dirty="0"/>
          </a:p>
        </p:txBody>
      </p:sp>
      <p:pic>
        <p:nvPicPr>
          <p:cNvPr id="298" name="Image 70" descr="/sessions/zealous-intelligent-mayer/mnt/outputs/icons7/video.png"/>
          <p:cNvPicPr>
            <a:picLocks noChangeAspect="1"/>
          </p:cNvPicPr>
          <p:nvPr/>
        </p:nvPicPr>
        <p:blipFill>
          <a:blip r:embed="rId51"/>
          <a:stretch>
            <a:fillRect/>
          </a:stretch>
        </p:blipFill>
        <p:spPr>
          <a:xfrm>
            <a:off x="2334260" y="5305425"/>
            <a:ext cx="76200" cy="76200"/>
          </a:xfrm>
          <a:prstGeom prst="rect">
            <a:avLst/>
          </a:prstGeom>
        </p:spPr>
      </p:pic>
      <p:sp>
        <p:nvSpPr>
          <p:cNvPr id="299" name="Text 226"/>
          <p:cNvSpPr/>
          <p:nvPr/>
        </p:nvSpPr>
        <p:spPr>
          <a:xfrm>
            <a:off x="2448560" y="5292090"/>
            <a:ext cx="792480" cy="11049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Audio / Video</a:t>
            </a:r>
            <a:endParaRPr lang="en-US" sz="375" dirty="0"/>
          </a:p>
        </p:txBody>
      </p:sp>
      <p:pic>
        <p:nvPicPr>
          <p:cNvPr id="300" name="Image 71" descr="/sessions/zealous-intelligent-mayer/mnt/outputs/icons7/backup.png"/>
          <p:cNvPicPr>
            <a:picLocks noChangeAspect="1"/>
          </p:cNvPicPr>
          <p:nvPr/>
        </p:nvPicPr>
        <p:blipFill>
          <a:blip r:embed="rId52"/>
          <a:stretch>
            <a:fillRect/>
          </a:stretch>
        </p:blipFill>
        <p:spPr>
          <a:xfrm>
            <a:off x="2334260" y="5415915"/>
            <a:ext cx="76200" cy="76200"/>
          </a:xfrm>
          <a:prstGeom prst="rect">
            <a:avLst/>
          </a:prstGeom>
        </p:spPr>
      </p:pic>
      <p:sp>
        <p:nvSpPr>
          <p:cNvPr id="301" name="Text 227"/>
          <p:cNvSpPr/>
          <p:nvPr/>
        </p:nvSpPr>
        <p:spPr>
          <a:xfrm>
            <a:off x="2448560" y="5402580"/>
            <a:ext cx="792480" cy="11049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Backups</a:t>
            </a:r>
            <a:endParaRPr lang="en-US" sz="375" dirty="0"/>
          </a:p>
        </p:txBody>
      </p:sp>
      <p:sp>
        <p:nvSpPr>
          <p:cNvPr id="302" name="Shape 228"/>
          <p:cNvSpPr/>
          <p:nvPr/>
        </p:nvSpPr>
        <p:spPr>
          <a:xfrm>
            <a:off x="3393440" y="4533900"/>
            <a:ext cx="1074420" cy="1021080"/>
          </a:xfrm>
          <a:prstGeom prst="roundRect">
            <a:avLst>
              <a:gd name="adj" fmla="val 3358"/>
            </a:avLst>
          </a:prstGeom>
          <a:solidFill>
            <a:srgbClr val="FFFFFF"/>
          </a:solidFill>
          <a:ln w="9525">
            <a:solidFill>
              <a:srgbClr val="C7D4E8"/>
            </a:solidFill>
            <a:prstDash val="solid"/>
          </a:ln>
        </p:spPr>
      </p:sp>
      <p:sp>
        <p:nvSpPr>
          <p:cNvPr id="303" name="Text 229"/>
          <p:cNvSpPr/>
          <p:nvPr/>
        </p:nvSpPr>
        <p:spPr>
          <a:xfrm>
            <a:off x="3393440" y="4572000"/>
            <a:ext cx="1074420" cy="114300"/>
          </a:xfrm>
          <a:prstGeom prst="rect">
            <a:avLst/>
          </a:prstGeom>
          <a:noFill/>
          <a:ln/>
        </p:spPr>
        <p:txBody>
          <a:bodyPr wrap="square" lIns="0" tIns="0" rIns="0" bIns="0" rtlCol="0" anchor="ctr"/>
          <a:lstStyle/>
          <a:p>
            <a:pPr algn="ctr"/>
            <a:r>
              <a:rPr lang="en-US" sz="517" b="1" kern="0" spc="8" dirty="0">
                <a:solidFill>
                  <a:srgbClr val="1B3A6B"/>
                </a:solidFill>
                <a:latin typeface="Arial" pitchFamily="34" charset="0"/>
                <a:ea typeface="Arial" pitchFamily="34" charset="-122"/>
                <a:cs typeface="Arial" pitchFamily="34" charset="-120"/>
              </a:rPr>
              <a:t>17. PROMPT MANAGEMENT</a:t>
            </a:r>
            <a:endParaRPr lang="en-US" sz="517" dirty="0"/>
          </a:p>
        </p:txBody>
      </p:sp>
      <p:pic>
        <p:nvPicPr>
          <p:cNvPr id="304" name="Image 72" descr="/sessions/zealous-intelligent-mayer/mnt/outputs/icons7/prompt.png"/>
          <p:cNvPicPr>
            <a:picLocks noChangeAspect="1"/>
          </p:cNvPicPr>
          <p:nvPr/>
        </p:nvPicPr>
        <p:blipFill>
          <a:blip r:embed="rId18"/>
          <a:stretch>
            <a:fillRect/>
          </a:stretch>
        </p:blipFill>
        <p:spPr>
          <a:xfrm>
            <a:off x="3469640" y="4796790"/>
            <a:ext cx="83820" cy="83820"/>
          </a:xfrm>
          <a:prstGeom prst="rect">
            <a:avLst/>
          </a:prstGeom>
        </p:spPr>
      </p:pic>
      <p:sp>
        <p:nvSpPr>
          <p:cNvPr id="305" name="Text 230"/>
          <p:cNvSpPr/>
          <p:nvPr/>
        </p:nvSpPr>
        <p:spPr>
          <a:xfrm>
            <a:off x="3591560" y="4770120"/>
            <a:ext cx="815340" cy="14478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Prompt flow templates</a:t>
            </a:r>
            <a:endParaRPr lang="en-US" sz="383" dirty="0"/>
          </a:p>
        </p:txBody>
      </p:sp>
      <p:pic>
        <p:nvPicPr>
          <p:cNvPr id="306" name="Image 73" descr="/sessions/zealous-intelligent-mayer/mnt/outputs/icons7/version.png"/>
          <p:cNvPicPr>
            <a:picLocks noChangeAspect="1"/>
          </p:cNvPicPr>
          <p:nvPr/>
        </p:nvPicPr>
        <p:blipFill>
          <a:blip r:embed="rId53"/>
          <a:stretch>
            <a:fillRect/>
          </a:stretch>
        </p:blipFill>
        <p:spPr>
          <a:xfrm>
            <a:off x="3469640" y="4941570"/>
            <a:ext cx="83820" cy="83820"/>
          </a:xfrm>
          <a:prstGeom prst="rect">
            <a:avLst/>
          </a:prstGeom>
        </p:spPr>
      </p:pic>
      <p:sp>
        <p:nvSpPr>
          <p:cNvPr id="307" name="Text 231"/>
          <p:cNvSpPr/>
          <p:nvPr/>
        </p:nvSpPr>
        <p:spPr>
          <a:xfrm>
            <a:off x="3591560" y="4914900"/>
            <a:ext cx="815340" cy="14478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Versioning</a:t>
            </a:r>
            <a:endParaRPr lang="en-US" sz="383" dirty="0"/>
          </a:p>
        </p:txBody>
      </p:sp>
      <p:pic>
        <p:nvPicPr>
          <p:cNvPr id="308" name="Image 74" descr="/sessions/zealous-intelligent-mayer/mnt/outputs/icons7/key.png"/>
          <p:cNvPicPr>
            <a:picLocks noChangeAspect="1"/>
          </p:cNvPicPr>
          <p:nvPr/>
        </p:nvPicPr>
        <p:blipFill>
          <a:blip r:embed="rId8"/>
          <a:stretch>
            <a:fillRect/>
          </a:stretch>
        </p:blipFill>
        <p:spPr>
          <a:xfrm>
            <a:off x="3469640" y="5086350"/>
            <a:ext cx="83820" cy="83820"/>
          </a:xfrm>
          <a:prstGeom prst="rect">
            <a:avLst/>
          </a:prstGeom>
        </p:spPr>
      </p:pic>
      <p:sp>
        <p:nvSpPr>
          <p:cNvPr id="309" name="Text 232"/>
          <p:cNvSpPr/>
          <p:nvPr/>
        </p:nvSpPr>
        <p:spPr>
          <a:xfrm>
            <a:off x="3591560" y="5059680"/>
            <a:ext cx="815340" cy="14478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Variables &amp; Key Vault secrets</a:t>
            </a:r>
            <a:endParaRPr lang="en-US" sz="383" dirty="0"/>
          </a:p>
        </p:txBody>
      </p:sp>
      <p:pic>
        <p:nvPicPr>
          <p:cNvPr id="310" name="Image 75" descr="/sessions/zealous-intelligent-mayer/mnt/outputs/icons7/kb.png"/>
          <p:cNvPicPr>
            <a:picLocks noChangeAspect="1"/>
          </p:cNvPicPr>
          <p:nvPr/>
        </p:nvPicPr>
        <p:blipFill>
          <a:blip r:embed="rId19"/>
          <a:stretch>
            <a:fillRect/>
          </a:stretch>
        </p:blipFill>
        <p:spPr>
          <a:xfrm>
            <a:off x="3469640" y="5231130"/>
            <a:ext cx="83820" cy="83820"/>
          </a:xfrm>
          <a:prstGeom prst="rect">
            <a:avLst/>
          </a:prstGeom>
        </p:spPr>
      </p:pic>
      <p:sp>
        <p:nvSpPr>
          <p:cNvPr id="311" name="Text 233"/>
          <p:cNvSpPr/>
          <p:nvPr/>
        </p:nvSpPr>
        <p:spPr>
          <a:xfrm>
            <a:off x="3591560" y="5204460"/>
            <a:ext cx="815340" cy="14478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Prompt Library</a:t>
            </a:r>
            <a:endParaRPr lang="en-US" sz="383" dirty="0"/>
          </a:p>
        </p:txBody>
      </p:sp>
      <p:pic>
        <p:nvPicPr>
          <p:cNvPr id="312" name="Image 76" descr="/sessions/zealous-intelligent-mayer/mnt/outputs/icons7/flask.png"/>
          <p:cNvPicPr>
            <a:picLocks noChangeAspect="1"/>
          </p:cNvPicPr>
          <p:nvPr/>
        </p:nvPicPr>
        <p:blipFill>
          <a:blip r:embed="rId54"/>
          <a:stretch>
            <a:fillRect/>
          </a:stretch>
        </p:blipFill>
        <p:spPr>
          <a:xfrm>
            <a:off x="3469640" y="5375910"/>
            <a:ext cx="83820" cy="83820"/>
          </a:xfrm>
          <a:prstGeom prst="rect">
            <a:avLst/>
          </a:prstGeom>
        </p:spPr>
      </p:pic>
      <p:sp>
        <p:nvSpPr>
          <p:cNvPr id="313" name="Text 234"/>
          <p:cNvSpPr/>
          <p:nvPr/>
        </p:nvSpPr>
        <p:spPr>
          <a:xfrm>
            <a:off x="3591560" y="5349240"/>
            <a:ext cx="815340" cy="144780"/>
          </a:xfrm>
          <a:prstGeom prst="rect">
            <a:avLst/>
          </a:prstGeom>
          <a:noFill/>
          <a:ln/>
        </p:spPr>
        <p:txBody>
          <a:bodyPr wrap="square" lIns="0" tIns="0" rIns="0" bIns="0" rtlCol="0" anchor="ctr"/>
          <a:lstStyle/>
          <a:p>
            <a:r>
              <a:rPr lang="en-US" sz="383" dirty="0">
                <a:solidFill>
                  <a:srgbClr val="2D3748"/>
                </a:solidFill>
                <a:latin typeface="Arial" pitchFamily="34" charset="0"/>
                <a:ea typeface="Arial" pitchFamily="34" charset="-122"/>
                <a:cs typeface="Arial" pitchFamily="34" charset="-120"/>
              </a:rPr>
              <a:t>A/B Testing</a:t>
            </a:r>
            <a:endParaRPr lang="en-US" sz="383" dirty="0"/>
          </a:p>
        </p:txBody>
      </p:sp>
      <p:sp>
        <p:nvSpPr>
          <p:cNvPr id="314" name="Shape 235"/>
          <p:cNvSpPr/>
          <p:nvPr/>
        </p:nvSpPr>
        <p:spPr>
          <a:xfrm>
            <a:off x="4643120" y="4533900"/>
            <a:ext cx="960120" cy="1021080"/>
          </a:xfrm>
          <a:prstGeom prst="roundRect">
            <a:avLst>
              <a:gd name="adj" fmla="val 3571"/>
            </a:avLst>
          </a:prstGeom>
          <a:solidFill>
            <a:srgbClr val="FFFFFF"/>
          </a:solidFill>
          <a:ln w="9525">
            <a:solidFill>
              <a:srgbClr val="C7D4E8"/>
            </a:solidFill>
            <a:prstDash val="solid"/>
          </a:ln>
        </p:spPr>
      </p:sp>
      <p:sp>
        <p:nvSpPr>
          <p:cNvPr id="315" name="Text 236"/>
          <p:cNvSpPr/>
          <p:nvPr/>
        </p:nvSpPr>
        <p:spPr>
          <a:xfrm>
            <a:off x="4643120" y="4572000"/>
            <a:ext cx="960120" cy="114300"/>
          </a:xfrm>
          <a:prstGeom prst="rect">
            <a:avLst/>
          </a:prstGeom>
          <a:noFill/>
          <a:ln/>
        </p:spPr>
        <p:txBody>
          <a:bodyPr wrap="square" lIns="0" tIns="0" rIns="0" bIns="0" rtlCol="0" anchor="ctr"/>
          <a:lstStyle/>
          <a:p>
            <a:pPr algn="ctr"/>
            <a:r>
              <a:rPr lang="en-US" sz="517" b="1" kern="0" spc="8" dirty="0">
                <a:solidFill>
                  <a:srgbClr val="1B3A6B"/>
                </a:solidFill>
                <a:latin typeface="Arial" pitchFamily="34" charset="0"/>
                <a:ea typeface="Arial" pitchFamily="34" charset="-122"/>
                <a:cs typeface="Arial" pitchFamily="34" charset="-120"/>
              </a:rPr>
              <a:t>18. EVALUATION LAYER</a:t>
            </a:r>
            <a:endParaRPr lang="en-US" sz="517" dirty="0"/>
          </a:p>
        </p:txBody>
      </p:sp>
      <p:pic>
        <p:nvPicPr>
          <p:cNvPr id="316" name="Image 77" descr="/sessions/zealous-intelligent-mayer/mnt/outputs/icons7/flask.png"/>
          <p:cNvPicPr>
            <a:picLocks noChangeAspect="1"/>
          </p:cNvPicPr>
          <p:nvPr/>
        </p:nvPicPr>
        <p:blipFill>
          <a:blip r:embed="rId54"/>
          <a:stretch>
            <a:fillRect/>
          </a:stretch>
        </p:blipFill>
        <p:spPr>
          <a:xfrm>
            <a:off x="4719320" y="4764405"/>
            <a:ext cx="76200" cy="76200"/>
          </a:xfrm>
          <a:prstGeom prst="rect">
            <a:avLst/>
          </a:prstGeom>
        </p:spPr>
      </p:pic>
      <p:sp>
        <p:nvSpPr>
          <p:cNvPr id="317" name="Text 237"/>
          <p:cNvSpPr/>
          <p:nvPr/>
        </p:nvSpPr>
        <p:spPr>
          <a:xfrm>
            <a:off x="4833620" y="4739640"/>
            <a:ext cx="708660" cy="13335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Azure AI Evaluation SDK</a:t>
            </a:r>
            <a:endParaRPr lang="en-US" sz="375" dirty="0"/>
          </a:p>
        </p:txBody>
      </p:sp>
      <p:pic>
        <p:nvPicPr>
          <p:cNvPr id="318" name="Image 78" descr="/sessions/zealous-intelligent-mayer/mnt/outputs/icons7/flask.png"/>
          <p:cNvPicPr>
            <a:picLocks noChangeAspect="1"/>
          </p:cNvPicPr>
          <p:nvPr/>
        </p:nvPicPr>
        <p:blipFill>
          <a:blip r:embed="rId54"/>
          <a:stretch>
            <a:fillRect/>
          </a:stretch>
        </p:blipFill>
        <p:spPr>
          <a:xfrm>
            <a:off x="4719320" y="4897755"/>
            <a:ext cx="76200" cy="76200"/>
          </a:xfrm>
          <a:prstGeom prst="rect">
            <a:avLst/>
          </a:prstGeom>
        </p:spPr>
      </p:pic>
      <p:sp>
        <p:nvSpPr>
          <p:cNvPr id="319" name="Text 238"/>
          <p:cNvSpPr/>
          <p:nvPr/>
        </p:nvSpPr>
        <p:spPr>
          <a:xfrm>
            <a:off x="4833620" y="4872990"/>
            <a:ext cx="708660" cy="13335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Foundry Evaluations</a:t>
            </a:r>
            <a:endParaRPr lang="en-US" sz="375" dirty="0"/>
          </a:p>
        </p:txBody>
      </p:sp>
      <p:pic>
        <p:nvPicPr>
          <p:cNvPr id="320" name="Image 79" descr="/sessions/zealous-intelligent-mayer/mnt/outputs/icons7/flask.png"/>
          <p:cNvPicPr>
            <a:picLocks noChangeAspect="1"/>
          </p:cNvPicPr>
          <p:nvPr/>
        </p:nvPicPr>
        <p:blipFill>
          <a:blip r:embed="rId54"/>
          <a:stretch>
            <a:fillRect/>
          </a:stretch>
        </p:blipFill>
        <p:spPr>
          <a:xfrm>
            <a:off x="4719320" y="5031105"/>
            <a:ext cx="76200" cy="76200"/>
          </a:xfrm>
          <a:prstGeom prst="rect">
            <a:avLst/>
          </a:prstGeom>
        </p:spPr>
      </p:pic>
      <p:sp>
        <p:nvSpPr>
          <p:cNvPr id="321" name="Text 239"/>
          <p:cNvSpPr/>
          <p:nvPr/>
        </p:nvSpPr>
        <p:spPr>
          <a:xfrm>
            <a:off x="4833620" y="5006340"/>
            <a:ext cx="708660" cy="13335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RAGAS (OSS)</a:t>
            </a:r>
            <a:endParaRPr lang="en-US" sz="375" dirty="0"/>
          </a:p>
        </p:txBody>
      </p:sp>
      <p:sp>
        <p:nvSpPr>
          <p:cNvPr id="322" name="Text 240"/>
          <p:cNvSpPr/>
          <p:nvPr/>
        </p:nvSpPr>
        <p:spPr>
          <a:xfrm>
            <a:off x="4765040" y="5151120"/>
            <a:ext cx="792480" cy="381000"/>
          </a:xfrm>
          <a:prstGeom prst="rect">
            <a:avLst/>
          </a:prstGeom>
          <a:noFill/>
          <a:ln/>
        </p:spPr>
        <p:txBody>
          <a:bodyPr wrap="square" lIns="0" tIns="0" rIns="0" bIns="0" rtlCol="0" anchor="ctr"/>
          <a:lstStyle/>
          <a:p>
            <a:pPr marL="63497" indent="-63497">
              <a:buSzPct val="100000"/>
              <a:buChar char="•"/>
            </a:pPr>
            <a:r>
              <a:rPr lang="en-US" sz="375" dirty="0">
                <a:solidFill>
                  <a:srgbClr val="2D3748"/>
                </a:solidFill>
                <a:latin typeface="Arial" pitchFamily="34" charset="0"/>
                <a:ea typeface="Arial" pitchFamily="34" charset="-122"/>
                <a:cs typeface="Arial" pitchFamily="34" charset="-120"/>
              </a:rPr>
              <a:t>Hallucination Detection</a:t>
            </a:r>
            <a:endParaRPr lang="en-US" sz="375" dirty="0"/>
          </a:p>
          <a:p>
            <a:pPr marL="63497" indent="-63497">
              <a:buSzPct val="100000"/>
              <a:buChar char="•"/>
            </a:pPr>
            <a:r>
              <a:rPr lang="en-US" sz="375" dirty="0">
                <a:solidFill>
                  <a:srgbClr val="2D3748"/>
                </a:solidFill>
                <a:latin typeface="Arial" pitchFamily="34" charset="0"/>
                <a:ea typeface="Arial" pitchFamily="34" charset="-122"/>
                <a:cs typeface="Arial" pitchFamily="34" charset="-120"/>
              </a:rPr>
              <a:t>Context Relevance</a:t>
            </a:r>
            <a:endParaRPr lang="en-US" sz="375" dirty="0"/>
          </a:p>
          <a:p>
            <a:pPr marL="63497" indent="-63497">
              <a:buSzPct val="100000"/>
              <a:buChar char="•"/>
            </a:pPr>
            <a:r>
              <a:rPr lang="en-US" sz="375" dirty="0">
                <a:solidFill>
                  <a:srgbClr val="2D3748"/>
                </a:solidFill>
                <a:latin typeface="Arial" pitchFamily="34" charset="0"/>
                <a:ea typeface="Arial" pitchFamily="34" charset="-122"/>
                <a:cs typeface="Arial" pitchFamily="34" charset="-120"/>
              </a:rPr>
              <a:t>Answer Correctness</a:t>
            </a:r>
            <a:endParaRPr lang="en-US" sz="375" dirty="0"/>
          </a:p>
          <a:p>
            <a:pPr marL="63497" indent="-63497">
              <a:buSzPct val="100000"/>
              <a:buChar char="•"/>
            </a:pPr>
            <a:r>
              <a:rPr lang="en-US" sz="375" dirty="0">
                <a:solidFill>
                  <a:srgbClr val="2D3748"/>
                </a:solidFill>
                <a:latin typeface="Arial" pitchFamily="34" charset="0"/>
                <a:ea typeface="Arial" pitchFamily="34" charset="-122"/>
                <a:cs typeface="Arial" pitchFamily="34" charset="-120"/>
              </a:rPr>
              <a:t>Groundedness</a:t>
            </a:r>
            <a:endParaRPr lang="en-US" sz="375" dirty="0"/>
          </a:p>
        </p:txBody>
      </p:sp>
      <p:sp>
        <p:nvSpPr>
          <p:cNvPr id="323" name="Shape 241"/>
          <p:cNvSpPr/>
          <p:nvPr/>
        </p:nvSpPr>
        <p:spPr>
          <a:xfrm>
            <a:off x="5793740" y="4533900"/>
            <a:ext cx="967740" cy="1021080"/>
          </a:xfrm>
          <a:prstGeom prst="roundRect">
            <a:avLst>
              <a:gd name="adj" fmla="val 3543"/>
            </a:avLst>
          </a:prstGeom>
          <a:solidFill>
            <a:srgbClr val="FFFFFF"/>
          </a:solidFill>
          <a:ln w="9525">
            <a:solidFill>
              <a:srgbClr val="C7D4E8"/>
            </a:solidFill>
            <a:prstDash val="solid"/>
          </a:ln>
        </p:spPr>
      </p:sp>
      <p:sp>
        <p:nvSpPr>
          <p:cNvPr id="324" name="Text 242"/>
          <p:cNvSpPr/>
          <p:nvPr/>
        </p:nvSpPr>
        <p:spPr>
          <a:xfrm>
            <a:off x="5793740" y="4572000"/>
            <a:ext cx="967740" cy="114300"/>
          </a:xfrm>
          <a:prstGeom prst="rect">
            <a:avLst/>
          </a:prstGeom>
          <a:noFill/>
          <a:ln/>
        </p:spPr>
        <p:txBody>
          <a:bodyPr wrap="square" lIns="0" tIns="0" rIns="0" bIns="0" rtlCol="0" anchor="ctr"/>
          <a:lstStyle/>
          <a:p>
            <a:pPr algn="ctr"/>
            <a:r>
              <a:rPr lang="en-US" sz="517" b="1" kern="0" spc="8" dirty="0">
                <a:solidFill>
                  <a:srgbClr val="1B3A6B"/>
                </a:solidFill>
                <a:latin typeface="Arial" pitchFamily="34" charset="0"/>
                <a:ea typeface="Arial" pitchFamily="34" charset="-122"/>
                <a:cs typeface="Arial" pitchFamily="34" charset="-120"/>
              </a:rPr>
              <a:t>19. HUMAN-IN-THE-LOOP</a:t>
            </a:r>
            <a:endParaRPr lang="en-US" sz="517" dirty="0"/>
          </a:p>
        </p:txBody>
      </p:sp>
      <p:pic>
        <p:nvPicPr>
          <p:cNvPr id="325" name="Image 80" descr="/sessions/zealous-intelligent-mayer/mnt/outputs/icons7/review.png"/>
          <p:cNvPicPr>
            <a:picLocks noChangeAspect="1"/>
          </p:cNvPicPr>
          <p:nvPr/>
        </p:nvPicPr>
        <p:blipFill>
          <a:blip r:embed="rId55"/>
          <a:stretch>
            <a:fillRect/>
          </a:stretch>
        </p:blipFill>
        <p:spPr>
          <a:xfrm>
            <a:off x="5869940" y="4812030"/>
            <a:ext cx="83820" cy="83820"/>
          </a:xfrm>
          <a:prstGeom prst="rect">
            <a:avLst/>
          </a:prstGeom>
        </p:spPr>
      </p:pic>
      <p:sp>
        <p:nvSpPr>
          <p:cNvPr id="326" name="Text 243"/>
          <p:cNvSpPr/>
          <p:nvPr/>
        </p:nvSpPr>
        <p:spPr>
          <a:xfrm>
            <a:off x="5991860" y="4785360"/>
            <a:ext cx="708660" cy="14478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Review &amp; Approve (QA Mgr)</a:t>
            </a:r>
            <a:endParaRPr lang="en-US" sz="375" dirty="0"/>
          </a:p>
        </p:txBody>
      </p:sp>
      <p:pic>
        <p:nvPicPr>
          <p:cNvPr id="327" name="Image 81" descr="/sessions/zealous-intelligent-mayer/mnt/outputs/icons7/prompt.png"/>
          <p:cNvPicPr>
            <a:picLocks noChangeAspect="1"/>
          </p:cNvPicPr>
          <p:nvPr/>
        </p:nvPicPr>
        <p:blipFill>
          <a:blip r:embed="rId18"/>
          <a:stretch>
            <a:fillRect/>
          </a:stretch>
        </p:blipFill>
        <p:spPr>
          <a:xfrm>
            <a:off x="5869940" y="4956810"/>
            <a:ext cx="83820" cy="83820"/>
          </a:xfrm>
          <a:prstGeom prst="rect">
            <a:avLst/>
          </a:prstGeom>
        </p:spPr>
      </p:pic>
      <p:sp>
        <p:nvSpPr>
          <p:cNvPr id="328" name="Text 244"/>
          <p:cNvSpPr/>
          <p:nvPr/>
        </p:nvSpPr>
        <p:spPr>
          <a:xfrm>
            <a:off x="5991860" y="4930140"/>
            <a:ext cx="708660" cy="14478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Edit &amp; Feedback</a:t>
            </a:r>
            <a:endParaRPr lang="en-US" sz="375" dirty="0"/>
          </a:p>
        </p:txBody>
      </p:sp>
      <p:pic>
        <p:nvPicPr>
          <p:cNvPr id="329" name="Image 82" descr="/sessions/zealous-intelligent-mayer/mnt/outputs/icons7/escalate.png"/>
          <p:cNvPicPr>
            <a:picLocks noChangeAspect="1"/>
          </p:cNvPicPr>
          <p:nvPr/>
        </p:nvPicPr>
        <p:blipFill>
          <a:blip r:embed="rId56"/>
          <a:stretch>
            <a:fillRect/>
          </a:stretch>
        </p:blipFill>
        <p:spPr>
          <a:xfrm>
            <a:off x="5869940" y="5101590"/>
            <a:ext cx="83820" cy="83820"/>
          </a:xfrm>
          <a:prstGeom prst="rect">
            <a:avLst/>
          </a:prstGeom>
        </p:spPr>
      </p:pic>
      <p:sp>
        <p:nvSpPr>
          <p:cNvPr id="330" name="Text 245"/>
          <p:cNvSpPr/>
          <p:nvPr/>
        </p:nvSpPr>
        <p:spPr>
          <a:xfrm>
            <a:off x="5991860" y="5074920"/>
            <a:ext cx="708660" cy="14478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Escalation Rules</a:t>
            </a:r>
            <a:endParaRPr lang="en-US" sz="375" dirty="0"/>
          </a:p>
        </p:txBody>
      </p:sp>
      <p:pic>
        <p:nvPicPr>
          <p:cNvPr id="331" name="Image 83" descr="/sessions/zealous-intelligent-mayer/mnt/outputs/icons7/audit.png"/>
          <p:cNvPicPr>
            <a:picLocks noChangeAspect="1"/>
          </p:cNvPicPr>
          <p:nvPr/>
        </p:nvPicPr>
        <p:blipFill>
          <a:blip r:embed="rId28"/>
          <a:stretch>
            <a:fillRect/>
          </a:stretch>
        </p:blipFill>
        <p:spPr>
          <a:xfrm>
            <a:off x="5869940" y="5246370"/>
            <a:ext cx="83820" cy="83820"/>
          </a:xfrm>
          <a:prstGeom prst="rect">
            <a:avLst/>
          </a:prstGeom>
        </p:spPr>
      </p:pic>
      <p:sp>
        <p:nvSpPr>
          <p:cNvPr id="332" name="Text 246"/>
          <p:cNvSpPr/>
          <p:nvPr/>
        </p:nvSpPr>
        <p:spPr>
          <a:xfrm>
            <a:off x="5991860" y="5219700"/>
            <a:ext cx="708660" cy="14478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Audit Decisions</a:t>
            </a:r>
            <a:endParaRPr lang="en-US" sz="375" dirty="0"/>
          </a:p>
        </p:txBody>
      </p:sp>
      <p:pic>
        <p:nvPicPr>
          <p:cNvPr id="333" name="Image 84" descr="/sessions/zealous-intelligent-mayer/mnt/outputs/icons7/expert.png"/>
          <p:cNvPicPr>
            <a:picLocks noChangeAspect="1"/>
          </p:cNvPicPr>
          <p:nvPr/>
        </p:nvPicPr>
        <p:blipFill>
          <a:blip r:embed="rId57"/>
          <a:stretch>
            <a:fillRect/>
          </a:stretch>
        </p:blipFill>
        <p:spPr>
          <a:xfrm>
            <a:off x="5869940" y="5391150"/>
            <a:ext cx="83820" cy="83820"/>
          </a:xfrm>
          <a:prstGeom prst="rect">
            <a:avLst/>
          </a:prstGeom>
        </p:spPr>
      </p:pic>
      <p:sp>
        <p:nvSpPr>
          <p:cNvPr id="334" name="Text 247"/>
          <p:cNvSpPr/>
          <p:nvPr/>
        </p:nvSpPr>
        <p:spPr>
          <a:xfrm>
            <a:off x="5991860" y="5364480"/>
            <a:ext cx="708660" cy="14478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Expert Validation</a:t>
            </a:r>
            <a:endParaRPr lang="en-US" sz="375" dirty="0"/>
          </a:p>
        </p:txBody>
      </p:sp>
      <p:sp>
        <p:nvSpPr>
          <p:cNvPr id="335" name="Shape 248"/>
          <p:cNvSpPr/>
          <p:nvPr/>
        </p:nvSpPr>
        <p:spPr>
          <a:xfrm>
            <a:off x="6860540" y="4533900"/>
            <a:ext cx="1196340" cy="1021080"/>
          </a:xfrm>
          <a:prstGeom prst="roundRect">
            <a:avLst>
              <a:gd name="adj" fmla="val 3358"/>
            </a:avLst>
          </a:prstGeom>
          <a:solidFill>
            <a:srgbClr val="FFFFFF"/>
          </a:solidFill>
          <a:ln w="9525">
            <a:solidFill>
              <a:srgbClr val="C7D4E8"/>
            </a:solidFill>
            <a:prstDash val="solid"/>
          </a:ln>
        </p:spPr>
      </p:sp>
      <p:sp>
        <p:nvSpPr>
          <p:cNvPr id="336" name="Text 249"/>
          <p:cNvSpPr/>
          <p:nvPr/>
        </p:nvSpPr>
        <p:spPr>
          <a:xfrm>
            <a:off x="6860540" y="4572000"/>
            <a:ext cx="1196340" cy="114300"/>
          </a:xfrm>
          <a:prstGeom prst="rect">
            <a:avLst/>
          </a:prstGeom>
          <a:noFill/>
          <a:ln/>
        </p:spPr>
        <p:txBody>
          <a:bodyPr wrap="square" lIns="0" tIns="0" rIns="0" bIns="0" rtlCol="0" anchor="ctr"/>
          <a:lstStyle/>
          <a:p>
            <a:pPr algn="ctr"/>
            <a:r>
              <a:rPr lang="en-US" sz="500" b="1" kern="0" spc="8" dirty="0">
                <a:solidFill>
                  <a:srgbClr val="1B3A6B"/>
                </a:solidFill>
                <a:latin typeface="Arial" pitchFamily="34" charset="0"/>
                <a:ea typeface="Arial" pitchFamily="34" charset="-122"/>
                <a:cs typeface="Arial" pitchFamily="34" charset="-120"/>
              </a:rPr>
              <a:t>20. COST &amp; USAGE MONITORING</a:t>
            </a:r>
            <a:endParaRPr lang="en-US" sz="500" dirty="0"/>
          </a:p>
        </p:txBody>
      </p:sp>
      <p:pic>
        <p:nvPicPr>
          <p:cNvPr id="337" name="Image 85" descr="/sessions/zealous-intelligent-mayer/mnt/outputs/icons7/cost.png"/>
          <p:cNvPicPr>
            <a:picLocks noChangeAspect="1"/>
          </p:cNvPicPr>
          <p:nvPr/>
        </p:nvPicPr>
        <p:blipFill>
          <a:blip r:embed="rId42"/>
          <a:stretch>
            <a:fillRect/>
          </a:stretch>
        </p:blipFill>
        <p:spPr>
          <a:xfrm>
            <a:off x="6936740" y="4812030"/>
            <a:ext cx="83820" cy="83820"/>
          </a:xfrm>
          <a:prstGeom prst="rect">
            <a:avLst/>
          </a:prstGeom>
        </p:spPr>
      </p:pic>
      <p:sp>
        <p:nvSpPr>
          <p:cNvPr id="338" name="Text 250"/>
          <p:cNvSpPr/>
          <p:nvPr/>
        </p:nvSpPr>
        <p:spPr>
          <a:xfrm>
            <a:off x="7058660" y="4785360"/>
            <a:ext cx="922020" cy="14478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Token Usage Tracking (APIM)</a:t>
            </a:r>
            <a:endParaRPr lang="en-US" sz="375" dirty="0"/>
          </a:p>
        </p:txBody>
      </p:sp>
      <p:pic>
        <p:nvPicPr>
          <p:cNvPr id="339" name="Image 86" descr="/sessions/zealous-intelligent-mayer/mnt/outputs/icons7/chart.png"/>
          <p:cNvPicPr>
            <a:picLocks noChangeAspect="1"/>
          </p:cNvPicPr>
          <p:nvPr/>
        </p:nvPicPr>
        <p:blipFill>
          <a:blip r:embed="rId58"/>
          <a:stretch>
            <a:fillRect/>
          </a:stretch>
        </p:blipFill>
        <p:spPr>
          <a:xfrm>
            <a:off x="6936740" y="4956810"/>
            <a:ext cx="83820" cy="83820"/>
          </a:xfrm>
          <a:prstGeom prst="rect">
            <a:avLst/>
          </a:prstGeom>
        </p:spPr>
      </p:pic>
      <p:sp>
        <p:nvSpPr>
          <p:cNvPr id="340" name="Text 251"/>
          <p:cNvSpPr/>
          <p:nvPr/>
        </p:nvSpPr>
        <p:spPr>
          <a:xfrm>
            <a:off x="7058660" y="4930140"/>
            <a:ext cx="922020" cy="14478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Cost Estimation</a:t>
            </a:r>
            <a:endParaRPr lang="en-US" sz="375" dirty="0"/>
          </a:p>
        </p:txBody>
      </p:sp>
      <p:pic>
        <p:nvPicPr>
          <p:cNvPr id="341" name="Image 87" descr="/sessions/zealous-intelligent-mayer/mnt/outputs/icons7/alert.png"/>
          <p:cNvPicPr>
            <a:picLocks noChangeAspect="1"/>
          </p:cNvPicPr>
          <p:nvPr/>
        </p:nvPicPr>
        <p:blipFill>
          <a:blip r:embed="rId59"/>
          <a:stretch>
            <a:fillRect/>
          </a:stretch>
        </p:blipFill>
        <p:spPr>
          <a:xfrm>
            <a:off x="6936740" y="5101590"/>
            <a:ext cx="83820" cy="83820"/>
          </a:xfrm>
          <a:prstGeom prst="rect">
            <a:avLst/>
          </a:prstGeom>
        </p:spPr>
      </p:pic>
      <p:sp>
        <p:nvSpPr>
          <p:cNvPr id="342" name="Text 252"/>
          <p:cNvSpPr/>
          <p:nvPr/>
        </p:nvSpPr>
        <p:spPr>
          <a:xfrm>
            <a:off x="7058660" y="5074920"/>
            <a:ext cx="922020" cy="14478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Budget Alerts (Cost Mgmt)</a:t>
            </a:r>
            <a:endParaRPr lang="en-US" sz="375" dirty="0"/>
          </a:p>
        </p:txBody>
      </p:sp>
      <p:pic>
        <p:nvPicPr>
          <p:cNvPr id="343" name="Image 88" descr="/sessions/zealous-intelligent-mayer/mnt/outputs/icons7/logs.png"/>
          <p:cNvPicPr>
            <a:picLocks noChangeAspect="1"/>
          </p:cNvPicPr>
          <p:nvPr/>
        </p:nvPicPr>
        <p:blipFill>
          <a:blip r:embed="rId49"/>
          <a:stretch>
            <a:fillRect/>
          </a:stretch>
        </p:blipFill>
        <p:spPr>
          <a:xfrm>
            <a:off x="6936740" y="5246370"/>
            <a:ext cx="83820" cy="83820"/>
          </a:xfrm>
          <a:prstGeom prst="rect">
            <a:avLst/>
          </a:prstGeom>
        </p:spPr>
      </p:pic>
      <p:sp>
        <p:nvSpPr>
          <p:cNvPr id="344" name="Text 253"/>
          <p:cNvSpPr/>
          <p:nvPr/>
        </p:nvSpPr>
        <p:spPr>
          <a:xfrm>
            <a:off x="7058660" y="5219700"/>
            <a:ext cx="922020" cy="14478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Usage Reports by plant</a:t>
            </a:r>
            <a:endParaRPr lang="en-US" sz="375" dirty="0"/>
          </a:p>
        </p:txBody>
      </p:sp>
      <p:pic>
        <p:nvPicPr>
          <p:cNvPr id="345" name="Image 89" descr="/sessions/zealous-intelligent-mayer/mnt/outputs/icons7/scale.png"/>
          <p:cNvPicPr>
            <a:picLocks noChangeAspect="1"/>
          </p:cNvPicPr>
          <p:nvPr/>
        </p:nvPicPr>
        <p:blipFill>
          <a:blip r:embed="rId60"/>
          <a:stretch>
            <a:fillRect/>
          </a:stretch>
        </p:blipFill>
        <p:spPr>
          <a:xfrm>
            <a:off x="6936740" y="5391150"/>
            <a:ext cx="83820" cy="83820"/>
          </a:xfrm>
          <a:prstGeom prst="rect">
            <a:avLst/>
          </a:prstGeom>
        </p:spPr>
      </p:pic>
      <p:sp>
        <p:nvSpPr>
          <p:cNvPr id="346" name="Text 254"/>
          <p:cNvSpPr/>
          <p:nvPr/>
        </p:nvSpPr>
        <p:spPr>
          <a:xfrm>
            <a:off x="7058660" y="5364480"/>
            <a:ext cx="922020" cy="14478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Model Cost Comparison</a:t>
            </a:r>
            <a:endParaRPr lang="en-US" sz="375" dirty="0"/>
          </a:p>
        </p:txBody>
      </p:sp>
      <p:sp>
        <p:nvSpPr>
          <p:cNvPr id="347" name="Shape 255"/>
          <p:cNvSpPr/>
          <p:nvPr/>
        </p:nvSpPr>
        <p:spPr>
          <a:xfrm>
            <a:off x="8148320" y="4533900"/>
            <a:ext cx="2948940" cy="1021080"/>
          </a:xfrm>
          <a:prstGeom prst="roundRect">
            <a:avLst>
              <a:gd name="adj" fmla="val 3358"/>
            </a:avLst>
          </a:prstGeom>
          <a:solidFill>
            <a:srgbClr val="FFFFFF"/>
          </a:solidFill>
          <a:ln w="9525">
            <a:solidFill>
              <a:srgbClr val="C7D4E8"/>
            </a:solidFill>
            <a:prstDash val="solid"/>
          </a:ln>
        </p:spPr>
      </p:sp>
      <p:sp>
        <p:nvSpPr>
          <p:cNvPr id="348" name="Text 256"/>
          <p:cNvSpPr/>
          <p:nvPr/>
        </p:nvSpPr>
        <p:spPr>
          <a:xfrm>
            <a:off x="8148320" y="4572000"/>
            <a:ext cx="2948940" cy="114300"/>
          </a:xfrm>
          <a:prstGeom prst="rect">
            <a:avLst/>
          </a:prstGeom>
          <a:noFill/>
          <a:ln/>
        </p:spPr>
        <p:txBody>
          <a:bodyPr wrap="square" lIns="0" tIns="0" rIns="0" bIns="0" rtlCol="0" anchor="ctr"/>
          <a:lstStyle/>
          <a:p>
            <a:pPr algn="ctr"/>
            <a:r>
              <a:rPr lang="en-US" sz="583" b="1" kern="0" spc="8" dirty="0">
                <a:solidFill>
                  <a:srgbClr val="1B3A6B"/>
                </a:solidFill>
                <a:latin typeface="Arial" pitchFamily="34" charset="0"/>
                <a:ea typeface="Arial" pitchFamily="34" charset="-122"/>
                <a:cs typeface="Arial" pitchFamily="34" charset="-120"/>
              </a:rPr>
              <a:t>21. OBSERVABILITY &amp; MONITORING</a:t>
            </a:r>
            <a:endParaRPr lang="en-US" sz="583" dirty="0"/>
          </a:p>
        </p:txBody>
      </p:sp>
      <p:sp>
        <p:nvSpPr>
          <p:cNvPr id="349" name="Text 257"/>
          <p:cNvSpPr/>
          <p:nvPr/>
        </p:nvSpPr>
        <p:spPr>
          <a:xfrm>
            <a:off x="8239760" y="4724400"/>
            <a:ext cx="914400" cy="91440"/>
          </a:xfrm>
          <a:prstGeom prst="rect">
            <a:avLst/>
          </a:prstGeom>
          <a:noFill/>
          <a:ln/>
        </p:spPr>
        <p:txBody>
          <a:bodyPr wrap="square" lIns="0" tIns="0" rIns="0" bIns="0" rtlCol="0" anchor="ctr"/>
          <a:lstStyle/>
          <a:p>
            <a:pPr algn="ctr"/>
            <a:r>
              <a:rPr lang="en-US" sz="400" b="1" dirty="0">
                <a:solidFill>
                  <a:srgbClr val="2A6FB5"/>
                </a:solidFill>
                <a:latin typeface="Arial" pitchFamily="34" charset="0"/>
                <a:ea typeface="Arial" pitchFamily="34" charset="-122"/>
                <a:cs typeface="Arial" pitchFamily="34" charset="-120"/>
              </a:rPr>
              <a:t>TRACING &amp; EVALUATION</a:t>
            </a:r>
            <a:endParaRPr lang="en-US" sz="400" dirty="0"/>
          </a:p>
        </p:txBody>
      </p:sp>
      <p:sp>
        <p:nvSpPr>
          <p:cNvPr id="350" name="Shape 258"/>
          <p:cNvSpPr/>
          <p:nvPr/>
        </p:nvSpPr>
        <p:spPr>
          <a:xfrm>
            <a:off x="8239760" y="4831080"/>
            <a:ext cx="914400" cy="0"/>
          </a:xfrm>
          <a:prstGeom prst="line">
            <a:avLst/>
          </a:prstGeom>
          <a:noFill/>
          <a:ln w="9525">
            <a:solidFill>
              <a:srgbClr val="D8DEE9"/>
            </a:solidFill>
            <a:prstDash val="solid"/>
          </a:ln>
        </p:spPr>
      </p:sp>
      <p:pic>
        <p:nvPicPr>
          <p:cNvPr id="351" name="Image 90" descr="/sessions/zealous-intelligent-mayer/mnt/outputs/icons7/trace.png"/>
          <p:cNvPicPr>
            <a:picLocks noChangeAspect="1"/>
          </p:cNvPicPr>
          <p:nvPr/>
        </p:nvPicPr>
        <p:blipFill>
          <a:blip r:embed="rId61"/>
          <a:stretch>
            <a:fillRect/>
          </a:stretch>
        </p:blipFill>
        <p:spPr>
          <a:xfrm>
            <a:off x="8239760" y="4907280"/>
            <a:ext cx="83820" cy="83820"/>
          </a:xfrm>
          <a:prstGeom prst="rect">
            <a:avLst/>
          </a:prstGeom>
        </p:spPr>
      </p:pic>
      <p:sp>
        <p:nvSpPr>
          <p:cNvPr id="352" name="Text 259"/>
          <p:cNvSpPr/>
          <p:nvPr/>
        </p:nvSpPr>
        <p:spPr>
          <a:xfrm>
            <a:off x="8361680" y="4876800"/>
            <a:ext cx="792480" cy="15240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Azure Monitor (Traces)</a:t>
            </a:r>
            <a:endParaRPr lang="en-US" sz="375" dirty="0"/>
          </a:p>
        </p:txBody>
      </p:sp>
      <p:pic>
        <p:nvPicPr>
          <p:cNvPr id="353" name="Image 91" descr="/sessions/zealous-intelligent-mayer/mnt/outputs/icons7/area.png"/>
          <p:cNvPicPr>
            <a:picLocks noChangeAspect="1"/>
          </p:cNvPicPr>
          <p:nvPr/>
        </p:nvPicPr>
        <p:blipFill>
          <a:blip r:embed="rId39"/>
          <a:stretch>
            <a:fillRect/>
          </a:stretch>
        </p:blipFill>
        <p:spPr>
          <a:xfrm>
            <a:off x="8239760" y="5059680"/>
            <a:ext cx="83820" cy="83820"/>
          </a:xfrm>
          <a:prstGeom prst="rect">
            <a:avLst/>
          </a:prstGeom>
        </p:spPr>
      </p:pic>
      <p:sp>
        <p:nvSpPr>
          <p:cNvPr id="354" name="Text 260"/>
          <p:cNvSpPr/>
          <p:nvPr/>
        </p:nvSpPr>
        <p:spPr>
          <a:xfrm>
            <a:off x="8361680" y="5029200"/>
            <a:ext cx="792480" cy="15240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App Insights (APM)</a:t>
            </a:r>
            <a:endParaRPr lang="en-US" sz="375" dirty="0"/>
          </a:p>
        </p:txBody>
      </p:sp>
      <p:pic>
        <p:nvPicPr>
          <p:cNvPr id="355" name="Image 92" descr="/sessions/zealous-intelligent-mayer/mnt/outputs/icons7/flask.png"/>
          <p:cNvPicPr>
            <a:picLocks noChangeAspect="1"/>
          </p:cNvPicPr>
          <p:nvPr/>
        </p:nvPicPr>
        <p:blipFill>
          <a:blip r:embed="rId54"/>
          <a:stretch>
            <a:fillRect/>
          </a:stretch>
        </p:blipFill>
        <p:spPr>
          <a:xfrm>
            <a:off x="8239760" y="5212080"/>
            <a:ext cx="83820" cy="83820"/>
          </a:xfrm>
          <a:prstGeom prst="rect">
            <a:avLst/>
          </a:prstGeom>
        </p:spPr>
      </p:pic>
      <p:sp>
        <p:nvSpPr>
          <p:cNvPr id="356" name="Text 261"/>
          <p:cNvSpPr/>
          <p:nvPr/>
        </p:nvSpPr>
        <p:spPr>
          <a:xfrm>
            <a:off x="8361680" y="5181600"/>
            <a:ext cx="792480" cy="15240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Foundry Tracing</a:t>
            </a:r>
            <a:endParaRPr lang="en-US" sz="375" dirty="0"/>
          </a:p>
        </p:txBody>
      </p:sp>
      <p:pic>
        <p:nvPicPr>
          <p:cNvPr id="357" name="Image 93" descr="/sessions/zealous-intelligent-mayer/mnt/outputs/icons7/trace.png"/>
          <p:cNvPicPr>
            <a:picLocks noChangeAspect="1"/>
          </p:cNvPicPr>
          <p:nvPr/>
        </p:nvPicPr>
        <p:blipFill>
          <a:blip r:embed="rId61"/>
          <a:stretch>
            <a:fillRect/>
          </a:stretch>
        </p:blipFill>
        <p:spPr>
          <a:xfrm>
            <a:off x="8239760" y="5364480"/>
            <a:ext cx="83820" cy="83820"/>
          </a:xfrm>
          <a:prstGeom prst="rect">
            <a:avLst/>
          </a:prstGeom>
        </p:spPr>
      </p:pic>
      <p:sp>
        <p:nvSpPr>
          <p:cNvPr id="358" name="Text 262"/>
          <p:cNvSpPr/>
          <p:nvPr/>
        </p:nvSpPr>
        <p:spPr>
          <a:xfrm>
            <a:off x="8361680" y="5334000"/>
            <a:ext cx="792480" cy="15240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OpenTelemetry</a:t>
            </a:r>
            <a:endParaRPr lang="en-US" sz="375" dirty="0"/>
          </a:p>
        </p:txBody>
      </p:sp>
      <p:sp>
        <p:nvSpPr>
          <p:cNvPr id="359" name="Text 263"/>
          <p:cNvSpPr/>
          <p:nvPr/>
        </p:nvSpPr>
        <p:spPr>
          <a:xfrm>
            <a:off x="9192260" y="4724400"/>
            <a:ext cx="914400" cy="91440"/>
          </a:xfrm>
          <a:prstGeom prst="rect">
            <a:avLst/>
          </a:prstGeom>
          <a:noFill/>
          <a:ln/>
        </p:spPr>
        <p:txBody>
          <a:bodyPr wrap="square" lIns="0" tIns="0" rIns="0" bIns="0" rtlCol="0" anchor="ctr"/>
          <a:lstStyle/>
          <a:p>
            <a:pPr algn="ctr"/>
            <a:r>
              <a:rPr lang="en-US" sz="400" b="1" dirty="0">
                <a:solidFill>
                  <a:srgbClr val="2A6FB5"/>
                </a:solidFill>
                <a:latin typeface="Arial" pitchFamily="34" charset="0"/>
                <a:ea typeface="Arial" pitchFamily="34" charset="-122"/>
                <a:cs typeface="Arial" pitchFamily="34" charset="-120"/>
              </a:rPr>
              <a:t>LOGS &amp; METRICS</a:t>
            </a:r>
            <a:endParaRPr lang="en-US" sz="400" dirty="0"/>
          </a:p>
        </p:txBody>
      </p:sp>
      <p:sp>
        <p:nvSpPr>
          <p:cNvPr id="360" name="Shape 264"/>
          <p:cNvSpPr/>
          <p:nvPr/>
        </p:nvSpPr>
        <p:spPr>
          <a:xfrm>
            <a:off x="9192260" y="4831080"/>
            <a:ext cx="914400" cy="0"/>
          </a:xfrm>
          <a:prstGeom prst="line">
            <a:avLst/>
          </a:prstGeom>
          <a:noFill/>
          <a:ln w="9525">
            <a:solidFill>
              <a:srgbClr val="D8DEE9"/>
            </a:solidFill>
            <a:prstDash val="solid"/>
          </a:ln>
        </p:spPr>
      </p:sp>
      <p:pic>
        <p:nvPicPr>
          <p:cNvPr id="361" name="Image 94" descr="/sessions/zealous-intelligent-mayer/mnt/outputs/icons7/logs.png"/>
          <p:cNvPicPr>
            <a:picLocks noChangeAspect="1"/>
          </p:cNvPicPr>
          <p:nvPr/>
        </p:nvPicPr>
        <p:blipFill>
          <a:blip r:embed="rId49"/>
          <a:stretch>
            <a:fillRect/>
          </a:stretch>
        </p:blipFill>
        <p:spPr>
          <a:xfrm>
            <a:off x="9192260" y="4907280"/>
            <a:ext cx="83820" cy="83820"/>
          </a:xfrm>
          <a:prstGeom prst="rect">
            <a:avLst/>
          </a:prstGeom>
        </p:spPr>
      </p:pic>
      <p:sp>
        <p:nvSpPr>
          <p:cNvPr id="362" name="Text 265"/>
          <p:cNvSpPr/>
          <p:nvPr/>
        </p:nvSpPr>
        <p:spPr>
          <a:xfrm>
            <a:off x="9314180" y="4876800"/>
            <a:ext cx="792480" cy="15240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Log Analytics Workspace</a:t>
            </a:r>
            <a:endParaRPr lang="en-US" sz="375" dirty="0"/>
          </a:p>
        </p:txBody>
      </p:sp>
      <p:pic>
        <p:nvPicPr>
          <p:cNvPr id="363" name="Image 95" descr="/sessions/zealous-intelligent-mayer/mnt/outputs/icons7/chart.png"/>
          <p:cNvPicPr>
            <a:picLocks noChangeAspect="1"/>
          </p:cNvPicPr>
          <p:nvPr/>
        </p:nvPicPr>
        <p:blipFill>
          <a:blip r:embed="rId58"/>
          <a:stretch>
            <a:fillRect/>
          </a:stretch>
        </p:blipFill>
        <p:spPr>
          <a:xfrm>
            <a:off x="9192260" y="5059680"/>
            <a:ext cx="83820" cy="83820"/>
          </a:xfrm>
          <a:prstGeom prst="rect">
            <a:avLst/>
          </a:prstGeom>
        </p:spPr>
      </p:pic>
      <p:sp>
        <p:nvSpPr>
          <p:cNvPr id="364" name="Text 266"/>
          <p:cNvSpPr/>
          <p:nvPr/>
        </p:nvSpPr>
        <p:spPr>
          <a:xfrm>
            <a:off x="9314180" y="5029200"/>
            <a:ext cx="792480" cy="15240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Azure Managed Grafana</a:t>
            </a:r>
            <a:endParaRPr lang="en-US" sz="375" dirty="0"/>
          </a:p>
        </p:txBody>
      </p:sp>
      <p:pic>
        <p:nvPicPr>
          <p:cNvPr id="365" name="Image 96" descr="/sessions/zealous-intelligent-mayer/mnt/outputs/icons7/db.png"/>
          <p:cNvPicPr>
            <a:picLocks noChangeAspect="1"/>
          </p:cNvPicPr>
          <p:nvPr/>
        </p:nvPicPr>
        <p:blipFill>
          <a:blip r:embed="rId33"/>
          <a:stretch>
            <a:fillRect/>
          </a:stretch>
        </p:blipFill>
        <p:spPr>
          <a:xfrm>
            <a:off x="9192260" y="5212080"/>
            <a:ext cx="83820" cy="83820"/>
          </a:xfrm>
          <a:prstGeom prst="rect">
            <a:avLst/>
          </a:prstGeom>
        </p:spPr>
      </p:pic>
      <p:sp>
        <p:nvSpPr>
          <p:cNvPr id="366" name="Text 267"/>
          <p:cNvSpPr/>
          <p:nvPr/>
        </p:nvSpPr>
        <p:spPr>
          <a:xfrm>
            <a:off x="9314180" y="5181600"/>
            <a:ext cx="792480" cy="15240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Metrics &amp; KQL queries</a:t>
            </a:r>
            <a:endParaRPr lang="en-US" sz="375" dirty="0"/>
          </a:p>
        </p:txBody>
      </p:sp>
      <p:pic>
        <p:nvPicPr>
          <p:cNvPr id="367" name="Image 97" descr="/sessions/zealous-intelligent-mayer/mnt/outputs/icons7/monitor.png"/>
          <p:cNvPicPr>
            <a:picLocks noChangeAspect="1"/>
          </p:cNvPicPr>
          <p:nvPr/>
        </p:nvPicPr>
        <p:blipFill>
          <a:blip r:embed="rId21"/>
          <a:stretch>
            <a:fillRect/>
          </a:stretch>
        </p:blipFill>
        <p:spPr>
          <a:xfrm>
            <a:off x="9192260" y="5364480"/>
            <a:ext cx="83820" cy="83820"/>
          </a:xfrm>
          <a:prstGeom prst="rect">
            <a:avLst/>
          </a:prstGeom>
        </p:spPr>
      </p:pic>
      <p:sp>
        <p:nvSpPr>
          <p:cNvPr id="368" name="Text 268"/>
          <p:cNvSpPr/>
          <p:nvPr/>
        </p:nvSpPr>
        <p:spPr>
          <a:xfrm>
            <a:off x="9314180" y="5334000"/>
            <a:ext cx="792480" cy="15240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Workbooks</a:t>
            </a:r>
            <a:endParaRPr lang="en-US" sz="375" dirty="0"/>
          </a:p>
        </p:txBody>
      </p:sp>
      <p:sp>
        <p:nvSpPr>
          <p:cNvPr id="369" name="Text 269"/>
          <p:cNvSpPr/>
          <p:nvPr/>
        </p:nvSpPr>
        <p:spPr>
          <a:xfrm>
            <a:off x="10144760" y="4724400"/>
            <a:ext cx="914400" cy="91440"/>
          </a:xfrm>
          <a:prstGeom prst="rect">
            <a:avLst/>
          </a:prstGeom>
          <a:noFill/>
          <a:ln/>
        </p:spPr>
        <p:txBody>
          <a:bodyPr wrap="square" lIns="0" tIns="0" rIns="0" bIns="0" rtlCol="0" anchor="ctr"/>
          <a:lstStyle/>
          <a:p>
            <a:pPr algn="ctr"/>
            <a:r>
              <a:rPr lang="en-US" sz="400" b="1" dirty="0">
                <a:solidFill>
                  <a:srgbClr val="2A6FB5"/>
                </a:solidFill>
                <a:latin typeface="Arial" pitchFamily="34" charset="0"/>
                <a:ea typeface="Arial" pitchFamily="34" charset="-122"/>
                <a:cs typeface="Arial" pitchFamily="34" charset="-120"/>
              </a:rPr>
              <a:t>ALERTING</a:t>
            </a:r>
            <a:endParaRPr lang="en-US" sz="400" dirty="0"/>
          </a:p>
        </p:txBody>
      </p:sp>
      <p:sp>
        <p:nvSpPr>
          <p:cNvPr id="370" name="Shape 270"/>
          <p:cNvSpPr/>
          <p:nvPr/>
        </p:nvSpPr>
        <p:spPr>
          <a:xfrm>
            <a:off x="10144760" y="4831080"/>
            <a:ext cx="914400" cy="0"/>
          </a:xfrm>
          <a:prstGeom prst="line">
            <a:avLst/>
          </a:prstGeom>
          <a:noFill/>
          <a:ln w="9525">
            <a:solidFill>
              <a:srgbClr val="D8DEE9"/>
            </a:solidFill>
            <a:prstDash val="solid"/>
          </a:ln>
        </p:spPr>
      </p:sp>
      <p:pic>
        <p:nvPicPr>
          <p:cNvPr id="371" name="Image 98" descr="/sessions/zealous-intelligent-mayer/mnt/outputs/icons7/alert.png"/>
          <p:cNvPicPr>
            <a:picLocks noChangeAspect="1"/>
          </p:cNvPicPr>
          <p:nvPr/>
        </p:nvPicPr>
        <p:blipFill>
          <a:blip r:embed="rId59"/>
          <a:stretch>
            <a:fillRect/>
          </a:stretch>
        </p:blipFill>
        <p:spPr>
          <a:xfrm>
            <a:off x="10144760" y="4907280"/>
            <a:ext cx="83820" cy="83820"/>
          </a:xfrm>
          <a:prstGeom prst="rect">
            <a:avLst/>
          </a:prstGeom>
        </p:spPr>
      </p:pic>
      <p:sp>
        <p:nvSpPr>
          <p:cNvPr id="372" name="Text 271"/>
          <p:cNvSpPr/>
          <p:nvPr/>
        </p:nvSpPr>
        <p:spPr>
          <a:xfrm>
            <a:off x="10266680" y="4876800"/>
            <a:ext cx="792480" cy="15240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Azure Monitor Alerts</a:t>
            </a:r>
            <a:endParaRPr lang="en-US" sz="375" dirty="0"/>
          </a:p>
        </p:txBody>
      </p:sp>
      <p:pic>
        <p:nvPicPr>
          <p:cNvPr id="373" name="Image 99" descr="/sessions/zealous-intelligent-mayer/mnt/outputs/icons7/bell2.png"/>
          <p:cNvPicPr>
            <a:picLocks noChangeAspect="1"/>
          </p:cNvPicPr>
          <p:nvPr/>
        </p:nvPicPr>
        <p:blipFill>
          <a:blip r:embed="rId62"/>
          <a:stretch>
            <a:fillRect/>
          </a:stretch>
        </p:blipFill>
        <p:spPr>
          <a:xfrm>
            <a:off x="10144760" y="5059680"/>
            <a:ext cx="83820" cy="83820"/>
          </a:xfrm>
          <a:prstGeom prst="rect">
            <a:avLst/>
          </a:prstGeom>
        </p:spPr>
      </p:pic>
      <p:sp>
        <p:nvSpPr>
          <p:cNvPr id="374" name="Text 272"/>
          <p:cNvSpPr/>
          <p:nvPr/>
        </p:nvSpPr>
        <p:spPr>
          <a:xfrm>
            <a:off x="10266680" y="5029200"/>
            <a:ext cx="792480" cy="15240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Action Groups</a:t>
            </a:r>
            <a:endParaRPr lang="en-US" sz="375" dirty="0"/>
          </a:p>
        </p:txBody>
      </p:sp>
      <p:pic>
        <p:nvPicPr>
          <p:cNvPr id="375" name="Image 100" descr="/sessions/zealous-intelligent-mayer/mnt/outputs/icons7/escalate.png"/>
          <p:cNvPicPr>
            <a:picLocks noChangeAspect="1"/>
          </p:cNvPicPr>
          <p:nvPr/>
        </p:nvPicPr>
        <p:blipFill>
          <a:blip r:embed="rId56"/>
          <a:stretch>
            <a:fillRect/>
          </a:stretch>
        </p:blipFill>
        <p:spPr>
          <a:xfrm>
            <a:off x="10144760" y="5212080"/>
            <a:ext cx="83820" cy="83820"/>
          </a:xfrm>
          <a:prstGeom prst="rect">
            <a:avLst/>
          </a:prstGeom>
        </p:spPr>
      </p:pic>
      <p:sp>
        <p:nvSpPr>
          <p:cNvPr id="376" name="Text 273"/>
          <p:cNvSpPr/>
          <p:nvPr/>
        </p:nvSpPr>
        <p:spPr>
          <a:xfrm>
            <a:off x="10266680" y="5181600"/>
            <a:ext cx="792480" cy="15240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PagerDuty / Teams</a:t>
            </a:r>
            <a:endParaRPr lang="en-US" sz="375" dirty="0"/>
          </a:p>
        </p:txBody>
      </p:sp>
      <p:pic>
        <p:nvPicPr>
          <p:cNvPr id="377" name="Image 101" descr="/sessions/zealous-intelligent-mayer/mnt/outputs/icons7/audit.png"/>
          <p:cNvPicPr>
            <a:picLocks noChangeAspect="1"/>
          </p:cNvPicPr>
          <p:nvPr/>
        </p:nvPicPr>
        <p:blipFill>
          <a:blip r:embed="rId28"/>
          <a:stretch>
            <a:fillRect/>
          </a:stretch>
        </p:blipFill>
        <p:spPr>
          <a:xfrm>
            <a:off x="10144760" y="5364480"/>
            <a:ext cx="83820" cy="83820"/>
          </a:xfrm>
          <a:prstGeom prst="rect">
            <a:avLst/>
          </a:prstGeom>
        </p:spPr>
      </p:pic>
      <p:sp>
        <p:nvSpPr>
          <p:cNvPr id="378" name="Text 274"/>
          <p:cNvSpPr/>
          <p:nvPr/>
        </p:nvSpPr>
        <p:spPr>
          <a:xfrm>
            <a:off x="10266680" y="5334000"/>
            <a:ext cx="792480" cy="15240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SLO &amp; error budgets</a:t>
            </a:r>
            <a:endParaRPr lang="en-US" sz="375" dirty="0"/>
          </a:p>
        </p:txBody>
      </p:sp>
      <p:sp>
        <p:nvSpPr>
          <p:cNvPr id="379" name="Shape 275"/>
          <p:cNvSpPr/>
          <p:nvPr/>
        </p:nvSpPr>
        <p:spPr>
          <a:xfrm>
            <a:off x="1122680" y="5654040"/>
            <a:ext cx="5440680" cy="563880"/>
          </a:xfrm>
          <a:prstGeom prst="roundRect">
            <a:avLst>
              <a:gd name="adj" fmla="val 6081"/>
            </a:avLst>
          </a:prstGeom>
          <a:solidFill>
            <a:srgbClr val="FFFDF8"/>
          </a:solidFill>
          <a:ln w="9525">
            <a:solidFill>
              <a:srgbClr val="EBD6AE"/>
            </a:solidFill>
            <a:prstDash val="solid"/>
          </a:ln>
        </p:spPr>
      </p:sp>
      <p:sp>
        <p:nvSpPr>
          <p:cNvPr id="380" name="Text 276"/>
          <p:cNvSpPr/>
          <p:nvPr/>
        </p:nvSpPr>
        <p:spPr>
          <a:xfrm>
            <a:off x="1168400" y="5760720"/>
            <a:ext cx="716280" cy="228600"/>
          </a:xfrm>
          <a:prstGeom prst="rect">
            <a:avLst/>
          </a:prstGeom>
          <a:noFill/>
          <a:ln/>
        </p:spPr>
        <p:txBody>
          <a:bodyPr wrap="square" lIns="0" tIns="0" rIns="0" bIns="0" rtlCol="0" anchor="ctr"/>
          <a:lstStyle/>
          <a:p>
            <a:pPr algn="ctr"/>
            <a:r>
              <a:rPr lang="en-US" sz="517" b="1" dirty="0">
                <a:solidFill>
                  <a:srgbClr val="B4761C"/>
                </a:solidFill>
                <a:latin typeface="Arial" pitchFamily="34" charset="0"/>
                <a:ea typeface="Arial" pitchFamily="34" charset="-122"/>
                <a:cs typeface="Arial" pitchFamily="34" charset="-120"/>
              </a:rPr>
              <a:t>23. DEVOPS &amp;</a:t>
            </a:r>
            <a:endParaRPr lang="en-US" sz="517" dirty="0"/>
          </a:p>
          <a:p>
            <a:pPr algn="ctr"/>
            <a:r>
              <a:rPr lang="en-US" sz="517" b="1" dirty="0">
                <a:solidFill>
                  <a:srgbClr val="B4761C"/>
                </a:solidFill>
                <a:latin typeface="Arial" pitchFamily="34" charset="0"/>
                <a:ea typeface="Arial" pitchFamily="34" charset="-122"/>
                <a:cs typeface="Arial" pitchFamily="34" charset="-120"/>
              </a:rPr>
              <a:t>DEPLOYMENT</a:t>
            </a:r>
            <a:endParaRPr lang="en-US" sz="517" dirty="0"/>
          </a:p>
        </p:txBody>
      </p:sp>
      <p:sp>
        <p:nvSpPr>
          <p:cNvPr id="381" name="Shape 277"/>
          <p:cNvSpPr/>
          <p:nvPr/>
        </p:nvSpPr>
        <p:spPr>
          <a:xfrm>
            <a:off x="1930400" y="5715000"/>
            <a:ext cx="0" cy="441960"/>
          </a:xfrm>
          <a:prstGeom prst="line">
            <a:avLst/>
          </a:prstGeom>
          <a:noFill/>
          <a:ln w="9525">
            <a:solidFill>
              <a:srgbClr val="EBD6AE"/>
            </a:solidFill>
            <a:prstDash val="solid"/>
          </a:ln>
        </p:spPr>
      </p:sp>
      <p:sp>
        <p:nvSpPr>
          <p:cNvPr id="382" name="Text 278"/>
          <p:cNvSpPr/>
          <p:nvPr/>
        </p:nvSpPr>
        <p:spPr>
          <a:xfrm>
            <a:off x="1991360" y="5699760"/>
            <a:ext cx="609600" cy="83820"/>
          </a:xfrm>
          <a:prstGeom prst="rect">
            <a:avLst/>
          </a:prstGeom>
          <a:noFill/>
          <a:ln/>
        </p:spPr>
        <p:txBody>
          <a:bodyPr wrap="square" lIns="0" tIns="0" rIns="0" bIns="0" rtlCol="0" anchor="ctr"/>
          <a:lstStyle/>
          <a:p>
            <a:pPr algn="ctr"/>
            <a:r>
              <a:rPr lang="en-US" sz="383" b="1" dirty="0">
                <a:solidFill>
                  <a:srgbClr val="2A6FB5"/>
                </a:solidFill>
                <a:latin typeface="Arial" pitchFamily="34" charset="0"/>
                <a:ea typeface="Arial" pitchFamily="34" charset="-122"/>
                <a:cs typeface="Arial" pitchFamily="34" charset="-120"/>
              </a:rPr>
              <a:t>CONTAINERIZATION</a:t>
            </a:r>
            <a:endParaRPr lang="en-US" sz="383" dirty="0"/>
          </a:p>
        </p:txBody>
      </p:sp>
      <p:sp>
        <p:nvSpPr>
          <p:cNvPr id="383" name="Text 279"/>
          <p:cNvSpPr/>
          <p:nvPr/>
        </p:nvSpPr>
        <p:spPr>
          <a:xfrm>
            <a:off x="2021840" y="5806440"/>
            <a:ext cx="579120" cy="8382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  Docker / ACR</a:t>
            </a:r>
            <a:endParaRPr lang="en-US" sz="375" dirty="0"/>
          </a:p>
        </p:txBody>
      </p:sp>
      <p:sp>
        <p:nvSpPr>
          <p:cNvPr id="384" name="Text 280"/>
          <p:cNvSpPr/>
          <p:nvPr/>
        </p:nvSpPr>
        <p:spPr>
          <a:xfrm>
            <a:off x="2646680" y="5699760"/>
            <a:ext cx="655320" cy="83820"/>
          </a:xfrm>
          <a:prstGeom prst="rect">
            <a:avLst/>
          </a:prstGeom>
          <a:noFill/>
          <a:ln/>
        </p:spPr>
        <p:txBody>
          <a:bodyPr wrap="square" lIns="0" tIns="0" rIns="0" bIns="0" rtlCol="0" anchor="ctr"/>
          <a:lstStyle/>
          <a:p>
            <a:pPr algn="ctr"/>
            <a:r>
              <a:rPr lang="en-US" sz="383" b="1" dirty="0">
                <a:solidFill>
                  <a:srgbClr val="2A6FB5"/>
                </a:solidFill>
                <a:latin typeface="Arial" pitchFamily="34" charset="0"/>
                <a:ea typeface="Arial" pitchFamily="34" charset="-122"/>
                <a:cs typeface="Arial" pitchFamily="34" charset="-120"/>
              </a:rPr>
              <a:t>ORCHESTRATION</a:t>
            </a:r>
            <a:endParaRPr lang="en-US" sz="383" dirty="0"/>
          </a:p>
        </p:txBody>
      </p:sp>
      <p:sp>
        <p:nvSpPr>
          <p:cNvPr id="385" name="Text 281"/>
          <p:cNvSpPr/>
          <p:nvPr/>
        </p:nvSpPr>
        <p:spPr>
          <a:xfrm>
            <a:off x="2677160" y="5806440"/>
            <a:ext cx="624840" cy="8382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  AKS / Container Apps</a:t>
            </a:r>
            <a:endParaRPr lang="en-US" sz="375" dirty="0"/>
          </a:p>
        </p:txBody>
      </p:sp>
      <p:sp>
        <p:nvSpPr>
          <p:cNvPr id="386" name="Text 282"/>
          <p:cNvSpPr/>
          <p:nvPr/>
        </p:nvSpPr>
        <p:spPr>
          <a:xfrm>
            <a:off x="3347720" y="5699760"/>
            <a:ext cx="655320" cy="83820"/>
          </a:xfrm>
          <a:prstGeom prst="rect">
            <a:avLst/>
          </a:prstGeom>
          <a:noFill/>
          <a:ln/>
        </p:spPr>
        <p:txBody>
          <a:bodyPr wrap="square" lIns="0" tIns="0" rIns="0" bIns="0" rtlCol="0" anchor="ctr"/>
          <a:lstStyle/>
          <a:p>
            <a:pPr algn="ctr"/>
            <a:r>
              <a:rPr lang="en-US" sz="383" b="1" dirty="0">
                <a:solidFill>
                  <a:srgbClr val="2A6FB5"/>
                </a:solidFill>
                <a:latin typeface="Arial" pitchFamily="34" charset="0"/>
                <a:ea typeface="Arial" pitchFamily="34" charset="-122"/>
                <a:cs typeface="Arial" pitchFamily="34" charset="-120"/>
              </a:rPr>
              <a:t>CI / CD PIPELINE</a:t>
            </a:r>
            <a:endParaRPr lang="en-US" sz="383" dirty="0"/>
          </a:p>
        </p:txBody>
      </p:sp>
      <p:sp>
        <p:nvSpPr>
          <p:cNvPr id="387" name="Text 283"/>
          <p:cNvSpPr/>
          <p:nvPr/>
        </p:nvSpPr>
        <p:spPr>
          <a:xfrm>
            <a:off x="3378200" y="5806440"/>
            <a:ext cx="624840" cy="8382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  Azure DevOps</a:t>
            </a:r>
            <a:endParaRPr lang="en-US" sz="375" dirty="0"/>
          </a:p>
        </p:txBody>
      </p:sp>
      <p:sp>
        <p:nvSpPr>
          <p:cNvPr id="388" name="Text 284"/>
          <p:cNvSpPr/>
          <p:nvPr/>
        </p:nvSpPr>
        <p:spPr>
          <a:xfrm>
            <a:off x="3378200" y="5894070"/>
            <a:ext cx="624840" cy="8382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  GitHub Actions</a:t>
            </a:r>
            <a:endParaRPr lang="en-US" sz="375" dirty="0"/>
          </a:p>
        </p:txBody>
      </p:sp>
      <p:sp>
        <p:nvSpPr>
          <p:cNvPr id="389" name="Text 285"/>
          <p:cNvSpPr/>
          <p:nvPr/>
        </p:nvSpPr>
        <p:spPr>
          <a:xfrm>
            <a:off x="4048760" y="5699760"/>
            <a:ext cx="655320" cy="83820"/>
          </a:xfrm>
          <a:prstGeom prst="rect">
            <a:avLst/>
          </a:prstGeom>
          <a:noFill/>
          <a:ln/>
        </p:spPr>
        <p:txBody>
          <a:bodyPr wrap="square" lIns="0" tIns="0" rIns="0" bIns="0" rtlCol="0" anchor="ctr"/>
          <a:lstStyle/>
          <a:p>
            <a:pPr algn="ctr"/>
            <a:r>
              <a:rPr lang="en-US" sz="383" b="1" dirty="0">
                <a:solidFill>
                  <a:srgbClr val="2A6FB5"/>
                </a:solidFill>
                <a:latin typeface="Arial" pitchFamily="34" charset="0"/>
                <a:ea typeface="Arial" pitchFamily="34" charset="-122"/>
                <a:cs typeface="Arial" pitchFamily="34" charset="-120"/>
              </a:rPr>
              <a:t>INFRA AS CODE</a:t>
            </a:r>
            <a:endParaRPr lang="en-US" sz="383" dirty="0"/>
          </a:p>
        </p:txBody>
      </p:sp>
      <p:sp>
        <p:nvSpPr>
          <p:cNvPr id="390" name="Text 286"/>
          <p:cNvSpPr/>
          <p:nvPr/>
        </p:nvSpPr>
        <p:spPr>
          <a:xfrm>
            <a:off x="4079240" y="5806440"/>
            <a:ext cx="624840" cy="8382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  Bicep</a:t>
            </a:r>
            <a:endParaRPr lang="en-US" sz="375" dirty="0"/>
          </a:p>
        </p:txBody>
      </p:sp>
      <p:sp>
        <p:nvSpPr>
          <p:cNvPr id="391" name="Text 287"/>
          <p:cNvSpPr/>
          <p:nvPr/>
        </p:nvSpPr>
        <p:spPr>
          <a:xfrm>
            <a:off x="4079240" y="5894070"/>
            <a:ext cx="624840" cy="8382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  Terraform</a:t>
            </a:r>
            <a:endParaRPr lang="en-US" sz="375" dirty="0"/>
          </a:p>
        </p:txBody>
      </p:sp>
      <p:sp>
        <p:nvSpPr>
          <p:cNvPr id="392" name="Text 288"/>
          <p:cNvSpPr/>
          <p:nvPr/>
        </p:nvSpPr>
        <p:spPr>
          <a:xfrm>
            <a:off x="4079240" y="5981700"/>
            <a:ext cx="624840" cy="8382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  Ansible</a:t>
            </a:r>
            <a:endParaRPr lang="en-US" sz="375" dirty="0"/>
          </a:p>
        </p:txBody>
      </p:sp>
      <p:sp>
        <p:nvSpPr>
          <p:cNvPr id="393" name="Text 289"/>
          <p:cNvSpPr/>
          <p:nvPr/>
        </p:nvSpPr>
        <p:spPr>
          <a:xfrm>
            <a:off x="4749800" y="5699760"/>
            <a:ext cx="685800" cy="83820"/>
          </a:xfrm>
          <a:prstGeom prst="rect">
            <a:avLst/>
          </a:prstGeom>
          <a:noFill/>
          <a:ln/>
        </p:spPr>
        <p:txBody>
          <a:bodyPr wrap="square" lIns="0" tIns="0" rIns="0" bIns="0" rtlCol="0" anchor="ctr"/>
          <a:lstStyle/>
          <a:p>
            <a:pPr algn="ctr"/>
            <a:r>
              <a:rPr lang="en-US" sz="383" b="1" dirty="0">
                <a:solidFill>
                  <a:srgbClr val="2A6FB5"/>
                </a:solidFill>
                <a:latin typeface="Arial" pitchFamily="34" charset="0"/>
                <a:ea typeface="Arial" pitchFamily="34" charset="-122"/>
                <a:cs typeface="Arial" pitchFamily="34" charset="-120"/>
              </a:rPr>
              <a:t>CONFIG &amp; SECRETS</a:t>
            </a:r>
            <a:endParaRPr lang="en-US" sz="383" dirty="0"/>
          </a:p>
        </p:txBody>
      </p:sp>
      <p:sp>
        <p:nvSpPr>
          <p:cNvPr id="394" name="Text 290"/>
          <p:cNvSpPr/>
          <p:nvPr/>
        </p:nvSpPr>
        <p:spPr>
          <a:xfrm>
            <a:off x="4780280" y="5806440"/>
            <a:ext cx="655320" cy="8382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  Helm</a:t>
            </a:r>
            <a:endParaRPr lang="en-US" sz="375" dirty="0"/>
          </a:p>
        </p:txBody>
      </p:sp>
      <p:sp>
        <p:nvSpPr>
          <p:cNvPr id="395" name="Text 291"/>
          <p:cNvSpPr/>
          <p:nvPr/>
        </p:nvSpPr>
        <p:spPr>
          <a:xfrm>
            <a:off x="4780280" y="5894070"/>
            <a:ext cx="655320" cy="8382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  App Configuration</a:t>
            </a:r>
            <a:endParaRPr lang="en-US" sz="375" dirty="0"/>
          </a:p>
        </p:txBody>
      </p:sp>
      <p:sp>
        <p:nvSpPr>
          <p:cNvPr id="396" name="Text 292"/>
          <p:cNvSpPr/>
          <p:nvPr/>
        </p:nvSpPr>
        <p:spPr>
          <a:xfrm>
            <a:off x="4780280" y="5981700"/>
            <a:ext cx="655320" cy="8382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  Key Vault</a:t>
            </a:r>
            <a:endParaRPr lang="en-US" sz="375" dirty="0"/>
          </a:p>
        </p:txBody>
      </p:sp>
      <p:sp>
        <p:nvSpPr>
          <p:cNvPr id="397" name="Text 293"/>
          <p:cNvSpPr/>
          <p:nvPr/>
        </p:nvSpPr>
        <p:spPr>
          <a:xfrm>
            <a:off x="5481320" y="5699760"/>
            <a:ext cx="1005840" cy="83820"/>
          </a:xfrm>
          <a:prstGeom prst="rect">
            <a:avLst/>
          </a:prstGeom>
          <a:noFill/>
          <a:ln/>
        </p:spPr>
        <p:txBody>
          <a:bodyPr wrap="square" lIns="0" tIns="0" rIns="0" bIns="0" rtlCol="0" anchor="ctr"/>
          <a:lstStyle/>
          <a:p>
            <a:pPr algn="ctr"/>
            <a:r>
              <a:rPr lang="en-US" sz="383" b="1" dirty="0">
                <a:solidFill>
                  <a:srgbClr val="2A6FB5"/>
                </a:solidFill>
                <a:latin typeface="Arial" pitchFamily="34" charset="0"/>
                <a:ea typeface="Arial" pitchFamily="34" charset="-122"/>
                <a:cs typeface="Arial" pitchFamily="34" charset="-120"/>
              </a:rPr>
              <a:t>DEPLOYMENT TARGETS</a:t>
            </a:r>
            <a:endParaRPr lang="en-US" sz="383" dirty="0"/>
          </a:p>
        </p:txBody>
      </p:sp>
      <p:sp>
        <p:nvSpPr>
          <p:cNvPr id="398" name="Text 294"/>
          <p:cNvSpPr/>
          <p:nvPr/>
        </p:nvSpPr>
        <p:spPr>
          <a:xfrm>
            <a:off x="5511800" y="5806440"/>
            <a:ext cx="975360" cy="8382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  AKS / Container Apps</a:t>
            </a:r>
            <a:endParaRPr lang="en-US" sz="375" dirty="0"/>
          </a:p>
        </p:txBody>
      </p:sp>
      <p:sp>
        <p:nvSpPr>
          <p:cNvPr id="399" name="Text 295"/>
          <p:cNvSpPr/>
          <p:nvPr/>
        </p:nvSpPr>
        <p:spPr>
          <a:xfrm>
            <a:off x="5511800" y="5894070"/>
            <a:ext cx="975360" cy="8382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  Azure Functions</a:t>
            </a:r>
            <a:endParaRPr lang="en-US" sz="375" dirty="0"/>
          </a:p>
        </p:txBody>
      </p:sp>
      <p:sp>
        <p:nvSpPr>
          <p:cNvPr id="400" name="Text 296"/>
          <p:cNvSpPr/>
          <p:nvPr/>
        </p:nvSpPr>
        <p:spPr>
          <a:xfrm>
            <a:off x="5511800" y="5981700"/>
            <a:ext cx="975360" cy="8382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  Azure Local (plant edge)</a:t>
            </a:r>
            <a:endParaRPr lang="en-US" sz="375" dirty="0"/>
          </a:p>
        </p:txBody>
      </p:sp>
      <p:sp>
        <p:nvSpPr>
          <p:cNvPr id="401" name="Text 297"/>
          <p:cNvSpPr/>
          <p:nvPr/>
        </p:nvSpPr>
        <p:spPr>
          <a:xfrm>
            <a:off x="5511800" y="6069330"/>
            <a:ext cx="975360" cy="83820"/>
          </a:xfrm>
          <a:prstGeom prst="rect">
            <a:avLst/>
          </a:prstGeom>
          <a:noFill/>
          <a:ln/>
        </p:spPr>
        <p:txBody>
          <a:bodyPr wrap="square" lIns="0" tIns="0" rIns="0" bIns="0" rtlCol="0" anchor="ctr"/>
          <a:lstStyle/>
          <a:p>
            <a:r>
              <a:rPr lang="en-US" sz="375" dirty="0">
                <a:solidFill>
                  <a:srgbClr val="2D3748"/>
                </a:solidFill>
                <a:latin typeface="Arial" pitchFamily="34" charset="0"/>
                <a:ea typeface="Arial" pitchFamily="34" charset="-122"/>
                <a:cs typeface="Arial" pitchFamily="34" charset="-120"/>
              </a:rPr>
              <a:t>•  On-Prem MES gateway</a:t>
            </a:r>
            <a:endParaRPr lang="en-US" sz="375" dirty="0"/>
          </a:p>
        </p:txBody>
      </p:sp>
      <p:sp>
        <p:nvSpPr>
          <p:cNvPr id="402" name="Shape 298"/>
          <p:cNvSpPr/>
          <p:nvPr/>
        </p:nvSpPr>
        <p:spPr>
          <a:xfrm>
            <a:off x="6654800" y="5654040"/>
            <a:ext cx="4442460" cy="563880"/>
          </a:xfrm>
          <a:prstGeom prst="roundRect">
            <a:avLst>
              <a:gd name="adj" fmla="val 6081"/>
            </a:avLst>
          </a:prstGeom>
          <a:solidFill>
            <a:srgbClr val="FFFFFF"/>
          </a:solidFill>
          <a:ln w="9525">
            <a:solidFill>
              <a:srgbClr val="C7D4E8"/>
            </a:solidFill>
            <a:prstDash val="solid"/>
          </a:ln>
        </p:spPr>
      </p:sp>
      <p:sp>
        <p:nvSpPr>
          <p:cNvPr id="403" name="Text 299"/>
          <p:cNvSpPr/>
          <p:nvPr/>
        </p:nvSpPr>
        <p:spPr>
          <a:xfrm>
            <a:off x="6700520" y="5692140"/>
            <a:ext cx="1981200" cy="114300"/>
          </a:xfrm>
          <a:prstGeom prst="rect">
            <a:avLst/>
          </a:prstGeom>
          <a:noFill/>
          <a:ln/>
        </p:spPr>
        <p:txBody>
          <a:bodyPr wrap="square" lIns="0" tIns="0" rIns="0" bIns="0" rtlCol="0" anchor="ctr"/>
          <a:lstStyle/>
          <a:p>
            <a:r>
              <a:rPr lang="en-US" sz="550" b="1" kern="0" spc="8" dirty="0">
                <a:solidFill>
                  <a:srgbClr val="1B3A6B"/>
                </a:solidFill>
                <a:latin typeface="Arial" pitchFamily="34" charset="0"/>
                <a:ea typeface="Arial" pitchFamily="34" charset="-122"/>
                <a:cs typeface="Arial" pitchFamily="34" charset="-120"/>
              </a:rPr>
              <a:t>24. BACKUP &amp; DISASTER RECOVERY</a:t>
            </a:r>
            <a:endParaRPr lang="en-US" sz="550" dirty="0"/>
          </a:p>
        </p:txBody>
      </p:sp>
      <p:pic>
        <p:nvPicPr>
          <p:cNvPr id="404" name="Image 102" descr="/sessions/zealous-intelligent-mayer/mnt/outputs/icons7/backup.png"/>
          <p:cNvPicPr>
            <a:picLocks noChangeAspect="1"/>
          </p:cNvPicPr>
          <p:nvPr/>
        </p:nvPicPr>
        <p:blipFill>
          <a:blip r:embed="rId52"/>
          <a:stretch>
            <a:fillRect/>
          </a:stretch>
        </p:blipFill>
        <p:spPr>
          <a:xfrm>
            <a:off x="6731000" y="5867400"/>
            <a:ext cx="99060" cy="99060"/>
          </a:xfrm>
          <a:prstGeom prst="rect">
            <a:avLst/>
          </a:prstGeom>
        </p:spPr>
      </p:pic>
      <p:sp>
        <p:nvSpPr>
          <p:cNvPr id="405" name="Text 300"/>
          <p:cNvSpPr/>
          <p:nvPr/>
        </p:nvSpPr>
        <p:spPr>
          <a:xfrm>
            <a:off x="6860540" y="5836920"/>
            <a:ext cx="716280" cy="83820"/>
          </a:xfrm>
          <a:prstGeom prst="rect">
            <a:avLst/>
          </a:prstGeom>
          <a:noFill/>
          <a:ln/>
        </p:spPr>
        <p:txBody>
          <a:bodyPr wrap="square" lIns="0" tIns="0" rIns="0" bIns="0" rtlCol="0" anchor="ctr"/>
          <a:lstStyle/>
          <a:p>
            <a:r>
              <a:rPr lang="en-US" sz="392" b="1" dirty="0">
                <a:solidFill>
                  <a:srgbClr val="2D3748"/>
                </a:solidFill>
                <a:latin typeface="Arial" pitchFamily="34" charset="0"/>
                <a:ea typeface="Arial" pitchFamily="34" charset="-122"/>
                <a:cs typeface="Arial" pitchFamily="34" charset="-120"/>
              </a:rPr>
              <a:t>Database Backups</a:t>
            </a:r>
            <a:endParaRPr lang="en-US" sz="392" dirty="0"/>
          </a:p>
        </p:txBody>
      </p:sp>
      <p:sp>
        <p:nvSpPr>
          <p:cNvPr id="406" name="Text 301"/>
          <p:cNvSpPr/>
          <p:nvPr/>
        </p:nvSpPr>
        <p:spPr>
          <a:xfrm>
            <a:off x="6860540" y="5928360"/>
            <a:ext cx="716280" cy="137160"/>
          </a:xfrm>
          <a:prstGeom prst="rect">
            <a:avLst/>
          </a:prstGeom>
          <a:noFill/>
          <a:ln/>
        </p:spPr>
        <p:txBody>
          <a:bodyPr wrap="square" lIns="0" tIns="0" rIns="0" bIns="0" rtlCol="0" anchor="ctr"/>
          <a:lstStyle/>
          <a:p>
            <a:r>
              <a:rPr lang="en-US" sz="350" dirty="0">
                <a:solidFill>
                  <a:srgbClr val="77839A"/>
                </a:solidFill>
                <a:latin typeface="Arial" pitchFamily="34" charset="0"/>
                <a:ea typeface="Arial" pitchFamily="34" charset="-122"/>
                <a:cs typeface="Arial" pitchFamily="34" charset="-120"/>
              </a:rPr>
              <a:t>(Azure Backup, automated)</a:t>
            </a:r>
            <a:endParaRPr lang="en-US" sz="350" dirty="0"/>
          </a:p>
        </p:txBody>
      </p:sp>
      <p:pic>
        <p:nvPicPr>
          <p:cNvPr id="407" name="Image 103" descr="/sessions/zealous-intelligent-mayer/mnt/outputs/icons7/backup.png"/>
          <p:cNvPicPr>
            <a:picLocks noChangeAspect="1"/>
          </p:cNvPicPr>
          <p:nvPr/>
        </p:nvPicPr>
        <p:blipFill>
          <a:blip r:embed="rId52"/>
          <a:stretch>
            <a:fillRect/>
          </a:stretch>
        </p:blipFill>
        <p:spPr>
          <a:xfrm>
            <a:off x="7607300" y="5867400"/>
            <a:ext cx="99060" cy="99060"/>
          </a:xfrm>
          <a:prstGeom prst="rect">
            <a:avLst/>
          </a:prstGeom>
        </p:spPr>
      </p:pic>
      <p:sp>
        <p:nvSpPr>
          <p:cNvPr id="408" name="Text 302"/>
          <p:cNvSpPr/>
          <p:nvPr/>
        </p:nvSpPr>
        <p:spPr>
          <a:xfrm>
            <a:off x="7736840" y="5836920"/>
            <a:ext cx="716280" cy="83820"/>
          </a:xfrm>
          <a:prstGeom prst="rect">
            <a:avLst/>
          </a:prstGeom>
          <a:noFill/>
          <a:ln/>
        </p:spPr>
        <p:txBody>
          <a:bodyPr wrap="square" lIns="0" tIns="0" rIns="0" bIns="0" rtlCol="0" anchor="ctr"/>
          <a:lstStyle/>
          <a:p>
            <a:r>
              <a:rPr lang="en-US" sz="392" b="1" dirty="0">
                <a:solidFill>
                  <a:srgbClr val="2D3748"/>
                </a:solidFill>
                <a:latin typeface="Arial" pitchFamily="34" charset="0"/>
                <a:ea typeface="Arial" pitchFamily="34" charset="-122"/>
                <a:cs typeface="Arial" pitchFamily="34" charset="-120"/>
              </a:rPr>
              <a:t>Search Index Backups</a:t>
            </a:r>
            <a:endParaRPr lang="en-US" sz="392" dirty="0"/>
          </a:p>
        </p:txBody>
      </p:sp>
      <p:sp>
        <p:nvSpPr>
          <p:cNvPr id="409" name="Text 303"/>
          <p:cNvSpPr/>
          <p:nvPr/>
        </p:nvSpPr>
        <p:spPr>
          <a:xfrm>
            <a:off x="7736840" y="5928360"/>
            <a:ext cx="716280" cy="137160"/>
          </a:xfrm>
          <a:prstGeom prst="rect">
            <a:avLst/>
          </a:prstGeom>
          <a:noFill/>
          <a:ln/>
        </p:spPr>
        <p:txBody>
          <a:bodyPr wrap="square" lIns="0" tIns="0" rIns="0" bIns="0" rtlCol="0" anchor="ctr"/>
          <a:lstStyle/>
          <a:p>
            <a:r>
              <a:rPr lang="en-US" sz="350" dirty="0">
                <a:solidFill>
                  <a:srgbClr val="77839A"/>
                </a:solidFill>
                <a:latin typeface="Arial" pitchFamily="34" charset="0"/>
                <a:ea typeface="Arial" pitchFamily="34" charset="-122"/>
                <a:cs typeface="Arial" pitchFamily="34" charset="-120"/>
              </a:rPr>
              <a:t>(AI Search / pgvector)</a:t>
            </a:r>
            <a:endParaRPr lang="en-US" sz="350" dirty="0"/>
          </a:p>
        </p:txBody>
      </p:sp>
      <p:pic>
        <p:nvPicPr>
          <p:cNvPr id="410" name="Image 104" descr="/sessions/zealous-intelligent-mayer/mnt/outputs/icons7/backup.png"/>
          <p:cNvPicPr>
            <a:picLocks noChangeAspect="1"/>
          </p:cNvPicPr>
          <p:nvPr/>
        </p:nvPicPr>
        <p:blipFill>
          <a:blip r:embed="rId52"/>
          <a:stretch>
            <a:fillRect/>
          </a:stretch>
        </p:blipFill>
        <p:spPr>
          <a:xfrm>
            <a:off x="8483600" y="5867400"/>
            <a:ext cx="99060" cy="99060"/>
          </a:xfrm>
          <a:prstGeom prst="rect">
            <a:avLst/>
          </a:prstGeom>
        </p:spPr>
      </p:pic>
      <p:sp>
        <p:nvSpPr>
          <p:cNvPr id="411" name="Text 304"/>
          <p:cNvSpPr/>
          <p:nvPr/>
        </p:nvSpPr>
        <p:spPr>
          <a:xfrm>
            <a:off x="8613140" y="5836920"/>
            <a:ext cx="716280" cy="83820"/>
          </a:xfrm>
          <a:prstGeom prst="rect">
            <a:avLst/>
          </a:prstGeom>
          <a:noFill/>
          <a:ln/>
        </p:spPr>
        <p:txBody>
          <a:bodyPr wrap="square" lIns="0" tIns="0" rIns="0" bIns="0" rtlCol="0" anchor="ctr"/>
          <a:lstStyle/>
          <a:p>
            <a:r>
              <a:rPr lang="en-US" sz="392" b="1" dirty="0">
                <a:solidFill>
                  <a:srgbClr val="2D3748"/>
                </a:solidFill>
                <a:latin typeface="Arial" pitchFamily="34" charset="0"/>
                <a:ea typeface="Arial" pitchFamily="34" charset="-122"/>
                <a:cs typeface="Arial" pitchFamily="34" charset="-120"/>
              </a:rPr>
              <a:t>Object Storage Backups</a:t>
            </a:r>
            <a:endParaRPr lang="en-US" sz="392" dirty="0"/>
          </a:p>
        </p:txBody>
      </p:sp>
      <p:sp>
        <p:nvSpPr>
          <p:cNvPr id="412" name="Text 305"/>
          <p:cNvSpPr/>
          <p:nvPr/>
        </p:nvSpPr>
        <p:spPr>
          <a:xfrm>
            <a:off x="8613140" y="5928360"/>
            <a:ext cx="716280" cy="137160"/>
          </a:xfrm>
          <a:prstGeom prst="rect">
            <a:avLst/>
          </a:prstGeom>
          <a:noFill/>
          <a:ln/>
        </p:spPr>
        <p:txBody>
          <a:bodyPr wrap="square" lIns="0" tIns="0" rIns="0" bIns="0" rtlCol="0" anchor="ctr"/>
          <a:lstStyle/>
          <a:p>
            <a:r>
              <a:rPr lang="en-US" sz="350" dirty="0">
                <a:solidFill>
                  <a:srgbClr val="77839A"/>
                </a:solidFill>
                <a:latin typeface="Arial" pitchFamily="34" charset="0"/>
                <a:ea typeface="Arial" pitchFamily="34" charset="-122"/>
                <a:cs typeface="Arial" pitchFamily="34" charset="-120"/>
              </a:rPr>
              <a:t>(Blob versioning, GRS)</a:t>
            </a:r>
            <a:endParaRPr lang="en-US" sz="350" dirty="0"/>
          </a:p>
        </p:txBody>
      </p:sp>
      <p:pic>
        <p:nvPicPr>
          <p:cNvPr id="413" name="Image 105" descr="/sessions/zealous-intelligent-mayer/mnt/outputs/icons7/backup.png"/>
          <p:cNvPicPr>
            <a:picLocks noChangeAspect="1"/>
          </p:cNvPicPr>
          <p:nvPr/>
        </p:nvPicPr>
        <p:blipFill>
          <a:blip r:embed="rId52"/>
          <a:stretch>
            <a:fillRect/>
          </a:stretch>
        </p:blipFill>
        <p:spPr>
          <a:xfrm>
            <a:off x="9359900" y="5867400"/>
            <a:ext cx="99060" cy="99060"/>
          </a:xfrm>
          <a:prstGeom prst="rect">
            <a:avLst/>
          </a:prstGeom>
        </p:spPr>
      </p:pic>
      <p:sp>
        <p:nvSpPr>
          <p:cNvPr id="414" name="Text 306"/>
          <p:cNvSpPr/>
          <p:nvPr/>
        </p:nvSpPr>
        <p:spPr>
          <a:xfrm>
            <a:off x="9489440" y="5836920"/>
            <a:ext cx="716280" cy="83820"/>
          </a:xfrm>
          <a:prstGeom prst="rect">
            <a:avLst/>
          </a:prstGeom>
          <a:noFill/>
          <a:ln/>
        </p:spPr>
        <p:txBody>
          <a:bodyPr wrap="square" lIns="0" tIns="0" rIns="0" bIns="0" rtlCol="0" anchor="ctr"/>
          <a:lstStyle/>
          <a:p>
            <a:r>
              <a:rPr lang="en-US" sz="392" b="1" dirty="0">
                <a:solidFill>
                  <a:srgbClr val="2D3748"/>
                </a:solidFill>
                <a:latin typeface="Arial" pitchFamily="34" charset="0"/>
                <a:ea typeface="Arial" pitchFamily="34" charset="-122"/>
                <a:cs typeface="Arial" pitchFamily="34" charset="-120"/>
              </a:rPr>
              <a:t>Configuration Backups</a:t>
            </a:r>
            <a:endParaRPr lang="en-US" sz="392" dirty="0"/>
          </a:p>
        </p:txBody>
      </p:sp>
      <p:sp>
        <p:nvSpPr>
          <p:cNvPr id="415" name="Text 307"/>
          <p:cNvSpPr/>
          <p:nvPr/>
        </p:nvSpPr>
        <p:spPr>
          <a:xfrm>
            <a:off x="9489440" y="5928360"/>
            <a:ext cx="716280" cy="137160"/>
          </a:xfrm>
          <a:prstGeom prst="rect">
            <a:avLst/>
          </a:prstGeom>
          <a:noFill/>
          <a:ln/>
        </p:spPr>
        <p:txBody>
          <a:bodyPr wrap="square" lIns="0" tIns="0" rIns="0" bIns="0" rtlCol="0" anchor="ctr"/>
          <a:lstStyle/>
          <a:p>
            <a:r>
              <a:rPr lang="en-US" sz="350" dirty="0">
                <a:solidFill>
                  <a:srgbClr val="77839A"/>
                </a:solidFill>
                <a:latin typeface="Arial" pitchFamily="34" charset="0"/>
                <a:ea typeface="Arial" pitchFamily="34" charset="-122"/>
                <a:cs typeface="Arial" pitchFamily="34" charset="-120"/>
              </a:rPr>
              <a:t>(Prompts, models, policies)</a:t>
            </a:r>
            <a:endParaRPr lang="en-US" sz="350" dirty="0"/>
          </a:p>
        </p:txBody>
      </p:sp>
      <p:pic>
        <p:nvPicPr>
          <p:cNvPr id="416" name="Image 106" descr="/sessions/zealous-intelligent-mayer/mnt/outputs/icons7/pitr.png"/>
          <p:cNvPicPr>
            <a:picLocks noChangeAspect="1"/>
          </p:cNvPicPr>
          <p:nvPr/>
        </p:nvPicPr>
        <p:blipFill>
          <a:blip r:embed="rId63"/>
          <a:stretch>
            <a:fillRect/>
          </a:stretch>
        </p:blipFill>
        <p:spPr>
          <a:xfrm>
            <a:off x="10236200" y="5867400"/>
            <a:ext cx="99060" cy="99060"/>
          </a:xfrm>
          <a:prstGeom prst="rect">
            <a:avLst/>
          </a:prstGeom>
        </p:spPr>
      </p:pic>
      <p:sp>
        <p:nvSpPr>
          <p:cNvPr id="417" name="Text 308"/>
          <p:cNvSpPr/>
          <p:nvPr/>
        </p:nvSpPr>
        <p:spPr>
          <a:xfrm>
            <a:off x="10365740" y="5836920"/>
            <a:ext cx="716280" cy="83820"/>
          </a:xfrm>
          <a:prstGeom prst="rect">
            <a:avLst/>
          </a:prstGeom>
          <a:noFill/>
          <a:ln/>
        </p:spPr>
        <p:txBody>
          <a:bodyPr wrap="square" lIns="0" tIns="0" rIns="0" bIns="0" rtlCol="0" anchor="ctr"/>
          <a:lstStyle/>
          <a:p>
            <a:r>
              <a:rPr lang="en-US" sz="392" b="1" dirty="0">
                <a:solidFill>
                  <a:srgbClr val="2D3748"/>
                </a:solidFill>
                <a:latin typeface="Arial" pitchFamily="34" charset="0"/>
                <a:ea typeface="Arial" pitchFamily="34" charset="-122"/>
                <a:cs typeface="Arial" pitchFamily="34" charset="-120"/>
              </a:rPr>
              <a:t>Point-in-Time Recovery</a:t>
            </a:r>
            <a:endParaRPr lang="en-US" sz="392" dirty="0"/>
          </a:p>
        </p:txBody>
      </p:sp>
      <p:sp>
        <p:nvSpPr>
          <p:cNvPr id="418" name="Text 309"/>
          <p:cNvSpPr/>
          <p:nvPr/>
        </p:nvSpPr>
        <p:spPr>
          <a:xfrm>
            <a:off x="10365740" y="5928360"/>
            <a:ext cx="716280" cy="137160"/>
          </a:xfrm>
          <a:prstGeom prst="rect">
            <a:avLst/>
          </a:prstGeom>
          <a:noFill/>
          <a:ln/>
        </p:spPr>
        <p:txBody>
          <a:bodyPr wrap="square" lIns="0" tIns="0" rIns="0" bIns="0" rtlCol="0" anchor="ctr"/>
          <a:lstStyle/>
          <a:p>
            <a:r>
              <a:rPr lang="en-US" sz="350" dirty="0">
                <a:solidFill>
                  <a:srgbClr val="77839A"/>
                </a:solidFill>
                <a:latin typeface="Arial" pitchFamily="34" charset="0"/>
                <a:ea typeface="Arial" pitchFamily="34" charset="-122"/>
                <a:cs typeface="Arial" pitchFamily="34" charset="-120"/>
              </a:rPr>
              <a:t>(Geo-replication &amp; versioning)</a:t>
            </a:r>
            <a:endParaRPr lang="en-US" sz="350" dirty="0"/>
          </a:p>
        </p:txBody>
      </p:sp>
      <p:sp>
        <p:nvSpPr>
          <p:cNvPr id="419" name="Shape 310"/>
          <p:cNvSpPr/>
          <p:nvPr/>
        </p:nvSpPr>
        <p:spPr>
          <a:xfrm>
            <a:off x="1122680" y="6271260"/>
            <a:ext cx="3596640" cy="480060"/>
          </a:xfrm>
          <a:prstGeom prst="roundRect">
            <a:avLst>
              <a:gd name="adj" fmla="val 7143"/>
            </a:avLst>
          </a:prstGeom>
          <a:solidFill>
            <a:srgbClr val="FFFFFF"/>
          </a:solidFill>
          <a:ln w="9525">
            <a:solidFill>
              <a:srgbClr val="C7D4E8"/>
            </a:solidFill>
            <a:prstDash val="solid"/>
          </a:ln>
        </p:spPr>
      </p:sp>
      <p:sp>
        <p:nvSpPr>
          <p:cNvPr id="420" name="Text 311"/>
          <p:cNvSpPr/>
          <p:nvPr/>
        </p:nvSpPr>
        <p:spPr>
          <a:xfrm>
            <a:off x="1122680" y="6301740"/>
            <a:ext cx="3596640" cy="114300"/>
          </a:xfrm>
          <a:prstGeom prst="rect">
            <a:avLst/>
          </a:prstGeom>
          <a:noFill/>
          <a:ln/>
        </p:spPr>
        <p:txBody>
          <a:bodyPr wrap="square" lIns="0" tIns="0" rIns="0" bIns="0" rtlCol="0" anchor="ctr"/>
          <a:lstStyle/>
          <a:p>
            <a:pPr algn="ctr"/>
            <a:r>
              <a:rPr lang="en-US" sz="533" b="1" kern="0" spc="8" dirty="0">
                <a:solidFill>
                  <a:srgbClr val="1B3A6B"/>
                </a:solidFill>
                <a:latin typeface="Arial" pitchFamily="34" charset="0"/>
                <a:ea typeface="Arial" pitchFamily="34" charset="-122"/>
                <a:cs typeface="Arial" pitchFamily="34" charset="-120"/>
              </a:rPr>
              <a:t>ARCHITECTURE PRINCIPLES</a:t>
            </a:r>
            <a:endParaRPr lang="en-US" sz="533" dirty="0"/>
          </a:p>
        </p:txBody>
      </p:sp>
      <p:sp>
        <p:nvSpPr>
          <p:cNvPr id="421" name="Text 312"/>
          <p:cNvSpPr/>
          <p:nvPr/>
        </p:nvSpPr>
        <p:spPr>
          <a:xfrm>
            <a:off x="1229360" y="6431280"/>
            <a:ext cx="1158240" cy="83820"/>
          </a:xfrm>
          <a:prstGeom prst="rect">
            <a:avLst/>
          </a:prstGeom>
          <a:noFill/>
          <a:ln/>
        </p:spPr>
        <p:txBody>
          <a:bodyPr wrap="square" lIns="0" tIns="0" rIns="0" bIns="0" rtlCol="0" anchor="ctr"/>
          <a:lstStyle/>
          <a:p>
            <a:r>
              <a:rPr lang="en-US" sz="392" dirty="0">
                <a:solidFill>
                  <a:srgbClr val="2D3748"/>
                </a:solidFill>
                <a:latin typeface="Arial" pitchFamily="34" charset="0"/>
                <a:ea typeface="Arial" pitchFamily="34" charset="-122"/>
                <a:cs typeface="Arial" pitchFamily="34" charset="-120"/>
              </a:rPr>
              <a:t>•  Modular &amp; Decoupled</a:t>
            </a:r>
            <a:endParaRPr lang="en-US" sz="392" dirty="0"/>
          </a:p>
        </p:txBody>
      </p:sp>
      <p:sp>
        <p:nvSpPr>
          <p:cNvPr id="422" name="Text 313"/>
          <p:cNvSpPr/>
          <p:nvPr/>
        </p:nvSpPr>
        <p:spPr>
          <a:xfrm>
            <a:off x="1229360" y="6526530"/>
            <a:ext cx="1158240" cy="83820"/>
          </a:xfrm>
          <a:prstGeom prst="rect">
            <a:avLst/>
          </a:prstGeom>
          <a:noFill/>
          <a:ln/>
        </p:spPr>
        <p:txBody>
          <a:bodyPr wrap="square" lIns="0" tIns="0" rIns="0" bIns="0" rtlCol="0" anchor="ctr"/>
          <a:lstStyle/>
          <a:p>
            <a:r>
              <a:rPr lang="en-US" sz="392" dirty="0">
                <a:solidFill>
                  <a:srgbClr val="2D3748"/>
                </a:solidFill>
                <a:latin typeface="Arial" pitchFamily="34" charset="0"/>
                <a:ea typeface="Arial" pitchFamily="34" charset="-122"/>
                <a:cs typeface="Arial" pitchFamily="34" charset="-120"/>
              </a:rPr>
              <a:t>•  Scalable &amp; Elastic</a:t>
            </a:r>
            <a:endParaRPr lang="en-US" sz="392" dirty="0"/>
          </a:p>
        </p:txBody>
      </p:sp>
      <p:sp>
        <p:nvSpPr>
          <p:cNvPr id="423" name="Text 314"/>
          <p:cNvSpPr/>
          <p:nvPr/>
        </p:nvSpPr>
        <p:spPr>
          <a:xfrm>
            <a:off x="1229360" y="6621780"/>
            <a:ext cx="1158240" cy="83820"/>
          </a:xfrm>
          <a:prstGeom prst="rect">
            <a:avLst/>
          </a:prstGeom>
          <a:noFill/>
          <a:ln/>
        </p:spPr>
        <p:txBody>
          <a:bodyPr wrap="square" lIns="0" tIns="0" rIns="0" bIns="0" rtlCol="0" anchor="ctr"/>
          <a:lstStyle/>
          <a:p>
            <a:r>
              <a:rPr lang="en-US" sz="392" dirty="0">
                <a:solidFill>
                  <a:srgbClr val="2D3748"/>
                </a:solidFill>
                <a:latin typeface="Arial" pitchFamily="34" charset="0"/>
                <a:ea typeface="Arial" pitchFamily="34" charset="-122"/>
                <a:cs typeface="Arial" pitchFamily="34" charset="-120"/>
              </a:rPr>
              <a:t>•  Secure by Design</a:t>
            </a:r>
            <a:endParaRPr lang="en-US" sz="392" dirty="0"/>
          </a:p>
        </p:txBody>
      </p:sp>
      <p:sp>
        <p:nvSpPr>
          <p:cNvPr id="424" name="Text 315"/>
          <p:cNvSpPr/>
          <p:nvPr/>
        </p:nvSpPr>
        <p:spPr>
          <a:xfrm>
            <a:off x="2418080" y="6431280"/>
            <a:ext cx="1158240" cy="83820"/>
          </a:xfrm>
          <a:prstGeom prst="rect">
            <a:avLst/>
          </a:prstGeom>
          <a:noFill/>
          <a:ln/>
        </p:spPr>
        <p:txBody>
          <a:bodyPr wrap="square" lIns="0" tIns="0" rIns="0" bIns="0" rtlCol="0" anchor="ctr"/>
          <a:lstStyle/>
          <a:p>
            <a:r>
              <a:rPr lang="en-US" sz="392" dirty="0">
                <a:solidFill>
                  <a:srgbClr val="2D3748"/>
                </a:solidFill>
                <a:latin typeface="Arial" pitchFamily="34" charset="0"/>
                <a:ea typeface="Arial" pitchFamily="34" charset="-122"/>
                <a:cs typeface="Arial" pitchFamily="34" charset="-120"/>
              </a:rPr>
              <a:t>•  Observable &amp; Measurable</a:t>
            </a:r>
            <a:endParaRPr lang="en-US" sz="392" dirty="0"/>
          </a:p>
        </p:txBody>
      </p:sp>
      <p:sp>
        <p:nvSpPr>
          <p:cNvPr id="425" name="Text 316"/>
          <p:cNvSpPr/>
          <p:nvPr/>
        </p:nvSpPr>
        <p:spPr>
          <a:xfrm>
            <a:off x="2418080" y="6526530"/>
            <a:ext cx="1158240" cy="83820"/>
          </a:xfrm>
          <a:prstGeom prst="rect">
            <a:avLst/>
          </a:prstGeom>
          <a:noFill/>
          <a:ln/>
        </p:spPr>
        <p:txBody>
          <a:bodyPr wrap="square" lIns="0" tIns="0" rIns="0" bIns="0" rtlCol="0" anchor="ctr"/>
          <a:lstStyle/>
          <a:p>
            <a:r>
              <a:rPr lang="en-US" sz="392" dirty="0">
                <a:solidFill>
                  <a:srgbClr val="2D3748"/>
                </a:solidFill>
                <a:latin typeface="Arial" pitchFamily="34" charset="0"/>
                <a:ea typeface="Arial" pitchFamily="34" charset="-122"/>
                <a:cs typeface="Arial" pitchFamily="34" charset="-120"/>
              </a:rPr>
              <a:t>•  Cost Governed</a:t>
            </a:r>
            <a:endParaRPr lang="en-US" sz="392" dirty="0"/>
          </a:p>
        </p:txBody>
      </p:sp>
      <p:sp>
        <p:nvSpPr>
          <p:cNvPr id="426" name="Text 317"/>
          <p:cNvSpPr/>
          <p:nvPr/>
        </p:nvSpPr>
        <p:spPr>
          <a:xfrm>
            <a:off x="2418080" y="6621780"/>
            <a:ext cx="1158240" cy="83820"/>
          </a:xfrm>
          <a:prstGeom prst="rect">
            <a:avLst/>
          </a:prstGeom>
          <a:noFill/>
          <a:ln/>
        </p:spPr>
        <p:txBody>
          <a:bodyPr wrap="square" lIns="0" tIns="0" rIns="0" bIns="0" rtlCol="0" anchor="ctr"/>
          <a:lstStyle/>
          <a:p>
            <a:r>
              <a:rPr lang="en-US" sz="392" dirty="0">
                <a:solidFill>
                  <a:srgbClr val="2D3748"/>
                </a:solidFill>
                <a:latin typeface="Arial" pitchFamily="34" charset="0"/>
                <a:ea typeface="Arial" pitchFamily="34" charset="-122"/>
                <a:cs typeface="Arial" pitchFamily="34" charset="-120"/>
              </a:rPr>
              <a:t>•  AI-Native</a:t>
            </a:r>
            <a:endParaRPr lang="en-US" sz="392" dirty="0"/>
          </a:p>
        </p:txBody>
      </p:sp>
      <p:sp>
        <p:nvSpPr>
          <p:cNvPr id="427" name="Text 318"/>
          <p:cNvSpPr/>
          <p:nvPr/>
        </p:nvSpPr>
        <p:spPr>
          <a:xfrm>
            <a:off x="3606800" y="6431280"/>
            <a:ext cx="1158240" cy="83820"/>
          </a:xfrm>
          <a:prstGeom prst="rect">
            <a:avLst/>
          </a:prstGeom>
          <a:noFill/>
          <a:ln/>
        </p:spPr>
        <p:txBody>
          <a:bodyPr wrap="square" lIns="0" tIns="0" rIns="0" bIns="0" rtlCol="0" anchor="ctr"/>
          <a:lstStyle/>
          <a:p>
            <a:r>
              <a:rPr lang="en-US" sz="392" dirty="0">
                <a:solidFill>
                  <a:srgbClr val="2D3748"/>
                </a:solidFill>
                <a:latin typeface="Arial" pitchFamily="34" charset="0"/>
                <a:ea typeface="Arial" pitchFamily="34" charset="-122"/>
                <a:cs typeface="Arial" pitchFamily="34" charset="-120"/>
              </a:rPr>
              <a:t>•  Open Standards (MCP, OTel)</a:t>
            </a:r>
            <a:endParaRPr lang="en-US" sz="392" dirty="0"/>
          </a:p>
        </p:txBody>
      </p:sp>
      <p:sp>
        <p:nvSpPr>
          <p:cNvPr id="428" name="Text 319"/>
          <p:cNvSpPr/>
          <p:nvPr/>
        </p:nvSpPr>
        <p:spPr>
          <a:xfrm>
            <a:off x="3606800" y="6526530"/>
            <a:ext cx="1158240" cy="83820"/>
          </a:xfrm>
          <a:prstGeom prst="rect">
            <a:avLst/>
          </a:prstGeom>
          <a:noFill/>
          <a:ln/>
        </p:spPr>
        <p:txBody>
          <a:bodyPr wrap="square" lIns="0" tIns="0" rIns="0" bIns="0" rtlCol="0" anchor="ctr"/>
          <a:lstStyle/>
          <a:p>
            <a:r>
              <a:rPr lang="en-US" sz="392" dirty="0">
                <a:solidFill>
                  <a:srgbClr val="2D3748"/>
                </a:solidFill>
                <a:latin typeface="Arial" pitchFamily="34" charset="0"/>
                <a:ea typeface="Arial" pitchFamily="34" charset="-122"/>
                <a:cs typeface="Arial" pitchFamily="34" charset="-120"/>
              </a:rPr>
              <a:t>•  Azure-Native</a:t>
            </a:r>
            <a:endParaRPr lang="en-US" sz="392" dirty="0"/>
          </a:p>
        </p:txBody>
      </p:sp>
      <p:sp>
        <p:nvSpPr>
          <p:cNvPr id="429" name="Shape 320"/>
          <p:cNvSpPr/>
          <p:nvPr/>
        </p:nvSpPr>
        <p:spPr>
          <a:xfrm>
            <a:off x="4787900" y="6271260"/>
            <a:ext cx="2316480" cy="480060"/>
          </a:xfrm>
          <a:prstGeom prst="roundRect">
            <a:avLst>
              <a:gd name="adj" fmla="val 7143"/>
            </a:avLst>
          </a:prstGeom>
          <a:solidFill>
            <a:srgbClr val="FFFFFF"/>
          </a:solidFill>
          <a:ln w="9525">
            <a:solidFill>
              <a:srgbClr val="C7D4E8"/>
            </a:solidFill>
            <a:prstDash val="solid"/>
          </a:ln>
        </p:spPr>
      </p:sp>
      <p:sp>
        <p:nvSpPr>
          <p:cNvPr id="430" name="Text 321"/>
          <p:cNvSpPr/>
          <p:nvPr/>
        </p:nvSpPr>
        <p:spPr>
          <a:xfrm>
            <a:off x="4787900" y="6301740"/>
            <a:ext cx="2316480" cy="114300"/>
          </a:xfrm>
          <a:prstGeom prst="rect">
            <a:avLst/>
          </a:prstGeom>
          <a:noFill/>
          <a:ln/>
        </p:spPr>
        <p:txBody>
          <a:bodyPr wrap="square" lIns="0" tIns="0" rIns="0" bIns="0" rtlCol="0" anchor="ctr"/>
          <a:lstStyle/>
          <a:p>
            <a:pPr algn="ctr"/>
            <a:r>
              <a:rPr lang="en-US" sz="533" b="1" kern="0" spc="8" dirty="0">
                <a:solidFill>
                  <a:srgbClr val="1B3A6B"/>
                </a:solidFill>
                <a:latin typeface="Arial" pitchFamily="34" charset="0"/>
                <a:ea typeface="Arial" pitchFamily="34" charset="-122"/>
                <a:cs typeface="Arial" pitchFamily="34" charset="-120"/>
              </a:rPr>
              <a:t>LEGEND (DATA FLOW)</a:t>
            </a:r>
            <a:endParaRPr lang="en-US" sz="533" dirty="0"/>
          </a:p>
        </p:txBody>
      </p:sp>
      <p:sp>
        <p:nvSpPr>
          <p:cNvPr id="431" name="Shape 322"/>
          <p:cNvSpPr/>
          <p:nvPr/>
        </p:nvSpPr>
        <p:spPr>
          <a:xfrm>
            <a:off x="4917440" y="6484620"/>
            <a:ext cx="457200" cy="0"/>
          </a:xfrm>
          <a:prstGeom prst="line">
            <a:avLst/>
          </a:prstGeom>
          <a:noFill/>
          <a:ln w="9525">
            <a:solidFill>
              <a:srgbClr val="2D3748"/>
            </a:solidFill>
            <a:prstDash val="solid"/>
            <a:tailEnd type="triangle"/>
          </a:ln>
        </p:spPr>
      </p:sp>
      <p:sp>
        <p:nvSpPr>
          <p:cNvPr id="432" name="Text 323"/>
          <p:cNvSpPr/>
          <p:nvPr/>
        </p:nvSpPr>
        <p:spPr>
          <a:xfrm>
            <a:off x="5450840" y="6446520"/>
            <a:ext cx="1569720" cy="83820"/>
          </a:xfrm>
          <a:prstGeom prst="rect">
            <a:avLst/>
          </a:prstGeom>
          <a:noFill/>
          <a:ln/>
        </p:spPr>
        <p:txBody>
          <a:bodyPr wrap="square" lIns="0" tIns="0" rIns="0" bIns="0" rtlCol="0" anchor="ctr"/>
          <a:lstStyle/>
          <a:p>
            <a:r>
              <a:rPr lang="en-US" sz="392" dirty="0">
                <a:solidFill>
                  <a:srgbClr val="2D3748"/>
                </a:solidFill>
                <a:latin typeface="Arial" pitchFamily="34" charset="0"/>
                <a:ea typeface="Arial" pitchFamily="34" charset="-122"/>
                <a:cs typeface="Arial" pitchFamily="34" charset="-120"/>
              </a:rPr>
              <a:t>Synchronous Flow</a:t>
            </a:r>
            <a:endParaRPr lang="en-US" sz="392" dirty="0"/>
          </a:p>
        </p:txBody>
      </p:sp>
      <p:sp>
        <p:nvSpPr>
          <p:cNvPr id="433" name="Shape 324"/>
          <p:cNvSpPr/>
          <p:nvPr/>
        </p:nvSpPr>
        <p:spPr>
          <a:xfrm>
            <a:off x="4917440" y="6579870"/>
            <a:ext cx="457200" cy="0"/>
          </a:xfrm>
          <a:prstGeom prst="line">
            <a:avLst/>
          </a:prstGeom>
          <a:noFill/>
          <a:ln w="9525">
            <a:solidFill>
              <a:srgbClr val="2D3748"/>
            </a:solidFill>
            <a:prstDash val="dash"/>
            <a:tailEnd type="triangle"/>
          </a:ln>
        </p:spPr>
      </p:sp>
      <p:sp>
        <p:nvSpPr>
          <p:cNvPr id="434" name="Text 325"/>
          <p:cNvSpPr/>
          <p:nvPr/>
        </p:nvSpPr>
        <p:spPr>
          <a:xfrm>
            <a:off x="5450840" y="6541770"/>
            <a:ext cx="1569720" cy="83820"/>
          </a:xfrm>
          <a:prstGeom prst="rect">
            <a:avLst/>
          </a:prstGeom>
          <a:noFill/>
          <a:ln/>
        </p:spPr>
        <p:txBody>
          <a:bodyPr wrap="square" lIns="0" tIns="0" rIns="0" bIns="0" rtlCol="0" anchor="ctr"/>
          <a:lstStyle/>
          <a:p>
            <a:r>
              <a:rPr lang="en-US" sz="392" dirty="0">
                <a:solidFill>
                  <a:srgbClr val="2D3748"/>
                </a:solidFill>
                <a:latin typeface="Arial" pitchFamily="34" charset="0"/>
                <a:ea typeface="Arial" pitchFamily="34" charset="-122"/>
                <a:cs typeface="Arial" pitchFamily="34" charset="-120"/>
              </a:rPr>
              <a:t>Asynchronous Flow</a:t>
            </a:r>
            <a:endParaRPr lang="en-US" sz="392" dirty="0"/>
          </a:p>
        </p:txBody>
      </p:sp>
      <p:sp>
        <p:nvSpPr>
          <p:cNvPr id="435" name="Shape 326"/>
          <p:cNvSpPr/>
          <p:nvPr/>
        </p:nvSpPr>
        <p:spPr>
          <a:xfrm>
            <a:off x="4917440" y="6675120"/>
            <a:ext cx="457200" cy="0"/>
          </a:xfrm>
          <a:prstGeom prst="line">
            <a:avLst/>
          </a:prstGeom>
          <a:noFill/>
          <a:ln w="9525">
            <a:solidFill>
              <a:srgbClr val="2D3748"/>
            </a:solidFill>
            <a:prstDash val="sysDash"/>
            <a:tailEnd type="triangle"/>
          </a:ln>
        </p:spPr>
      </p:sp>
      <p:sp>
        <p:nvSpPr>
          <p:cNvPr id="436" name="Text 327"/>
          <p:cNvSpPr/>
          <p:nvPr/>
        </p:nvSpPr>
        <p:spPr>
          <a:xfrm>
            <a:off x="5450840" y="6637020"/>
            <a:ext cx="1569720" cy="83820"/>
          </a:xfrm>
          <a:prstGeom prst="rect">
            <a:avLst/>
          </a:prstGeom>
          <a:noFill/>
          <a:ln/>
        </p:spPr>
        <p:txBody>
          <a:bodyPr wrap="square" lIns="0" tIns="0" rIns="0" bIns="0" rtlCol="0" anchor="ctr"/>
          <a:lstStyle/>
          <a:p>
            <a:r>
              <a:rPr lang="en-US" sz="392" dirty="0">
                <a:solidFill>
                  <a:srgbClr val="2D3748"/>
                </a:solidFill>
                <a:latin typeface="Arial" pitchFamily="34" charset="0"/>
                <a:ea typeface="Arial" pitchFamily="34" charset="-122"/>
                <a:cs typeface="Arial" pitchFamily="34" charset="-120"/>
              </a:rPr>
              <a:t>Management / Control Flow</a:t>
            </a:r>
            <a:endParaRPr lang="en-US" sz="392" dirty="0"/>
          </a:p>
        </p:txBody>
      </p:sp>
      <p:sp>
        <p:nvSpPr>
          <p:cNvPr id="437" name="Shape 328"/>
          <p:cNvSpPr/>
          <p:nvPr/>
        </p:nvSpPr>
        <p:spPr>
          <a:xfrm>
            <a:off x="7172960" y="6271260"/>
            <a:ext cx="3924300" cy="480060"/>
          </a:xfrm>
          <a:prstGeom prst="roundRect">
            <a:avLst>
              <a:gd name="adj" fmla="val 7143"/>
            </a:avLst>
          </a:prstGeom>
          <a:solidFill>
            <a:srgbClr val="FFFFFF"/>
          </a:solidFill>
          <a:ln w="9525">
            <a:solidFill>
              <a:srgbClr val="C7D4E8"/>
            </a:solidFill>
            <a:prstDash val="solid"/>
          </a:ln>
        </p:spPr>
      </p:sp>
      <p:sp>
        <p:nvSpPr>
          <p:cNvPr id="438" name="Text 329"/>
          <p:cNvSpPr/>
          <p:nvPr/>
        </p:nvSpPr>
        <p:spPr>
          <a:xfrm>
            <a:off x="7218680" y="6301740"/>
            <a:ext cx="762000" cy="114300"/>
          </a:xfrm>
          <a:prstGeom prst="rect">
            <a:avLst/>
          </a:prstGeom>
          <a:noFill/>
          <a:ln/>
        </p:spPr>
        <p:txBody>
          <a:bodyPr wrap="square" lIns="0" tIns="0" rIns="0" bIns="0" rtlCol="0" anchor="ctr"/>
          <a:lstStyle/>
          <a:p>
            <a:r>
              <a:rPr lang="en-US" sz="533" b="1" kern="0" spc="8" dirty="0">
                <a:solidFill>
                  <a:srgbClr val="1B3A6B"/>
                </a:solidFill>
                <a:latin typeface="Arial" pitchFamily="34" charset="0"/>
                <a:ea typeface="Arial" pitchFamily="34" charset="-122"/>
                <a:cs typeface="Arial" pitchFamily="34" charset="-120"/>
              </a:rPr>
              <a:t>NOTES</a:t>
            </a:r>
            <a:endParaRPr lang="en-US" sz="533" dirty="0"/>
          </a:p>
        </p:txBody>
      </p:sp>
      <p:sp>
        <p:nvSpPr>
          <p:cNvPr id="439" name="Text 330"/>
          <p:cNvSpPr/>
          <p:nvPr/>
        </p:nvSpPr>
        <p:spPr>
          <a:xfrm>
            <a:off x="7264400" y="6416040"/>
            <a:ext cx="3764280" cy="289560"/>
          </a:xfrm>
          <a:prstGeom prst="rect">
            <a:avLst/>
          </a:prstGeom>
          <a:noFill/>
          <a:ln/>
        </p:spPr>
        <p:txBody>
          <a:bodyPr wrap="square" lIns="0" tIns="0" rIns="0" bIns="0" rtlCol="0" anchor="ctr"/>
          <a:lstStyle/>
          <a:p>
            <a:pPr>
              <a:lnSpc>
                <a:spcPct val="105000"/>
              </a:lnSpc>
            </a:pPr>
            <a:r>
              <a:rPr lang="en-US" sz="375" dirty="0">
                <a:solidFill>
                  <a:srgbClr val="2D3748"/>
                </a:solidFill>
                <a:latin typeface="Arial" pitchFamily="34" charset="0"/>
                <a:ea typeface="Arial" pitchFamily="34" charset="-122"/>
                <a:cs typeface="Arial" pitchFamily="34" charset="-120"/>
              </a:rPr>
              <a:t>Azure-first reference architecture for Ball Corporation beverage packaging operations — plant floor to cloud.</a:t>
            </a:r>
            <a:endParaRPr lang="en-US" sz="375" dirty="0"/>
          </a:p>
          <a:p>
            <a:pPr>
              <a:lnSpc>
                <a:spcPct val="105000"/>
              </a:lnSpc>
            </a:pPr>
            <a:r>
              <a:rPr lang="en-US" sz="375" dirty="0">
                <a:solidFill>
                  <a:srgbClr val="2D3748"/>
                </a:solidFill>
                <a:latin typeface="Arial" pitchFamily="34" charset="0"/>
                <a:ea typeface="Arial" pitchFamily="34" charset="-122"/>
                <a:cs typeface="Arial" pitchFamily="34" charset="-120"/>
              </a:rPr>
              <a:t>Non-Azure models are reached through API Management as external backends; plant-edge workloads run on Azure Local.</a:t>
            </a:r>
            <a:endParaRPr lang="en-US" sz="375" dirty="0"/>
          </a:p>
          <a:p>
            <a:pPr>
              <a:lnSpc>
                <a:spcPct val="105000"/>
              </a:lnSpc>
            </a:pPr>
            <a:r>
              <a:rPr lang="en-US" sz="375" dirty="0">
                <a:solidFill>
                  <a:srgbClr val="2D3748"/>
                </a:solidFill>
                <a:latin typeface="Arial" pitchFamily="34" charset="0"/>
                <a:ea typeface="Arial" pitchFamily="34" charset="-122"/>
                <a:cs typeface="Arial" pitchFamily="34" charset="-120"/>
              </a:rPr>
              <a:t>Costs vary by region, reserved capacity and PTU commitments; validate residency and CMK requirements per plant.</a:t>
            </a:r>
            <a:endParaRPr lang="en-US" sz="375" dirty="0"/>
          </a:p>
        </p:txBody>
      </p:sp>
      <p:sp>
        <p:nvSpPr>
          <p:cNvPr id="440" name="Shape 331"/>
          <p:cNvSpPr/>
          <p:nvPr/>
        </p:nvSpPr>
        <p:spPr>
          <a:xfrm>
            <a:off x="2387600" y="1234440"/>
            <a:ext cx="213360" cy="0"/>
          </a:xfrm>
          <a:prstGeom prst="line">
            <a:avLst/>
          </a:prstGeom>
          <a:noFill/>
          <a:ln w="9525">
            <a:solidFill>
              <a:srgbClr val="2D3748"/>
            </a:solidFill>
            <a:prstDash val="solid"/>
            <a:tailEnd type="triangle"/>
          </a:ln>
        </p:spPr>
      </p:sp>
      <p:sp>
        <p:nvSpPr>
          <p:cNvPr id="441" name="Shape 332"/>
          <p:cNvSpPr/>
          <p:nvPr/>
        </p:nvSpPr>
        <p:spPr>
          <a:xfrm>
            <a:off x="3667760" y="1234440"/>
            <a:ext cx="426720" cy="0"/>
          </a:xfrm>
          <a:prstGeom prst="line">
            <a:avLst/>
          </a:prstGeom>
          <a:noFill/>
          <a:ln w="9525">
            <a:solidFill>
              <a:srgbClr val="2D3748"/>
            </a:solidFill>
            <a:prstDash val="solid"/>
            <a:tailEnd type="triangle"/>
          </a:ln>
        </p:spPr>
      </p:sp>
      <p:sp>
        <p:nvSpPr>
          <p:cNvPr id="442" name="Shape 333"/>
          <p:cNvSpPr/>
          <p:nvPr/>
        </p:nvSpPr>
        <p:spPr>
          <a:xfrm>
            <a:off x="5679440" y="1234440"/>
            <a:ext cx="152400" cy="0"/>
          </a:xfrm>
          <a:prstGeom prst="line">
            <a:avLst/>
          </a:prstGeom>
          <a:noFill/>
          <a:ln w="9525">
            <a:solidFill>
              <a:srgbClr val="2D3748"/>
            </a:solidFill>
            <a:prstDash val="solid"/>
            <a:tailEnd type="triangle"/>
          </a:ln>
        </p:spPr>
      </p:sp>
      <p:sp>
        <p:nvSpPr>
          <p:cNvPr id="443" name="Shape 334"/>
          <p:cNvSpPr/>
          <p:nvPr/>
        </p:nvSpPr>
        <p:spPr>
          <a:xfrm>
            <a:off x="7813040" y="1234440"/>
            <a:ext cx="76200" cy="0"/>
          </a:xfrm>
          <a:prstGeom prst="line">
            <a:avLst/>
          </a:prstGeom>
          <a:noFill/>
          <a:ln w="9525">
            <a:solidFill>
              <a:srgbClr val="2D3748"/>
            </a:solidFill>
            <a:prstDash val="solid"/>
            <a:tailEnd type="triangle"/>
          </a:ln>
        </p:spPr>
      </p:sp>
      <p:sp>
        <p:nvSpPr>
          <p:cNvPr id="444" name="Shape 335"/>
          <p:cNvSpPr/>
          <p:nvPr/>
        </p:nvSpPr>
        <p:spPr>
          <a:xfrm>
            <a:off x="6822440" y="1996440"/>
            <a:ext cx="0" cy="106680"/>
          </a:xfrm>
          <a:prstGeom prst="line">
            <a:avLst/>
          </a:prstGeom>
          <a:noFill/>
          <a:ln w="9525">
            <a:solidFill>
              <a:srgbClr val="2D3748"/>
            </a:solidFill>
            <a:prstDash val="sysDash"/>
            <a:tailEnd type="triangle"/>
          </a:ln>
        </p:spPr>
      </p:sp>
      <p:sp>
        <p:nvSpPr>
          <p:cNvPr id="445" name="Shape 336"/>
          <p:cNvSpPr/>
          <p:nvPr/>
        </p:nvSpPr>
        <p:spPr>
          <a:xfrm>
            <a:off x="9032240" y="1996440"/>
            <a:ext cx="0" cy="106680"/>
          </a:xfrm>
          <a:prstGeom prst="line">
            <a:avLst/>
          </a:prstGeom>
          <a:noFill/>
          <a:ln w="9525">
            <a:solidFill>
              <a:srgbClr val="2D3748"/>
            </a:solidFill>
            <a:prstDash val="sysDash"/>
            <a:tailEnd type="triangle"/>
          </a:ln>
        </p:spPr>
      </p:sp>
      <p:sp>
        <p:nvSpPr>
          <p:cNvPr id="446" name="Shape 337"/>
          <p:cNvSpPr/>
          <p:nvPr/>
        </p:nvSpPr>
        <p:spPr>
          <a:xfrm>
            <a:off x="7180580" y="2590800"/>
            <a:ext cx="251460" cy="0"/>
          </a:xfrm>
          <a:prstGeom prst="line">
            <a:avLst/>
          </a:prstGeom>
          <a:noFill/>
          <a:ln w="9525">
            <a:solidFill>
              <a:srgbClr val="2D3748"/>
            </a:solidFill>
            <a:prstDash val="dash"/>
            <a:headEnd type="triangle"/>
            <a:tailEnd type="triangle"/>
          </a:ln>
        </p:spPr>
      </p:sp>
      <p:sp>
        <p:nvSpPr>
          <p:cNvPr id="447" name="Shape 338"/>
          <p:cNvSpPr/>
          <p:nvPr/>
        </p:nvSpPr>
        <p:spPr>
          <a:xfrm>
            <a:off x="10152380" y="1219200"/>
            <a:ext cx="99060" cy="0"/>
          </a:xfrm>
          <a:prstGeom prst="line">
            <a:avLst/>
          </a:prstGeom>
          <a:noFill/>
          <a:ln w="9525">
            <a:solidFill>
              <a:srgbClr val="2D3748"/>
            </a:solidFill>
            <a:prstDash val="sysDash"/>
            <a:headEnd type="triangle"/>
          </a:ln>
        </p:spPr>
      </p:sp>
      <p:sp>
        <p:nvSpPr>
          <p:cNvPr id="448" name="Shape 339"/>
          <p:cNvSpPr/>
          <p:nvPr/>
        </p:nvSpPr>
        <p:spPr>
          <a:xfrm>
            <a:off x="10152380" y="2590800"/>
            <a:ext cx="99060" cy="0"/>
          </a:xfrm>
          <a:prstGeom prst="line">
            <a:avLst/>
          </a:prstGeom>
          <a:noFill/>
          <a:ln w="9525">
            <a:solidFill>
              <a:srgbClr val="2D3748"/>
            </a:solidFill>
            <a:prstDash val="sysDash"/>
            <a:headEnd type="triangle"/>
          </a:ln>
        </p:spPr>
      </p:sp>
      <p:sp>
        <p:nvSpPr>
          <p:cNvPr id="449" name="Shape 340"/>
          <p:cNvSpPr/>
          <p:nvPr/>
        </p:nvSpPr>
        <p:spPr>
          <a:xfrm>
            <a:off x="10030460" y="3810000"/>
            <a:ext cx="220980" cy="0"/>
          </a:xfrm>
          <a:prstGeom prst="line">
            <a:avLst/>
          </a:prstGeom>
          <a:noFill/>
          <a:ln w="9525">
            <a:solidFill>
              <a:srgbClr val="2D3748"/>
            </a:solidFill>
            <a:prstDash val="sysDash"/>
            <a:headEnd type="triangle"/>
          </a:ln>
        </p:spPr>
      </p:sp>
      <p:sp>
        <p:nvSpPr>
          <p:cNvPr id="450" name="Shape 341"/>
          <p:cNvSpPr/>
          <p:nvPr/>
        </p:nvSpPr>
        <p:spPr>
          <a:xfrm>
            <a:off x="1595120" y="3185160"/>
            <a:ext cx="8077200" cy="0"/>
          </a:xfrm>
          <a:prstGeom prst="line">
            <a:avLst/>
          </a:prstGeom>
          <a:noFill/>
          <a:ln w="9525">
            <a:solidFill>
              <a:srgbClr val="2D3748"/>
            </a:solidFill>
            <a:prstDash val="dash"/>
          </a:ln>
        </p:spPr>
      </p:sp>
      <p:sp>
        <p:nvSpPr>
          <p:cNvPr id="451" name="Shape 342"/>
          <p:cNvSpPr/>
          <p:nvPr/>
        </p:nvSpPr>
        <p:spPr>
          <a:xfrm>
            <a:off x="4140200" y="3108960"/>
            <a:ext cx="0" cy="76200"/>
          </a:xfrm>
          <a:prstGeom prst="line">
            <a:avLst/>
          </a:prstGeom>
          <a:noFill/>
          <a:ln w="9525">
            <a:solidFill>
              <a:srgbClr val="2D3748"/>
            </a:solidFill>
            <a:prstDash val="dash"/>
          </a:ln>
        </p:spPr>
      </p:sp>
      <p:sp>
        <p:nvSpPr>
          <p:cNvPr id="452" name="Shape 343"/>
          <p:cNvSpPr/>
          <p:nvPr/>
        </p:nvSpPr>
        <p:spPr>
          <a:xfrm>
            <a:off x="1595120" y="3185160"/>
            <a:ext cx="0" cy="76200"/>
          </a:xfrm>
          <a:prstGeom prst="line">
            <a:avLst/>
          </a:prstGeom>
          <a:noFill/>
          <a:ln w="9525">
            <a:solidFill>
              <a:srgbClr val="2D3748"/>
            </a:solidFill>
            <a:prstDash val="dash"/>
            <a:tailEnd type="triangle"/>
          </a:ln>
        </p:spPr>
      </p:sp>
      <p:sp>
        <p:nvSpPr>
          <p:cNvPr id="453" name="Shape 344"/>
          <p:cNvSpPr/>
          <p:nvPr/>
        </p:nvSpPr>
        <p:spPr>
          <a:xfrm>
            <a:off x="2745740" y="3185160"/>
            <a:ext cx="0" cy="76200"/>
          </a:xfrm>
          <a:prstGeom prst="line">
            <a:avLst/>
          </a:prstGeom>
          <a:noFill/>
          <a:ln w="9525">
            <a:solidFill>
              <a:srgbClr val="2D3748"/>
            </a:solidFill>
            <a:prstDash val="dash"/>
            <a:tailEnd type="triangle"/>
          </a:ln>
        </p:spPr>
      </p:sp>
      <p:sp>
        <p:nvSpPr>
          <p:cNvPr id="454" name="Shape 345"/>
          <p:cNvSpPr/>
          <p:nvPr/>
        </p:nvSpPr>
        <p:spPr>
          <a:xfrm>
            <a:off x="3949700" y="3185160"/>
            <a:ext cx="0" cy="76200"/>
          </a:xfrm>
          <a:prstGeom prst="line">
            <a:avLst/>
          </a:prstGeom>
          <a:noFill/>
          <a:ln w="9525">
            <a:solidFill>
              <a:srgbClr val="2D3748"/>
            </a:solidFill>
            <a:prstDash val="dash"/>
            <a:tailEnd type="triangle"/>
          </a:ln>
        </p:spPr>
      </p:sp>
      <p:sp>
        <p:nvSpPr>
          <p:cNvPr id="455" name="Shape 346"/>
          <p:cNvSpPr/>
          <p:nvPr/>
        </p:nvSpPr>
        <p:spPr>
          <a:xfrm>
            <a:off x="5161280" y="3185160"/>
            <a:ext cx="0" cy="76200"/>
          </a:xfrm>
          <a:prstGeom prst="line">
            <a:avLst/>
          </a:prstGeom>
          <a:noFill/>
          <a:ln w="9525">
            <a:solidFill>
              <a:srgbClr val="2D3748"/>
            </a:solidFill>
            <a:prstDash val="dash"/>
            <a:tailEnd type="triangle"/>
          </a:ln>
        </p:spPr>
      </p:sp>
      <p:sp>
        <p:nvSpPr>
          <p:cNvPr id="456" name="Shape 347"/>
          <p:cNvSpPr/>
          <p:nvPr/>
        </p:nvSpPr>
        <p:spPr>
          <a:xfrm>
            <a:off x="6616700" y="3185160"/>
            <a:ext cx="0" cy="76200"/>
          </a:xfrm>
          <a:prstGeom prst="line">
            <a:avLst/>
          </a:prstGeom>
          <a:noFill/>
          <a:ln w="9525">
            <a:solidFill>
              <a:srgbClr val="2D3748"/>
            </a:solidFill>
            <a:prstDash val="dash"/>
            <a:tailEnd type="triangle"/>
          </a:ln>
        </p:spPr>
      </p:sp>
      <p:sp>
        <p:nvSpPr>
          <p:cNvPr id="457" name="Shape 348"/>
          <p:cNvSpPr/>
          <p:nvPr/>
        </p:nvSpPr>
        <p:spPr>
          <a:xfrm>
            <a:off x="8125460" y="3185160"/>
            <a:ext cx="0" cy="76200"/>
          </a:xfrm>
          <a:prstGeom prst="line">
            <a:avLst/>
          </a:prstGeom>
          <a:noFill/>
          <a:ln w="9525">
            <a:solidFill>
              <a:srgbClr val="2D3748"/>
            </a:solidFill>
            <a:prstDash val="dash"/>
            <a:tailEnd type="triangle"/>
          </a:ln>
        </p:spPr>
      </p:sp>
      <p:sp>
        <p:nvSpPr>
          <p:cNvPr id="458" name="Shape 349"/>
          <p:cNvSpPr/>
          <p:nvPr/>
        </p:nvSpPr>
        <p:spPr>
          <a:xfrm>
            <a:off x="9420860" y="3185160"/>
            <a:ext cx="0" cy="76200"/>
          </a:xfrm>
          <a:prstGeom prst="line">
            <a:avLst/>
          </a:prstGeom>
          <a:noFill/>
          <a:ln w="9525">
            <a:solidFill>
              <a:srgbClr val="2D3748"/>
            </a:solidFill>
            <a:prstDash val="dash"/>
            <a:tailEnd type="triangle"/>
          </a:ln>
        </p:spPr>
      </p:sp>
      <p:sp>
        <p:nvSpPr>
          <p:cNvPr id="459" name="Shape 350"/>
          <p:cNvSpPr/>
          <p:nvPr/>
        </p:nvSpPr>
        <p:spPr>
          <a:xfrm>
            <a:off x="1648460" y="4450080"/>
            <a:ext cx="8077200" cy="0"/>
          </a:xfrm>
          <a:prstGeom prst="line">
            <a:avLst/>
          </a:prstGeom>
          <a:noFill/>
          <a:ln w="9525">
            <a:solidFill>
              <a:srgbClr val="2D3748"/>
            </a:solidFill>
            <a:prstDash val="dash"/>
          </a:ln>
        </p:spPr>
      </p:sp>
      <p:sp>
        <p:nvSpPr>
          <p:cNvPr id="460" name="Shape 351"/>
          <p:cNvSpPr/>
          <p:nvPr/>
        </p:nvSpPr>
        <p:spPr>
          <a:xfrm>
            <a:off x="1648460" y="4450080"/>
            <a:ext cx="0" cy="68580"/>
          </a:xfrm>
          <a:prstGeom prst="line">
            <a:avLst/>
          </a:prstGeom>
          <a:noFill/>
          <a:ln w="9525">
            <a:solidFill>
              <a:srgbClr val="2D3748"/>
            </a:solidFill>
            <a:prstDash val="dash"/>
            <a:tailEnd type="triangle"/>
          </a:ln>
        </p:spPr>
      </p:sp>
      <p:sp>
        <p:nvSpPr>
          <p:cNvPr id="461" name="Shape 352"/>
          <p:cNvSpPr/>
          <p:nvPr/>
        </p:nvSpPr>
        <p:spPr>
          <a:xfrm>
            <a:off x="2776220" y="4450080"/>
            <a:ext cx="0" cy="68580"/>
          </a:xfrm>
          <a:prstGeom prst="line">
            <a:avLst/>
          </a:prstGeom>
          <a:noFill/>
          <a:ln w="9525">
            <a:solidFill>
              <a:srgbClr val="2D3748"/>
            </a:solidFill>
            <a:prstDash val="dash"/>
            <a:tailEnd type="triangle"/>
          </a:ln>
        </p:spPr>
      </p:sp>
      <p:sp>
        <p:nvSpPr>
          <p:cNvPr id="462" name="Shape 353"/>
          <p:cNvSpPr/>
          <p:nvPr/>
        </p:nvSpPr>
        <p:spPr>
          <a:xfrm>
            <a:off x="3926840" y="4450080"/>
            <a:ext cx="0" cy="68580"/>
          </a:xfrm>
          <a:prstGeom prst="line">
            <a:avLst/>
          </a:prstGeom>
          <a:noFill/>
          <a:ln w="9525">
            <a:solidFill>
              <a:srgbClr val="2D3748"/>
            </a:solidFill>
            <a:prstDash val="dash"/>
            <a:tailEnd type="triangle"/>
          </a:ln>
        </p:spPr>
      </p:sp>
      <p:sp>
        <p:nvSpPr>
          <p:cNvPr id="463" name="Shape 354"/>
          <p:cNvSpPr/>
          <p:nvPr/>
        </p:nvSpPr>
        <p:spPr>
          <a:xfrm>
            <a:off x="5123180" y="4450080"/>
            <a:ext cx="0" cy="68580"/>
          </a:xfrm>
          <a:prstGeom prst="line">
            <a:avLst/>
          </a:prstGeom>
          <a:noFill/>
          <a:ln w="9525">
            <a:solidFill>
              <a:srgbClr val="2D3748"/>
            </a:solidFill>
            <a:prstDash val="dash"/>
            <a:tailEnd type="triangle"/>
          </a:ln>
        </p:spPr>
      </p:sp>
      <p:sp>
        <p:nvSpPr>
          <p:cNvPr id="464" name="Shape 355"/>
          <p:cNvSpPr/>
          <p:nvPr/>
        </p:nvSpPr>
        <p:spPr>
          <a:xfrm>
            <a:off x="6273800" y="4450080"/>
            <a:ext cx="0" cy="68580"/>
          </a:xfrm>
          <a:prstGeom prst="line">
            <a:avLst/>
          </a:prstGeom>
          <a:noFill/>
          <a:ln w="9525">
            <a:solidFill>
              <a:srgbClr val="2D3748"/>
            </a:solidFill>
            <a:prstDash val="dash"/>
            <a:tailEnd type="triangle"/>
          </a:ln>
        </p:spPr>
      </p:sp>
      <p:sp>
        <p:nvSpPr>
          <p:cNvPr id="465" name="Shape 356"/>
          <p:cNvSpPr/>
          <p:nvPr/>
        </p:nvSpPr>
        <p:spPr>
          <a:xfrm>
            <a:off x="7454900" y="4450080"/>
            <a:ext cx="0" cy="68580"/>
          </a:xfrm>
          <a:prstGeom prst="line">
            <a:avLst/>
          </a:prstGeom>
          <a:noFill/>
          <a:ln w="9525">
            <a:solidFill>
              <a:srgbClr val="2D3748"/>
            </a:solidFill>
            <a:prstDash val="dash"/>
            <a:tailEnd type="triangle"/>
          </a:ln>
        </p:spPr>
      </p:sp>
      <p:sp>
        <p:nvSpPr>
          <p:cNvPr id="466" name="Shape 357"/>
          <p:cNvSpPr/>
          <p:nvPr/>
        </p:nvSpPr>
        <p:spPr>
          <a:xfrm>
            <a:off x="9626600" y="4450080"/>
            <a:ext cx="0" cy="68580"/>
          </a:xfrm>
          <a:prstGeom prst="line">
            <a:avLst/>
          </a:prstGeom>
          <a:noFill/>
          <a:ln w="9525">
            <a:solidFill>
              <a:srgbClr val="2D3748"/>
            </a:solidFill>
            <a:prstDash val="dash"/>
            <a:tailEnd type="triangle"/>
          </a:ln>
        </p:spPr>
      </p:sp>
      <p:sp>
        <p:nvSpPr>
          <p:cNvPr id="467" name="Shape 358"/>
          <p:cNvSpPr/>
          <p:nvPr/>
        </p:nvSpPr>
        <p:spPr>
          <a:xfrm>
            <a:off x="2075180" y="4366260"/>
            <a:ext cx="0" cy="83820"/>
          </a:xfrm>
          <a:prstGeom prst="line">
            <a:avLst/>
          </a:prstGeom>
          <a:noFill/>
          <a:ln w="9525">
            <a:solidFill>
              <a:srgbClr val="2D3748"/>
            </a:solidFill>
            <a:prstDash val="dash"/>
          </a:ln>
        </p:spPr>
      </p:sp>
      <p:sp>
        <p:nvSpPr>
          <p:cNvPr id="468" name="Shape 359"/>
          <p:cNvSpPr/>
          <p:nvPr/>
        </p:nvSpPr>
        <p:spPr>
          <a:xfrm>
            <a:off x="4505960" y="4366260"/>
            <a:ext cx="0" cy="83820"/>
          </a:xfrm>
          <a:prstGeom prst="line">
            <a:avLst/>
          </a:prstGeom>
          <a:noFill/>
          <a:ln w="9525">
            <a:solidFill>
              <a:srgbClr val="2D3748"/>
            </a:solidFill>
            <a:prstDash val="dash"/>
          </a:ln>
        </p:spPr>
      </p:sp>
      <p:sp>
        <p:nvSpPr>
          <p:cNvPr id="469" name="Shape 360"/>
          <p:cNvSpPr/>
          <p:nvPr/>
        </p:nvSpPr>
        <p:spPr>
          <a:xfrm>
            <a:off x="7599680" y="4366260"/>
            <a:ext cx="0" cy="83820"/>
          </a:xfrm>
          <a:prstGeom prst="line">
            <a:avLst/>
          </a:prstGeom>
          <a:noFill/>
          <a:ln w="9525">
            <a:solidFill>
              <a:srgbClr val="2D3748"/>
            </a:solidFill>
            <a:prstDash val="dash"/>
          </a:ln>
        </p:spPr>
      </p:sp>
      <p:sp>
        <p:nvSpPr>
          <p:cNvPr id="470" name="Shape 361"/>
          <p:cNvSpPr/>
          <p:nvPr/>
        </p:nvSpPr>
        <p:spPr>
          <a:xfrm>
            <a:off x="8818880" y="4366260"/>
            <a:ext cx="0" cy="83820"/>
          </a:xfrm>
          <a:prstGeom prst="line">
            <a:avLst/>
          </a:prstGeom>
          <a:noFill/>
          <a:ln w="9525">
            <a:solidFill>
              <a:srgbClr val="2D3748"/>
            </a:solidFill>
            <a:prstDash val="dash"/>
          </a:ln>
        </p:spPr>
      </p:sp>
      <p:sp>
        <p:nvSpPr>
          <p:cNvPr id="471" name="Shape 362"/>
          <p:cNvSpPr/>
          <p:nvPr/>
        </p:nvSpPr>
        <p:spPr>
          <a:xfrm>
            <a:off x="3835400" y="5554980"/>
            <a:ext cx="0" cy="83820"/>
          </a:xfrm>
          <a:prstGeom prst="line">
            <a:avLst/>
          </a:prstGeom>
          <a:noFill/>
          <a:ln w="9525">
            <a:solidFill>
              <a:srgbClr val="2D3748"/>
            </a:solidFill>
            <a:prstDash val="sysDash"/>
            <a:tailEnd type="triangle"/>
          </a:ln>
        </p:spPr>
      </p:sp>
      <p:sp>
        <p:nvSpPr>
          <p:cNvPr id="472" name="Shape 363"/>
          <p:cNvSpPr/>
          <p:nvPr/>
        </p:nvSpPr>
        <p:spPr>
          <a:xfrm>
            <a:off x="8864600" y="5554980"/>
            <a:ext cx="0" cy="83820"/>
          </a:xfrm>
          <a:prstGeom prst="line">
            <a:avLst/>
          </a:prstGeom>
          <a:noFill/>
          <a:ln w="9525">
            <a:solidFill>
              <a:srgbClr val="2D3748"/>
            </a:solidFill>
            <a:prstDash val="sysDash"/>
            <a:tailEnd type="triangle"/>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58521" y="77062"/>
            <a:ext cx="10274702" cy="308249"/>
          </a:xfrm>
          <a:prstGeom prst="rect">
            <a:avLst/>
          </a:prstGeom>
          <a:noFill/>
          <a:ln/>
        </p:spPr>
        <p:txBody>
          <a:bodyPr wrap="square" lIns="0" tIns="0" rIns="0" bIns="0" rtlCol="0" anchor="ctr"/>
          <a:lstStyle/>
          <a:p>
            <a:pPr algn="ctr"/>
            <a:r>
              <a:rPr lang="en-US" sz="2107" b="1" kern="0" spc="-17" dirty="0">
                <a:solidFill>
                  <a:srgbClr val="1B2A45"/>
                </a:solidFill>
                <a:latin typeface="Arial" pitchFamily="34" charset="0"/>
                <a:ea typeface="Arial" pitchFamily="34" charset="-122"/>
                <a:cs typeface="Arial" pitchFamily="34" charset="-120"/>
              </a:rPr>
              <a:t>Enterprise AI Governance Architecture</a:t>
            </a:r>
            <a:endParaRPr lang="en-US" sz="2107" dirty="0"/>
          </a:p>
        </p:txBody>
      </p:sp>
      <p:sp>
        <p:nvSpPr>
          <p:cNvPr id="3" name="Text 1"/>
          <p:cNvSpPr/>
          <p:nvPr/>
        </p:nvSpPr>
        <p:spPr>
          <a:xfrm>
            <a:off x="958521" y="400724"/>
            <a:ext cx="10274702" cy="184949"/>
          </a:xfrm>
          <a:prstGeom prst="rect">
            <a:avLst/>
          </a:prstGeom>
          <a:noFill/>
          <a:ln/>
        </p:spPr>
        <p:txBody>
          <a:bodyPr wrap="square" lIns="0" tIns="0" rIns="0" bIns="0" rtlCol="0" anchor="ctr"/>
          <a:lstStyle/>
          <a:p>
            <a:pPr algn="ctr"/>
            <a:r>
              <a:rPr lang="en-US" sz="969" b="1" dirty="0">
                <a:solidFill>
                  <a:srgbClr val="3D4C66"/>
                </a:solidFill>
                <a:latin typeface="Arial" pitchFamily="34" charset="0"/>
                <a:ea typeface="Arial" pitchFamily="34" charset="-122"/>
                <a:cs typeface="Arial" pitchFamily="34" charset="-120"/>
              </a:rPr>
              <a:t>Ball Corporation  —  A Unified Platform: AI Gateway + Microsoft Foundry + Microsoft Fabric</a:t>
            </a:r>
            <a:endParaRPr lang="en-US" sz="969" dirty="0"/>
          </a:p>
        </p:txBody>
      </p:sp>
      <p:sp>
        <p:nvSpPr>
          <p:cNvPr id="4" name="Shape 2"/>
          <p:cNvSpPr/>
          <p:nvPr/>
        </p:nvSpPr>
        <p:spPr>
          <a:xfrm>
            <a:off x="2206928" y="708973"/>
            <a:ext cx="7074309" cy="847684"/>
          </a:xfrm>
          <a:prstGeom prst="roundRect">
            <a:avLst>
              <a:gd name="adj" fmla="val 9091"/>
            </a:avLst>
          </a:prstGeom>
          <a:solidFill>
            <a:srgbClr val="FFFFFF"/>
          </a:solidFill>
          <a:ln w="12700">
            <a:solidFill>
              <a:srgbClr val="DCE3EC"/>
            </a:solidFill>
            <a:prstDash val="solid"/>
          </a:ln>
        </p:spPr>
      </p:sp>
      <p:sp>
        <p:nvSpPr>
          <p:cNvPr id="5" name="Text 3"/>
          <p:cNvSpPr/>
          <p:nvPr/>
        </p:nvSpPr>
        <p:spPr>
          <a:xfrm>
            <a:off x="2299402" y="955572"/>
            <a:ext cx="724385" cy="354486"/>
          </a:xfrm>
          <a:prstGeom prst="rect">
            <a:avLst/>
          </a:prstGeom>
          <a:noFill/>
          <a:ln/>
        </p:spPr>
        <p:txBody>
          <a:bodyPr wrap="square" lIns="0" tIns="0" rIns="0" bIns="0" rtlCol="0" anchor="ctr"/>
          <a:lstStyle/>
          <a:p>
            <a:pPr algn="ctr">
              <a:lnSpc>
                <a:spcPct val="105000"/>
              </a:lnSpc>
            </a:pPr>
            <a:r>
              <a:rPr lang="en-US" sz="716" b="1" dirty="0">
                <a:solidFill>
                  <a:srgbClr val="2C3A4F"/>
                </a:solidFill>
                <a:latin typeface="Arial" pitchFamily="34" charset="0"/>
                <a:ea typeface="Arial" pitchFamily="34" charset="-122"/>
                <a:cs typeface="Arial" pitchFamily="34" charset="-120"/>
              </a:rPr>
              <a:t>AI</a:t>
            </a:r>
            <a:endParaRPr lang="en-US" sz="716" dirty="0"/>
          </a:p>
          <a:p>
            <a:pPr algn="ctr">
              <a:lnSpc>
                <a:spcPct val="105000"/>
              </a:lnSpc>
            </a:pPr>
            <a:r>
              <a:rPr lang="en-US" sz="716" b="1" dirty="0">
                <a:solidFill>
                  <a:srgbClr val="2C3A4F"/>
                </a:solidFill>
                <a:latin typeface="Arial" pitchFamily="34" charset="0"/>
                <a:ea typeface="Arial" pitchFamily="34" charset="-122"/>
                <a:cs typeface="Arial" pitchFamily="34" charset="-120"/>
              </a:rPr>
              <a:t>CONSUMERS</a:t>
            </a:r>
            <a:endParaRPr lang="en-US" sz="716" dirty="0"/>
          </a:p>
        </p:txBody>
      </p:sp>
      <p:sp>
        <p:nvSpPr>
          <p:cNvPr id="6" name="Shape 4"/>
          <p:cNvSpPr/>
          <p:nvPr/>
        </p:nvSpPr>
        <p:spPr>
          <a:xfrm>
            <a:off x="3085437" y="816860"/>
            <a:ext cx="0" cy="631910"/>
          </a:xfrm>
          <a:prstGeom prst="line">
            <a:avLst/>
          </a:prstGeom>
          <a:noFill/>
          <a:ln w="12700">
            <a:solidFill>
              <a:srgbClr val="DCE3EC"/>
            </a:solidFill>
            <a:prstDash val="solid"/>
          </a:ln>
        </p:spPr>
      </p:sp>
      <p:pic>
        <p:nvPicPr>
          <p:cNvPr id="7" name="Image 0" descr="/sessions/zealous-intelligent-mayer/mnt/outputs/icons9/c_copilot.png"/>
          <p:cNvPicPr>
            <a:picLocks noChangeAspect="1"/>
          </p:cNvPicPr>
          <p:nvPr/>
        </p:nvPicPr>
        <p:blipFill>
          <a:blip r:embed="rId3"/>
          <a:stretch>
            <a:fillRect/>
          </a:stretch>
        </p:blipFill>
        <p:spPr>
          <a:xfrm>
            <a:off x="3492582" y="878509"/>
            <a:ext cx="231187" cy="231187"/>
          </a:xfrm>
          <a:prstGeom prst="rect">
            <a:avLst/>
          </a:prstGeom>
        </p:spPr>
      </p:pic>
      <p:sp>
        <p:nvSpPr>
          <p:cNvPr id="8" name="Text 5"/>
          <p:cNvSpPr/>
          <p:nvPr/>
        </p:nvSpPr>
        <p:spPr>
          <a:xfrm>
            <a:off x="3123968" y="1155933"/>
            <a:ext cx="968415" cy="115593"/>
          </a:xfrm>
          <a:prstGeom prst="rect">
            <a:avLst/>
          </a:prstGeom>
          <a:noFill/>
          <a:ln/>
        </p:spPr>
        <p:txBody>
          <a:bodyPr wrap="square" lIns="0" tIns="0" rIns="0" bIns="0" rtlCol="0" anchor="ctr"/>
          <a:lstStyle/>
          <a:p>
            <a:pPr algn="ctr"/>
            <a:r>
              <a:rPr lang="en-US" sz="556" b="1" dirty="0">
                <a:solidFill>
                  <a:srgbClr val="2C3A4F"/>
                </a:solidFill>
                <a:latin typeface="Arial" pitchFamily="34" charset="0"/>
                <a:ea typeface="Arial" pitchFamily="34" charset="-122"/>
                <a:cs typeface="Arial" pitchFamily="34" charset="-120"/>
              </a:rPr>
              <a:t>Copilots</a:t>
            </a:r>
            <a:endParaRPr lang="en-US" sz="556" dirty="0"/>
          </a:p>
        </p:txBody>
      </p:sp>
      <p:sp>
        <p:nvSpPr>
          <p:cNvPr id="9" name="Text 6"/>
          <p:cNvSpPr/>
          <p:nvPr/>
        </p:nvSpPr>
        <p:spPr>
          <a:xfrm>
            <a:off x="3123968" y="1271527"/>
            <a:ext cx="968415" cy="184949"/>
          </a:xfrm>
          <a:prstGeom prst="rect">
            <a:avLst/>
          </a:prstGeom>
          <a:noFill/>
          <a:ln/>
        </p:spPr>
        <p:txBody>
          <a:bodyPr wrap="square" lIns="0" tIns="0" rIns="0" bIns="0" rtlCol="0" anchor="ctr"/>
          <a:lstStyle/>
          <a:p>
            <a:pPr algn="ctr"/>
            <a:r>
              <a:rPr lang="en-US" sz="455" dirty="0">
                <a:solidFill>
                  <a:srgbClr val="70809A"/>
                </a:solidFill>
                <a:latin typeface="Arial" pitchFamily="34" charset="0"/>
                <a:ea typeface="Arial" pitchFamily="34" charset="-122"/>
                <a:cs typeface="Arial" pitchFamily="34" charset="-120"/>
              </a:rPr>
              <a:t>(Microsoft 365)</a:t>
            </a:r>
            <a:endParaRPr lang="en-US" sz="455" dirty="0"/>
          </a:p>
        </p:txBody>
      </p:sp>
      <p:sp>
        <p:nvSpPr>
          <p:cNvPr id="10" name="Shape 7"/>
          <p:cNvSpPr/>
          <p:nvPr/>
        </p:nvSpPr>
        <p:spPr>
          <a:xfrm>
            <a:off x="4115502" y="816860"/>
            <a:ext cx="0" cy="631910"/>
          </a:xfrm>
          <a:prstGeom prst="line">
            <a:avLst/>
          </a:prstGeom>
          <a:noFill/>
          <a:ln w="12700">
            <a:solidFill>
              <a:srgbClr val="DCE3EC"/>
            </a:solidFill>
            <a:prstDash val="solid"/>
          </a:ln>
        </p:spPr>
      </p:sp>
      <p:pic>
        <p:nvPicPr>
          <p:cNvPr id="11" name="Image 1" descr="/sessions/zealous-intelligent-mayer/mnt/outputs/icons9/c_teams.png"/>
          <p:cNvPicPr>
            <a:picLocks noChangeAspect="1"/>
          </p:cNvPicPr>
          <p:nvPr/>
        </p:nvPicPr>
        <p:blipFill>
          <a:blip r:embed="rId4"/>
          <a:stretch>
            <a:fillRect/>
          </a:stretch>
        </p:blipFill>
        <p:spPr>
          <a:xfrm>
            <a:off x="4507234" y="878509"/>
            <a:ext cx="231187" cy="231187"/>
          </a:xfrm>
          <a:prstGeom prst="rect">
            <a:avLst/>
          </a:prstGeom>
        </p:spPr>
      </p:pic>
      <p:sp>
        <p:nvSpPr>
          <p:cNvPr id="12" name="Text 8"/>
          <p:cNvSpPr/>
          <p:nvPr/>
        </p:nvSpPr>
        <p:spPr>
          <a:xfrm>
            <a:off x="4138620" y="1155933"/>
            <a:ext cx="968415" cy="115593"/>
          </a:xfrm>
          <a:prstGeom prst="rect">
            <a:avLst/>
          </a:prstGeom>
          <a:noFill/>
          <a:ln/>
        </p:spPr>
        <p:txBody>
          <a:bodyPr wrap="square" lIns="0" tIns="0" rIns="0" bIns="0" rtlCol="0" anchor="ctr"/>
          <a:lstStyle/>
          <a:p>
            <a:pPr algn="ctr"/>
            <a:r>
              <a:rPr lang="en-US" sz="556" b="1" dirty="0">
                <a:solidFill>
                  <a:srgbClr val="2C3A4F"/>
                </a:solidFill>
                <a:latin typeface="Arial" pitchFamily="34" charset="0"/>
                <a:ea typeface="Arial" pitchFamily="34" charset="-122"/>
                <a:cs typeface="Arial" pitchFamily="34" charset="-120"/>
              </a:rPr>
              <a:t>Teams Agents</a:t>
            </a:r>
            <a:endParaRPr lang="en-US" sz="556" dirty="0"/>
          </a:p>
        </p:txBody>
      </p:sp>
      <p:sp>
        <p:nvSpPr>
          <p:cNvPr id="13" name="Text 9"/>
          <p:cNvSpPr/>
          <p:nvPr/>
        </p:nvSpPr>
        <p:spPr>
          <a:xfrm>
            <a:off x="4138620" y="1271527"/>
            <a:ext cx="968415" cy="184949"/>
          </a:xfrm>
          <a:prstGeom prst="rect">
            <a:avLst/>
          </a:prstGeom>
          <a:noFill/>
          <a:ln/>
        </p:spPr>
        <p:txBody>
          <a:bodyPr wrap="square" lIns="0" tIns="0" rIns="0" bIns="0" rtlCol="0" anchor="ctr"/>
          <a:lstStyle/>
          <a:p>
            <a:pPr algn="ctr"/>
            <a:r>
              <a:rPr lang="en-US" sz="455" dirty="0">
                <a:solidFill>
                  <a:srgbClr val="70809A"/>
                </a:solidFill>
                <a:latin typeface="Arial" pitchFamily="34" charset="0"/>
                <a:ea typeface="Arial" pitchFamily="34" charset="-122"/>
                <a:cs typeface="Arial" pitchFamily="34" charset="-120"/>
              </a:rPr>
              <a:t>(Shift handover)</a:t>
            </a:r>
            <a:endParaRPr lang="en-US" sz="455" dirty="0"/>
          </a:p>
        </p:txBody>
      </p:sp>
      <p:sp>
        <p:nvSpPr>
          <p:cNvPr id="14" name="Shape 10"/>
          <p:cNvSpPr/>
          <p:nvPr/>
        </p:nvSpPr>
        <p:spPr>
          <a:xfrm>
            <a:off x="5130154" y="816860"/>
            <a:ext cx="0" cy="631910"/>
          </a:xfrm>
          <a:prstGeom prst="line">
            <a:avLst/>
          </a:prstGeom>
          <a:noFill/>
          <a:ln w="12700">
            <a:solidFill>
              <a:srgbClr val="DCE3EC"/>
            </a:solidFill>
            <a:prstDash val="solid"/>
          </a:ln>
        </p:spPr>
      </p:sp>
      <p:pic>
        <p:nvPicPr>
          <p:cNvPr id="15" name="Image 2" descr="/sessions/zealous-intelligent-mayer/mnt/outputs/icons9/c_agent.png"/>
          <p:cNvPicPr>
            <a:picLocks noChangeAspect="1"/>
          </p:cNvPicPr>
          <p:nvPr/>
        </p:nvPicPr>
        <p:blipFill>
          <a:blip r:embed="rId5"/>
          <a:stretch>
            <a:fillRect/>
          </a:stretch>
        </p:blipFill>
        <p:spPr>
          <a:xfrm>
            <a:off x="5521886" y="878509"/>
            <a:ext cx="231187" cy="231187"/>
          </a:xfrm>
          <a:prstGeom prst="rect">
            <a:avLst/>
          </a:prstGeom>
        </p:spPr>
      </p:pic>
      <p:sp>
        <p:nvSpPr>
          <p:cNvPr id="16" name="Text 11"/>
          <p:cNvSpPr/>
          <p:nvPr/>
        </p:nvSpPr>
        <p:spPr>
          <a:xfrm>
            <a:off x="5153272" y="1155933"/>
            <a:ext cx="968415" cy="115593"/>
          </a:xfrm>
          <a:prstGeom prst="rect">
            <a:avLst/>
          </a:prstGeom>
          <a:noFill/>
          <a:ln/>
        </p:spPr>
        <p:txBody>
          <a:bodyPr wrap="square" lIns="0" tIns="0" rIns="0" bIns="0" rtlCol="0" anchor="ctr"/>
          <a:lstStyle/>
          <a:p>
            <a:pPr algn="ctr"/>
            <a:r>
              <a:rPr lang="en-US" sz="556" b="1" dirty="0">
                <a:solidFill>
                  <a:srgbClr val="2C3A4F"/>
                </a:solidFill>
                <a:latin typeface="Arial" pitchFamily="34" charset="0"/>
                <a:ea typeface="Arial" pitchFamily="34" charset="-122"/>
                <a:cs typeface="Arial" pitchFamily="34" charset="-120"/>
              </a:rPr>
              <a:t>Plant &amp; Quality</a:t>
            </a:r>
            <a:endParaRPr lang="en-US" sz="556" dirty="0"/>
          </a:p>
          <a:p>
            <a:pPr algn="ctr"/>
            <a:r>
              <a:rPr lang="en-US" sz="556" b="1" dirty="0">
                <a:solidFill>
                  <a:srgbClr val="2C3A4F"/>
                </a:solidFill>
                <a:latin typeface="Arial" pitchFamily="34" charset="0"/>
                <a:ea typeface="Arial" pitchFamily="34" charset="-122"/>
                <a:cs typeface="Arial" pitchFamily="34" charset="-120"/>
              </a:rPr>
              <a:t>Agents</a:t>
            </a:r>
            <a:endParaRPr lang="en-US" sz="556" dirty="0"/>
          </a:p>
        </p:txBody>
      </p:sp>
      <p:sp>
        <p:nvSpPr>
          <p:cNvPr id="17" name="Shape 12"/>
          <p:cNvSpPr/>
          <p:nvPr/>
        </p:nvSpPr>
        <p:spPr>
          <a:xfrm>
            <a:off x="6144806" y="816860"/>
            <a:ext cx="0" cy="631910"/>
          </a:xfrm>
          <a:prstGeom prst="line">
            <a:avLst/>
          </a:prstGeom>
          <a:noFill/>
          <a:ln w="12700">
            <a:solidFill>
              <a:srgbClr val="DCE3EC"/>
            </a:solidFill>
            <a:prstDash val="solid"/>
          </a:ln>
        </p:spPr>
      </p:sp>
      <p:pic>
        <p:nvPicPr>
          <p:cNvPr id="18" name="Image 3" descr="/sessions/zealous-intelligent-mayer/mnt/outputs/icons9/c_cs.png"/>
          <p:cNvPicPr>
            <a:picLocks noChangeAspect="1"/>
          </p:cNvPicPr>
          <p:nvPr/>
        </p:nvPicPr>
        <p:blipFill>
          <a:blip r:embed="rId6"/>
          <a:stretch>
            <a:fillRect/>
          </a:stretch>
        </p:blipFill>
        <p:spPr>
          <a:xfrm>
            <a:off x="6536539" y="878509"/>
            <a:ext cx="231187" cy="231187"/>
          </a:xfrm>
          <a:prstGeom prst="rect">
            <a:avLst/>
          </a:prstGeom>
        </p:spPr>
      </p:pic>
      <p:sp>
        <p:nvSpPr>
          <p:cNvPr id="19" name="Text 13"/>
          <p:cNvSpPr/>
          <p:nvPr/>
        </p:nvSpPr>
        <p:spPr>
          <a:xfrm>
            <a:off x="6167925" y="1155933"/>
            <a:ext cx="968415" cy="115593"/>
          </a:xfrm>
          <a:prstGeom prst="rect">
            <a:avLst/>
          </a:prstGeom>
          <a:noFill/>
          <a:ln/>
        </p:spPr>
        <p:txBody>
          <a:bodyPr wrap="square" lIns="0" tIns="0" rIns="0" bIns="0" rtlCol="0" anchor="ctr"/>
          <a:lstStyle/>
          <a:p>
            <a:pPr algn="ctr"/>
            <a:r>
              <a:rPr lang="en-US" sz="556" b="1" dirty="0">
                <a:solidFill>
                  <a:srgbClr val="2C3A4F"/>
                </a:solidFill>
                <a:latin typeface="Arial" pitchFamily="34" charset="0"/>
                <a:ea typeface="Arial" pitchFamily="34" charset="-122"/>
                <a:cs typeface="Arial" pitchFamily="34" charset="-120"/>
              </a:rPr>
              <a:t>Customer Service</a:t>
            </a:r>
            <a:endParaRPr lang="en-US" sz="556" dirty="0"/>
          </a:p>
          <a:p>
            <a:pPr algn="ctr"/>
            <a:r>
              <a:rPr lang="en-US" sz="556" b="1" dirty="0">
                <a:solidFill>
                  <a:srgbClr val="2C3A4F"/>
                </a:solidFill>
                <a:latin typeface="Arial" pitchFamily="34" charset="0"/>
                <a:ea typeface="Arial" pitchFamily="34" charset="-122"/>
                <a:cs typeface="Arial" pitchFamily="34" charset="-120"/>
              </a:rPr>
              <a:t>Agents</a:t>
            </a:r>
            <a:endParaRPr lang="en-US" sz="556" dirty="0"/>
          </a:p>
        </p:txBody>
      </p:sp>
      <p:sp>
        <p:nvSpPr>
          <p:cNvPr id="20" name="Shape 14"/>
          <p:cNvSpPr/>
          <p:nvPr/>
        </p:nvSpPr>
        <p:spPr>
          <a:xfrm>
            <a:off x="7159458" y="816860"/>
            <a:ext cx="0" cy="631910"/>
          </a:xfrm>
          <a:prstGeom prst="line">
            <a:avLst/>
          </a:prstGeom>
          <a:noFill/>
          <a:ln w="12700">
            <a:solidFill>
              <a:srgbClr val="DCE3EC"/>
            </a:solidFill>
            <a:prstDash val="solid"/>
          </a:ln>
        </p:spPr>
      </p:sp>
      <p:pic>
        <p:nvPicPr>
          <p:cNvPr id="21" name="Image 4" descr="/sessions/zealous-intelligent-mayer/mnt/outputs/icons9/c_apps.png"/>
          <p:cNvPicPr>
            <a:picLocks noChangeAspect="1"/>
          </p:cNvPicPr>
          <p:nvPr/>
        </p:nvPicPr>
        <p:blipFill>
          <a:blip r:embed="rId7"/>
          <a:stretch>
            <a:fillRect/>
          </a:stretch>
        </p:blipFill>
        <p:spPr>
          <a:xfrm>
            <a:off x="7551191" y="878509"/>
            <a:ext cx="231187" cy="231187"/>
          </a:xfrm>
          <a:prstGeom prst="rect">
            <a:avLst/>
          </a:prstGeom>
        </p:spPr>
      </p:pic>
      <p:sp>
        <p:nvSpPr>
          <p:cNvPr id="22" name="Text 15"/>
          <p:cNvSpPr/>
          <p:nvPr/>
        </p:nvSpPr>
        <p:spPr>
          <a:xfrm>
            <a:off x="7182577" y="1155933"/>
            <a:ext cx="968415" cy="115593"/>
          </a:xfrm>
          <a:prstGeom prst="rect">
            <a:avLst/>
          </a:prstGeom>
          <a:noFill/>
          <a:ln/>
        </p:spPr>
        <p:txBody>
          <a:bodyPr wrap="square" lIns="0" tIns="0" rIns="0" bIns="0" rtlCol="0" anchor="ctr"/>
          <a:lstStyle/>
          <a:p>
            <a:pPr algn="ctr"/>
            <a:r>
              <a:rPr lang="en-US" sz="556" b="1" dirty="0">
                <a:solidFill>
                  <a:srgbClr val="2C3A4F"/>
                </a:solidFill>
                <a:latin typeface="Arial" pitchFamily="34" charset="0"/>
                <a:ea typeface="Arial" pitchFamily="34" charset="-122"/>
                <a:cs typeface="Arial" pitchFamily="34" charset="-120"/>
              </a:rPr>
              <a:t>Plant Ops Apps</a:t>
            </a:r>
            <a:endParaRPr lang="en-US" sz="556" dirty="0"/>
          </a:p>
        </p:txBody>
      </p:sp>
      <p:sp>
        <p:nvSpPr>
          <p:cNvPr id="23" name="Text 16"/>
          <p:cNvSpPr/>
          <p:nvPr/>
        </p:nvSpPr>
        <p:spPr>
          <a:xfrm>
            <a:off x="7182577" y="1271527"/>
            <a:ext cx="968415" cy="184949"/>
          </a:xfrm>
          <a:prstGeom prst="rect">
            <a:avLst/>
          </a:prstGeom>
          <a:noFill/>
          <a:ln/>
        </p:spPr>
        <p:txBody>
          <a:bodyPr wrap="square" lIns="0" tIns="0" rIns="0" bIns="0" rtlCol="0" anchor="ctr"/>
          <a:lstStyle/>
          <a:p>
            <a:pPr algn="ctr"/>
            <a:r>
              <a:rPr lang="en-US" sz="455" dirty="0">
                <a:solidFill>
                  <a:srgbClr val="70809A"/>
                </a:solidFill>
                <a:latin typeface="Arial" pitchFamily="34" charset="0"/>
                <a:ea typeface="Arial" pitchFamily="34" charset="-122"/>
                <a:cs typeface="Arial" pitchFamily="34" charset="-120"/>
              </a:rPr>
              <a:t>(Web &amp; mobile)</a:t>
            </a:r>
            <a:endParaRPr lang="en-US" sz="455" dirty="0"/>
          </a:p>
        </p:txBody>
      </p:sp>
      <p:sp>
        <p:nvSpPr>
          <p:cNvPr id="24" name="Shape 17"/>
          <p:cNvSpPr/>
          <p:nvPr/>
        </p:nvSpPr>
        <p:spPr>
          <a:xfrm>
            <a:off x="8174110" y="816860"/>
            <a:ext cx="0" cy="631910"/>
          </a:xfrm>
          <a:prstGeom prst="line">
            <a:avLst/>
          </a:prstGeom>
          <a:noFill/>
          <a:ln w="12700">
            <a:solidFill>
              <a:srgbClr val="DCE3EC"/>
            </a:solidFill>
            <a:prstDash val="solid"/>
          </a:ln>
        </p:spPr>
      </p:sp>
      <p:pic>
        <p:nvPicPr>
          <p:cNvPr id="25" name="Image 5" descr="/sessions/zealous-intelligent-mayer/mnt/outputs/icons9/c_api.png"/>
          <p:cNvPicPr>
            <a:picLocks noChangeAspect="1"/>
          </p:cNvPicPr>
          <p:nvPr/>
        </p:nvPicPr>
        <p:blipFill>
          <a:blip r:embed="rId8"/>
          <a:stretch>
            <a:fillRect/>
          </a:stretch>
        </p:blipFill>
        <p:spPr>
          <a:xfrm>
            <a:off x="8565843" y="878509"/>
            <a:ext cx="231187" cy="231187"/>
          </a:xfrm>
          <a:prstGeom prst="rect">
            <a:avLst/>
          </a:prstGeom>
        </p:spPr>
      </p:pic>
      <p:sp>
        <p:nvSpPr>
          <p:cNvPr id="26" name="Text 18"/>
          <p:cNvSpPr/>
          <p:nvPr/>
        </p:nvSpPr>
        <p:spPr>
          <a:xfrm>
            <a:off x="8197229" y="1155933"/>
            <a:ext cx="968415" cy="115593"/>
          </a:xfrm>
          <a:prstGeom prst="rect">
            <a:avLst/>
          </a:prstGeom>
          <a:noFill/>
          <a:ln/>
        </p:spPr>
        <p:txBody>
          <a:bodyPr wrap="square" lIns="0" tIns="0" rIns="0" bIns="0" rtlCol="0" anchor="ctr"/>
          <a:lstStyle/>
          <a:p>
            <a:pPr algn="ctr"/>
            <a:r>
              <a:rPr lang="en-US" sz="556" b="1" dirty="0">
                <a:solidFill>
                  <a:srgbClr val="2C3A4F"/>
                </a:solidFill>
                <a:latin typeface="Arial" pitchFamily="34" charset="0"/>
                <a:ea typeface="Arial" pitchFamily="34" charset="-122"/>
                <a:cs typeface="Arial" pitchFamily="34" charset="-120"/>
              </a:rPr>
              <a:t>Partner APIs</a:t>
            </a:r>
            <a:endParaRPr lang="en-US" sz="556" dirty="0"/>
          </a:p>
        </p:txBody>
      </p:sp>
      <p:sp>
        <p:nvSpPr>
          <p:cNvPr id="27" name="Text 19"/>
          <p:cNvSpPr/>
          <p:nvPr/>
        </p:nvSpPr>
        <p:spPr>
          <a:xfrm>
            <a:off x="8197229" y="1271527"/>
            <a:ext cx="968415" cy="184949"/>
          </a:xfrm>
          <a:prstGeom prst="rect">
            <a:avLst/>
          </a:prstGeom>
          <a:noFill/>
          <a:ln/>
        </p:spPr>
        <p:txBody>
          <a:bodyPr wrap="square" lIns="0" tIns="0" rIns="0" bIns="0" rtlCol="0" anchor="ctr"/>
          <a:lstStyle/>
          <a:p>
            <a:pPr algn="ctr"/>
            <a:r>
              <a:rPr lang="en-US" sz="455" dirty="0">
                <a:solidFill>
                  <a:srgbClr val="70809A"/>
                </a:solidFill>
                <a:latin typeface="Arial" pitchFamily="34" charset="0"/>
                <a:ea typeface="Arial" pitchFamily="34" charset="-122"/>
                <a:cs typeface="Arial" pitchFamily="34" charset="-120"/>
              </a:rPr>
              <a:t>/ SDKs</a:t>
            </a:r>
            <a:endParaRPr lang="en-US" sz="455" dirty="0"/>
          </a:p>
        </p:txBody>
      </p:sp>
      <p:sp>
        <p:nvSpPr>
          <p:cNvPr id="28" name="Shape 20"/>
          <p:cNvSpPr/>
          <p:nvPr/>
        </p:nvSpPr>
        <p:spPr>
          <a:xfrm>
            <a:off x="2206928" y="1679956"/>
            <a:ext cx="7074309" cy="2219391"/>
          </a:xfrm>
          <a:prstGeom prst="roundRect">
            <a:avLst>
              <a:gd name="adj" fmla="val 3472"/>
            </a:avLst>
          </a:prstGeom>
          <a:solidFill>
            <a:srgbClr val="EAF7FB"/>
          </a:solidFill>
          <a:ln w="12700">
            <a:solidFill>
              <a:srgbClr val="BBD8E8"/>
            </a:solidFill>
            <a:prstDash val="solid"/>
          </a:ln>
        </p:spPr>
      </p:sp>
      <p:sp>
        <p:nvSpPr>
          <p:cNvPr id="29" name="Shape 21"/>
          <p:cNvSpPr/>
          <p:nvPr/>
        </p:nvSpPr>
        <p:spPr>
          <a:xfrm>
            <a:off x="5744082" y="1679956"/>
            <a:ext cx="3537155" cy="2219391"/>
          </a:xfrm>
          <a:prstGeom prst="roundRect">
            <a:avLst>
              <a:gd name="adj" fmla="val 3472"/>
            </a:avLst>
          </a:prstGeom>
          <a:solidFill>
            <a:srgbClr val="EFE9FB">
              <a:alpha val="55000"/>
            </a:srgbClr>
          </a:solidFill>
          <a:ln/>
        </p:spPr>
      </p:sp>
      <p:pic>
        <p:nvPicPr>
          <p:cNvPr id="30" name="Image 6" descr="/sessions/zealous-intelligent-mayer/mnt/outputs/icons9/g_hero.png"/>
          <p:cNvPicPr>
            <a:picLocks noChangeAspect="1"/>
          </p:cNvPicPr>
          <p:nvPr/>
        </p:nvPicPr>
        <p:blipFill>
          <a:blip r:embed="rId9"/>
          <a:stretch>
            <a:fillRect/>
          </a:stretch>
        </p:blipFill>
        <p:spPr>
          <a:xfrm>
            <a:off x="2422702" y="1880318"/>
            <a:ext cx="524023" cy="524023"/>
          </a:xfrm>
          <a:prstGeom prst="rect">
            <a:avLst/>
          </a:prstGeom>
        </p:spPr>
      </p:pic>
      <p:sp>
        <p:nvSpPr>
          <p:cNvPr id="31" name="Text 22"/>
          <p:cNvSpPr/>
          <p:nvPr/>
        </p:nvSpPr>
        <p:spPr>
          <a:xfrm>
            <a:off x="3070025" y="1818668"/>
            <a:ext cx="2774239" cy="369899"/>
          </a:xfrm>
          <a:prstGeom prst="rect">
            <a:avLst/>
          </a:prstGeom>
          <a:noFill/>
          <a:ln/>
        </p:spPr>
        <p:txBody>
          <a:bodyPr wrap="square" lIns="0" tIns="0" rIns="0" bIns="0" rtlCol="0" anchor="ctr"/>
          <a:lstStyle/>
          <a:p>
            <a:r>
              <a:rPr lang="en-US" sz="2191" b="1" dirty="0">
                <a:solidFill>
                  <a:srgbClr val="1B2A45"/>
                </a:solidFill>
                <a:latin typeface="Arial" pitchFamily="34" charset="0"/>
                <a:ea typeface="Arial" pitchFamily="34" charset="-122"/>
                <a:cs typeface="Arial" pitchFamily="34" charset="-120"/>
              </a:rPr>
              <a:t>AI Gateway</a:t>
            </a:r>
            <a:endParaRPr lang="en-US" sz="2191" dirty="0"/>
          </a:p>
        </p:txBody>
      </p:sp>
      <p:sp>
        <p:nvSpPr>
          <p:cNvPr id="32" name="Shape 23"/>
          <p:cNvSpPr/>
          <p:nvPr/>
        </p:nvSpPr>
        <p:spPr>
          <a:xfrm>
            <a:off x="5905913" y="1926555"/>
            <a:ext cx="1001809" cy="200362"/>
          </a:xfrm>
          <a:prstGeom prst="roundRect">
            <a:avLst>
              <a:gd name="adj" fmla="val 19231"/>
            </a:avLst>
          </a:prstGeom>
          <a:solidFill>
            <a:srgbClr val="E03E3E"/>
          </a:solidFill>
          <a:ln/>
        </p:spPr>
      </p:sp>
      <p:sp>
        <p:nvSpPr>
          <p:cNvPr id="33" name="Text 24"/>
          <p:cNvSpPr/>
          <p:nvPr/>
        </p:nvSpPr>
        <p:spPr>
          <a:xfrm>
            <a:off x="5905913" y="1926555"/>
            <a:ext cx="1001809" cy="200362"/>
          </a:xfrm>
          <a:prstGeom prst="rect">
            <a:avLst/>
          </a:prstGeom>
          <a:noFill/>
          <a:ln/>
        </p:spPr>
        <p:txBody>
          <a:bodyPr wrap="square" lIns="0" tIns="0" rIns="0" bIns="0" rtlCol="0" anchor="ctr"/>
          <a:lstStyle/>
          <a:p>
            <a:pPr algn="ctr"/>
            <a:r>
              <a:rPr lang="en-US" sz="590" b="1" dirty="0">
                <a:solidFill>
                  <a:srgbClr val="FFFFFF"/>
                </a:solidFill>
                <a:latin typeface="Arial" pitchFamily="34" charset="0"/>
                <a:ea typeface="Arial" pitchFamily="34" charset="-122"/>
                <a:cs typeface="Arial" pitchFamily="34" charset="-120"/>
              </a:rPr>
              <a:t>PUBLIC PREVIEW</a:t>
            </a:r>
            <a:endParaRPr lang="en-US" sz="590" dirty="0"/>
          </a:p>
        </p:txBody>
      </p:sp>
      <p:sp>
        <p:nvSpPr>
          <p:cNvPr id="34" name="Text 25"/>
          <p:cNvSpPr/>
          <p:nvPr/>
        </p:nvSpPr>
        <p:spPr>
          <a:xfrm>
            <a:off x="3100850" y="2203979"/>
            <a:ext cx="3776047" cy="138712"/>
          </a:xfrm>
          <a:prstGeom prst="rect">
            <a:avLst/>
          </a:prstGeom>
          <a:noFill/>
          <a:ln/>
        </p:spPr>
        <p:txBody>
          <a:bodyPr wrap="square" lIns="0" tIns="0" rIns="0" bIns="0" rtlCol="0" anchor="ctr"/>
          <a:lstStyle/>
          <a:p>
            <a:r>
              <a:rPr lang="en-US" sz="716" b="1" kern="0" spc="34" dirty="0">
                <a:solidFill>
                  <a:srgbClr val="44536E"/>
                </a:solidFill>
                <a:latin typeface="Arial" pitchFamily="34" charset="0"/>
                <a:ea typeface="Arial" pitchFamily="34" charset="-122"/>
                <a:cs typeface="Arial" pitchFamily="34" charset="-120"/>
              </a:rPr>
              <a:t>ENTERPRISE AI CONTROL PLANE  ·  Azure API Management</a:t>
            </a:r>
            <a:endParaRPr lang="en-US" sz="716" dirty="0"/>
          </a:p>
        </p:txBody>
      </p:sp>
      <p:pic>
        <p:nvPicPr>
          <p:cNvPr id="35" name="Image 7" descr="/sessions/zealous-intelligent-mayer/mnt/outputs/icons9/g_sec.png"/>
          <p:cNvPicPr>
            <a:picLocks noChangeAspect="1"/>
          </p:cNvPicPr>
          <p:nvPr/>
        </p:nvPicPr>
        <p:blipFill>
          <a:blip r:embed="rId10"/>
          <a:stretch>
            <a:fillRect/>
          </a:stretch>
        </p:blipFill>
        <p:spPr>
          <a:xfrm>
            <a:off x="2723245" y="2512228"/>
            <a:ext cx="215774" cy="215774"/>
          </a:xfrm>
          <a:prstGeom prst="rect">
            <a:avLst/>
          </a:prstGeom>
        </p:spPr>
      </p:pic>
      <p:sp>
        <p:nvSpPr>
          <p:cNvPr id="36" name="Text 26"/>
          <p:cNvSpPr/>
          <p:nvPr/>
        </p:nvSpPr>
        <p:spPr>
          <a:xfrm>
            <a:off x="2368759" y="2774240"/>
            <a:ext cx="924746" cy="115593"/>
          </a:xfrm>
          <a:prstGeom prst="rect">
            <a:avLst/>
          </a:prstGeom>
          <a:noFill/>
          <a:ln/>
        </p:spPr>
        <p:txBody>
          <a:bodyPr wrap="square" lIns="0" tIns="0" rIns="0" bIns="0" rtlCol="0" anchor="ctr"/>
          <a:lstStyle/>
          <a:p>
            <a:pPr algn="ctr"/>
            <a:r>
              <a:rPr lang="en-US" sz="624" b="1" dirty="0">
                <a:solidFill>
                  <a:srgbClr val="2C3A4F"/>
                </a:solidFill>
                <a:latin typeface="Arial" pitchFamily="34" charset="0"/>
                <a:ea typeface="Arial" pitchFamily="34" charset="-122"/>
                <a:cs typeface="Arial" pitchFamily="34" charset="-120"/>
              </a:rPr>
              <a:t>Security</a:t>
            </a:r>
            <a:endParaRPr lang="en-US" sz="624" dirty="0"/>
          </a:p>
        </p:txBody>
      </p:sp>
      <p:sp>
        <p:nvSpPr>
          <p:cNvPr id="37" name="Text 27"/>
          <p:cNvSpPr/>
          <p:nvPr/>
        </p:nvSpPr>
        <p:spPr>
          <a:xfrm>
            <a:off x="2368759" y="2889833"/>
            <a:ext cx="924746" cy="184949"/>
          </a:xfrm>
          <a:prstGeom prst="rect">
            <a:avLst/>
          </a:prstGeom>
          <a:noFill/>
          <a:ln/>
        </p:spPr>
        <p:txBody>
          <a:bodyPr wrap="square" lIns="0" tIns="0" rIns="0" bIns="0" rtlCol="0" anchor="ctr"/>
          <a:lstStyle/>
          <a:p>
            <a:pPr algn="ctr"/>
            <a:r>
              <a:rPr lang="en-US" sz="472" dirty="0">
                <a:solidFill>
                  <a:srgbClr val="70809A"/>
                </a:solidFill>
                <a:latin typeface="Arial" pitchFamily="34" charset="0"/>
                <a:ea typeface="Arial" pitchFamily="34" charset="-122"/>
                <a:cs typeface="Arial" pitchFamily="34" charset="-120"/>
              </a:rPr>
              <a:t>Authentication</a:t>
            </a:r>
            <a:endParaRPr lang="en-US" sz="472" dirty="0"/>
          </a:p>
          <a:p>
            <a:pPr algn="ctr"/>
            <a:r>
              <a:rPr lang="en-US" sz="472" dirty="0">
                <a:solidFill>
                  <a:srgbClr val="70809A"/>
                </a:solidFill>
                <a:latin typeface="Arial" pitchFamily="34" charset="0"/>
                <a:ea typeface="Arial" pitchFamily="34" charset="-122"/>
                <a:cs typeface="Arial" pitchFamily="34" charset="-120"/>
              </a:rPr>
              <a:t>&amp; Authorization</a:t>
            </a:r>
            <a:endParaRPr lang="en-US" sz="472" dirty="0"/>
          </a:p>
        </p:txBody>
      </p:sp>
      <p:sp>
        <p:nvSpPr>
          <p:cNvPr id="38" name="Shape 28"/>
          <p:cNvSpPr/>
          <p:nvPr/>
        </p:nvSpPr>
        <p:spPr>
          <a:xfrm>
            <a:off x="3316624" y="2465991"/>
            <a:ext cx="0" cy="1017221"/>
          </a:xfrm>
          <a:prstGeom prst="line">
            <a:avLst/>
          </a:prstGeom>
          <a:noFill/>
          <a:ln w="12700">
            <a:solidFill>
              <a:srgbClr val="DCE3EC"/>
            </a:solidFill>
            <a:prstDash val="solid"/>
          </a:ln>
        </p:spPr>
      </p:sp>
      <p:pic>
        <p:nvPicPr>
          <p:cNvPr id="39" name="Image 8" descr="/sessions/zealous-intelligent-mayer/mnt/outputs/icons9/g_gov.png"/>
          <p:cNvPicPr>
            <a:picLocks noChangeAspect="1"/>
          </p:cNvPicPr>
          <p:nvPr/>
        </p:nvPicPr>
        <p:blipFill>
          <a:blip r:embed="rId11"/>
          <a:stretch>
            <a:fillRect/>
          </a:stretch>
        </p:blipFill>
        <p:spPr>
          <a:xfrm>
            <a:off x="3694228" y="2512228"/>
            <a:ext cx="215774" cy="215774"/>
          </a:xfrm>
          <a:prstGeom prst="rect">
            <a:avLst/>
          </a:prstGeom>
        </p:spPr>
      </p:pic>
      <p:sp>
        <p:nvSpPr>
          <p:cNvPr id="40" name="Text 29"/>
          <p:cNvSpPr/>
          <p:nvPr/>
        </p:nvSpPr>
        <p:spPr>
          <a:xfrm>
            <a:off x="3339742" y="2774240"/>
            <a:ext cx="924746" cy="115593"/>
          </a:xfrm>
          <a:prstGeom prst="rect">
            <a:avLst/>
          </a:prstGeom>
          <a:noFill/>
          <a:ln/>
        </p:spPr>
        <p:txBody>
          <a:bodyPr wrap="square" lIns="0" tIns="0" rIns="0" bIns="0" rtlCol="0" anchor="ctr"/>
          <a:lstStyle/>
          <a:p>
            <a:pPr algn="ctr"/>
            <a:r>
              <a:rPr lang="en-US" sz="624" b="1" dirty="0">
                <a:solidFill>
                  <a:srgbClr val="2C3A4F"/>
                </a:solidFill>
                <a:latin typeface="Arial" pitchFamily="34" charset="0"/>
                <a:ea typeface="Arial" pitchFamily="34" charset="-122"/>
                <a:cs typeface="Arial" pitchFamily="34" charset="-120"/>
              </a:rPr>
              <a:t>Governance</a:t>
            </a:r>
            <a:endParaRPr lang="en-US" sz="624" dirty="0"/>
          </a:p>
        </p:txBody>
      </p:sp>
      <p:sp>
        <p:nvSpPr>
          <p:cNvPr id="41" name="Text 30"/>
          <p:cNvSpPr/>
          <p:nvPr/>
        </p:nvSpPr>
        <p:spPr>
          <a:xfrm>
            <a:off x="3339742" y="2889833"/>
            <a:ext cx="924746" cy="184949"/>
          </a:xfrm>
          <a:prstGeom prst="rect">
            <a:avLst/>
          </a:prstGeom>
          <a:noFill/>
          <a:ln/>
        </p:spPr>
        <p:txBody>
          <a:bodyPr wrap="square" lIns="0" tIns="0" rIns="0" bIns="0" rtlCol="0" anchor="ctr"/>
          <a:lstStyle/>
          <a:p>
            <a:pPr algn="ctr"/>
            <a:r>
              <a:rPr lang="en-US" sz="472" dirty="0">
                <a:solidFill>
                  <a:srgbClr val="70809A"/>
                </a:solidFill>
                <a:latin typeface="Arial" pitchFamily="34" charset="0"/>
                <a:ea typeface="Arial" pitchFamily="34" charset="-122"/>
                <a:cs typeface="Arial" pitchFamily="34" charset="-120"/>
              </a:rPr>
              <a:t>Policy Enforcement</a:t>
            </a:r>
            <a:endParaRPr lang="en-US" sz="472" dirty="0"/>
          </a:p>
          <a:p>
            <a:pPr algn="ctr"/>
            <a:r>
              <a:rPr lang="en-US" sz="472" dirty="0">
                <a:solidFill>
                  <a:srgbClr val="70809A"/>
                </a:solidFill>
                <a:latin typeface="Arial" pitchFamily="34" charset="0"/>
                <a:ea typeface="Arial" pitchFamily="34" charset="-122"/>
                <a:cs typeface="Arial" pitchFamily="34" charset="-120"/>
              </a:rPr>
              <a:t>&amp; Compliance</a:t>
            </a:r>
            <a:endParaRPr lang="en-US" sz="472" dirty="0"/>
          </a:p>
        </p:txBody>
      </p:sp>
      <p:sp>
        <p:nvSpPr>
          <p:cNvPr id="42" name="Shape 31"/>
          <p:cNvSpPr/>
          <p:nvPr/>
        </p:nvSpPr>
        <p:spPr>
          <a:xfrm>
            <a:off x="4287607" y="2465991"/>
            <a:ext cx="0" cy="1017221"/>
          </a:xfrm>
          <a:prstGeom prst="line">
            <a:avLst/>
          </a:prstGeom>
          <a:noFill/>
          <a:ln w="12700">
            <a:solidFill>
              <a:srgbClr val="DCE3EC"/>
            </a:solidFill>
            <a:prstDash val="solid"/>
          </a:ln>
        </p:spPr>
      </p:sp>
      <p:pic>
        <p:nvPicPr>
          <p:cNvPr id="43" name="Image 9" descr="/sessions/zealous-intelligent-mayer/mnt/outputs/icons9/g_obs.png"/>
          <p:cNvPicPr>
            <a:picLocks noChangeAspect="1"/>
          </p:cNvPicPr>
          <p:nvPr/>
        </p:nvPicPr>
        <p:blipFill>
          <a:blip r:embed="rId12"/>
          <a:stretch>
            <a:fillRect/>
          </a:stretch>
        </p:blipFill>
        <p:spPr>
          <a:xfrm>
            <a:off x="4665212" y="2512228"/>
            <a:ext cx="215774" cy="215774"/>
          </a:xfrm>
          <a:prstGeom prst="rect">
            <a:avLst/>
          </a:prstGeom>
        </p:spPr>
      </p:pic>
      <p:sp>
        <p:nvSpPr>
          <p:cNvPr id="44" name="Text 32"/>
          <p:cNvSpPr/>
          <p:nvPr/>
        </p:nvSpPr>
        <p:spPr>
          <a:xfrm>
            <a:off x="4310726" y="2774240"/>
            <a:ext cx="924746" cy="115593"/>
          </a:xfrm>
          <a:prstGeom prst="rect">
            <a:avLst/>
          </a:prstGeom>
          <a:noFill/>
          <a:ln/>
        </p:spPr>
        <p:txBody>
          <a:bodyPr wrap="square" lIns="0" tIns="0" rIns="0" bIns="0" rtlCol="0" anchor="ctr"/>
          <a:lstStyle/>
          <a:p>
            <a:pPr algn="ctr"/>
            <a:r>
              <a:rPr lang="en-US" sz="624" b="1" dirty="0">
                <a:solidFill>
                  <a:srgbClr val="2C3A4F"/>
                </a:solidFill>
                <a:latin typeface="Arial" pitchFamily="34" charset="0"/>
                <a:ea typeface="Arial" pitchFamily="34" charset="-122"/>
                <a:cs typeface="Arial" pitchFamily="34" charset="-120"/>
              </a:rPr>
              <a:t>Observability</a:t>
            </a:r>
            <a:endParaRPr lang="en-US" sz="624" dirty="0"/>
          </a:p>
        </p:txBody>
      </p:sp>
      <p:sp>
        <p:nvSpPr>
          <p:cNvPr id="45" name="Text 33"/>
          <p:cNvSpPr/>
          <p:nvPr/>
        </p:nvSpPr>
        <p:spPr>
          <a:xfrm>
            <a:off x="4310726" y="2889833"/>
            <a:ext cx="924746" cy="184949"/>
          </a:xfrm>
          <a:prstGeom prst="rect">
            <a:avLst/>
          </a:prstGeom>
          <a:noFill/>
          <a:ln/>
        </p:spPr>
        <p:txBody>
          <a:bodyPr wrap="square" lIns="0" tIns="0" rIns="0" bIns="0" rtlCol="0" anchor="ctr"/>
          <a:lstStyle/>
          <a:p>
            <a:pPr algn="ctr"/>
            <a:r>
              <a:rPr lang="en-US" sz="472" dirty="0">
                <a:solidFill>
                  <a:srgbClr val="70809A"/>
                </a:solidFill>
                <a:latin typeface="Arial" pitchFamily="34" charset="0"/>
                <a:ea typeface="Arial" pitchFamily="34" charset="-122"/>
                <a:cs typeface="Arial" pitchFamily="34" charset="-120"/>
              </a:rPr>
              <a:t>Monitoring, Tracing</a:t>
            </a:r>
            <a:endParaRPr lang="en-US" sz="472" dirty="0"/>
          </a:p>
          <a:p>
            <a:pPr algn="ctr"/>
            <a:r>
              <a:rPr lang="en-US" sz="472" dirty="0">
                <a:solidFill>
                  <a:srgbClr val="70809A"/>
                </a:solidFill>
                <a:latin typeface="Arial" pitchFamily="34" charset="0"/>
                <a:ea typeface="Arial" pitchFamily="34" charset="-122"/>
                <a:cs typeface="Arial" pitchFamily="34" charset="-120"/>
              </a:rPr>
              <a:t>&amp; Audit Logs</a:t>
            </a:r>
            <a:endParaRPr lang="en-US" sz="472" dirty="0"/>
          </a:p>
        </p:txBody>
      </p:sp>
      <p:sp>
        <p:nvSpPr>
          <p:cNvPr id="46" name="Shape 34"/>
          <p:cNvSpPr/>
          <p:nvPr/>
        </p:nvSpPr>
        <p:spPr>
          <a:xfrm>
            <a:off x="5258591" y="2465991"/>
            <a:ext cx="0" cy="1017221"/>
          </a:xfrm>
          <a:prstGeom prst="line">
            <a:avLst/>
          </a:prstGeom>
          <a:noFill/>
          <a:ln w="12700">
            <a:solidFill>
              <a:srgbClr val="DCE3EC"/>
            </a:solidFill>
            <a:prstDash val="solid"/>
          </a:ln>
        </p:spPr>
      </p:sp>
      <p:pic>
        <p:nvPicPr>
          <p:cNvPr id="47" name="Image 10" descr="/sessions/zealous-intelligent-mayer/mnt/outputs/icons9/g_cost.png"/>
          <p:cNvPicPr>
            <a:picLocks noChangeAspect="1"/>
          </p:cNvPicPr>
          <p:nvPr/>
        </p:nvPicPr>
        <p:blipFill>
          <a:blip r:embed="rId13"/>
          <a:stretch>
            <a:fillRect/>
          </a:stretch>
        </p:blipFill>
        <p:spPr>
          <a:xfrm>
            <a:off x="5636196" y="2512228"/>
            <a:ext cx="215774" cy="215774"/>
          </a:xfrm>
          <a:prstGeom prst="rect">
            <a:avLst/>
          </a:prstGeom>
        </p:spPr>
      </p:pic>
      <p:sp>
        <p:nvSpPr>
          <p:cNvPr id="48" name="Text 35"/>
          <p:cNvSpPr/>
          <p:nvPr/>
        </p:nvSpPr>
        <p:spPr>
          <a:xfrm>
            <a:off x="5281710" y="2774240"/>
            <a:ext cx="924746" cy="115593"/>
          </a:xfrm>
          <a:prstGeom prst="rect">
            <a:avLst/>
          </a:prstGeom>
          <a:noFill/>
          <a:ln/>
        </p:spPr>
        <p:txBody>
          <a:bodyPr wrap="square" lIns="0" tIns="0" rIns="0" bIns="0" rtlCol="0" anchor="ctr"/>
          <a:lstStyle/>
          <a:p>
            <a:pPr algn="ctr"/>
            <a:r>
              <a:rPr lang="en-US" sz="624" b="1" dirty="0">
                <a:solidFill>
                  <a:srgbClr val="2C3A4F"/>
                </a:solidFill>
                <a:latin typeface="Arial" pitchFamily="34" charset="0"/>
                <a:ea typeface="Arial" pitchFamily="34" charset="-122"/>
                <a:cs typeface="Arial" pitchFamily="34" charset="-120"/>
              </a:rPr>
              <a:t>Cost Control</a:t>
            </a:r>
            <a:endParaRPr lang="en-US" sz="624" dirty="0"/>
          </a:p>
        </p:txBody>
      </p:sp>
      <p:sp>
        <p:nvSpPr>
          <p:cNvPr id="49" name="Text 36"/>
          <p:cNvSpPr/>
          <p:nvPr/>
        </p:nvSpPr>
        <p:spPr>
          <a:xfrm>
            <a:off x="5281710" y="2889833"/>
            <a:ext cx="924746" cy="184949"/>
          </a:xfrm>
          <a:prstGeom prst="rect">
            <a:avLst/>
          </a:prstGeom>
          <a:noFill/>
          <a:ln/>
        </p:spPr>
        <p:txBody>
          <a:bodyPr wrap="square" lIns="0" tIns="0" rIns="0" bIns="0" rtlCol="0" anchor="ctr"/>
          <a:lstStyle/>
          <a:p>
            <a:pPr algn="ctr"/>
            <a:r>
              <a:rPr lang="en-US" sz="472" dirty="0">
                <a:solidFill>
                  <a:srgbClr val="70809A"/>
                </a:solidFill>
                <a:latin typeface="Arial" pitchFamily="34" charset="0"/>
                <a:ea typeface="Arial" pitchFamily="34" charset="-122"/>
                <a:cs typeface="Arial" pitchFamily="34" charset="-120"/>
              </a:rPr>
              <a:t>Token Quotas, Rate</a:t>
            </a:r>
            <a:endParaRPr lang="en-US" sz="472" dirty="0"/>
          </a:p>
          <a:p>
            <a:pPr algn="ctr"/>
            <a:r>
              <a:rPr lang="en-US" sz="472" dirty="0">
                <a:solidFill>
                  <a:srgbClr val="70809A"/>
                </a:solidFill>
                <a:latin typeface="Arial" pitchFamily="34" charset="0"/>
                <a:ea typeface="Arial" pitchFamily="34" charset="-122"/>
                <a:cs typeface="Arial" pitchFamily="34" charset="-120"/>
              </a:rPr>
              <a:t>Limits &amp; Cost Visibility</a:t>
            </a:r>
            <a:endParaRPr lang="en-US" sz="472" dirty="0"/>
          </a:p>
        </p:txBody>
      </p:sp>
      <p:sp>
        <p:nvSpPr>
          <p:cNvPr id="50" name="Shape 37"/>
          <p:cNvSpPr/>
          <p:nvPr/>
        </p:nvSpPr>
        <p:spPr>
          <a:xfrm>
            <a:off x="6229574" y="2465991"/>
            <a:ext cx="0" cy="1017221"/>
          </a:xfrm>
          <a:prstGeom prst="line">
            <a:avLst/>
          </a:prstGeom>
          <a:noFill/>
          <a:ln w="12700">
            <a:solidFill>
              <a:srgbClr val="DCE3EC"/>
            </a:solidFill>
            <a:prstDash val="solid"/>
          </a:ln>
        </p:spPr>
      </p:sp>
      <p:pic>
        <p:nvPicPr>
          <p:cNvPr id="51" name="Image 11" descr="/sessions/zealous-intelligent-mayer/mnt/outputs/icons9/g_safe.png"/>
          <p:cNvPicPr>
            <a:picLocks noChangeAspect="1"/>
          </p:cNvPicPr>
          <p:nvPr/>
        </p:nvPicPr>
        <p:blipFill>
          <a:blip r:embed="rId14"/>
          <a:stretch>
            <a:fillRect/>
          </a:stretch>
        </p:blipFill>
        <p:spPr>
          <a:xfrm>
            <a:off x="6607179" y="2512228"/>
            <a:ext cx="215774" cy="215774"/>
          </a:xfrm>
          <a:prstGeom prst="rect">
            <a:avLst/>
          </a:prstGeom>
        </p:spPr>
      </p:pic>
      <p:sp>
        <p:nvSpPr>
          <p:cNvPr id="52" name="Text 38"/>
          <p:cNvSpPr/>
          <p:nvPr/>
        </p:nvSpPr>
        <p:spPr>
          <a:xfrm>
            <a:off x="6252693" y="2774240"/>
            <a:ext cx="924746" cy="115593"/>
          </a:xfrm>
          <a:prstGeom prst="rect">
            <a:avLst/>
          </a:prstGeom>
          <a:noFill/>
          <a:ln/>
        </p:spPr>
        <p:txBody>
          <a:bodyPr wrap="square" lIns="0" tIns="0" rIns="0" bIns="0" rtlCol="0" anchor="ctr"/>
          <a:lstStyle/>
          <a:p>
            <a:pPr algn="ctr"/>
            <a:r>
              <a:rPr lang="en-US" sz="624" b="1" dirty="0">
                <a:solidFill>
                  <a:srgbClr val="2C3A4F"/>
                </a:solidFill>
                <a:latin typeface="Arial" pitchFamily="34" charset="0"/>
                <a:ea typeface="Arial" pitchFamily="34" charset="-122"/>
                <a:cs typeface="Arial" pitchFamily="34" charset="-120"/>
              </a:rPr>
              <a:t>Content Safety</a:t>
            </a:r>
            <a:endParaRPr lang="en-US" sz="624" dirty="0"/>
          </a:p>
        </p:txBody>
      </p:sp>
      <p:sp>
        <p:nvSpPr>
          <p:cNvPr id="53" name="Text 39"/>
          <p:cNvSpPr/>
          <p:nvPr/>
        </p:nvSpPr>
        <p:spPr>
          <a:xfrm>
            <a:off x="6252693" y="2889833"/>
            <a:ext cx="924746" cy="184949"/>
          </a:xfrm>
          <a:prstGeom prst="rect">
            <a:avLst/>
          </a:prstGeom>
          <a:noFill/>
          <a:ln/>
        </p:spPr>
        <p:txBody>
          <a:bodyPr wrap="square" lIns="0" tIns="0" rIns="0" bIns="0" rtlCol="0" anchor="ctr"/>
          <a:lstStyle/>
          <a:p>
            <a:pPr algn="ctr"/>
            <a:r>
              <a:rPr lang="en-US" sz="472" dirty="0">
                <a:solidFill>
                  <a:srgbClr val="70809A"/>
                </a:solidFill>
                <a:latin typeface="Arial" pitchFamily="34" charset="0"/>
                <a:ea typeface="Arial" pitchFamily="34" charset="-122"/>
                <a:cs typeface="Arial" pitchFamily="34" charset="-120"/>
              </a:rPr>
              <a:t>Filtering &amp;</a:t>
            </a:r>
            <a:endParaRPr lang="en-US" sz="472" dirty="0"/>
          </a:p>
          <a:p>
            <a:pPr algn="ctr"/>
            <a:r>
              <a:rPr lang="en-US" sz="472" dirty="0">
                <a:solidFill>
                  <a:srgbClr val="70809A"/>
                </a:solidFill>
                <a:latin typeface="Arial" pitchFamily="34" charset="0"/>
                <a:ea typeface="Arial" pitchFamily="34" charset="-122"/>
                <a:cs typeface="Arial" pitchFamily="34" charset="-120"/>
              </a:rPr>
              <a:t>Risk Controls</a:t>
            </a:r>
            <a:endParaRPr lang="en-US" sz="472" dirty="0"/>
          </a:p>
        </p:txBody>
      </p:sp>
      <p:sp>
        <p:nvSpPr>
          <p:cNvPr id="54" name="Shape 40"/>
          <p:cNvSpPr/>
          <p:nvPr/>
        </p:nvSpPr>
        <p:spPr>
          <a:xfrm>
            <a:off x="7200558" y="2465991"/>
            <a:ext cx="0" cy="1017221"/>
          </a:xfrm>
          <a:prstGeom prst="line">
            <a:avLst/>
          </a:prstGeom>
          <a:noFill/>
          <a:ln w="12700">
            <a:solidFill>
              <a:srgbClr val="DCE3EC"/>
            </a:solidFill>
            <a:prstDash val="solid"/>
          </a:ln>
        </p:spPr>
      </p:sp>
      <p:pic>
        <p:nvPicPr>
          <p:cNvPr id="55" name="Image 12" descr="/sessions/zealous-intelligent-mayer/mnt/outputs/icons9/g_mcp.png"/>
          <p:cNvPicPr>
            <a:picLocks noChangeAspect="1"/>
          </p:cNvPicPr>
          <p:nvPr/>
        </p:nvPicPr>
        <p:blipFill>
          <a:blip r:embed="rId15"/>
          <a:stretch>
            <a:fillRect/>
          </a:stretch>
        </p:blipFill>
        <p:spPr>
          <a:xfrm>
            <a:off x="7578163" y="2512228"/>
            <a:ext cx="215774" cy="215774"/>
          </a:xfrm>
          <a:prstGeom prst="rect">
            <a:avLst/>
          </a:prstGeom>
        </p:spPr>
      </p:pic>
      <p:sp>
        <p:nvSpPr>
          <p:cNvPr id="56" name="Text 41"/>
          <p:cNvSpPr/>
          <p:nvPr/>
        </p:nvSpPr>
        <p:spPr>
          <a:xfrm>
            <a:off x="7223677" y="2774240"/>
            <a:ext cx="924746" cy="115593"/>
          </a:xfrm>
          <a:prstGeom prst="rect">
            <a:avLst/>
          </a:prstGeom>
          <a:noFill/>
          <a:ln/>
        </p:spPr>
        <p:txBody>
          <a:bodyPr wrap="square" lIns="0" tIns="0" rIns="0" bIns="0" rtlCol="0" anchor="ctr"/>
          <a:lstStyle/>
          <a:p>
            <a:pPr algn="ctr"/>
            <a:r>
              <a:rPr lang="en-US" sz="624" b="1" dirty="0">
                <a:solidFill>
                  <a:srgbClr val="2C3A4F"/>
                </a:solidFill>
                <a:latin typeface="Arial" pitchFamily="34" charset="0"/>
                <a:ea typeface="Arial" pitchFamily="34" charset="-122"/>
                <a:cs typeface="Arial" pitchFamily="34" charset="-120"/>
              </a:rPr>
              <a:t>MCP Governance</a:t>
            </a:r>
            <a:endParaRPr lang="en-US" sz="624" dirty="0"/>
          </a:p>
        </p:txBody>
      </p:sp>
      <p:sp>
        <p:nvSpPr>
          <p:cNvPr id="57" name="Text 42"/>
          <p:cNvSpPr/>
          <p:nvPr/>
        </p:nvSpPr>
        <p:spPr>
          <a:xfrm>
            <a:off x="7223677" y="2889833"/>
            <a:ext cx="924746" cy="184949"/>
          </a:xfrm>
          <a:prstGeom prst="rect">
            <a:avLst/>
          </a:prstGeom>
          <a:noFill/>
          <a:ln/>
        </p:spPr>
        <p:txBody>
          <a:bodyPr wrap="square" lIns="0" tIns="0" rIns="0" bIns="0" rtlCol="0" anchor="ctr"/>
          <a:lstStyle/>
          <a:p>
            <a:pPr algn="ctr"/>
            <a:r>
              <a:rPr lang="en-US" sz="472" dirty="0">
                <a:solidFill>
                  <a:srgbClr val="70809A"/>
                </a:solidFill>
                <a:latin typeface="Arial" pitchFamily="34" charset="0"/>
                <a:ea typeface="Arial" pitchFamily="34" charset="-122"/>
                <a:cs typeface="Arial" pitchFamily="34" charset="-120"/>
              </a:rPr>
              <a:t>MCP Servers &amp;</a:t>
            </a:r>
            <a:endParaRPr lang="en-US" sz="472" dirty="0"/>
          </a:p>
          <a:p>
            <a:pPr algn="ctr"/>
            <a:r>
              <a:rPr lang="en-US" sz="472" dirty="0">
                <a:solidFill>
                  <a:srgbClr val="70809A"/>
                </a:solidFill>
                <a:latin typeface="Arial" pitchFamily="34" charset="0"/>
                <a:ea typeface="Arial" pitchFamily="34" charset="-122"/>
                <a:cs typeface="Arial" pitchFamily="34" charset="-120"/>
              </a:rPr>
              <a:t>Tool Governance</a:t>
            </a:r>
            <a:endParaRPr lang="en-US" sz="472" dirty="0"/>
          </a:p>
        </p:txBody>
      </p:sp>
      <p:sp>
        <p:nvSpPr>
          <p:cNvPr id="58" name="Shape 43"/>
          <p:cNvSpPr/>
          <p:nvPr/>
        </p:nvSpPr>
        <p:spPr>
          <a:xfrm>
            <a:off x="8171542" y="2465991"/>
            <a:ext cx="0" cy="1017221"/>
          </a:xfrm>
          <a:prstGeom prst="line">
            <a:avLst/>
          </a:prstGeom>
          <a:noFill/>
          <a:ln w="12700">
            <a:solidFill>
              <a:srgbClr val="DCE3EC"/>
            </a:solidFill>
            <a:prstDash val="solid"/>
          </a:ln>
        </p:spPr>
      </p:sp>
      <p:pic>
        <p:nvPicPr>
          <p:cNvPr id="59" name="Image 13" descr="/sessions/zealous-intelligent-mayer/mnt/outputs/icons9/g_traffic.png"/>
          <p:cNvPicPr>
            <a:picLocks noChangeAspect="1"/>
          </p:cNvPicPr>
          <p:nvPr/>
        </p:nvPicPr>
        <p:blipFill>
          <a:blip r:embed="rId16"/>
          <a:stretch>
            <a:fillRect/>
          </a:stretch>
        </p:blipFill>
        <p:spPr>
          <a:xfrm>
            <a:off x="8549147" y="2512228"/>
            <a:ext cx="215774" cy="215774"/>
          </a:xfrm>
          <a:prstGeom prst="rect">
            <a:avLst/>
          </a:prstGeom>
        </p:spPr>
      </p:pic>
      <p:sp>
        <p:nvSpPr>
          <p:cNvPr id="60" name="Text 44"/>
          <p:cNvSpPr/>
          <p:nvPr/>
        </p:nvSpPr>
        <p:spPr>
          <a:xfrm>
            <a:off x="8194661" y="2774240"/>
            <a:ext cx="924746" cy="115593"/>
          </a:xfrm>
          <a:prstGeom prst="rect">
            <a:avLst/>
          </a:prstGeom>
          <a:noFill/>
          <a:ln/>
        </p:spPr>
        <p:txBody>
          <a:bodyPr wrap="square" lIns="0" tIns="0" rIns="0" bIns="0" rtlCol="0" anchor="ctr"/>
          <a:lstStyle/>
          <a:p>
            <a:pPr algn="ctr"/>
            <a:r>
              <a:rPr lang="en-US" sz="624" b="1" dirty="0">
                <a:solidFill>
                  <a:srgbClr val="2C3A4F"/>
                </a:solidFill>
                <a:latin typeface="Arial" pitchFamily="34" charset="0"/>
                <a:ea typeface="Arial" pitchFamily="34" charset="-122"/>
                <a:cs typeface="Arial" pitchFamily="34" charset="-120"/>
              </a:rPr>
              <a:t>Traffic Management</a:t>
            </a:r>
            <a:endParaRPr lang="en-US" sz="624" dirty="0"/>
          </a:p>
        </p:txBody>
      </p:sp>
      <p:sp>
        <p:nvSpPr>
          <p:cNvPr id="61" name="Text 45"/>
          <p:cNvSpPr/>
          <p:nvPr/>
        </p:nvSpPr>
        <p:spPr>
          <a:xfrm>
            <a:off x="8194661" y="2889833"/>
            <a:ext cx="924746" cy="184949"/>
          </a:xfrm>
          <a:prstGeom prst="rect">
            <a:avLst/>
          </a:prstGeom>
          <a:noFill/>
          <a:ln/>
        </p:spPr>
        <p:txBody>
          <a:bodyPr wrap="square" lIns="0" tIns="0" rIns="0" bIns="0" rtlCol="0" anchor="ctr"/>
          <a:lstStyle/>
          <a:p>
            <a:pPr algn="ctr"/>
            <a:r>
              <a:rPr lang="en-US" sz="472" dirty="0">
                <a:solidFill>
                  <a:srgbClr val="70809A"/>
                </a:solidFill>
                <a:latin typeface="Arial" pitchFamily="34" charset="0"/>
                <a:ea typeface="Arial" pitchFamily="34" charset="-122"/>
                <a:cs typeface="Arial" pitchFamily="34" charset="-120"/>
              </a:rPr>
              <a:t>Routing, Load</a:t>
            </a:r>
            <a:endParaRPr lang="en-US" sz="472" dirty="0"/>
          </a:p>
          <a:p>
            <a:pPr algn="ctr"/>
            <a:r>
              <a:rPr lang="en-US" sz="472" dirty="0">
                <a:solidFill>
                  <a:srgbClr val="70809A"/>
                </a:solidFill>
                <a:latin typeface="Arial" pitchFamily="34" charset="0"/>
                <a:ea typeface="Arial" pitchFamily="34" charset="-122"/>
                <a:cs typeface="Arial" pitchFamily="34" charset="-120"/>
              </a:rPr>
              <a:t>Balancing &amp; Failover</a:t>
            </a:r>
            <a:endParaRPr lang="en-US" sz="472" dirty="0"/>
          </a:p>
        </p:txBody>
      </p:sp>
      <p:sp>
        <p:nvSpPr>
          <p:cNvPr id="62" name="Shape 46"/>
          <p:cNvSpPr/>
          <p:nvPr/>
        </p:nvSpPr>
        <p:spPr>
          <a:xfrm>
            <a:off x="2345640" y="3560274"/>
            <a:ext cx="6796885" cy="246599"/>
          </a:xfrm>
          <a:prstGeom prst="roundRect">
            <a:avLst>
              <a:gd name="adj" fmla="val 15625"/>
            </a:avLst>
          </a:prstGeom>
          <a:solidFill>
            <a:srgbClr val="FFFFFF"/>
          </a:solidFill>
          <a:ln w="12700">
            <a:solidFill>
              <a:srgbClr val="CFE2EE"/>
            </a:solidFill>
            <a:prstDash val="solid"/>
          </a:ln>
        </p:spPr>
      </p:sp>
      <p:pic>
        <p:nvPicPr>
          <p:cNvPr id="63" name="Image 14" descr="/sessions/zealous-intelligent-mayer/mnt/outputs/icons9/g_bar.png"/>
          <p:cNvPicPr>
            <a:picLocks noChangeAspect="1"/>
          </p:cNvPicPr>
          <p:nvPr/>
        </p:nvPicPr>
        <p:blipFill>
          <a:blip r:embed="rId17"/>
          <a:stretch>
            <a:fillRect/>
          </a:stretch>
        </p:blipFill>
        <p:spPr>
          <a:xfrm>
            <a:off x="2715538" y="3621923"/>
            <a:ext cx="123300" cy="123300"/>
          </a:xfrm>
          <a:prstGeom prst="rect">
            <a:avLst/>
          </a:prstGeom>
        </p:spPr>
      </p:pic>
      <p:sp>
        <p:nvSpPr>
          <p:cNvPr id="64" name="Text 47"/>
          <p:cNvSpPr/>
          <p:nvPr/>
        </p:nvSpPr>
        <p:spPr>
          <a:xfrm>
            <a:off x="2900488" y="3560274"/>
            <a:ext cx="6118738" cy="246599"/>
          </a:xfrm>
          <a:prstGeom prst="rect">
            <a:avLst/>
          </a:prstGeom>
          <a:noFill/>
          <a:ln/>
        </p:spPr>
        <p:txBody>
          <a:bodyPr wrap="square" lIns="0" tIns="0" rIns="0" bIns="0" rtlCol="0" anchor="ctr"/>
          <a:lstStyle/>
          <a:p>
            <a:r>
              <a:rPr lang="en-US" sz="624" b="1" dirty="0">
                <a:solidFill>
                  <a:srgbClr val="3D4C66"/>
                </a:solidFill>
                <a:latin typeface="Arial" pitchFamily="34" charset="0"/>
                <a:ea typeface="Arial" pitchFamily="34" charset="-122"/>
                <a:cs typeface="Arial" pitchFamily="34" charset="-120"/>
              </a:rPr>
              <a:t>Unified access, security, policy enforcement and observability for every AI workload and tool — across all Ball plants, regions and business units</a:t>
            </a:r>
            <a:endParaRPr lang="en-US" sz="624" dirty="0"/>
          </a:p>
        </p:txBody>
      </p:sp>
      <p:sp>
        <p:nvSpPr>
          <p:cNvPr id="65" name="Shape 48"/>
          <p:cNvSpPr/>
          <p:nvPr/>
        </p:nvSpPr>
        <p:spPr>
          <a:xfrm>
            <a:off x="2206928" y="4022647"/>
            <a:ext cx="7074309" cy="1263820"/>
          </a:xfrm>
          <a:prstGeom prst="roundRect">
            <a:avLst>
              <a:gd name="adj" fmla="val 6098"/>
            </a:avLst>
          </a:prstGeom>
          <a:solidFill>
            <a:srgbClr val="F5F1FD"/>
          </a:solidFill>
          <a:ln w="12700">
            <a:solidFill>
              <a:srgbClr val="D6CBEE"/>
            </a:solidFill>
            <a:prstDash val="solid"/>
          </a:ln>
        </p:spPr>
      </p:sp>
      <p:pic>
        <p:nvPicPr>
          <p:cNvPr id="66" name="Image 15" descr="/sessions/zealous-intelligent-mayer/mnt/outputs/icons9/f_hero.png"/>
          <p:cNvPicPr>
            <a:picLocks noChangeAspect="1"/>
          </p:cNvPicPr>
          <p:nvPr/>
        </p:nvPicPr>
        <p:blipFill>
          <a:blip r:embed="rId18"/>
          <a:stretch>
            <a:fillRect/>
          </a:stretch>
        </p:blipFill>
        <p:spPr>
          <a:xfrm>
            <a:off x="2422702" y="4377133"/>
            <a:ext cx="431548" cy="431548"/>
          </a:xfrm>
          <a:prstGeom prst="rect">
            <a:avLst/>
          </a:prstGeom>
        </p:spPr>
      </p:pic>
      <p:sp>
        <p:nvSpPr>
          <p:cNvPr id="67" name="Text 49"/>
          <p:cNvSpPr/>
          <p:nvPr/>
        </p:nvSpPr>
        <p:spPr>
          <a:xfrm>
            <a:off x="2206928" y="4068884"/>
            <a:ext cx="7074309" cy="215774"/>
          </a:xfrm>
          <a:prstGeom prst="rect">
            <a:avLst/>
          </a:prstGeom>
          <a:noFill/>
          <a:ln/>
        </p:spPr>
        <p:txBody>
          <a:bodyPr wrap="square" lIns="0" tIns="0" rIns="0" bIns="0" rtlCol="0" anchor="ctr"/>
          <a:lstStyle/>
          <a:p>
            <a:pPr algn="ctr"/>
            <a:r>
              <a:rPr lang="en-US" sz="1264" b="1" dirty="0">
                <a:solidFill>
                  <a:srgbClr val="1B2A45"/>
                </a:solidFill>
                <a:latin typeface="Arial" pitchFamily="34" charset="0"/>
                <a:ea typeface="Arial" pitchFamily="34" charset="-122"/>
                <a:cs typeface="Arial" pitchFamily="34" charset="-120"/>
              </a:rPr>
              <a:t>Microsoft Foundry</a:t>
            </a:r>
            <a:endParaRPr lang="en-US" sz="1264" dirty="0"/>
          </a:p>
        </p:txBody>
      </p:sp>
      <p:sp>
        <p:nvSpPr>
          <p:cNvPr id="68" name="Text 50"/>
          <p:cNvSpPr/>
          <p:nvPr/>
        </p:nvSpPr>
        <p:spPr>
          <a:xfrm>
            <a:off x="2206928" y="4284658"/>
            <a:ext cx="7074309" cy="123300"/>
          </a:xfrm>
          <a:prstGeom prst="rect">
            <a:avLst/>
          </a:prstGeom>
          <a:noFill/>
          <a:ln/>
        </p:spPr>
        <p:txBody>
          <a:bodyPr wrap="square" lIns="0" tIns="0" rIns="0" bIns="0" rtlCol="0" anchor="ctr"/>
          <a:lstStyle/>
          <a:p>
            <a:pPr algn="ctr"/>
            <a:r>
              <a:rPr lang="en-US" sz="624" b="1" kern="0" spc="25" dirty="0">
                <a:solidFill>
                  <a:srgbClr val="566380"/>
                </a:solidFill>
                <a:latin typeface="Arial" pitchFamily="34" charset="0"/>
                <a:ea typeface="Arial" pitchFamily="34" charset="-122"/>
                <a:cs typeface="Arial" pitchFamily="34" charset="-120"/>
              </a:rPr>
              <a:t>BUILD, ORCHESTRATE &amp; OPERATIONALISE AI  ·  formerly Azure AI Foundry</a:t>
            </a:r>
            <a:endParaRPr lang="en-US" sz="624" dirty="0"/>
          </a:p>
        </p:txBody>
      </p:sp>
      <p:pic>
        <p:nvPicPr>
          <p:cNvPr id="69" name="Image 16" descr="/sessions/zealous-intelligent-mayer/mnt/outputs/icons9/f_model.png"/>
          <p:cNvPicPr>
            <a:picLocks noChangeAspect="1"/>
          </p:cNvPicPr>
          <p:nvPr/>
        </p:nvPicPr>
        <p:blipFill>
          <a:blip r:embed="rId19"/>
          <a:stretch>
            <a:fillRect/>
          </a:stretch>
        </p:blipFill>
        <p:spPr>
          <a:xfrm>
            <a:off x="3303413" y="4485020"/>
            <a:ext cx="200362" cy="200362"/>
          </a:xfrm>
          <a:prstGeom prst="rect">
            <a:avLst/>
          </a:prstGeom>
        </p:spPr>
      </p:pic>
      <p:sp>
        <p:nvSpPr>
          <p:cNvPr id="70" name="Text 51"/>
          <p:cNvSpPr/>
          <p:nvPr/>
        </p:nvSpPr>
        <p:spPr>
          <a:xfrm>
            <a:off x="2985257" y="4731619"/>
            <a:ext cx="836675" cy="115593"/>
          </a:xfrm>
          <a:prstGeom prst="rect">
            <a:avLst/>
          </a:prstGeom>
          <a:noFill/>
          <a:ln/>
        </p:spPr>
        <p:txBody>
          <a:bodyPr wrap="square" lIns="0" tIns="0" rIns="0" bIns="0" rtlCol="0" anchor="ctr"/>
          <a:lstStyle/>
          <a:p>
            <a:pPr algn="ctr"/>
            <a:r>
              <a:rPr lang="en-US" sz="556" b="1" dirty="0">
                <a:solidFill>
                  <a:srgbClr val="2C3A4F"/>
                </a:solidFill>
                <a:latin typeface="Arial" pitchFamily="34" charset="0"/>
                <a:ea typeface="Arial" pitchFamily="34" charset="-122"/>
                <a:cs typeface="Arial" pitchFamily="34" charset="-120"/>
              </a:rPr>
              <a:t>Models</a:t>
            </a:r>
            <a:endParaRPr lang="en-US" sz="556" dirty="0"/>
          </a:p>
        </p:txBody>
      </p:sp>
      <p:sp>
        <p:nvSpPr>
          <p:cNvPr id="71" name="Text 52"/>
          <p:cNvSpPr/>
          <p:nvPr/>
        </p:nvSpPr>
        <p:spPr>
          <a:xfrm>
            <a:off x="2985257" y="4847212"/>
            <a:ext cx="836675" cy="184949"/>
          </a:xfrm>
          <a:prstGeom prst="rect">
            <a:avLst/>
          </a:prstGeom>
          <a:noFill/>
          <a:ln/>
        </p:spPr>
        <p:txBody>
          <a:bodyPr wrap="square" lIns="0" tIns="0" rIns="0" bIns="0" rtlCol="0" anchor="ctr"/>
          <a:lstStyle/>
          <a:p>
            <a:pPr algn="ctr"/>
            <a:r>
              <a:rPr lang="en-US" sz="438" dirty="0">
                <a:solidFill>
                  <a:srgbClr val="70809A"/>
                </a:solidFill>
                <a:latin typeface="Arial" pitchFamily="34" charset="0"/>
                <a:ea typeface="Arial" pitchFamily="34" charset="-122"/>
                <a:cs typeface="Arial" pitchFamily="34" charset="-120"/>
              </a:rPr>
              <a:t>(GPT-4.1 + Ball</a:t>
            </a:r>
            <a:endParaRPr lang="en-US" sz="438" dirty="0"/>
          </a:p>
          <a:p>
            <a:pPr algn="ctr"/>
            <a:r>
              <a:rPr lang="en-US" sz="438" dirty="0">
                <a:solidFill>
                  <a:srgbClr val="70809A"/>
                </a:solidFill>
                <a:latin typeface="Arial" pitchFamily="34" charset="0"/>
                <a:ea typeface="Arial" pitchFamily="34" charset="-122"/>
                <a:cs typeface="Arial" pitchFamily="34" charset="-120"/>
              </a:rPr>
              <a:t>fine-tuned)</a:t>
            </a:r>
            <a:endParaRPr lang="en-US" sz="438" dirty="0"/>
          </a:p>
        </p:txBody>
      </p:sp>
      <p:sp>
        <p:nvSpPr>
          <p:cNvPr id="72" name="Shape 53"/>
          <p:cNvSpPr/>
          <p:nvPr/>
        </p:nvSpPr>
        <p:spPr>
          <a:xfrm>
            <a:off x="3845050" y="4454195"/>
            <a:ext cx="0" cy="755209"/>
          </a:xfrm>
          <a:prstGeom prst="line">
            <a:avLst/>
          </a:prstGeom>
          <a:noFill/>
          <a:ln w="12700">
            <a:solidFill>
              <a:srgbClr val="DCE3EC"/>
            </a:solidFill>
            <a:prstDash val="solid"/>
          </a:ln>
        </p:spPr>
      </p:sp>
      <p:pic>
        <p:nvPicPr>
          <p:cNvPr id="73" name="Image 17" descr="/sessions/zealous-intelligent-mayer/mnt/outputs/icons9/f_agent.png"/>
          <p:cNvPicPr>
            <a:picLocks noChangeAspect="1"/>
          </p:cNvPicPr>
          <p:nvPr/>
        </p:nvPicPr>
        <p:blipFill>
          <a:blip r:embed="rId20"/>
          <a:stretch>
            <a:fillRect/>
          </a:stretch>
        </p:blipFill>
        <p:spPr>
          <a:xfrm>
            <a:off x="4186326" y="4485020"/>
            <a:ext cx="200362" cy="200362"/>
          </a:xfrm>
          <a:prstGeom prst="rect">
            <a:avLst/>
          </a:prstGeom>
        </p:spPr>
      </p:pic>
      <p:sp>
        <p:nvSpPr>
          <p:cNvPr id="74" name="Text 54"/>
          <p:cNvSpPr/>
          <p:nvPr/>
        </p:nvSpPr>
        <p:spPr>
          <a:xfrm>
            <a:off x="3868169" y="4731619"/>
            <a:ext cx="836675" cy="115593"/>
          </a:xfrm>
          <a:prstGeom prst="rect">
            <a:avLst/>
          </a:prstGeom>
          <a:noFill/>
          <a:ln/>
        </p:spPr>
        <p:txBody>
          <a:bodyPr wrap="square" lIns="0" tIns="0" rIns="0" bIns="0" rtlCol="0" anchor="ctr"/>
          <a:lstStyle/>
          <a:p>
            <a:pPr algn="ctr"/>
            <a:r>
              <a:rPr lang="en-US" sz="556" b="1" dirty="0">
                <a:solidFill>
                  <a:srgbClr val="2C3A4F"/>
                </a:solidFill>
                <a:latin typeface="Arial" pitchFamily="34" charset="0"/>
                <a:ea typeface="Arial" pitchFamily="34" charset="-122"/>
                <a:cs typeface="Arial" pitchFamily="34" charset="-120"/>
              </a:rPr>
              <a:t>Agent Service</a:t>
            </a:r>
            <a:endParaRPr lang="en-US" sz="556" dirty="0"/>
          </a:p>
        </p:txBody>
      </p:sp>
      <p:sp>
        <p:nvSpPr>
          <p:cNvPr id="75" name="Text 55"/>
          <p:cNvSpPr/>
          <p:nvPr/>
        </p:nvSpPr>
        <p:spPr>
          <a:xfrm>
            <a:off x="3868169" y="4847212"/>
            <a:ext cx="836675" cy="184949"/>
          </a:xfrm>
          <a:prstGeom prst="rect">
            <a:avLst/>
          </a:prstGeom>
          <a:noFill/>
          <a:ln/>
        </p:spPr>
        <p:txBody>
          <a:bodyPr wrap="square" lIns="0" tIns="0" rIns="0" bIns="0" rtlCol="0" anchor="ctr"/>
          <a:lstStyle/>
          <a:p>
            <a:pPr algn="ctr"/>
            <a:r>
              <a:rPr lang="en-US" sz="438" dirty="0">
                <a:solidFill>
                  <a:srgbClr val="70809A"/>
                </a:solidFill>
                <a:latin typeface="Arial" pitchFamily="34" charset="0"/>
                <a:ea typeface="Arial" pitchFamily="34" charset="-122"/>
                <a:cs typeface="Arial" pitchFamily="34" charset="-120"/>
              </a:rPr>
              <a:t>(Plant agents)</a:t>
            </a:r>
            <a:endParaRPr lang="en-US" sz="438" dirty="0"/>
          </a:p>
        </p:txBody>
      </p:sp>
      <p:sp>
        <p:nvSpPr>
          <p:cNvPr id="76" name="Shape 56"/>
          <p:cNvSpPr/>
          <p:nvPr/>
        </p:nvSpPr>
        <p:spPr>
          <a:xfrm>
            <a:off x="4727962" y="4454195"/>
            <a:ext cx="0" cy="755209"/>
          </a:xfrm>
          <a:prstGeom prst="line">
            <a:avLst/>
          </a:prstGeom>
          <a:noFill/>
          <a:ln w="12700">
            <a:solidFill>
              <a:srgbClr val="DCE3EC"/>
            </a:solidFill>
            <a:prstDash val="solid"/>
          </a:ln>
        </p:spPr>
      </p:sp>
      <p:pic>
        <p:nvPicPr>
          <p:cNvPr id="77" name="Image 18" descr="/sessions/zealous-intelligent-mayer/mnt/outputs/icons9/f_flow.png"/>
          <p:cNvPicPr>
            <a:picLocks noChangeAspect="1"/>
          </p:cNvPicPr>
          <p:nvPr/>
        </p:nvPicPr>
        <p:blipFill>
          <a:blip r:embed="rId21"/>
          <a:stretch>
            <a:fillRect/>
          </a:stretch>
        </p:blipFill>
        <p:spPr>
          <a:xfrm>
            <a:off x="5069238" y="4485020"/>
            <a:ext cx="200362" cy="200362"/>
          </a:xfrm>
          <a:prstGeom prst="rect">
            <a:avLst/>
          </a:prstGeom>
        </p:spPr>
      </p:pic>
      <p:sp>
        <p:nvSpPr>
          <p:cNvPr id="78" name="Text 57"/>
          <p:cNvSpPr/>
          <p:nvPr/>
        </p:nvSpPr>
        <p:spPr>
          <a:xfrm>
            <a:off x="4751081" y="4731619"/>
            <a:ext cx="836675" cy="115593"/>
          </a:xfrm>
          <a:prstGeom prst="rect">
            <a:avLst/>
          </a:prstGeom>
          <a:noFill/>
          <a:ln/>
        </p:spPr>
        <p:txBody>
          <a:bodyPr wrap="square" lIns="0" tIns="0" rIns="0" bIns="0" rtlCol="0" anchor="ctr"/>
          <a:lstStyle/>
          <a:p>
            <a:pPr algn="ctr"/>
            <a:r>
              <a:rPr lang="en-US" sz="556" b="1" dirty="0">
                <a:solidFill>
                  <a:srgbClr val="2C3A4F"/>
                </a:solidFill>
                <a:latin typeface="Arial" pitchFamily="34" charset="0"/>
                <a:ea typeface="Arial" pitchFamily="34" charset="-122"/>
                <a:cs typeface="Arial" pitchFamily="34" charset="-120"/>
              </a:rPr>
              <a:t>Prompt Flows</a:t>
            </a:r>
            <a:endParaRPr lang="en-US" sz="556" dirty="0"/>
          </a:p>
        </p:txBody>
      </p:sp>
      <p:sp>
        <p:nvSpPr>
          <p:cNvPr id="79" name="Text 58"/>
          <p:cNvSpPr/>
          <p:nvPr/>
        </p:nvSpPr>
        <p:spPr>
          <a:xfrm>
            <a:off x="4751081" y="4847212"/>
            <a:ext cx="836675" cy="184949"/>
          </a:xfrm>
          <a:prstGeom prst="rect">
            <a:avLst/>
          </a:prstGeom>
          <a:noFill/>
          <a:ln/>
        </p:spPr>
        <p:txBody>
          <a:bodyPr wrap="square" lIns="0" tIns="0" rIns="0" bIns="0" rtlCol="0" anchor="ctr"/>
          <a:lstStyle/>
          <a:p>
            <a:pPr algn="ctr"/>
            <a:r>
              <a:rPr lang="en-US" sz="438" dirty="0">
                <a:solidFill>
                  <a:srgbClr val="70809A"/>
                </a:solidFill>
                <a:latin typeface="Arial" pitchFamily="34" charset="0"/>
                <a:ea typeface="Arial" pitchFamily="34" charset="-122"/>
                <a:cs typeface="Arial" pitchFamily="34" charset="-120"/>
              </a:rPr>
              <a:t>(Orchestration)</a:t>
            </a:r>
            <a:endParaRPr lang="en-US" sz="438" dirty="0"/>
          </a:p>
        </p:txBody>
      </p:sp>
      <p:sp>
        <p:nvSpPr>
          <p:cNvPr id="80" name="Shape 59"/>
          <p:cNvSpPr/>
          <p:nvPr/>
        </p:nvSpPr>
        <p:spPr>
          <a:xfrm>
            <a:off x="5610875" y="4454195"/>
            <a:ext cx="0" cy="755209"/>
          </a:xfrm>
          <a:prstGeom prst="line">
            <a:avLst/>
          </a:prstGeom>
          <a:noFill/>
          <a:ln w="12700">
            <a:solidFill>
              <a:srgbClr val="DCE3EC"/>
            </a:solidFill>
            <a:prstDash val="solid"/>
          </a:ln>
        </p:spPr>
      </p:sp>
      <p:pic>
        <p:nvPicPr>
          <p:cNvPr id="81" name="Image 19" descr="/sessions/zealous-intelligent-mayer/mnt/outputs/icons9/f_eval.png"/>
          <p:cNvPicPr>
            <a:picLocks noChangeAspect="1"/>
          </p:cNvPicPr>
          <p:nvPr/>
        </p:nvPicPr>
        <p:blipFill>
          <a:blip r:embed="rId22"/>
          <a:stretch>
            <a:fillRect/>
          </a:stretch>
        </p:blipFill>
        <p:spPr>
          <a:xfrm>
            <a:off x="5952150" y="4485020"/>
            <a:ext cx="200362" cy="200362"/>
          </a:xfrm>
          <a:prstGeom prst="rect">
            <a:avLst/>
          </a:prstGeom>
        </p:spPr>
      </p:pic>
      <p:sp>
        <p:nvSpPr>
          <p:cNvPr id="82" name="Text 60"/>
          <p:cNvSpPr/>
          <p:nvPr/>
        </p:nvSpPr>
        <p:spPr>
          <a:xfrm>
            <a:off x="5633994" y="4731619"/>
            <a:ext cx="836675" cy="115593"/>
          </a:xfrm>
          <a:prstGeom prst="rect">
            <a:avLst/>
          </a:prstGeom>
          <a:noFill/>
          <a:ln/>
        </p:spPr>
        <p:txBody>
          <a:bodyPr wrap="square" lIns="0" tIns="0" rIns="0" bIns="0" rtlCol="0" anchor="ctr"/>
          <a:lstStyle/>
          <a:p>
            <a:pPr algn="ctr"/>
            <a:r>
              <a:rPr lang="en-US" sz="556" b="1" dirty="0">
                <a:solidFill>
                  <a:srgbClr val="2C3A4F"/>
                </a:solidFill>
                <a:latin typeface="Arial" pitchFamily="34" charset="0"/>
                <a:ea typeface="Arial" pitchFamily="34" charset="-122"/>
                <a:cs typeface="Arial" pitchFamily="34" charset="-120"/>
              </a:rPr>
              <a:t>Evaluations</a:t>
            </a:r>
            <a:endParaRPr lang="en-US" sz="556" dirty="0"/>
          </a:p>
        </p:txBody>
      </p:sp>
      <p:sp>
        <p:nvSpPr>
          <p:cNvPr id="83" name="Text 61"/>
          <p:cNvSpPr/>
          <p:nvPr/>
        </p:nvSpPr>
        <p:spPr>
          <a:xfrm>
            <a:off x="5633994" y="4847212"/>
            <a:ext cx="836675" cy="184949"/>
          </a:xfrm>
          <a:prstGeom prst="rect">
            <a:avLst/>
          </a:prstGeom>
          <a:noFill/>
          <a:ln/>
        </p:spPr>
        <p:txBody>
          <a:bodyPr wrap="square" lIns="0" tIns="0" rIns="0" bIns="0" rtlCol="0" anchor="ctr"/>
          <a:lstStyle/>
          <a:p>
            <a:pPr algn="ctr"/>
            <a:r>
              <a:rPr lang="en-US" sz="438" dirty="0">
                <a:solidFill>
                  <a:srgbClr val="70809A"/>
                </a:solidFill>
                <a:latin typeface="Arial" pitchFamily="34" charset="0"/>
                <a:ea typeface="Arial" pitchFamily="34" charset="-122"/>
                <a:cs typeface="Arial" pitchFamily="34" charset="-120"/>
              </a:rPr>
              <a:t>(Quality &amp; Safety)</a:t>
            </a:r>
            <a:endParaRPr lang="en-US" sz="438" dirty="0"/>
          </a:p>
        </p:txBody>
      </p:sp>
      <p:sp>
        <p:nvSpPr>
          <p:cNvPr id="84" name="Shape 62"/>
          <p:cNvSpPr/>
          <p:nvPr/>
        </p:nvSpPr>
        <p:spPr>
          <a:xfrm>
            <a:off x="6493788" y="4454195"/>
            <a:ext cx="0" cy="755209"/>
          </a:xfrm>
          <a:prstGeom prst="line">
            <a:avLst/>
          </a:prstGeom>
          <a:noFill/>
          <a:ln w="12700">
            <a:solidFill>
              <a:srgbClr val="DCE3EC"/>
            </a:solidFill>
            <a:prstDash val="solid"/>
          </a:ln>
        </p:spPr>
      </p:sp>
      <p:pic>
        <p:nvPicPr>
          <p:cNvPr id="85" name="Image 20" descr="/sessions/zealous-intelligent-mayer/mnt/outputs/icons9/f_rag.png"/>
          <p:cNvPicPr>
            <a:picLocks noChangeAspect="1"/>
          </p:cNvPicPr>
          <p:nvPr/>
        </p:nvPicPr>
        <p:blipFill>
          <a:blip r:embed="rId23"/>
          <a:stretch>
            <a:fillRect/>
          </a:stretch>
        </p:blipFill>
        <p:spPr>
          <a:xfrm>
            <a:off x="6835063" y="4485020"/>
            <a:ext cx="200362" cy="200362"/>
          </a:xfrm>
          <a:prstGeom prst="rect">
            <a:avLst/>
          </a:prstGeom>
        </p:spPr>
      </p:pic>
      <p:sp>
        <p:nvSpPr>
          <p:cNvPr id="86" name="Text 63"/>
          <p:cNvSpPr/>
          <p:nvPr/>
        </p:nvSpPr>
        <p:spPr>
          <a:xfrm>
            <a:off x="6516907" y="4731619"/>
            <a:ext cx="836675" cy="115593"/>
          </a:xfrm>
          <a:prstGeom prst="rect">
            <a:avLst/>
          </a:prstGeom>
          <a:noFill/>
          <a:ln/>
        </p:spPr>
        <p:txBody>
          <a:bodyPr wrap="square" lIns="0" tIns="0" rIns="0" bIns="0" rtlCol="0" anchor="ctr"/>
          <a:lstStyle/>
          <a:p>
            <a:pPr algn="ctr"/>
            <a:r>
              <a:rPr lang="en-US" sz="556" b="1" dirty="0">
                <a:solidFill>
                  <a:srgbClr val="2C3A4F"/>
                </a:solidFill>
                <a:latin typeface="Arial" pitchFamily="34" charset="0"/>
                <a:ea typeface="Arial" pitchFamily="34" charset="-122"/>
                <a:cs typeface="Arial" pitchFamily="34" charset="-120"/>
              </a:rPr>
              <a:t>RAG</a:t>
            </a:r>
            <a:endParaRPr lang="en-US" sz="556" dirty="0"/>
          </a:p>
        </p:txBody>
      </p:sp>
      <p:sp>
        <p:nvSpPr>
          <p:cNvPr id="87" name="Text 64"/>
          <p:cNvSpPr/>
          <p:nvPr/>
        </p:nvSpPr>
        <p:spPr>
          <a:xfrm>
            <a:off x="6516907" y="4847212"/>
            <a:ext cx="836675" cy="184949"/>
          </a:xfrm>
          <a:prstGeom prst="rect">
            <a:avLst/>
          </a:prstGeom>
          <a:noFill/>
          <a:ln/>
        </p:spPr>
        <p:txBody>
          <a:bodyPr wrap="square" lIns="0" tIns="0" rIns="0" bIns="0" rtlCol="0" anchor="ctr"/>
          <a:lstStyle/>
          <a:p>
            <a:pPr algn="ctr"/>
            <a:r>
              <a:rPr lang="en-US" sz="438" dirty="0">
                <a:solidFill>
                  <a:srgbClr val="70809A"/>
                </a:solidFill>
                <a:latin typeface="Arial" pitchFamily="34" charset="0"/>
                <a:ea typeface="Arial" pitchFamily="34" charset="-122"/>
                <a:cs typeface="Arial" pitchFamily="34" charset="-120"/>
              </a:rPr>
              <a:t>(Specs, SOPs, NCRs)</a:t>
            </a:r>
            <a:endParaRPr lang="en-US" sz="438" dirty="0"/>
          </a:p>
        </p:txBody>
      </p:sp>
      <p:sp>
        <p:nvSpPr>
          <p:cNvPr id="88" name="Shape 65"/>
          <p:cNvSpPr/>
          <p:nvPr/>
        </p:nvSpPr>
        <p:spPr>
          <a:xfrm>
            <a:off x="7376700" y="4454195"/>
            <a:ext cx="0" cy="755209"/>
          </a:xfrm>
          <a:prstGeom prst="line">
            <a:avLst/>
          </a:prstGeom>
          <a:noFill/>
          <a:ln w="12700">
            <a:solidFill>
              <a:srgbClr val="DCE3EC"/>
            </a:solidFill>
            <a:prstDash val="solid"/>
          </a:ln>
        </p:spPr>
      </p:sp>
      <p:pic>
        <p:nvPicPr>
          <p:cNvPr id="89" name="Image 21" descr="/sessions/zealous-intelligent-mayer/mnt/outputs/icons9/f_vec.png"/>
          <p:cNvPicPr>
            <a:picLocks noChangeAspect="1"/>
          </p:cNvPicPr>
          <p:nvPr/>
        </p:nvPicPr>
        <p:blipFill>
          <a:blip r:embed="rId24"/>
          <a:stretch>
            <a:fillRect/>
          </a:stretch>
        </p:blipFill>
        <p:spPr>
          <a:xfrm>
            <a:off x="7717975" y="4485020"/>
            <a:ext cx="200362" cy="200362"/>
          </a:xfrm>
          <a:prstGeom prst="rect">
            <a:avLst/>
          </a:prstGeom>
        </p:spPr>
      </p:pic>
      <p:sp>
        <p:nvSpPr>
          <p:cNvPr id="90" name="Text 66"/>
          <p:cNvSpPr/>
          <p:nvPr/>
        </p:nvSpPr>
        <p:spPr>
          <a:xfrm>
            <a:off x="7399820" y="4731619"/>
            <a:ext cx="836675" cy="115593"/>
          </a:xfrm>
          <a:prstGeom prst="rect">
            <a:avLst/>
          </a:prstGeom>
          <a:noFill/>
          <a:ln/>
        </p:spPr>
        <p:txBody>
          <a:bodyPr wrap="square" lIns="0" tIns="0" rIns="0" bIns="0" rtlCol="0" anchor="ctr"/>
          <a:lstStyle/>
          <a:p>
            <a:pPr algn="ctr"/>
            <a:r>
              <a:rPr lang="en-US" sz="556" b="1" dirty="0">
                <a:solidFill>
                  <a:srgbClr val="2C3A4F"/>
                </a:solidFill>
                <a:latin typeface="Arial" pitchFamily="34" charset="0"/>
                <a:ea typeface="Arial" pitchFamily="34" charset="-122"/>
                <a:cs typeface="Arial" pitchFamily="34" charset="-120"/>
              </a:rPr>
              <a:t>Vector Stores</a:t>
            </a:r>
            <a:endParaRPr lang="en-US" sz="556" dirty="0"/>
          </a:p>
        </p:txBody>
      </p:sp>
      <p:sp>
        <p:nvSpPr>
          <p:cNvPr id="91" name="Text 67"/>
          <p:cNvSpPr/>
          <p:nvPr/>
        </p:nvSpPr>
        <p:spPr>
          <a:xfrm>
            <a:off x="7399820" y="4847212"/>
            <a:ext cx="836675" cy="184949"/>
          </a:xfrm>
          <a:prstGeom prst="rect">
            <a:avLst/>
          </a:prstGeom>
          <a:noFill/>
          <a:ln/>
        </p:spPr>
        <p:txBody>
          <a:bodyPr wrap="square" lIns="0" tIns="0" rIns="0" bIns="0" rtlCol="0" anchor="ctr"/>
          <a:lstStyle/>
          <a:p>
            <a:pPr algn="ctr"/>
            <a:r>
              <a:rPr lang="en-US" sz="438" dirty="0">
                <a:solidFill>
                  <a:srgbClr val="70809A"/>
                </a:solidFill>
                <a:latin typeface="Arial" pitchFamily="34" charset="0"/>
                <a:ea typeface="Arial" pitchFamily="34" charset="-122"/>
                <a:cs typeface="Arial" pitchFamily="34" charset="-120"/>
              </a:rPr>
              <a:t>(Azure AI Search)</a:t>
            </a:r>
            <a:endParaRPr lang="en-US" sz="438" dirty="0"/>
          </a:p>
        </p:txBody>
      </p:sp>
      <p:sp>
        <p:nvSpPr>
          <p:cNvPr id="92" name="Shape 68"/>
          <p:cNvSpPr/>
          <p:nvPr/>
        </p:nvSpPr>
        <p:spPr>
          <a:xfrm>
            <a:off x="8259613" y="4454195"/>
            <a:ext cx="0" cy="755209"/>
          </a:xfrm>
          <a:prstGeom prst="line">
            <a:avLst/>
          </a:prstGeom>
          <a:noFill/>
          <a:ln w="12700">
            <a:solidFill>
              <a:srgbClr val="DCE3EC"/>
            </a:solidFill>
            <a:prstDash val="solid"/>
          </a:ln>
        </p:spPr>
      </p:sp>
      <p:pic>
        <p:nvPicPr>
          <p:cNvPr id="93" name="Image 22" descr="/sessions/zealous-intelligent-mayer/mnt/outputs/icons9/f_mcp.png"/>
          <p:cNvPicPr>
            <a:picLocks noChangeAspect="1"/>
          </p:cNvPicPr>
          <p:nvPr/>
        </p:nvPicPr>
        <p:blipFill>
          <a:blip r:embed="rId25"/>
          <a:stretch>
            <a:fillRect/>
          </a:stretch>
        </p:blipFill>
        <p:spPr>
          <a:xfrm>
            <a:off x="8600888" y="4485020"/>
            <a:ext cx="200362" cy="200362"/>
          </a:xfrm>
          <a:prstGeom prst="rect">
            <a:avLst/>
          </a:prstGeom>
        </p:spPr>
      </p:pic>
      <p:sp>
        <p:nvSpPr>
          <p:cNvPr id="94" name="Text 69"/>
          <p:cNvSpPr/>
          <p:nvPr/>
        </p:nvSpPr>
        <p:spPr>
          <a:xfrm>
            <a:off x="8282732" y="4731619"/>
            <a:ext cx="836675" cy="115593"/>
          </a:xfrm>
          <a:prstGeom prst="rect">
            <a:avLst/>
          </a:prstGeom>
          <a:noFill/>
          <a:ln/>
        </p:spPr>
        <p:txBody>
          <a:bodyPr wrap="square" lIns="0" tIns="0" rIns="0" bIns="0" rtlCol="0" anchor="ctr"/>
          <a:lstStyle/>
          <a:p>
            <a:pPr algn="ctr"/>
            <a:r>
              <a:rPr lang="en-US" sz="556" b="1" dirty="0">
                <a:solidFill>
                  <a:srgbClr val="2C3A4F"/>
                </a:solidFill>
                <a:latin typeface="Arial" pitchFamily="34" charset="0"/>
                <a:ea typeface="Arial" pitchFamily="34" charset="-122"/>
                <a:cs typeface="Arial" pitchFamily="34" charset="-120"/>
              </a:rPr>
              <a:t>MCP Servers</a:t>
            </a:r>
            <a:endParaRPr lang="en-US" sz="556" dirty="0"/>
          </a:p>
        </p:txBody>
      </p:sp>
      <p:sp>
        <p:nvSpPr>
          <p:cNvPr id="95" name="Text 70"/>
          <p:cNvSpPr/>
          <p:nvPr/>
        </p:nvSpPr>
        <p:spPr>
          <a:xfrm>
            <a:off x="8282732" y="4847212"/>
            <a:ext cx="836675" cy="184949"/>
          </a:xfrm>
          <a:prstGeom prst="rect">
            <a:avLst/>
          </a:prstGeom>
          <a:noFill/>
          <a:ln/>
        </p:spPr>
        <p:txBody>
          <a:bodyPr wrap="square" lIns="0" tIns="0" rIns="0" bIns="0" rtlCol="0" anchor="ctr"/>
          <a:lstStyle/>
          <a:p>
            <a:pPr algn="ctr"/>
            <a:r>
              <a:rPr lang="en-US" sz="438" dirty="0">
                <a:solidFill>
                  <a:srgbClr val="70809A"/>
                </a:solidFill>
                <a:latin typeface="Arial" pitchFamily="34" charset="0"/>
                <a:ea typeface="Arial" pitchFamily="34" charset="-122"/>
                <a:cs typeface="Arial" pitchFamily="34" charset="-120"/>
              </a:rPr>
              <a:t>(SAP, PI, MES)</a:t>
            </a:r>
            <a:endParaRPr lang="en-US" sz="438" dirty="0"/>
          </a:p>
        </p:txBody>
      </p:sp>
      <p:sp>
        <p:nvSpPr>
          <p:cNvPr id="96" name="Shape 71"/>
          <p:cNvSpPr/>
          <p:nvPr/>
        </p:nvSpPr>
        <p:spPr>
          <a:xfrm>
            <a:off x="2206928" y="5409766"/>
            <a:ext cx="7074309" cy="1078871"/>
          </a:xfrm>
          <a:prstGeom prst="roundRect">
            <a:avLst>
              <a:gd name="adj" fmla="val 7143"/>
            </a:avLst>
          </a:prstGeom>
          <a:solidFill>
            <a:srgbClr val="F2FAF6"/>
          </a:solidFill>
          <a:ln w="12700">
            <a:solidFill>
              <a:srgbClr val="C9E4D6"/>
            </a:solidFill>
            <a:prstDash val="solid"/>
          </a:ln>
        </p:spPr>
      </p:sp>
      <p:pic>
        <p:nvPicPr>
          <p:cNvPr id="97" name="Image 23" descr="/sessions/zealous-intelligent-mayer/mnt/outputs/icons9/b_hero.png"/>
          <p:cNvPicPr>
            <a:picLocks noChangeAspect="1"/>
          </p:cNvPicPr>
          <p:nvPr/>
        </p:nvPicPr>
        <p:blipFill>
          <a:blip r:embed="rId26"/>
          <a:stretch>
            <a:fillRect/>
          </a:stretch>
        </p:blipFill>
        <p:spPr>
          <a:xfrm>
            <a:off x="2422702" y="5718015"/>
            <a:ext cx="385311" cy="385311"/>
          </a:xfrm>
          <a:prstGeom prst="rect">
            <a:avLst/>
          </a:prstGeom>
        </p:spPr>
      </p:pic>
      <p:sp>
        <p:nvSpPr>
          <p:cNvPr id="98" name="Text 72"/>
          <p:cNvSpPr/>
          <p:nvPr/>
        </p:nvSpPr>
        <p:spPr>
          <a:xfrm>
            <a:off x="2206928" y="5456004"/>
            <a:ext cx="7074309" cy="215774"/>
          </a:xfrm>
          <a:prstGeom prst="rect">
            <a:avLst/>
          </a:prstGeom>
          <a:noFill/>
          <a:ln/>
        </p:spPr>
        <p:txBody>
          <a:bodyPr wrap="square" lIns="0" tIns="0" rIns="0" bIns="0" rtlCol="0" anchor="ctr"/>
          <a:lstStyle/>
          <a:p>
            <a:pPr algn="ctr"/>
            <a:r>
              <a:rPr lang="en-US" sz="1264" b="1" dirty="0">
                <a:solidFill>
                  <a:srgbClr val="1B2A45"/>
                </a:solidFill>
                <a:latin typeface="Arial" pitchFamily="34" charset="0"/>
                <a:ea typeface="Arial" pitchFamily="34" charset="-122"/>
                <a:cs typeface="Arial" pitchFamily="34" charset="-120"/>
              </a:rPr>
              <a:t>Microsoft Fabric</a:t>
            </a:r>
            <a:endParaRPr lang="en-US" sz="1264" dirty="0"/>
          </a:p>
        </p:txBody>
      </p:sp>
      <p:sp>
        <p:nvSpPr>
          <p:cNvPr id="99" name="Text 73"/>
          <p:cNvSpPr/>
          <p:nvPr/>
        </p:nvSpPr>
        <p:spPr>
          <a:xfrm>
            <a:off x="2206928" y="5671778"/>
            <a:ext cx="7074309" cy="123300"/>
          </a:xfrm>
          <a:prstGeom prst="rect">
            <a:avLst/>
          </a:prstGeom>
          <a:noFill/>
          <a:ln/>
        </p:spPr>
        <p:txBody>
          <a:bodyPr wrap="square" lIns="0" tIns="0" rIns="0" bIns="0" rtlCol="0" anchor="ctr"/>
          <a:lstStyle/>
          <a:p>
            <a:pPr algn="ctr"/>
            <a:r>
              <a:rPr lang="en-US" sz="624" b="1" kern="0" spc="25" dirty="0">
                <a:solidFill>
                  <a:srgbClr val="566380"/>
                </a:solidFill>
                <a:latin typeface="Arial" pitchFamily="34" charset="0"/>
                <a:ea typeface="Arial" pitchFamily="34" charset="-122"/>
                <a:cs typeface="Arial" pitchFamily="34" charset="-120"/>
              </a:rPr>
              <a:t>TRUSTED ENTERPRISE DATA FOUNDATION  ·  PLANT FLOOR TO CLOUD</a:t>
            </a:r>
            <a:endParaRPr lang="en-US" sz="624" dirty="0"/>
          </a:p>
        </p:txBody>
      </p:sp>
      <p:pic>
        <p:nvPicPr>
          <p:cNvPr id="100" name="Image 24" descr="/sessions/zealous-intelligent-mayer/mnt/outputs/icons9/b_lake.png"/>
          <p:cNvPicPr>
            <a:picLocks noChangeAspect="1"/>
          </p:cNvPicPr>
          <p:nvPr/>
        </p:nvPicPr>
        <p:blipFill>
          <a:blip r:embed="rId27"/>
          <a:stretch>
            <a:fillRect/>
          </a:stretch>
        </p:blipFill>
        <p:spPr>
          <a:xfrm>
            <a:off x="3376989" y="5856727"/>
            <a:ext cx="200362" cy="200362"/>
          </a:xfrm>
          <a:prstGeom prst="rect">
            <a:avLst/>
          </a:prstGeom>
        </p:spPr>
      </p:pic>
      <p:sp>
        <p:nvSpPr>
          <p:cNvPr id="101" name="Text 74"/>
          <p:cNvSpPr/>
          <p:nvPr/>
        </p:nvSpPr>
        <p:spPr>
          <a:xfrm>
            <a:off x="2985256" y="6103326"/>
            <a:ext cx="983827" cy="115593"/>
          </a:xfrm>
          <a:prstGeom prst="rect">
            <a:avLst/>
          </a:prstGeom>
          <a:noFill/>
          <a:ln/>
        </p:spPr>
        <p:txBody>
          <a:bodyPr wrap="square" lIns="0" tIns="0" rIns="0" bIns="0" rtlCol="0" anchor="ctr"/>
          <a:lstStyle/>
          <a:p>
            <a:pPr algn="ctr"/>
            <a:r>
              <a:rPr lang="en-US" sz="573" b="1" dirty="0">
                <a:solidFill>
                  <a:srgbClr val="2C3A4F"/>
                </a:solidFill>
                <a:latin typeface="Arial" pitchFamily="34" charset="0"/>
                <a:ea typeface="Arial" pitchFamily="34" charset="-122"/>
                <a:cs typeface="Arial" pitchFamily="34" charset="-120"/>
              </a:rPr>
              <a:t>OneLake</a:t>
            </a:r>
            <a:endParaRPr lang="en-US" sz="573" dirty="0"/>
          </a:p>
        </p:txBody>
      </p:sp>
      <p:sp>
        <p:nvSpPr>
          <p:cNvPr id="102" name="Text 75"/>
          <p:cNvSpPr/>
          <p:nvPr/>
        </p:nvSpPr>
        <p:spPr>
          <a:xfrm>
            <a:off x="2985256" y="6218920"/>
            <a:ext cx="983827" cy="184949"/>
          </a:xfrm>
          <a:prstGeom prst="rect">
            <a:avLst/>
          </a:prstGeom>
          <a:noFill/>
          <a:ln/>
        </p:spPr>
        <p:txBody>
          <a:bodyPr wrap="square" lIns="0" tIns="0" rIns="0" bIns="0" rtlCol="0" anchor="ctr"/>
          <a:lstStyle/>
          <a:p>
            <a:pPr algn="ctr"/>
            <a:r>
              <a:rPr lang="en-US" sz="438" dirty="0">
                <a:solidFill>
                  <a:srgbClr val="70809A"/>
                </a:solidFill>
                <a:latin typeface="Arial" pitchFamily="34" charset="0"/>
                <a:ea typeface="Arial" pitchFamily="34" charset="-122"/>
                <a:cs typeface="Arial" pitchFamily="34" charset="-120"/>
              </a:rPr>
              <a:t>(Unified plant data)</a:t>
            </a:r>
            <a:endParaRPr lang="en-US" sz="438" dirty="0"/>
          </a:p>
        </p:txBody>
      </p:sp>
      <p:sp>
        <p:nvSpPr>
          <p:cNvPr id="103" name="Shape 76"/>
          <p:cNvSpPr/>
          <p:nvPr/>
        </p:nvSpPr>
        <p:spPr>
          <a:xfrm>
            <a:off x="3992202" y="5825902"/>
            <a:ext cx="0" cy="601085"/>
          </a:xfrm>
          <a:prstGeom prst="line">
            <a:avLst/>
          </a:prstGeom>
          <a:noFill/>
          <a:ln w="12700">
            <a:solidFill>
              <a:srgbClr val="DCE3EC"/>
            </a:solidFill>
            <a:prstDash val="solid"/>
          </a:ln>
        </p:spPr>
      </p:sp>
      <p:pic>
        <p:nvPicPr>
          <p:cNvPr id="104" name="Image 25" descr="/sessions/zealous-intelligent-mayer/mnt/outputs/icons9/b_house.png"/>
          <p:cNvPicPr>
            <a:picLocks noChangeAspect="1"/>
          </p:cNvPicPr>
          <p:nvPr/>
        </p:nvPicPr>
        <p:blipFill>
          <a:blip r:embed="rId28"/>
          <a:stretch>
            <a:fillRect/>
          </a:stretch>
        </p:blipFill>
        <p:spPr>
          <a:xfrm>
            <a:off x="4407053" y="5856727"/>
            <a:ext cx="200362" cy="200362"/>
          </a:xfrm>
          <a:prstGeom prst="rect">
            <a:avLst/>
          </a:prstGeom>
        </p:spPr>
      </p:pic>
      <p:sp>
        <p:nvSpPr>
          <p:cNvPr id="105" name="Text 77"/>
          <p:cNvSpPr/>
          <p:nvPr/>
        </p:nvSpPr>
        <p:spPr>
          <a:xfrm>
            <a:off x="4015321" y="6103326"/>
            <a:ext cx="983827" cy="115593"/>
          </a:xfrm>
          <a:prstGeom prst="rect">
            <a:avLst/>
          </a:prstGeom>
          <a:noFill/>
          <a:ln/>
        </p:spPr>
        <p:txBody>
          <a:bodyPr wrap="square" lIns="0" tIns="0" rIns="0" bIns="0" rtlCol="0" anchor="ctr"/>
          <a:lstStyle/>
          <a:p>
            <a:pPr algn="ctr"/>
            <a:r>
              <a:rPr lang="en-US" sz="573" b="1" dirty="0">
                <a:solidFill>
                  <a:srgbClr val="2C3A4F"/>
                </a:solidFill>
                <a:latin typeface="Arial" pitchFamily="34" charset="0"/>
                <a:ea typeface="Arial" pitchFamily="34" charset="-122"/>
                <a:cs typeface="Arial" pitchFamily="34" charset="-120"/>
              </a:rPr>
              <a:t>Lakehouse</a:t>
            </a:r>
            <a:endParaRPr lang="en-US" sz="573" dirty="0"/>
          </a:p>
        </p:txBody>
      </p:sp>
      <p:sp>
        <p:nvSpPr>
          <p:cNvPr id="106" name="Text 78"/>
          <p:cNvSpPr/>
          <p:nvPr/>
        </p:nvSpPr>
        <p:spPr>
          <a:xfrm>
            <a:off x="4015321" y="6218920"/>
            <a:ext cx="983827" cy="184949"/>
          </a:xfrm>
          <a:prstGeom prst="rect">
            <a:avLst/>
          </a:prstGeom>
          <a:noFill/>
          <a:ln/>
        </p:spPr>
        <p:txBody>
          <a:bodyPr wrap="square" lIns="0" tIns="0" rIns="0" bIns="0" rtlCol="0" anchor="ctr"/>
          <a:lstStyle/>
          <a:p>
            <a:pPr algn="ctr"/>
            <a:r>
              <a:rPr lang="en-US" sz="438" dirty="0">
                <a:solidFill>
                  <a:srgbClr val="70809A"/>
                </a:solidFill>
                <a:latin typeface="Arial" pitchFamily="34" charset="0"/>
                <a:ea typeface="Arial" pitchFamily="34" charset="-122"/>
                <a:cs typeface="Arial" pitchFamily="34" charset="-120"/>
              </a:rPr>
              <a:t>(SAP + MES + PI)</a:t>
            </a:r>
            <a:endParaRPr lang="en-US" sz="438" dirty="0"/>
          </a:p>
        </p:txBody>
      </p:sp>
      <p:sp>
        <p:nvSpPr>
          <p:cNvPr id="107" name="Shape 79"/>
          <p:cNvSpPr/>
          <p:nvPr/>
        </p:nvSpPr>
        <p:spPr>
          <a:xfrm>
            <a:off x="5022267" y="5825902"/>
            <a:ext cx="0" cy="601085"/>
          </a:xfrm>
          <a:prstGeom prst="line">
            <a:avLst/>
          </a:prstGeom>
          <a:noFill/>
          <a:ln w="12700">
            <a:solidFill>
              <a:srgbClr val="DCE3EC"/>
            </a:solidFill>
            <a:prstDash val="solid"/>
          </a:ln>
        </p:spPr>
      </p:sp>
      <p:pic>
        <p:nvPicPr>
          <p:cNvPr id="108" name="Image 26" descr="/sessions/zealous-intelligent-mayer/mnt/outputs/icons9/b_wh.png"/>
          <p:cNvPicPr>
            <a:picLocks noChangeAspect="1"/>
          </p:cNvPicPr>
          <p:nvPr/>
        </p:nvPicPr>
        <p:blipFill>
          <a:blip r:embed="rId29"/>
          <a:stretch>
            <a:fillRect/>
          </a:stretch>
        </p:blipFill>
        <p:spPr>
          <a:xfrm>
            <a:off x="5437118" y="5856727"/>
            <a:ext cx="200362" cy="200362"/>
          </a:xfrm>
          <a:prstGeom prst="rect">
            <a:avLst/>
          </a:prstGeom>
        </p:spPr>
      </p:pic>
      <p:sp>
        <p:nvSpPr>
          <p:cNvPr id="109" name="Text 80"/>
          <p:cNvSpPr/>
          <p:nvPr/>
        </p:nvSpPr>
        <p:spPr>
          <a:xfrm>
            <a:off x="5045386" y="6103326"/>
            <a:ext cx="983827" cy="115593"/>
          </a:xfrm>
          <a:prstGeom prst="rect">
            <a:avLst/>
          </a:prstGeom>
          <a:noFill/>
          <a:ln/>
        </p:spPr>
        <p:txBody>
          <a:bodyPr wrap="square" lIns="0" tIns="0" rIns="0" bIns="0" rtlCol="0" anchor="ctr"/>
          <a:lstStyle/>
          <a:p>
            <a:pPr algn="ctr"/>
            <a:r>
              <a:rPr lang="en-US" sz="573" b="1" dirty="0">
                <a:solidFill>
                  <a:srgbClr val="2C3A4F"/>
                </a:solidFill>
                <a:latin typeface="Arial" pitchFamily="34" charset="0"/>
                <a:ea typeface="Arial" pitchFamily="34" charset="-122"/>
                <a:cs typeface="Arial" pitchFamily="34" charset="-120"/>
              </a:rPr>
              <a:t>Warehouse</a:t>
            </a:r>
            <a:endParaRPr lang="en-US" sz="573" dirty="0"/>
          </a:p>
        </p:txBody>
      </p:sp>
      <p:sp>
        <p:nvSpPr>
          <p:cNvPr id="110" name="Text 81"/>
          <p:cNvSpPr/>
          <p:nvPr/>
        </p:nvSpPr>
        <p:spPr>
          <a:xfrm>
            <a:off x="5045386" y="6218920"/>
            <a:ext cx="983827" cy="184949"/>
          </a:xfrm>
          <a:prstGeom prst="rect">
            <a:avLst/>
          </a:prstGeom>
          <a:noFill/>
          <a:ln/>
        </p:spPr>
        <p:txBody>
          <a:bodyPr wrap="square" lIns="0" tIns="0" rIns="0" bIns="0" rtlCol="0" anchor="ctr"/>
          <a:lstStyle/>
          <a:p>
            <a:pPr algn="ctr"/>
            <a:r>
              <a:rPr lang="en-US" sz="438" dirty="0">
                <a:solidFill>
                  <a:srgbClr val="70809A"/>
                </a:solidFill>
                <a:latin typeface="Arial" pitchFamily="34" charset="0"/>
                <a:ea typeface="Arial" pitchFamily="34" charset="-122"/>
                <a:cs typeface="Arial" pitchFamily="34" charset="-120"/>
              </a:rPr>
              <a:t>(Analytics)</a:t>
            </a:r>
            <a:endParaRPr lang="en-US" sz="438" dirty="0"/>
          </a:p>
        </p:txBody>
      </p:sp>
      <p:sp>
        <p:nvSpPr>
          <p:cNvPr id="111" name="Shape 82"/>
          <p:cNvSpPr/>
          <p:nvPr/>
        </p:nvSpPr>
        <p:spPr>
          <a:xfrm>
            <a:off x="6052331" y="5825902"/>
            <a:ext cx="0" cy="601085"/>
          </a:xfrm>
          <a:prstGeom prst="line">
            <a:avLst/>
          </a:prstGeom>
          <a:noFill/>
          <a:ln w="12700">
            <a:solidFill>
              <a:srgbClr val="DCE3EC"/>
            </a:solidFill>
            <a:prstDash val="solid"/>
          </a:ln>
        </p:spPr>
      </p:sp>
      <p:pic>
        <p:nvPicPr>
          <p:cNvPr id="112" name="Image 27" descr="/sessions/zealous-intelligent-mayer/mnt/outputs/icons9/b_rti.png"/>
          <p:cNvPicPr>
            <a:picLocks noChangeAspect="1"/>
          </p:cNvPicPr>
          <p:nvPr/>
        </p:nvPicPr>
        <p:blipFill>
          <a:blip r:embed="rId30"/>
          <a:stretch>
            <a:fillRect/>
          </a:stretch>
        </p:blipFill>
        <p:spPr>
          <a:xfrm>
            <a:off x="6467183" y="5856727"/>
            <a:ext cx="200362" cy="200362"/>
          </a:xfrm>
          <a:prstGeom prst="rect">
            <a:avLst/>
          </a:prstGeom>
        </p:spPr>
      </p:pic>
      <p:sp>
        <p:nvSpPr>
          <p:cNvPr id="113" name="Text 83"/>
          <p:cNvSpPr/>
          <p:nvPr/>
        </p:nvSpPr>
        <p:spPr>
          <a:xfrm>
            <a:off x="6075450" y="6103326"/>
            <a:ext cx="983827" cy="115593"/>
          </a:xfrm>
          <a:prstGeom prst="rect">
            <a:avLst/>
          </a:prstGeom>
          <a:noFill/>
          <a:ln/>
        </p:spPr>
        <p:txBody>
          <a:bodyPr wrap="square" lIns="0" tIns="0" rIns="0" bIns="0" rtlCol="0" anchor="ctr"/>
          <a:lstStyle/>
          <a:p>
            <a:pPr algn="ctr"/>
            <a:r>
              <a:rPr lang="en-US" sz="573" b="1" dirty="0">
                <a:solidFill>
                  <a:srgbClr val="2C3A4F"/>
                </a:solidFill>
                <a:latin typeface="Arial" pitchFamily="34" charset="0"/>
                <a:ea typeface="Arial" pitchFamily="34" charset="-122"/>
                <a:cs typeface="Arial" pitchFamily="34" charset="-120"/>
              </a:rPr>
              <a:t>Real-Time</a:t>
            </a:r>
            <a:endParaRPr lang="en-US" sz="573" dirty="0"/>
          </a:p>
          <a:p>
            <a:pPr algn="ctr"/>
            <a:r>
              <a:rPr lang="en-US" sz="573" b="1" dirty="0">
                <a:solidFill>
                  <a:srgbClr val="2C3A4F"/>
                </a:solidFill>
                <a:latin typeface="Arial" pitchFamily="34" charset="0"/>
                <a:ea typeface="Arial" pitchFamily="34" charset="-122"/>
                <a:cs typeface="Arial" pitchFamily="34" charset="-120"/>
              </a:rPr>
              <a:t>Intelligence</a:t>
            </a:r>
            <a:endParaRPr lang="en-US" sz="573" dirty="0"/>
          </a:p>
        </p:txBody>
      </p:sp>
      <p:sp>
        <p:nvSpPr>
          <p:cNvPr id="114" name="Text 84"/>
          <p:cNvSpPr/>
          <p:nvPr/>
        </p:nvSpPr>
        <p:spPr>
          <a:xfrm>
            <a:off x="6075450" y="6218920"/>
            <a:ext cx="983827" cy="184949"/>
          </a:xfrm>
          <a:prstGeom prst="rect">
            <a:avLst/>
          </a:prstGeom>
          <a:noFill/>
          <a:ln/>
        </p:spPr>
        <p:txBody>
          <a:bodyPr wrap="square" lIns="0" tIns="0" rIns="0" bIns="0" rtlCol="0" anchor="ctr"/>
          <a:lstStyle/>
          <a:p>
            <a:pPr algn="ctr"/>
            <a:r>
              <a:rPr lang="en-US" sz="438" dirty="0">
                <a:solidFill>
                  <a:srgbClr val="70809A"/>
                </a:solidFill>
                <a:latin typeface="Arial" pitchFamily="34" charset="0"/>
                <a:ea typeface="Arial" pitchFamily="34" charset="-122"/>
                <a:cs typeface="Arial" pitchFamily="34" charset="-120"/>
              </a:rPr>
              <a:t>(Line telemetry)</a:t>
            </a:r>
            <a:endParaRPr lang="en-US" sz="438" dirty="0"/>
          </a:p>
        </p:txBody>
      </p:sp>
      <p:sp>
        <p:nvSpPr>
          <p:cNvPr id="115" name="Shape 85"/>
          <p:cNvSpPr/>
          <p:nvPr/>
        </p:nvSpPr>
        <p:spPr>
          <a:xfrm>
            <a:off x="7082396" y="5825902"/>
            <a:ext cx="0" cy="601085"/>
          </a:xfrm>
          <a:prstGeom prst="line">
            <a:avLst/>
          </a:prstGeom>
          <a:noFill/>
          <a:ln w="12700">
            <a:solidFill>
              <a:srgbClr val="DCE3EC"/>
            </a:solidFill>
            <a:prstDash val="solid"/>
          </a:ln>
        </p:spPr>
      </p:sp>
      <p:pic>
        <p:nvPicPr>
          <p:cNvPr id="116" name="Image 28" descr="/sessions/zealous-intelligent-mayer/mnt/outputs/icons9/b_pbi.png"/>
          <p:cNvPicPr>
            <a:picLocks noChangeAspect="1"/>
          </p:cNvPicPr>
          <p:nvPr/>
        </p:nvPicPr>
        <p:blipFill>
          <a:blip r:embed="rId31"/>
          <a:stretch>
            <a:fillRect/>
          </a:stretch>
        </p:blipFill>
        <p:spPr>
          <a:xfrm>
            <a:off x="7497247" y="5856727"/>
            <a:ext cx="200362" cy="200362"/>
          </a:xfrm>
          <a:prstGeom prst="rect">
            <a:avLst/>
          </a:prstGeom>
        </p:spPr>
      </p:pic>
      <p:sp>
        <p:nvSpPr>
          <p:cNvPr id="117" name="Text 86"/>
          <p:cNvSpPr/>
          <p:nvPr/>
        </p:nvSpPr>
        <p:spPr>
          <a:xfrm>
            <a:off x="7105515" y="6103326"/>
            <a:ext cx="983827" cy="115593"/>
          </a:xfrm>
          <a:prstGeom prst="rect">
            <a:avLst/>
          </a:prstGeom>
          <a:noFill/>
          <a:ln/>
        </p:spPr>
        <p:txBody>
          <a:bodyPr wrap="square" lIns="0" tIns="0" rIns="0" bIns="0" rtlCol="0" anchor="ctr"/>
          <a:lstStyle/>
          <a:p>
            <a:pPr algn="ctr"/>
            <a:r>
              <a:rPr lang="en-US" sz="573" b="1" dirty="0">
                <a:solidFill>
                  <a:srgbClr val="2C3A4F"/>
                </a:solidFill>
                <a:latin typeface="Arial" pitchFamily="34" charset="0"/>
                <a:ea typeface="Arial" pitchFamily="34" charset="-122"/>
                <a:cs typeface="Arial" pitchFamily="34" charset="-120"/>
              </a:rPr>
              <a:t>Power BI</a:t>
            </a:r>
            <a:endParaRPr lang="en-US" sz="573" dirty="0"/>
          </a:p>
        </p:txBody>
      </p:sp>
      <p:sp>
        <p:nvSpPr>
          <p:cNvPr id="118" name="Text 87"/>
          <p:cNvSpPr/>
          <p:nvPr/>
        </p:nvSpPr>
        <p:spPr>
          <a:xfrm>
            <a:off x="7105515" y="6218920"/>
            <a:ext cx="983827" cy="184949"/>
          </a:xfrm>
          <a:prstGeom prst="rect">
            <a:avLst/>
          </a:prstGeom>
          <a:noFill/>
          <a:ln/>
        </p:spPr>
        <p:txBody>
          <a:bodyPr wrap="square" lIns="0" tIns="0" rIns="0" bIns="0" rtlCol="0" anchor="ctr"/>
          <a:lstStyle/>
          <a:p>
            <a:pPr algn="ctr"/>
            <a:r>
              <a:rPr lang="en-US" sz="438" dirty="0">
                <a:solidFill>
                  <a:srgbClr val="70809A"/>
                </a:solidFill>
                <a:latin typeface="Arial" pitchFamily="34" charset="0"/>
                <a:ea typeface="Arial" pitchFamily="34" charset="-122"/>
                <a:cs typeface="Arial" pitchFamily="34" charset="-120"/>
              </a:rPr>
              <a:t>(OEE &amp; quality)</a:t>
            </a:r>
            <a:endParaRPr lang="en-US" sz="438" dirty="0"/>
          </a:p>
        </p:txBody>
      </p:sp>
      <p:sp>
        <p:nvSpPr>
          <p:cNvPr id="119" name="Shape 88"/>
          <p:cNvSpPr/>
          <p:nvPr/>
        </p:nvSpPr>
        <p:spPr>
          <a:xfrm>
            <a:off x="8112461" y="5825902"/>
            <a:ext cx="0" cy="601085"/>
          </a:xfrm>
          <a:prstGeom prst="line">
            <a:avLst/>
          </a:prstGeom>
          <a:noFill/>
          <a:ln w="12700">
            <a:solidFill>
              <a:srgbClr val="DCE3EC"/>
            </a:solidFill>
            <a:prstDash val="solid"/>
          </a:ln>
        </p:spPr>
      </p:sp>
      <p:pic>
        <p:nvPicPr>
          <p:cNvPr id="120" name="Image 29" descr="/sessions/zealous-intelligent-mayer/mnt/outputs/icons9/b_adf.png"/>
          <p:cNvPicPr>
            <a:picLocks noChangeAspect="1"/>
          </p:cNvPicPr>
          <p:nvPr/>
        </p:nvPicPr>
        <p:blipFill>
          <a:blip r:embed="rId32"/>
          <a:stretch>
            <a:fillRect/>
          </a:stretch>
        </p:blipFill>
        <p:spPr>
          <a:xfrm>
            <a:off x="8527312" y="5856727"/>
            <a:ext cx="200362" cy="200362"/>
          </a:xfrm>
          <a:prstGeom prst="rect">
            <a:avLst/>
          </a:prstGeom>
        </p:spPr>
      </p:pic>
      <p:sp>
        <p:nvSpPr>
          <p:cNvPr id="121" name="Text 89"/>
          <p:cNvSpPr/>
          <p:nvPr/>
        </p:nvSpPr>
        <p:spPr>
          <a:xfrm>
            <a:off x="8135580" y="6103326"/>
            <a:ext cx="983827" cy="115593"/>
          </a:xfrm>
          <a:prstGeom prst="rect">
            <a:avLst/>
          </a:prstGeom>
          <a:noFill/>
          <a:ln/>
        </p:spPr>
        <p:txBody>
          <a:bodyPr wrap="square" lIns="0" tIns="0" rIns="0" bIns="0" rtlCol="0" anchor="ctr"/>
          <a:lstStyle/>
          <a:p>
            <a:pPr algn="ctr"/>
            <a:r>
              <a:rPr lang="en-US" sz="573" b="1" dirty="0">
                <a:solidFill>
                  <a:srgbClr val="2C3A4F"/>
                </a:solidFill>
                <a:latin typeface="Arial" pitchFamily="34" charset="0"/>
                <a:ea typeface="Arial" pitchFamily="34" charset="-122"/>
                <a:cs typeface="Arial" pitchFamily="34" charset="-120"/>
              </a:rPr>
              <a:t>Data Factory</a:t>
            </a:r>
            <a:endParaRPr lang="en-US" sz="573" dirty="0"/>
          </a:p>
        </p:txBody>
      </p:sp>
      <p:sp>
        <p:nvSpPr>
          <p:cNvPr id="122" name="Text 90"/>
          <p:cNvSpPr/>
          <p:nvPr/>
        </p:nvSpPr>
        <p:spPr>
          <a:xfrm>
            <a:off x="8135580" y="6218920"/>
            <a:ext cx="983827" cy="184949"/>
          </a:xfrm>
          <a:prstGeom prst="rect">
            <a:avLst/>
          </a:prstGeom>
          <a:noFill/>
          <a:ln/>
        </p:spPr>
        <p:txBody>
          <a:bodyPr wrap="square" lIns="0" tIns="0" rIns="0" bIns="0" rtlCol="0" anchor="ctr"/>
          <a:lstStyle/>
          <a:p>
            <a:pPr algn="ctr"/>
            <a:r>
              <a:rPr lang="en-US" sz="438" dirty="0">
                <a:solidFill>
                  <a:srgbClr val="70809A"/>
                </a:solidFill>
                <a:latin typeface="Arial" pitchFamily="34" charset="0"/>
                <a:ea typeface="Arial" pitchFamily="34" charset="-122"/>
                <a:cs typeface="Arial" pitchFamily="34" charset="-120"/>
              </a:rPr>
              <a:t>(Pipelines)</a:t>
            </a:r>
            <a:endParaRPr lang="en-US" sz="438" dirty="0"/>
          </a:p>
        </p:txBody>
      </p:sp>
      <p:sp>
        <p:nvSpPr>
          <p:cNvPr id="123" name="Shape 91"/>
          <p:cNvSpPr/>
          <p:nvPr/>
        </p:nvSpPr>
        <p:spPr>
          <a:xfrm>
            <a:off x="9435362" y="708973"/>
            <a:ext cx="1664543" cy="5779664"/>
          </a:xfrm>
          <a:prstGeom prst="roundRect">
            <a:avLst>
              <a:gd name="adj" fmla="val 4630"/>
            </a:avLst>
          </a:prstGeom>
          <a:solidFill>
            <a:srgbClr val="FFFFFF"/>
          </a:solidFill>
          <a:ln w="12700">
            <a:solidFill>
              <a:srgbClr val="DCE3EC"/>
            </a:solidFill>
            <a:prstDash val="solid"/>
          </a:ln>
        </p:spPr>
      </p:sp>
      <p:sp>
        <p:nvSpPr>
          <p:cNvPr id="124" name="Text 92"/>
          <p:cNvSpPr/>
          <p:nvPr/>
        </p:nvSpPr>
        <p:spPr>
          <a:xfrm>
            <a:off x="9435362" y="801447"/>
            <a:ext cx="1664543" cy="154124"/>
          </a:xfrm>
          <a:prstGeom prst="rect">
            <a:avLst/>
          </a:prstGeom>
          <a:noFill/>
          <a:ln/>
        </p:spPr>
        <p:txBody>
          <a:bodyPr wrap="square" lIns="0" tIns="0" rIns="0" bIns="0" rtlCol="0" anchor="ctr"/>
          <a:lstStyle/>
          <a:p>
            <a:pPr algn="ctr"/>
            <a:r>
              <a:rPr lang="en-US" sz="759" b="1" kern="0" spc="17" dirty="0">
                <a:solidFill>
                  <a:srgbClr val="1B2A45"/>
                </a:solidFill>
                <a:latin typeface="Arial" pitchFamily="34" charset="0"/>
                <a:ea typeface="Arial" pitchFamily="34" charset="-122"/>
                <a:cs typeface="Arial" pitchFamily="34" charset="-120"/>
              </a:rPr>
              <a:t>BUSINESS OUTCOMES</a:t>
            </a:r>
            <a:endParaRPr lang="en-US" sz="759" dirty="0"/>
          </a:p>
        </p:txBody>
      </p:sp>
      <p:sp>
        <p:nvSpPr>
          <p:cNvPr id="125" name="Shape 93"/>
          <p:cNvSpPr/>
          <p:nvPr/>
        </p:nvSpPr>
        <p:spPr>
          <a:xfrm>
            <a:off x="9543249" y="1017221"/>
            <a:ext cx="1448769" cy="0"/>
          </a:xfrm>
          <a:prstGeom prst="line">
            <a:avLst/>
          </a:prstGeom>
          <a:noFill/>
          <a:ln w="12700">
            <a:solidFill>
              <a:srgbClr val="DCE3EC"/>
            </a:solidFill>
            <a:prstDash val="solid"/>
          </a:ln>
        </p:spPr>
      </p:sp>
      <p:pic>
        <p:nvPicPr>
          <p:cNvPr id="126" name="Image 30" descr="/sessions/zealous-intelligent-mayer/mnt/outputs/icons9/o_gov.png"/>
          <p:cNvPicPr>
            <a:picLocks noChangeAspect="1"/>
          </p:cNvPicPr>
          <p:nvPr/>
        </p:nvPicPr>
        <p:blipFill>
          <a:blip r:embed="rId33"/>
          <a:stretch>
            <a:fillRect/>
          </a:stretch>
        </p:blipFill>
        <p:spPr>
          <a:xfrm>
            <a:off x="9543249" y="1125108"/>
            <a:ext cx="200362" cy="200362"/>
          </a:xfrm>
          <a:prstGeom prst="rect">
            <a:avLst/>
          </a:prstGeom>
        </p:spPr>
      </p:pic>
      <p:sp>
        <p:nvSpPr>
          <p:cNvPr id="127" name="Text 94"/>
          <p:cNvSpPr/>
          <p:nvPr/>
        </p:nvSpPr>
        <p:spPr>
          <a:xfrm>
            <a:off x="9805260" y="1109696"/>
            <a:ext cx="1232995" cy="123300"/>
          </a:xfrm>
          <a:prstGeom prst="rect">
            <a:avLst/>
          </a:prstGeom>
          <a:noFill/>
          <a:ln/>
        </p:spPr>
        <p:txBody>
          <a:bodyPr wrap="square" lIns="0" tIns="0" rIns="0" bIns="0" rtlCol="0" anchor="ctr"/>
          <a:lstStyle/>
          <a:p>
            <a:r>
              <a:rPr lang="en-US" sz="674" b="1" dirty="0">
                <a:solidFill>
                  <a:srgbClr val="1E9E5A"/>
                </a:solidFill>
                <a:latin typeface="Arial" pitchFamily="34" charset="0"/>
                <a:ea typeface="Arial" pitchFamily="34" charset="-122"/>
                <a:cs typeface="Arial" pitchFamily="34" charset="-120"/>
              </a:rPr>
              <a:t>Governed AI</a:t>
            </a:r>
            <a:endParaRPr lang="en-US" sz="674" dirty="0"/>
          </a:p>
        </p:txBody>
      </p:sp>
      <p:sp>
        <p:nvSpPr>
          <p:cNvPr id="128" name="Text 95"/>
          <p:cNvSpPr/>
          <p:nvPr/>
        </p:nvSpPr>
        <p:spPr>
          <a:xfrm>
            <a:off x="9805260" y="1263821"/>
            <a:ext cx="1232995" cy="400723"/>
          </a:xfrm>
          <a:prstGeom prst="rect">
            <a:avLst/>
          </a:prstGeom>
          <a:noFill/>
          <a:ln/>
        </p:spPr>
        <p:txBody>
          <a:bodyPr wrap="square" lIns="0" tIns="0" rIns="0" bIns="0" rtlCol="0" anchor="t"/>
          <a:lstStyle/>
          <a:p>
            <a:pPr>
              <a:lnSpc>
                <a:spcPct val="105000"/>
              </a:lnSpc>
            </a:pPr>
            <a:r>
              <a:rPr lang="en-US" sz="523" dirty="0">
                <a:solidFill>
                  <a:srgbClr val="70809A"/>
                </a:solidFill>
                <a:latin typeface="Arial" pitchFamily="34" charset="0"/>
                <a:ea typeface="Arial" pitchFamily="34" charset="-122"/>
                <a:cs typeface="Arial" pitchFamily="34" charset="-120"/>
              </a:rPr>
              <a:t>One policy set and guardrails across every plant</a:t>
            </a:r>
            <a:endParaRPr lang="en-US" sz="523" dirty="0"/>
          </a:p>
        </p:txBody>
      </p:sp>
      <p:sp>
        <p:nvSpPr>
          <p:cNvPr id="129" name="Shape 96"/>
          <p:cNvSpPr/>
          <p:nvPr/>
        </p:nvSpPr>
        <p:spPr>
          <a:xfrm>
            <a:off x="9543249" y="1864905"/>
            <a:ext cx="1448769" cy="0"/>
          </a:xfrm>
          <a:prstGeom prst="line">
            <a:avLst/>
          </a:prstGeom>
          <a:noFill/>
          <a:ln w="12700">
            <a:solidFill>
              <a:srgbClr val="EDF1F6"/>
            </a:solidFill>
            <a:prstDash val="solid"/>
          </a:ln>
        </p:spPr>
      </p:sp>
      <p:pic>
        <p:nvPicPr>
          <p:cNvPr id="130" name="Image 31" descr="/sessions/zealous-intelligent-mayer/mnt/outputs/icons9/o_scale.png"/>
          <p:cNvPicPr>
            <a:picLocks noChangeAspect="1"/>
          </p:cNvPicPr>
          <p:nvPr/>
        </p:nvPicPr>
        <p:blipFill>
          <a:blip r:embed="rId22"/>
          <a:stretch>
            <a:fillRect/>
          </a:stretch>
        </p:blipFill>
        <p:spPr>
          <a:xfrm>
            <a:off x="9543249" y="2003617"/>
            <a:ext cx="200362" cy="200362"/>
          </a:xfrm>
          <a:prstGeom prst="rect">
            <a:avLst/>
          </a:prstGeom>
        </p:spPr>
      </p:pic>
      <p:sp>
        <p:nvSpPr>
          <p:cNvPr id="131" name="Text 97"/>
          <p:cNvSpPr/>
          <p:nvPr/>
        </p:nvSpPr>
        <p:spPr>
          <a:xfrm>
            <a:off x="9805260" y="1988205"/>
            <a:ext cx="1232995" cy="123300"/>
          </a:xfrm>
          <a:prstGeom prst="rect">
            <a:avLst/>
          </a:prstGeom>
          <a:noFill/>
          <a:ln/>
        </p:spPr>
        <p:txBody>
          <a:bodyPr wrap="square" lIns="0" tIns="0" rIns="0" bIns="0" rtlCol="0" anchor="ctr"/>
          <a:lstStyle/>
          <a:p>
            <a:r>
              <a:rPr lang="en-US" sz="674" b="1" dirty="0">
                <a:solidFill>
                  <a:srgbClr val="0F6CBD"/>
                </a:solidFill>
                <a:latin typeface="Arial" pitchFamily="34" charset="0"/>
                <a:ea typeface="Arial" pitchFamily="34" charset="-122"/>
                <a:cs typeface="Arial" pitchFamily="34" charset="-120"/>
              </a:rPr>
              <a:t>Enterprise Scale</a:t>
            </a:r>
            <a:endParaRPr lang="en-US" sz="674" dirty="0"/>
          </a:p>
        </p:txBody>
      </p:sp>
      <p:sp>
        <p:nvSpPr>
          <p:cNvPr id="132" name="Text 98"/>
          <p:cNvSpPr/>
          <p:nvPr/>
        </p:nvSpPr>
        <p:spPr>
          <a:xfrm>
            <a:off x="9805260" y="2142330"/>
            <a:ext cx="1232995" cy="400723"/>
          </a:xfrm>
          <a:prstGeom prst="rect">
            <a:avLst/>
          </a:prstGeom>
          <a:noFill/>
          <a:ln/>
        </p:spPr>
        <p:txBody>
          <a:bodyPr wrap="square" lIns="0" tIns="0" rIns="0" bIns="0" rtlCol="0" anchor="t"/>
          <a:lstStyle/>
          <a:p>
            <a:pPr>
              <a:lnSpc>
                <a:spcPct val="105000"/>
              </a:lnSpc>
            </a:pPr>
            <a:r>
              <a:rPr lang="en-US" sz="523" dirty="0">
                <a:solidFill>
                  <a:srgbClr val="70809A"/>
                </a:solidFill>
                <a:latin typeface="Arial" pitchFamily="34" charset="0"/>
                <a:ea typeface="Arial" pitchFamily="34" charset="-122"/>
                <a:cs typeface="Arial" pitchFamily="34" charset="-120"/>
              </a:rPr>
              <a:t>Consistent, secure access for all AI workloads</a:t>
            </a:r>
            <a:endParaRPr lang="en-US" sz="523" dirty="0"/>
          </a:p>
        </p:txBody>
      </p:sp>
      <p:sp>
        <p:nvSpPr>
          <p:cNvPr id="133" name="Shape 99"/>
          <p:cNvSpPr/>
          <p:nvPr/>
        </p:nvSpPr>
        <p:spPr>
          <a:xfrm>
            <a:off x="9543249" y="2743414"/>
            <a:ext cx="1448769" cy="0"/>
          </a:xfrm>
          <a:prstGeom prst="line">
            <a:avLst/>
          </a:prstGeom>
          <a:noFill/>
          <a:ln w="12700">
            <a:solidFill>
              <a:srgbClr val="EDF1F6"/>
            </a:solidFill>
            <a:prstDash val="solid"/>
          </a:ln>
        </p:spPr>
      </p:sp>
      <p:pic>
        <p:nvPicPr>
          <p:cNvPr id="134" name="Image 32" descr="/sessions/zealous-intelligent-mayer/mnt/outputs/icons9/o_audit.png"/>
          <p:cNvPicPr>
            <a:picLocks noChangeAspect="1"/>
          </p:cNvPicPr>
          <p:nvPr/>
        </p:nvPicPr>
        <p:blipFill>
          <a:blip r:embed="rId34"/>
          <a:stretch>
            <a:fillRect/>
          </a:stretch>
        </p:blipFill>
        <p:spPr>
          <a:xfrm>
            <a:off x="9543249" y="2882126"/>
            <a:ext cx="200362" cy="200362"/>
          </a:xfrm>
          <a:prstGeom prst="rect">
            <a:avLst/>
          </a:prstGeom>
        </p:spPr>
      </p:pic>
      <p:sp>
        <p:nvSpPr>
          <p:cNvPr id="135" name="Text 100"/>
          <p:cNvSpPr/>
          <p:nvPr/>
        </p:nvSpPr>
        <p:spPr>
          <a:xfrm>
            <a:off x="9805260" y="2866714"/>
            <a:ext cx="1232995" cy="123300"/>
          </a:xfrm>
          <a:prstGeom prst="rect">
            <a:avLst/>
          </a:prstGeom>
          <a:noFill/>
          <a:ln/>
        </p:spPr>
        <p:txBody>
          <a:bodyPr wrap="square" lIns="0" tIns="0" rIns="0" bIns="0" rtlCol="0" anchor="ctr"/>
          <a:lstStyle/>
          <a:p>
            <a:r>
              <a:rPr lang="en-US" sz="674" b="1" dirty="0">
                <a:solidFill>
                  <a:srgbClr val="7C5CD6"/>
                </a:solidFill>
                <a:latin typeface="Arial" pitchFamily="34" charset="0"/>
                <a:ea typeface="Arial" pitchFamily="34" charset="-122"/>
                <a:cs typeface="Arial" pitchFamily="34" charset="-120"/>
              </a:rPr>
              <a:t>Audit Ready</a:t>
            </a:r>
            <a:endParaRPr lang="en-US" sz="674" dirty="0"/>
          </a:p>
        </p:txBody>
      </p:sp>
      <p:sp>
        <p:nvSpPr>
          <p:cNvPr id="136" name="Text 101"/>
          <p:cNvSpPr/>
          <p:nvPr/>
        </p:nvSpPr>
        <p:spPr>
          <a:xfrm>
            <a:off x="9805260" y="3020839"/>
            <a:ext cx="1232995" cy="400723"/>
          </a:xfrm>
          <a:prstGeom prst="rect">
            <a:avLst/>
          </a:prstGeom>
          <a:noFill/>
          <a:ln/>
        </p:spPr>
        <p:txBody>
          <a:bodyPr wrap="square" lIns="0" tIns="0" rIns="0" bIns="0" rtlCol="0" anchor="t"/>
          <a:lstStyle/>
          <a:p>
            <a:pPr>
              <a:lnSpc>
                <a:spcPct val="105000"/>
              </a:lnSpc>
            </a:pPr>
            <a:r>
              <a:rPr lang="en-US" sz="523" dirty="0">
                <a:solidFill>
                  <a:srgbClr val="70809A"/>
                </a:solidFill>
                <a:latin typeface="Arial" pitchFamily="34" charset="0"/>
                <a:ea typeface="Arial" pitchFamily="34" charset="-122"/>
                <a:cs typeface="Arial" pitchFamily="34" charset="-120"/>
              </a:rPr>
              <a:t>Complete traceability for customer and regulatory audits</a:t>
            </a:r>
            <a:endParaRPr lang="en-US" sz="523" dirty="0"/>
          </a:p>
        </p:txBody>
      </p:sp>
      <p:sp>
        <p:nvSpPr>
          <p:cNvPr id="137" name="Shape 102"/>
          <p:cNvSpPr/>
          <p:nvPr/>
        </p:nvSpPr>
        <p:spPr>
          <a:xfrm>
            <a:off x="9543249" y="3621923"/>
            <a:ext cx="1448769" cy="0"/>
          </a:xfrm>
          <a:prstGeom prst="line">
            <a:avLst/>
          </a:prstGeom>
          <a:noFill/>
          <a:ln w="12700">
            <a:solidFill>
              <a:srgbClr val="EDF1F6"/>
            </a:solidFill>
            <a:prstDash val="solid"/>
          </a:ln>
        </p:spPr>
      </p:sp>
      <p:pic>
        <p:nvPicPr>
          <p:cNvPr id="138" name="Image 33" descr="/sessions/zealous-intelligent-mayer/mnt/outputs/icons9/o_cost.png"/>
          <p:cNvPicPr>
            <a:picLocks noChangeAspect="1"/>
          </p:cNvPicPr>
          <p:nvPr/>
        </p:nvPicPr>
        <p:blipFill>
          <a:blip r:embed="rId35"/>
          <a:stretch>
            <a:fillRect/>
          </a:stretch>
        </p:blipFill>
        <p:spPr>
          <a:xfrm>
            <a:off x="9543249" y="3760635"/>
            <a:ext cx="200362" cy="200362"/>
          </a:xfrm>
          <a:prstGeom prst="rect">
            <a:avLst/>
          </a:prstGeom>
        </p:spPr>
      </p:pic>
      <p:sp>
        <p:nvSpPr>
          <p:cNvPr id="139" name="Text 103"/>
          <p:cNvSpPr/>
          <p:nvPr/>
        </p:nvSpPr>
        <p:spPr>
          <a:xfrm>
            <a:off x="9805260" y="3745223"/>
            <a:ext cx="1232995" cy="123300"/>
          </a:xfrm>
          <a:prstGeom prst="rect">
            <a:avLst/>
          </a:prstGeom>
          <a:noFill/>
          <a:ln/>
        </p:spPr>
        <p:txBody>
          <a:bodyPr wrap="square" lIns="0" tIns="0" rIns="0" bIns="0" rtlCol="0" anchor="ctr"/>
          <a:lstStyle/>
          <a:p>
            <a:r>
              <a:rPr lang="en-US" sz="674" b="1" dirty="0">
                <a:solidFill>
                  <a:srgbClr val="E8862B"/>
                </a:solidFill>
                <a:latin typeface="Arial" pitchFamily="34" charset="0"/>
                <a:ea typeface="Arial" pitchFamily="34" charset="-122"/>
                <a:cs typeface="Arial" pitchFamily="34" charset="-120"/>
              </a:rPr>
              <a:t>Cost Visibility</a:t>
            </a:r>
            <a:endParaRPr lang="en-US" sz="674" dirty="0"/>
          </a:p>
        </p:txBody>
      </p:sp>
      <p:sp>
        <p:nvSpPr>
          <p:cNvPr id="140" name="Text 104"/>
          <p:cNvSpPr/>
          <p:nvPr/>
        </p:nvSpPr>
        <p:spPr>
          <a:xfrm>
            <a:off x="9805260" y="3899348"/>
            <a:ext cx="1232995" cy="400723"/>
          </a:xfrm>
          <a:prstGeom prst="rect">
            <a:avLst/>
          </a:prstGeom>
          <a:noFill/>
          <a:ln/>
        </p:spPr>
        <p:txBody>
          <a:bodyPr wrap="square" lIns="0" tIns="0" rIns="0" bIns="0" rtlCol="0" anchor="t"/>
          <a:lstStyle/>
          <a:p>
            <a:pPr>
              <a:lnSpc>
                <a:spcPct val="105000"/>
              </a:lnSpc>
            </a:pPr>
            <a:r>
              <a:rPr lang="en-US" sz="523" dirty="0">
                <a:solidFill>
                  <a:srgbClr val="70809A"/>
                </a:solidFill>
                <a:latin typeface="Arial" pitchFamily="34" charset="0"/>
                <a:ea typeface="Arial" pitchFamily="34" charset="-122"/>
                <a:cs typeface="Arial" pitchFamily="34" charset="-120"/>
              </a:rPr>
              <a:t>Token spend tracked by plant and business unit</a:t>
            </a:r>
            <a:endParaRPr lang="en-US" sz="523" dirty="0"/>
          </a:p>
        </p:txBody>
      </p:sp>
      <p:sp>
        <p:nvSpPr>
          <p:cNvPr id="141" name="Shape 105"/>
          <p:cNvSpPr/>
          <p:nvPr/>
        </p:nvSpPr>
        <p:spPr>
          <a:xfrm>
            <a:off x="9543249" y="4500432"/>
            <a:ext cx="1448769" cy="0"/>
          </a:xfrm>
          <a:prstGeom prst="line">
            <a:avLst/>
          </a:prstGeom>
          <a:noFill/>
          <a:ln w="12700">
            <a:solidFill>
              <a:srgbClr val="EDF1F6"/>
            </a:solidFill>
            <a:prstDash val="solid"/>
          </a:ln>
        </p:spPr>
      </p:sp>
      <p:pic>
        <p:nvPicPr>
          <p:cNvPr id="142" name="Image 34" descr="/sessions/zealous-intelligent-mayer/mnt/outputs/icons9/o_sec.png"/>
          <p:cNvPicPr>
            <a:picLocks noChangeAspect="1"/>
          </p:cNvPicPr>
          <p:nvPr/>
        </p:nvPicPr>
        <p:blipFill>
          <a:blip r:embed="rId9"/>
          <a:stretch>
            <a:fillRect/>
          </a:stretch>
        </p:blipFill>
        <p:spPr>
          <a:xfrm>
            <a:off x="9543249" y="4639144"/>
            <a:ext cx="200362" cy="200362"/>
          </a:xfrm>
          <a:prstGeom prst="rect">
            <a:avLst/>
          </a:prstGeom>
        </p:spPr>
      </p:pic>
      <p:sp>
        <p:nvSpPr>
          <p:cNvPr id="143" name="Text 106"/>
          <p:cNvSpPr/>
          <p:nvPr/>
        </p:nvSpPr>
        <p:spPr>
          <a:xfrm>
            <a:off x="9805260" y="4623732"/>
            <a:ext cx="1232995" cy="123300"/>
          </a:xfrm>
          <a:prstGeom prst="rect">
            <a:avLst/>
          </a:prstGeom>
          <a:noFill/>
          <a:ln/>
        </p:spPr>
        <p:txBody>
          <a:bodyPr wrap="square" lIns="0" tIns="0" rIns="0" bIns="0" rtlCol="0" anchor="ctr"/>
          <a:lstStyle/>
          <a:p>
            <a:r>
              <a:rPr lang="en-US" sz="674" b="1" dirty="0">
                <a:solidFill>
                  <a:srgbClr val="0F6CBD"/>
                </a:solidFill>
                <a:latin typeface="Arial" pitchFamily="34" charset="0"/>
                <a:ea typeface="Arial" pitchFamily="34" charset="-122"/>
                <a:cs typeface="Arial" pitchFamily="34" charset="-120"/>
              </a:rPr>
              <a:t>Security by Default</a:t>
            </a:r>
            <a:endParaRPr lang="en-US" sz="674" dirty="0"/>
          </a:p>
        </p:txBody>
      </p:sp>
      <p:sp>
        <p:nvSpPr>
          <p:cNvPr id="144" name="Text 107"/>
          <p:cNvSpPr/>
          <p:nvPr/>
        </p:nvSpPr>
        <p:spPr>
          <a:xfrm>
            <a:off x="9805260" y="4777857"/>
            <a:ext cx="1232995" cy="400723"/>
          </a:xfrm>
          <a:prstGeom prst="rect">
            <a:avLst/>
          </a:prstGeom>
          <a:noFill/>
          <a:ln/>
        </p:spPr>
        <p:txBody>
          <a:bodyPr wrap="square" lIns="0" tIns="0" rIns="0" bIns="0" rtlCol="0" anchor="t"/>
          <a:lstStyle/>
          <a:p>
            <a:pPr>
              <a:lnSpc>
                <a:spcPct val="105000"/>
              </a:lnSpc>
            </a:pPr>
            <a:r>
              <a:rPr lang="en-US" sz="523" dirty="0">
                <a:solidFill>
                  <a:srgbClr val="70809A"/>
                </a:solidFill>
                <a:latin typeface="Arial" pitchFamily="34" charset="0"/>
                <a:ea typeface="Arial" pitchFamily="34" charset="-122"/>
                <a:cs typeface="Arial" pitchFamily="34" charset="-120"/>
              </a:rPr>
              <a:t>Entra identity, content safety and compliance built in</a:t>
            </a:r>
            <a:endParaRPr lang="en-US" sz="523" dirty="0"/>
          </a:p>
        </p:txBody>
      </p:sp>
      <p:sp>
        <p:nvSpPr>
          <p:cNvPr id="145" name="Shape 108"/>
          <p:cNvSpPr/>
          <p:nvPr/>
        </p:nvSpPr>
        <p:spPr>
          <a:xfrm>
            <a:off x="9543249" y="5378941"/>
            <a:ext cx="1448769" cy="0"/>
          </a:xfrm>
          <a:prstGeom prst="line">
            <a:avLst/>
          </a:prstGeom>
          <a:noFill/>
          <a:ln w="12700">
            <a:solidFill>
              <a:srgbClr val="EDF1F6"/>
            </a:solidFill>
            <a:prstDash val="solid"/>
          </a:ln>
        </p:spPr>
      </p:sp>
      <p:pic>
        <p:nvPicPr>
          <p:cNvPr id="146" name="Image 35" descr="/sessions/zealous-intelligent-mayer/mnt/outputs/icons9/o_fast.png"/>
          <p:cNvPicPr>
            <a:picLocks noChangeAspect="1"/>
          </p:cNvPicPr>
          <p:nvPr/>
        </p:nvPicPr>
        <p:blipFill>
          <a:blip r:embed="rId36"/>
          <a:stretch>
            <a:fillRect/>
          </a:stretch>
        </p:blipFill>
        <p:spPr>
          <a:xfrm>
            <a:off x="9543249" y="5517653"/>
            <a:ext cx="200362" cy="200362"/>
          </a:xfrm>
          <a:prstGeom prst="rect">
            <a:avLst/>
          </a:prstGeom>
        </p:spPr>
      </p:pic>
      <p:sp>
        <p:nvSpPr>
          <p:cNvPr id="147" name="Text 109"/>
          <p:cNvSpPr/>
          <p:nvPr/>
        </p:nvSpPr>
        <p:spPr>
          <a:xfrm>
            <a:off x="9805260" y="5502241"/>
            <a:ext cx="1232995" cy="123300"/>
          </a:xfrm>
          <a:prstGeom prst="rect">
            <a:avLst/>
          </a:prstGeom>
          <a:noFill/>
          <a:ln/>
        </p:spPr>
        <p:txBody>
          <a:bodyPr wrap="square" lIns="0" tIns="0" rIns="0" bIns="0" rtlCol="0" anchor="ctr"/>
          <a:lstStyle/>
          <a:p>
            <a:r>
              <a:rPr lang="en-US" sz="674" b="1" dirty="0">
                <a:solidFill>
                  <a:srgbClr val="1E9E5A"/>
                </a:solidFill>
                <a:latin typeface="Arial" pitchFamily="34" charset="0"/>
                <a:ea typeface="Arial" pitchFamily="34" charset="-122"/>
                <a:cs typeface="Arial" pitchFamily="34" charset="-120"/>
              </a:rPr>
              <a:t>Faster Innovation</a:t>
            </a:r>
            <a:endParaRPr lang="en-US" sz="674" dirty="0"/>
          </a:p>
        </p:txBody>
      </p:sp>
      <p:sp>
        <p:nvSpPr>
          <p:cNvPr id="148" name="Text 110"/>
          <p:cNvSpPr/>
          <p:nvPr/>
        </p:nvSpPr>
        <p:spPr>
          <a:xfrm>
            <a:off x="9805260" y="5656366"/>
            <a:ext cx="1232995" cy="400723"/>
          </a:xfrm>
          <a:prstGeom prst="rect">
            <a:avLst/>
          </a:prstGeom>
          <a:noFill/>
          <a:ln/>
        </p:spPr>
        <p:txBody>
          <a:bodyPr wrap="square" lIns="0" tIns="0" rIns="0" bIns="0" rtlCol="0" anchor="t"/>
          <a:lstStyle/>
          <a:p>
            <a:pPr>
              <a:lnSpc>
                <a:spcPct val="105000"/>
              </a:lnSpc>
            </a:pPr>
            <a:r>
              <a:rPr lang="en-US" sz="523" dirty="0">
                <a:solidFill>
                  <a:srgbClr val="70809A"/>
                </a:solidFill>
                <a:latin typeface="Arial" pitchFamily="34" charset="0"/>
                <a:ea typeface="Arial" pitchFamily="34" charset="-122"/>
                <a:cs typeface="Arial" pitchFamily="34" charset="-120"/>
              </a:rPr>
              <a:t>Plants self-serve within enterprise guardrails</a:t>
            </a:r>
            <a:endParaRPr lang="en-US" sz="523" dirty="0"/>
          </a:p>
        </p:txBody>
      </p:sp>
      <p:sp>
        <p:nvSpPr>
          <p:cNvPr id="149" name="Shape 111"/>
          <p:cNvSpPr/>
          <p:nvPr/>
        </p:nvSpPr>
        <p:spPr>
          <a:xfrm>
            <a:off x="1081820" y="4084297"/>
            <a:ext cx="1017221" cy="1279232"/>
          </a:xfrm>
          <a:prstGeom prst="roundRect">
            <a:avLst>
              <a:gd name="adj" fmla="val 7576"/>
            </a:avLst>
          </a:prstGeom>
          <a:solidFill>
            <a:srgbClr val="FFFFFF"/>
          </a:solidFill>
          <a:ln w="12700">
            <a:solidFill>
              <a:srgbClr val="DCE3EC"/>
            </a:solidFill>
            <a:prstDash val="solid"/>
          </a:ln>
        </p:spPr>
      </p:sp>
      <p:sp>
        <p:nvSpPr>
          <p:cNvPr id="150" name="Text 112"/>
          <p:cNvSpPr/>
          <p:nvPr/>
        </p:nvSpPr>
        <p:spPr>
          <a:xfrm>
            <a:off x="1158882" y="4115122"/>
            <a:ext cx="308249" cy="262011"/>
          </a:xfrm>
          <a:prstGeom prst="rect">
            <a:avLst/>
          </a:prstGeom>
          <a:noFill/>
          <a:ln/>
        </p:spPr>
        <p:txBody>
          <a:bodyPr wrap="square" lIns="0" tIns="0" rIns="0" bIns="0" rtlCol="0" anchor="ctr"/>
          <a:lstStyle/>
          <a:p>
            <a:r>
              <a:rPr lang="en-US" sz="2023" b="1" dirty="0">
                <a:solidFill>
                  <a:srgbClr val="AFBCCE"/>
                </a:solidFill>
                <a:latin typeface="Arial" pitchFamily="34" charset="0"/>
                <a:ea typeface="Arial" pitchFamily="34" charset="-122"/>
                <a:cs typeface="Arial" pitchFamily="34" charset="-120"/>
              </a:rPr>
              <a:t>“</a:t>
            </a:r>
            <a:endParaRPr lang="en-US" sz="2023" dirty="0"/>
          </a:p>
        </p:txBody>
      </p:sp>
      <p:sp>
        <p:nvSpPr>
          <p:cNvPr id="151" name="Text 113"/>
          <p:cNvSpPr/>
          <p:nvPr/>
        </p:nvSpPr>
        <p:spPr>
          <a:xfrm>
            <a:off x="1158882" y="4407958"/>
            <a:ext cx="878509" cy="369899"/>
          </a:xfrm>
          <a:prstGeom prst="rect">
            <a:avLst/>
          </a:prstGeom>
          <a:noFill/>
          <a:ln/>
        </p:spPr>
        <p:txBody>
          <a:bodyPr wrap="square" lIns="0" tIns="0" rIns="0" bIns="0" rtlCol="0" anchor="ctr"/>
          <a:lstStyle/>
          <a:p>
            <a:pPr>
              <a:lnSpc>
                <a:spcPct val="106000"/>
              </a:lnSpc>
            </a:pPr>
            <a:r>
              <a:rPr lang="en-US" sz="674" dirty="0">
                <a:solidFill>
                  <a:srgbClr val="2C3A4F"/>
                </a:solidFill>
                <a:latin typeface="Arial" pitchFamily="34" charset="0"/>
                <a:ea typeface="Arial" pitchFamily="34" charset="-122"/>
                <a:cs typeface="Arial" pitchFamily="34" charset="-120"/>
              </a:rPr>
              <a:t>The future challenge</a:t>
            </a:r>
            <a:endParaRPr lang="en-US" sz="674" dirty="0"/>
          </a:p>
          <a:p>
            <a:pPr>
              <a:lnSpc>
                <a:spcPct val="106000"/>
              </a:lnSpc>
            </a:pPr>
            <a:r>
              <a:rPr lang="en-US" sz="674" dirty="0">
                <a:solidFill>
                  <a:srgbClr val="2C3A4F"/>
                </a:solidFill>
                <a:latin typeface="Arial" pitchFamily="34" charset="0"/>
                <a:ea typeface="Arial" pitchFamily="34" charset="-122"/>
                <a:cs typeface="Arial" pitchFamily="34" charset="-120"/>
              </a:rPr>
              <a:t>isn't building AI.</a:t>
            </a:r>
            <a:endParaRPr lang="en-US" sz="674" dirty="0"/>
          </a:p>
        </p:txBody>
      </p:sp>
      <p:sp>
        <p:nvSpPr>
          <p:cNvPr id="152" name="Text 114"/>
          <p:cNvSpPr/>
          <p:nvPr/>
        </p:nvSpPr>
        <p:spPr>
          <a:xfrm>
            <a:off x="1158882" y="4824093"/>
            <a:ext cx="878509" cy="369899"/>
          </a:xfrm>
          <a:prstGeom prst="rect">
            <a:avLst/>
          </a:prstGeom>
          <a:noFill/>
          <a:ln/>
        </p:spPr>
        <p:txBody>
          <a:bodyPr wrap="square" lIns="0" tIns="0" rIns="0" bIns="0" rtlCol="0" anchor="ctr"/>
          <a:lstStyle/>
          <a:p>
            <a:pPr>
              <a:lnSpc>
                <a:spcPct val="106000"/>
              </a:lnSpc>
            </a:pPr>
            <a:r>
              <a:rPr lang="en-US" sz="674" b="1" dirty="0">
                <a:solidFill>
                  <a:srgbClr val="1B2A45"/>
                </a:solidFill>
                <a:latin typeface="Arial" pitchFamily="34" charset="0"/>
                <a:ea typeface="Arial" pitchFamily="34" charset="-122"/>
                <a:cs typeface="Arial" pitchFamily="34" charset="-120"/>
              </a:rPr>
              <a:t>It's governing</a:t>
            </a:r>
            <a:endParaRPr lang="en-US" sz="674" dirty="0"/>
          </a:p>
          <a:p>
            <a:pPr>
              <a:lnSpc>
                <a:spcPct val="106000"/>
              </a:lnSpc>
            </a:pPr>
            <a:r>
              <a:rPr lang="en-US" sz="674" b="1" dirty="0">
                <a:solidFill>
                  <a:srgbClr val="1B2A45"/>
                </a:solidFill>
                <a:latin typeface="Arial" pitchFamily="34" charset="0"/>
                <a:ea typeface="Arial" pitchFamily="34" charset="-122"/>
                <a:cs typeface="Arial" pitchFamily="34" charset="-120"/>
              </a:rPr>
              <a:t>AI at scale.</a:t>
            </a:r>
            <a:endParaRPr lang="en-US" sz="674" dirty="0"/>
          </a:p>
        </p:txBody>
      </p:sp>
      <p:sp>
        <p:nvSpPr>
          <p:cNvPr id="153" name="Shape 115"/>
          <p:cNvSpPr/>
          <p:nvPr/>
        </p:nvSpPr>
        <p:spPr>
          <a:xfrm>
            <a:off x="5744083" y="1556656"/>
            <a:ext cx="0" cy="123300"/>
          </a:xfrm>
          <a:prstGeom prst="line">
            <a:avLst/>
          </a:prstGeom>
          <a:noFill/>
          <a:ln w="12700">
            <a:solidFill>
              <a:srgbClr val="0E9AA7"/>
            </a:solidFill>
            <a:prstDash val="dash"/>
            <a:headEnd type="triangle"/>
            <a:tailEnd type="triangle"/>
          </a:ln>
        </p:spPr>
      </p:sp>
      <p:sp>
        <p:nvSpPr>
          <p:cNvPr id="154" name="Shape 116"/>
          <p:cNvSpPr/>
          <p:nvPr/>
        </p:nvSpPr>
        <p:spPr>
          <a:xfrm>
            <a:off x="5744083" y="3899347"/>
            <a:ext cx="0" cy="123300"/>
          </a:xfrm>
          <a:prstGeom prst="line">
            <a:avLst/>
          </a:prstGeom>
          <a:noFill/>
          <a:ln w="12700">
            <a:solidFill>
              <a:srgbClr val="7C5CD6"/>
            </a:solidFill>
            <a:prstDash val="dash"/>
            <a:headEnd type="triangle"/>
            <a:tailEnd type="triangle"/>
          </a:ln>
        </p:spPr>
      </p:sp>
      <p:sp>
        <p:nvSpPr>
          <p:cNvPr id="155" name="Shape 117"/>
          <p:cNvSpPr/>
          <p:nvPr/>
        </p:nvSpPr>
        <p:spPr>
          <a:xfrm>
            <a:off x="5744083" y="5286467"/>
            <a:ext cx="0" cy="123300"/>
          </a:xfrm>
          <a:prstGeom prst="line">
            <a:avLst/>
          </a:prstGeom>
          <a:noFill/>
          <a:ln w="12700">
            <a:solidFill>
              <a:srgbClr val="1B2A45"/>
            </a:solidFill>
            <a:prstDash val="solid"/>
            <a:headEnd type="triangle"/>
            <a:tailEnd type="triangle"/>
          </a:ln>
        </p:spPr>
      </p:sp>
      <p:sp>
        <p:nvSpPr>
          <p:cNvPr id="156" name="Shape 118"/>
          <p:cNvSpPr/>
          <p:nvPr/>
        </p:nvSpPr>
        <p:spPr>
          <a:xfrm>
            <a:off x="9296649" y="2774239"/>
            <a:ext cx="123300" cy="0"/>
          </a:xfrm>
          <a:prstGeom prst="line">
            <a:avLst/>
          </a:prstGeom>
          <a:noFill/>
          <a:ln w="12700">
            <a:solidFill>
              <a:srgbClr val="7C5CD6"/>
            </a:solidFill>
            <a:prstDash val="dash"/>
            <a:tailEnd type="triangle"/>
          </a:ln>
        </p:spPr>
      </p:sp>
      <p:sp>
        <p:nvSpPr>
          <p:cNvPr id="157" name="Shape 119"/>
          <p:cNvSpPr/>
          <p:nvPr/>
        </p:nvSpPr>
        <p:spPr>
          <a:xfrm>
            <a:off x="9296649" y="4654557"/>
            <a:ext cx="123300" cy="0"/>
          </a:xfrm>
          <a:prstGeom prst="line">
            <a:avLst/>
          </a:prstGeom>
          <a:noFill/>
          <a:ln w="12700">
            <a:solidFill>
              <a:srgbClr val="7C5CD6"/>
            </a:solidFill>
            <a:prstDash val="dash"/>
            <a:tailEnd type="triangle"/>
          </a:ln>
        </p:spPr>
      </p:sp>
      <p:sp>
        <p:nvSpPr>
          <p:cNvPr id="158" name="Shape 120"/>
          <p:cNvSpPr/>
          <p:nvPr/>
        </p:nvSpPr>
        <p:spPr>
          <a:xfrm>
            <a:off x="2114453" y="4700794"/>
            <a:ext cx="77062" cy="0"/>
          </a:xfrm>
          <a:prstGeom prst="line">
            <a:avLst/>
          </a:prstGeom>
          <a:noFill/>
          <a:ln w="12700">
            <a:solidFill>
              <a:srgbClr val="DCE3EC"/>
            </a:solidFill>
            <a:prstDash val="solid"/>
            <a:tailEnd type="triangle"/>
          </a:ln>
        </p:spPr>
      </p:sp>
      <p:sp>
        <p:nvSpPr>
          <p:cNvPr id="159" name="Shape 121"/>
          <p:cNvSpPr/>
          <p:nvPr/>
        </p:nvSpPr>
        <p:spPr>
          <a:xfrm>
            <a:off x="3501573" y="6642761"/>
            <a:ext cx="477786" cy="0"/>
          </a:xfrm>
          <a:prstGeom prst="line">
            <a:avLst/>
          </a:prstGeom>
          <a:noFill/>
          <a:ln w="15875">
            <a:solidFill>
              <a:srgbClr val="1B2A45"/>
            </a:solidFill>
            <a:prstDash val="solid"/>
            <a:tailEnd type="triangle"/>
          </a:ln>
        </p:spPr>
      </p:sp>
      <p:sp>
        <p:nvSpPr>
          <p:cNvPr id="160" name="Text 122"/>
          <p:cNvSpPr/>
          <p:nvPr/>
        </p:nvSpPr>
        <p:spPr>
          <a:xfrm>
            <a:off x="4041008" y="6581111"/>
            <a:ext cx="1310057" cy="123300"/>
          </a:xfrm>
          <a:prstGeom prst="rect">
            <a:avLst/>
          </a:prstGeom>
          <a:noFill/>
          <a:ln/>
        </p:spPr>
        <p:txBody>
          <a:bodyPr wrap="square" lIns="0" tIns="0" rIns="0" bIns="0" rtlCol="0" anchor="ctr"/>
          <a:lstStyle/>
          <a:p>
            <a:r>
              <a:rPr lang="en-US" sz="624" dirty="0">
                <a:solidFill>
                  <a:srgbClr val="2C3A4F"/>
                </a:solidFill>
                <a:latin typeface="Arial" pitchFamily="34" charset="0"/>
                <a:ea typeface="Arial" pitchFamily="34" charset="-122"/>
                <a:cs typeface="Arial" pitchFamily="34" charset="-120"/>
              </a:rPr>
              <a:t>Request / Response</a:t>
            </a:r>
            <a:endParaRPr lang="en-US" sz="624" dirty="0"/>
          </a:p>
        </p:txBody>
      </p:sp>
      <p:sp>
        <p:nvSpPr>
          <p:cNvPr id="161" name="Shape 123"/>
          <p:cNvSpPr/>
          <p:nvPr/>
        </p:nvSpPr>
        <p:spPr>
          <a:xfrm>
            <a:off x="5505190" y="6642761"/>
            <a:ext cx="477786" cy="0"/>
          </a:xfrm>
          <a:prstGeom prst="line">
            <a:avLst/>
          </a:prstGeom>
          <a:noFill/>
          <a:ln w="15875">
            <a:solidFill>
              <a:srgbClr val="0E9AA7"/>
            </a:solidFill>
            <a:prstDash val="dash"/>
            <a:tailEnd type="triangle"/>
          </a:ln>
        </p:spPr>
      </p:sp>
      <p:sp>
        <p:nvSpPr>
          <p:cNvPr id="162" name="Text 124"/>
          <p:cNvSpPr/>
          <p:nvPr/>
        </p:nvSpPr>
        <p:spPr>
          <a:xfrm>
            <a:off x="6044625" y="6581111"/>
            <a:ext cx="1310057" cy="123300"/>
          </a:xfrm>
          <a:prstGeom prst="rect">
            <a:avLst/>
          </a:prstGeom>
          <a:noFill/>
          <a:ln/>
        </p:spPr>
        <p:txBody>
          <a:bodyPr wrap="square" lIns="0" tIns="0" rIns="0" bIns="0" rtlCol="0" anchor="ctr"/>
          <a:lstStyle/>
          <a:p>
            <a:r>
              <a:rPr lang="en-US" sz="624" dirty="0">
                <a:solidFill>
                  <a:srgbClr val="2C3A4F"/>
                </a:solidFill>
                <a:latin typeface="Arial" pitchFamily="34" charset="0"/>
                <a:ea typeface="Arial" pitchFamily="34" charset="-122"/>
                <a:cs typeface="Arial" pitchFamily="34" charset="-120"/>
              </a:rPr>
              <a:t>Telemetry / Logs</a:t>
            </a:r>
            <a:endParaRPr lang="en-US" sz="624" dirty="0"/>
          </a:p>
        </p:txBody>
      </p:sp>
      <p:sp>
        <p:nvSpPr>
          <p:cNvPr id="163" name="Shape 125"/>
          <p:cNvSpPr/>
          <p:nvPr/>
        </p:nvSpPr>
        <p:spPr>
          <a:xfrm>
            <a:off x="7354682" y="6642761"/>
            <a:ext cx="477786" cy="0"/>
          </a:xfrm>
          <a:prstGeom prst="line">
            <a:avLst/>
          </a:prstGeom>
          <a:noFill/>
          <a:ln w="15875">
            <a:solidFill>
              <a:srgbClr val="7C5CD6"/>
            </a:solidFill>
            <a:prstDash val="dash"/>
            <a:tailEnd type="triangle"/>
          </a:ln>
        </p:spPr>
      </p:sp>
      <p:sp>
        <p:nvSpPr>
          <p:cNvPr id="164" name="Text 126"/>
          <p:cNvSpPr/>
          <p:nvPr/>
        </p:nvSpPr>
        <p:spPr>
          <a:xfrm>
            <a:off x="7894118" y="6581111"/>
            <a:ext cx="1310057" cy="123300"/>
          </a:xfrm>
          <a:prstGeom prst="rect">
            <a:avLst/>
          </a:prstGeom>
          <a:noFill/>
          <a:ln/>
        </p:spPr>
        <p:txBody>
          <a:bodyPr wrap="square" lIns="0" tIns="0" rIns="0" bIns="0" rtlCol="0" anchor="ctr"/>
          <a:lstStyle/>
          <a:p>
            <a:r>
              <a:rPr lang="en-US" sz="624" dirty="0">
                <a:solidFill>
                  <a:srgbClr val="2C3A4F"/>
                </a:solidFill>
                <a:latin typeface="Arial" pitchFamily="34" charset="0"/>
                <a:ea typeface="Arial" pitchFamily="34" charset="-122"/>
                <a:cs typeface="Arial" pitchFamily="34" charset="-120"/>
              </a:rPr>
              <a:t>Policies / Governance</a:t>
            </a:r>
            <a:endParaRPr lang="en-US" sz="624" dirty="0"/>
          </a:p>
        </p:txBody>
      </p:sp>
      <p:sp>
        <p:nvSpPr>
          <p:cNvPr id="165" name="Text 127"/>
          <p:cNvSpPr/>
          <p:nvPr/>
        </p:nvSpPr>
        <p:spPr>
          <a:xfrm>
            <a:off x="958521" y="6735236"/>
            <a:ext cx="10274702" cy="107887"/>
          </a:xfrm>
          <a:prstGeom prst="rect">
            <a:avLst/>
          </a:prstGeom>
          <a:noFill/>
          <a:ln/>
        </p:spPr>
        <p:txBody>
          <a:bodyPr wrap="square" lIns="0" tIns="0" rIns="0" bIns="0" rtlCol="0" anchor="ctr"/>
          <a:lstStyle/>
          <a:p>
            <a:pPr algn="ctr"/>
            <a:r>
              <a:rPr lang="en-US" sz="506" i="1" dirty="0">
                <a:solidFill>
                  <a:srgbClr val="70809A"/>
                </a:solidFill>
                <a:latin typeface="Arial" pitchFamily="34" charset="0"/>
                <a:ea typeface="Arial" pitchFamily="34" charset="-122"/>
                <a:cs typeface="Arial" pitchFamily="34" charset="-120"/>
              </a:rPr>
              <a:t>Adapted for Ball Corporation manufacturing &amp; supply chain  ·  AI Gateway tier in Azure API Management is in public preview</a:t>
            </a:r>
            <a:endParaRPr lang="en-US" sz="506"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060087" y="85723"/>
            <a:ext cx="4071827" cy="417898"/>
          </a:xfrm>
          <a:prstGeom prst="roundRect">
            <a:avLst>
              <a:gd name="adj" fmla="val 17949"/>
            </a:avLst>
          </a:prstGeom>
          <a:solidFill>
            <a:srgbClr val="4CBF6A"/>
          </a:solidFill>
          <a:ln w="12700">
            <a:solidFill>
              <a:srgbClr val="3FA95B"/>
            </a:solidFill>
            <a:prstDash val="solid"/>
          </a:ln>
        </p:spPr>
      </p:sp>
      <p:sp>
        <p:nvSpPr>
          <p:cNvPr id="3" name="Text 1"/>
          <p:cNvSpPr/>
          <p:nvPr/>
        </p:nvSpPr>
        <p:spPr>
          <a:xfrm>
            <a:off x="4081517" y="85723"/>
            <a:ext cx="4028966" cy="417898"/>
          </a:xfrm>
          <a:prstGeom prst="rect">
            <a:avLst/>
          </a:prstGeom>
          <a:noFill/>
          <a:ln/>
        </p:spPr>
        <p:txBody>
          <a:bodyPr wrap="square" lIns="0" tIns="0" rIns="0" bIns="0" rtlCol="0" anchor="ctr"/>
          <a:lstStyle/>
          <a:p>
            <a:pPr algn="ctr"/>
            <a:r>
              <a:rPr lang="en-US" sz="1406" b="1" kern="0" spc="23" dirty="0">
                <a:solidFill>
                  <a:srgbClr val="FFFFFF"/>
                </a:solidFill>
                <a:latin typeface="Arial" pitchFamily="34" charset="0"/>
                <a:ea typeface="Arial" pitchFamily="34" charset="-122"/>
                <a:cs typeface="Arial" pitchFamily="34" charset="-120"/>
              </a:rPr>
              <a:t>THE $0 AZURE AI ARCHITECTURE STACK</a:t>
            </a:r>
            <a:endParaRPr lang="en-US" sz="1406" dirty="0"/>
          </a:p>
        </p:txBody>
      </p:sp>
      <p:sp>
        <p:nvSpPr>
          <p:cNvPr id="4" name="Text 2"/>
          <p:cNvSpPr/>
          <p:nvPr/>
        </p:nvSpPr>
        <p:spPr>
          <a:xfrm>
            <a:off x="3417167" y="546482"/>
            <a:ext cx="5357667" cy="225022"/>
          </a:xfrm>
          <a:prstGeom prst="rect">
            <a:avLst/>
          </a:prstGeom>
          <a:noFill/>
          <a:ln/>
        </p:spPr>
        <p:txBody>
          <a:bodyPr wrap="square" lIns="0" tIns="0" rIns="0" bIns="0" rtlCol="0" anchor="ctr"/>
          <a:lstStyle/>
          <a:p>
            <a:pPr algn="ctr"/>
            <a:r>
              <a:rPr lang="en-US" sz="1172" b="1" kern="0" spc="18" dirty="0">
                <a:solidFill>
                  <a:srgbClr val="17532C"/>
                </a:solidFill>
                <a:latin typeface="Arial" pitchFamily="34" charset="0"/>
                <a:ea typeface="Arial" pitchFamily="34" charset="-122"/>
                <a:cs typeface="Arial" pitchFamily="34" charset="-120"/>
              </a:rPr>
              <a:t>2026 EDITION  ·  BALL CORPORATION</a:t>
            </a:r>
            <a:endParaRPr lang="en-US" sz="1172" dirty="0"/>
          </a:p>
        </p:txBody>
      </p:sp>
      <p:sp>
        <p:nvSpPr>
          <p:cNvPr id="5" name="Text 3"/>
          <p:cNvSpPr/>
          <p:nvPr/>
        </p:nvSpPr>
        <p:spPr>
          <a:xfrm>
            <a:off x="3417167" y="771504"/>
            <a:ext cx="5357667" cy="85723"/>
          </a:xfrm>
          <a:prstGeom prst="rect">
            <a:avLst/>
          </a:prstGeom>
          <a:noFill/>
          <a:ln/>
        </p:spPr>
        <p:txBody>
          <a:bodyPr wrap="square" lIns="0" tIns="0" rIns="0" bIns="0" rtlCol="0" anchor="ctr"/>
          <a:lstStyle/>
          <a:p>
            <a:pPr algn="ctr"/>
            <a:r>
              <a:rPr lang="en-US" sz="469" i="1" dirty="0">
                <a:solidFill>
                  <a:srgbClr val="6B7480"/>
                </a:solidFill>
                <a:latin typeface="Arial" pitchFamily="34" charset="0"/>
                <a:ea typeface="Arial" pitchFamily="34" charset="-122"/>
                <a:cs typeface="Arial" pitchFamily="34" charset="-120"/>
              </a:rPr>
              <a:t>Free-tier Azure services + open-weight models running on plant hardware — built for beverage packaging operations</a:t>
            </a:r>
            <a:endParaRPr lang="en-US" sz="469" dirty="0"/>
          </a:p>
        </p:txBody>
      </p:sp>
      <p:pic>
        <p:nvPicPr>
          <p:cNvPr id="6" name="Image 0" descr="/sessions/zealous-intelligent-mayer/mnt/outputs/icons8/user.png"/>
          <p:cNvPicPr>
            <a:picLocks noChangeAspect="1"/>
          </p:cNvPicPr>
          <p:nvPr/>
        </p:nvPicPr>
        <p:blipFill>
          <a:blip r:embed="rId3"/>
          <a:stretch>
            <a:fillRect/>
          </a:stretch>
        </p:blipFill>
        <p:spPr>
          <a:xfrm>
            <a:off x="3738627" y="1178687"/>
            <a:ext cx="332175" cy="332175"/>
          </a:xfrm>
          <a:prstGeom prst="rect">
            <a:avLst/>
          </a:prstGeom>
        </p:spPr>
      </p:pic>
      <p:pic>
        <p:nvPicPr>
          <p:cNvPr id="7" name="Image 1" descr="/sessions/zealous-intelligent-mayer/mnt/outputs/icons8/mobile.png"/>
          <p:cNvPicPr>
            <a:picLocks noChangeAspect="1"/>
          </p:cNvPicPr>
          <p:nvPr/>
        </p:nvPicPr>
        <p:blipFill>
          <a:blip r:embed="rId4"/>
          <a:stretch>
            <a:fillRect/>
          </a:stretch>
        </p:blipFill>
        <p:spPr>
          <a:xfrm>
            <a:off x="4081517" y="1264409"/>
            <a:ext cx="160730" cy="225022"/>
          </a:xfrm>
          <a:prstGeom prst="rect">
            <a:avLst/>
          </a:prstGeom>
        </p:spPr>
      </p:pic>
      <p:sp>
        <p:nvSpPr>
          <p:cNvPr id="8" name="Shape 4"/>
          <p:cNvSpPr/>
          <p:nvPr/>
        </p:nvSpPr>
        <p:spPr>
          <a:xfrm>
            <a:off x="3599327" y="1618015"/>
            <a:ext cx="150015" cy="150015"/>
          </a:xfrm>
          <a:prstGeom prst="ellipse">
            <a:avLst/>
          </a:prstGeom>
          <a:solidFill>
            <a:srgbClr val="2E9E4F"/>
          </a:solidFill>
          <a:ln/>
        </p:spPr>
      </p:sp>
      <p:sp>
        <p:nvSpPr>
          <p:cNvPr id="9" name="Text 5"/>
          <p:cNvSpPr/>
          <p:nvPr/>
        </p:nvSpPr>
        <p:spPr>
          <a:xfrm>
            <a:off x="3599327" y="1620694"/>
            <a:ext cx="150015" cy="144657"/>
          </a:xfrm>
          <a:prstGeom prst="rect">
            <a:avLst/>
          </a:prstGeom>
          <a:noFill/>
          <a:ln/>
        </p:spPr>
        <p:txBody>
          <a:bodyPr wrap="square" lIns="0" tIns="0" rIns="0" bIns="0" rtlCol="0" anchor="ctr"/>
          <a:lstStyle/>
          <a:p>
            <a:pPr algn="ctr"/>
            <a:r>
              <a:rPr lang="en-US" sz="586" b="1" dirty="0">
                <a:solidFill>
                  <a:srgbClr val="FFFFFF"/>
                </a:solidFill>
                <a:latin typeface="Arial" pitchFamily="34" charset="0"/>
                <a:ea typeface="Arial" pitchFamily="34" charset="-122"/>
                <a:cs typeface="Arial" pitchFamily="34" charset="-120"/>
              </a:rPr>
              <a:t>1</a:t>
            </a:r>
            <a:endParaRPr lang="en-US" sz="586" dirty="0"/>
          </a:p>
        </p:txBody>
      </p:sp>
      <p:sp>
        <p:nvSpPr>
          <p:cNvPr id="10" name="Text 6"/>
          <p:cNvSpPr/>
          <p:nvPr/>
        </p:nvSpPr>
        <p:spPr>
          <a:xfrm>
            <a:off x="3792203" y="1612658"/>
            <a:ext cx="857227" cy="128584"/>
          </a:xfrm>
          <a:prstGeom prst="rect">
            <a:avLst/>
          </a:prstGeom>
          <a:noFill/>
          <a:ln/>
        </p:spPr>
        <p:txBody>
          <a:bodyPr wrap="square" lIns="0" tIns="0" rIns="0" bIns="0" rtlCol="0" anchor="ctr"/>
          <a:lstStyle/>
          <a:p>
            <a:r>
              <a:rPr lang="en-US" sz="732" b="1" dirty="0">
                <a:solidFill>
                  <a:srgbClr val="2E9E4F"/>
                </a:solidFill>
                <a:latin typeface="Arial" pitchFamily="34" charset="0"/>
                <a:ea typeface="Arial" pitchFamily="34" charset="-122"/>
                <a:cs typeface="Arial" pitchFamily="34" charset="-120"/>
              </a:rPr>
              <a:t>User Input</a:t>
            </a:r>
            <a:endParaRPr lang="en-US" sz="732" dirty="0"/>
          </a:p>
        </p:txBody>
      </p:sp>
      <p:sp>
        <p:nvSpPr>
          <p:cNvPr id="11" name="Text 7"/>
          <p:cNvSpPr/>
          <p:nvPr/>
        </p:nvSpPr>
        <p:spPr>
          <a:xfrm>
            <a:off x="3599327" y="1757315"/>
            <a:ext cx="1178687" cy="139299"/>
          </a:xfrm>
          <a:prstGeom prst="rect">
            <a:avLst/>
          </a:prstGeom>
          <a:noFill/>
          <a:ln/>
        </p:spPr>
        <p:txBody>
          <a:bodyPr wrap="square" lIns="0" tIns="0" rIns="0" bIns="0" rtlCol="0" anchor="ctr"/>
          <a:lstStyle/>
          <a:p>
            <a:pPr>
              <a:lnSpc>
                <a:spcPct val="102000"/>
              </a:lnSpc>
            </a:pPr>
            <a:r>
              <a:rPr lang="en-US" sz="492" dirty="0">
                <a:solidFill>
                  <a:srgbClr val="2B2F36"/>
                </a:solidFill>
                <a:latin typeface="Arial" pitchFamily="34" charset="0"/>
                <a:ea typeface="Arial" pitchFamily="34" charset="-122"/>
                <a:cs typeface="Arial" pitchFamily="34" charset="-120"/>
              </a:rPr>
              <a:t>Plant Ops Web  ·  Mobile  ·  Teams  ·  CLI</a:t>
            </a:r>
            <a:endParaRPr lang="en-US" sz="492" dirty="0"/>
          </a:p>
        </p:txBody>
      </p:sp>
      <p:sp>
        <p:nvSpPr>
          <p:cNvPr id="12" name="Shape 8"/>
          <p:cNvSpPr/>
          <p:nvPr/>
        </p:nvSpPr>
        <p:spPr>
          <a:xfrm>
            <a:off x="4863737" y="889373"/>
            <a:ext cx="1264409" cy="1028672"/>
          </a:xfrm>
          <a:prstGeom prst="roundRect">
            <a:avLst>
              <a:gd name="adj" fmla="val 5208"/>
            </a:avLst>
          </a:prstGeom>
          <a:solidFill>
            <a:srgbClr val="FDF3EC"/>
          </a:solidFill>
          <a:ln w="15875">
            <a:solidFill>
              <a:srgbClr val="F1B294"/>
            </a:solidFill>
            <a:prstDash val="solid"/>
          </a:ln>
        </p:spPr>
      </p:sp>
      <p:sp>
        <p:nvSpPr>
          <p:cNvPr id="13" name="Shape 9"/>
          <p:cNvSpPr/>
          <p:nvPr/>
        </p:nvSpPr>
        <p:spPr>
          <a:xfrm>
            <a:off x="4938744" y="953664"/>
            <a:ext cx="150015" cy="150015"/>
          </a:xfrm>
          <a:prstGeom prst="ellipse">
            <a:avLst/>
          </a:prstGeom>
          <a:solidFill>
            <a:srgbClr val="E8734A"/>
          </a:solidFill>
          <a:ln/>
        </p:spPr>
      </p:sp>
      <p:sp>
        <p:nvSpPr>
          <p:cNvPr id="14" name="Text 10"/>
          <p:cNvSpPr/>
          <p:nvPr/>
        </p:nvSpPr>
        <p:spPr>
          <a:xfrm>
            <a:off x="4938744" y="956343"/>
            <a:ext cx="150015" cy="144657"/>
          </a:xfrm>
          <a:prstGeom prst="rect">
            <a:avLst/>
          </a:prstGeom>
          <a:noFill/>
          <a:ln/>
        </p:spPr>
        <p:txBody>
          <a:bodyPr wrap="square" lIns="0" tIns="0" rIns="0" bIns="0" rtlCol="0" anchor="ctr"/>
          <a:lstStyle/>
          <a:p>
            <a:pPr algn="ctr"/>
            <a:r>
              <a:rPr lang="en-US" sz="586" b="1" dirty="0">
                <a:solidFill>
                  <a:srgbClr val="FFFFFF"/>
                </a:solidFill>
                <a:latin typeface="Arial" pitchFamily="34" charset="0"/>
                <a:ea typeface="Arial" pitchFamily="34" charset="-122"/>
                <a:cs typeface="Arial" pitchFamily="34" charset="-120"/>
              </a:rPr>
              <a:t>2</a:t>
            </a:r>
            <a:endParaRPr lang="en-US" sz="586" dirty="0"/>
          </a:p>
        </p:txBody>
      </p:sp>
      <p:sp>
        <p:nvSpPr>
          <p:cNvPr id="15" name="Text 11"/>
          <p:cNvSpPr/>
          <p:nvPr/>
        </p:nvSpPr>
        <p:spPr>
          <a:xfrm>
            <a:off x="5131620" y="948307"/>
            <a:ext cx="964380" cy="128584"/>
          </a:xfrm>
          <a:prstGeom prst="rect">
            <a:avLst/>
          </a:prstGeom>
          <a:noFill/>
          <a:ln/>
        </p:spPr>
        <p:txBody>
          <a:bodyPr wrap="square" lIns="0" tIns="0" rIns="0" bIns="0" rtlCol="0" anchor="ctr"/>
          <a:lstStyle/>
          <a:p>
            <a:r>
              <a:rPr lang="en-US" sz="732" b="1" dirty="0">
                <a:solidFill>
                  <a:srgbClr val="E8734A"/>
                </a:solidFill>
                <a:latin typeface="Arial" pitchFamily="34" charset="0"/>
                <a:ea typeface="Arial" pitchFamily="34" charset="-122"/>
                <a:cs typeface="Arial" pitchFamily="34" charset="-120"/>
              </a:rPr>
              <a:t>Frontend Layer</a:t>
            </a:r>
            <a:endParaRPr lang="en-US" sz="732" dirty="0"/>
          </a:p>
        </p:txBody>
      </p:sp>
      <p:sp>
        <p:nvSpPr>
          <p:cNvPr id="16" name="Text 12"/>
          <p:cNvSpPr/>
          <p:nvPr/>
        </p:nvSpPr>
        <p:spPr>
          <a:xfrm>
            <a:off x="5131620" y="1082249"/>
            <a:ext cx="964380" cy="192876"/>
          </a:xfrm>
          <a:prstGeom prst="rect">
            <a:avLst/>
          </a:prstGeom>
          <a:noFill/>
          <a:ln/>
        </p:spPr>
        <p:txBody>
          <a:bodyPr wrap="square" lIns="0" tIns="0" rIns="0" bIns="0" rtlCol="0" anchor="ctr"/>
          <a:lstStyle/>
          <a:p>
            <a:pPr>
              <a:lnSpc>
                <a:spcPct val="104000"/>
              </a:lnSpc>
            </a:pPr>
            <a:r>
              <a:rPr lang="en-US" sz="504" dirty="0">
                <a:solidFill>
                  <a:srgbClr val="2B2F36"/>
                </a:solidFill>
                <a:latin typeface="Arial" pitchFamily="34" charset="0"/>
                <a:ea typeface="Arial" pitchFamily="34" charset="-122"/>
                <a:cs typeface="Arial" pitchFamily="34" charset="-120"/>
              </a:rPr>
              <a:t>Captures input and</a:t>
            </a:r>
            <a:endParaRPr lang="en-US" sz="504" dirty="0"/>
          </a:p>
          <a:p>
            <a:pPr>
              <a:lnSpc>
                <a:spcPct val="104000"/>
              </a:lnSpc>
            </a:pPr>
            <a:r>
              <a:rPr lang="en-US" sz="504" dirty="0">
                <a:solidFill>
                  <a:srgbClr val="2B2F36"/>
                </a:solidFill>
                <a:latin typeface="Arial" pitchFamily="34" charset="0"/>
                <a:ea typeface="Arial" pitchFamily="34" charset="-122"/>
                <a:cs typeface="Arial" pitchFamily="34" charset="-120"/>
              </a:rPr>
              <a:t>streams responses</a:t>
            </a:r>
            <a:endParaRPr lang="en-US" sz="504" dirty="0"/>
          </a:p>
        </p:txBody>
      </p:sp>
      <p:pic>
        <p:nvPicPr>
          <p:cNvPr id="17" name="Image 2" descr="/sessions/zealous-intelligent-mayer/mnt/outputs/icons8/swa.png"/>
          <p:cNvPicPr>
            <a:picLocks noChangeAspect="1"/>
          </p:cNvPicPr>
          <p:nvPr/>
        </p:nvPicPr>
        <p:blipFill>
          <a:blip r:embed="rId5"/>
          <a:stretch>
            <a:fillRect/>
          </a:stretch>
        </p:blipFill>
        <p:spPr>
          <a:xfrm>
            <a:off x="4970890" y="1328701"/>
            <a:ext cx="117869" cy="117869"/>
          </a:xfrm>
          <a:prstGeom prst="rect">
            <a:avLst/>
          </a:prstGeom>
        </p:spPr>
      </p:pic>
      <p:sp>
        <p:nvSpPr>
          <p:cNvPr id="18" name="Text 13"/>
          <p:cNvSpPr/>
          <p:nvPr/>
        </p:nvSpPr>
        <p:spPr>
          <a:xfrm>
            <a:off x="5131620" y="1317986"/>
            <a:ext cx="921519" cy="80365"/>
          </a:xfrm>
          <a:prstGeom prst="rect">
            <a:avLst/>
          </a:prstGeom>
          <a:noFill/>
          <a:ln/>
        </p:spPr>
        <p:txBody>
          <a:bodyPr wrap="square" lIns="0" tIns="0" rIns="0" bIns="0" rtlCol="0" anchor="ctr"/>
          <a:lstStyle/>
          <a:p>
            <a:r>
              <a:rPr lang="en-US" sz="492" b="1" dirty="0">
                <a:solidFill>
                  <a:srgbClr val="2B2F36"/>
                </a:solidFill>
                <a:latin typeface="Arial" pitchFamily="34" charset="0"/>
                <a:ea typeface="Arial" pitchFamily="34" charset="-122"/>
                <a:cs typeface="Arial" pitchFamily="34" charset="-120"/>
              </a:rPr>
              <a:t>Azure Static Web Apps</a:t>
            </a:r>
            <a:endParaRPr lang="en-US" sz="492" dirty="0"/>
          </a:p>
        </p:txBody>
      </p:sp>
      <p:sp>
        <p:nvSpPr>
          <p:cNvPr id="19" name="Text 14"/>
          <p:cNvSpPr/>
          <p:nvPr/>
        </p:nvSpPr>
        <p:spPr>
          <a:xfrm>
            <a:off x="5131620" y="1395672"/>
            <a:ext cx="921519" cy="69650"/>
          </a:xfrm>
          <a:prstGeom prst="rect">
            <a:avLst/>
          </a:prstGeom>
          <a:noFill/>
          <a:ln/>
        </p:spPr>
        <p:txBody>
          <a:bodyPr wrap="square" lIns="0" tIns="0" rIns="0" bIns="0" rtlCol="0" anchor="ctr"/>
          <a:lstStyle/>
          <a:p>
            <a:r>
              <a:rPr lang="en-US" sz="375" dirty="0">
                <a:solidFill>
                  <a:srgbClr val="6B7480"/>
                </a:solidFill>
                <a:latin typeface="Arial" pitchFamily="34" charset="0"/>
                <a:ea typeface="Arial" pitchFamily="34" charset="-122"/>
                <a:cs typeface="Arial" pitchFamily="34" charset="-120"/>
              </a:rPr>
              <a:t>Free plan</a:t>
            </a:r>
            <a:endParaRPr lang="en-US" sz="375" dirty="0"/>
          </a:p>
        </p:txBody>
      </p:sp>
      <p:pic>
        <p:nvPicPr>
          <p:cNvPr id="20" name="Image 3" descr="/sessions/zealous-intelligent-mayer/mnt/outputs/icons8/appsvc.png"/>
          <p:cNvPicPr>
            <a:picLocks noChangeAspect="1"/>
          </p:cNvPicPr>
          <p:nvPr/>
        </p:nvPicPr>
        <p:blipFill>
          <a:blip r:embed="rId6"/>
          <a:stretch>
            <a:fillRect/>
          </a:stretch>
        </p:blipFill>
        <p:spPr>
          <a:xfrm>
            <a:off x="4970890" y="1521577"/>
            <a:ext cx="117869" cy="117869"/>
          </a:xfrm>
          <a:prstGeom prst="rect">
            <a:avLst/>
          </a:prstGeom>
        </p:spPr>
      </p:pic>
      <p:sp>
        <p:nvSpPr>
          <p:cNvPr id="21" name="Text 15"/>
          <p:cNvSpPr/>
          <p:nvPr/>
        </p:nvSpPr>
        <p:spPr>
          <a:xfrm>
            <a:off x="5131620" y="1510862"/>
            <a:ext cx="921519" cy="80365"/>
          </a:xfrm>
          <a:prstGeom prst="rect">
            <a:avLst/>
          </a:prstGeom>
          <a:noFill/>
          <a:ln/>
        </p:spPr>
        <p:txBody>
          <a:bodyPr wrap="square" lIns="0" tIns="0" rIns="0" bIns="0" rtlCol="0" anchor="ctr"/>
          <a:lstStyle/>
          <a:p>
            <a:r>
              <a:rPr lang="en-US" sz="492" b="1" dirty="0">
                <a:solidFill>
                  <a:srgbClr val="2B2F36"/>
                </a:solidFill>
                <a:latin typeface="Arial" pitchFamily="34" charset="0"/>
                <a:ea typeface="Arial" pitchFamily="34" charset="-122"/>
                <a:cs typeface="Arial" pitchFamily="34" charset="-120"/>
              </a:rPr>
              <a:t>App Service F1</a:t>
            </a:r>
            <a:endParaRPr lang="en-US" sz="492" dirty="0"/>
          </a:p>
        </p:txBody>
      </p:sp>
      <p:sp>
        <p:nvSpPr>
          <p:cNvPr id="22" name="Text 16"/>
          <p:cNvSpPr/>
          <p:nvPr/>
        </p:nvSpPr>
        <p:spPr>
          <a:xfrm>
            <a:off x="5131620" y="1588548"/>
            <a:ext cx="921519" cy="69650"/>
          </a:xfrm>
          <a:prstGeom prst="rect">
            <a:avLst/>
          </a:prstGeom>
          <a:noFill/>
          <a:ln/>
        </p:spPr>
        <p:txBody>
          <a:bodyPr wrap="square" lIns="0" tIns="0" rIns="0" bIns="0" rtlCol="0" anchor="ctr"/>
          <a:lstStyle/>
          <a:p>
            <a:r>
              <a:rPr lang="en-US" sz="375" dirty="0">
                <a:solidFill>
                  <a:srgbClr val="6B7480"/>
                </a:solidFill>
                <a:latin typeface="Arial" pitchFamily="34" charset="0"/>
                <a:ea typeface="Arial" pitchFamily="34" charset="-122"/>
                <a:cs typeface="Arial" pitchFamily="34" charset="-120"/>
              </a:rPr>
              <a:t>Free tier (shared)</a:t>
            </a:r>
            <a:endParaRPr lang="en-US" sz="375" dirty="0"/>
          </a:p>
        </p:txBody>
      </p:sp>
      <p:pic>
        <p:nvPicPr>
          <p:cNvPr id="23" name="Image 4" descr="/sessions/zealous-intelligent-mayer/mnt/outputs/icons8/entra.png"/>
          <p:cNvPicPr>
            <a:picLocks noChangeAspect="1"/>
          </p:cNvPicPr>
          <p:nvPr/>
        </p:nvPicPr>
        <p:blipFill>
          <a:blip r:embed="rId7"/>
          <a:stretch>
            <a:fillRect/>
          </a:stretch>
        </p:blipFill>
        <p:spPr>
          <a:xfrm>
            <a:off x="4970890" y="1714453"/>
            <a:ext cx="117869" cy="117869"/>
          </a:xfrm>
          <a:prstGeom prst="rect">
            <a:avLst/>
          </a:prstGeom>
        </p:spPr>
      </p:pic>
      <p:sp>
        <p:nvSpPr>
          <p:cNvPr id="24" name="Text 17"/>
          <p:cNvSpPr/>
          <p:nvPr/>
        </p:nvSpPr>
        <p:spPr>
          <a:xfrm>
            <a:off x="5131620" y="1703738"/>
            <a:ext cx="921519" cy="80365"/>
          </a:xfrm>
          <a:prstGeom prst="rect">
            <a:avLst/>
          </a:prstGeom>
          <a:noFill/>
          <a:ln/>
        </p:spPr>
        <p:txBody>
          <a:bodyPr wrap="square" lIns="0" tIns="0" rIns="0" bIns="0" rtlCol="0" anchor="ctr"/>
          <a:lstStyle/>
          <a:p>
            <a:r>
              <a:rPr lang="en-US" sz="492" b="1" dirty="0">
                <a:solidFill>
                  <a:srgbClr val="2B2F36"/>
                </a:solidFill>
                <a:latin typeface="Arial" pitchFamily="34" charset="0"/>
                <a:ea typeface="Arial" pitchFamily="34" charset="-122"/>
                <a:cs typeface="Arial" pitchFamily="34" charset="-120"/>
              </a:rPr>
              <a:t>Microsoft Entra ID</a:t>
            </a:r>
            <a:endParaRPr lang="en-US" sz="492" dirty="0"/>
          </a:p>
        </p:txBody>
      </p:sp>
      <p:sp>
        <p:nvSpPr>
          <p:cNvPr id="25" name="Text 18"/>
          <p:cNvSpPr/>
          <p:nvPr/>
        </p:nvSpPr>
        <p:spPr>
          <a:xfrm>
            <a:off x="5131620" y="1781424"/>
            <a:ext cx="921519" cy="69650"/>
          </a:xfrm>
          <a:prstGeom prst="rect">
            <a:avLst/>
          </a:prstGeom>
          <a:noFill/>
          <a:ln/>
        </p:spPr>
        <p:txBody>
          <a:bodyPr wrap="square" lIns="0" tIns="0" rIns="0" bIns="0" rtlCol="0" anchor="ctr"/>
          <a:lstStyle/>
          <a:p>
            <a:r>
              <a:rPr lang="en-US" sz="375" dirty="0">
                <a:solidFill>
                  <a:srgbClr val="6B7480"/>
                </a:solidFill>
                <a:latin typeface="Arial" pitchFamily="34" charset="0"/>
                <a:ea typeface="Arial" pitchFamily="34" charset="-122"/>
                <a:cs typeface="Arial" pitchFamily="34" charset="-120"/>
              </a:rPr>
              <a:t>Free tier</a:t>
            </a:r>
            <a:endParaRPr lang="en-US" sz="375" dirty="0"/>
          </a:p>
        </p:txBody>
      </p:sp>
      <p:sp>
        <p:nvSpPr>
          <p:cNvPr id="26" name="Shape 19"/>
          <p:cNvSpPr/>
          <p:nvPr/>
        </p:nvSpPr>
        <p:spPr>
          <a:xfrm>
            <a:off x="6524614" y="889373"/>
            <a:ext cx="1296555" cy="1028672"/>
          </a:xfrm>
          <a:prstGeom prst="roundRect">
            <a:avLst>
              <a:gd name="adj" fmla="val 5208"/>
            </a:avLst>
          </a:prstGeom>
          <a:solidFill>
            <a:srgbClr val="EFF8F0"/>
          </a:solidFill>
          <a:ln w="15875">
            <a:solidFill>
              <a:srgbClr val="8CC79A"/>
            </a:solidFill>
            <a:prstDash val="solid"/>
          </a:ln>
        </p:spPr>
      </p:sp>
      <p:sp>
        <p:nvSpPr>
          <p:cNvPr id="27" name="Shape 20"/>
          <p:cNvSpPr/>
          <p:nvPr/>
        </p:nvSpPr>
        <p:spPr>
          <a:xfrm>
            <a:off x="6599621" y="953664"/>
            <a:ext cx="150015" cy="150015"/>
          </a:xfrm>
          <a:prstGeom prst="ellipse">
            <a:avLst/>
          </a:prstGeom>
          <a:solidFill>
            <a:srgbClr val="2E9E4F"/>
          </a:solidFill>
          <a:ln/>
        </p:spPr>
      </p:sp>
      <p:sp>
        <p:nvSpPr>
          <p:cNvPr id="28" name="Text 21"/>
          <p:cNvSpPr/>
          <p:nvPr/>
        </p:nvSpPr>
        <p:spPr>
          <a:xfrm>
            <a:off x="6599621" y="956343"/>
            <a:ext cx="150015" cy="144657"/>
          </a:xfrm>
          <a:prstGeom prst="rect">
            <a:avLst/>
          </a:prstGeom>
          <a:noFill/>
          <a:ln/>
        </p:spPr>
        <p:txBody>
          <a:bodyPr wrap="square" lIns="0" tIns="0" rIns="0" bIns="0" rtlCol="0" anchor="ctr"/>
          <a:lstStyle/>
          <a:p>
            <a:pPr algn="ctr"/>
            <a:r>
              <a:rPr lang="en-US" sz="586" b="1" dirty="0">
                <a:solidFill>
                  <a:srgbClr val="FFFFFF"/>
                </a:solidFill>
                <a:latin typeface="Arial" pitchFamily="34" charset="0"/>
                <a:ea typeface="Arial" pitchFamily="34" charset="-122"/>
                <a:cs typeface="Arial" pitchFamily="34" charset="-120"/>
              </a:rPr>
              <a:t>3</a:t>
            </a:r>
            <a:endParaRPr lang="en-US" sz="586" dirty="0"/>
          </a:p>
        </p:txBody>
      </p:sp>
      <p:sp>
        <p:nvSpPr>
          <p:cNvPr id="29" name="Text 22"/>
          <p:cNvSpPr/>
          <p:nvPr/>
        </p:nvSpPr>
        <p:spPr>
          <a:xfrm>
            <a:off x="6792497" y="948307"/>
            <a:ext cx="1017957" cy="128584"/>
          </a:xfrm>
          <a:prstGeom prst="rect">
            <a:avLst/>
          </a:prstGeom>
          <a:noFill/>
          <a:ln/>
        </p:spPr>
        <p:txBody>
          <a:bodyPr wrap="square" lIns="0" tIns="0" rIns="0" bIns="0" rtlCol="0" anchor="ctr"/>
          <a:lstStyle/>
          <a:p>
            <a:r>
              <a:rPr lang="en-US" sz="732" b="1" dirty="0">
                <a:solidFill>
                  <a:srgbClr val="2E9E4F"/>
                </a:solidFill>
                <a:latin typeface="Arial" pitchFamily="34" charset="0"/>
                <a:ea typeface="Arial" pitchFamily="34" charset="-122"/>
                <a:cs typeface="Arial" pitchFamily="34" charset="-120"/>
              </a:rPr>
              <a:t>Agent Orchestrator</a:t>
            </a:r>
            <a:endParaRPr lang="en-US" sz="732" dirty="0"/>
          </a:p>
        </p:txBody>
      </p:sp>
      <p:sp>
        <p:nvSpPr>
          <p:cNvPr id="30" name="Text 23"/>
          <p:cNvSpPr/>
          <p:nvPr/>
        </p:nvSpPr>
        <p:spPr>
          <a:xfrm>
            <a:off x="6792497" y="1082249"/>
            <a:ext cx="1017957" cy="192876"/>
          </a:xfrm>
          <a:prstGeom prst="rect">
            <a:avLst/>
          </a:prstGeom>
          <a:noFill/>
          <a:ln/>
        </p:spPr>
        <p:txBody>
          <a:bodyPr wrap="square" lIns="0" tIns="0" rIns="0" bIns="0" rtlCol="0" anchor="ctr"/>
          <a:lstStyle/>
          <a:p>
            <a:pPr>
              <a:lnSpc>
                <a:spcPct val="104000"/>
              </a:lnSpc>
            </a:pPr>
            <a:r>
              <a:rPr lang="en-US" sz="504" dirty="0">
                <a:solidFill>
                  <a:srgbClr val="2B2F36"/>
                </a:solidFill>
                <a:latin typeface="Arial" pitchFamily="34" charset="0"/>
                <a:ea typeface="Arial" pitchFamily="34" charset="-122"/>
                <a:cs typeface="Arial" pitchFamily="34" charset="-120"/>
              </a:rPr>
              <a:t>Plans tasks and routes to</a:t>
            </a:r>
            <a:endParaRPr lang="en-US" sz="504" dirty="0"/>
          </a:p>
          <a:p>
            <a:pPr>
              <a:lnSpc>
                <a:spcPct val="104000"/>
              </a:lnSpc>
            </a:pPr>
            <a:r>
              <a:rPr lang="en-US" sz="504" dirty="0">
                <a:solidFill>
                  <a:srgbClr val="2B2F36"/>
                </a:solidFill>
                <a:latin typeface="Arial" pitchFamily="34" charset="0"/>
                <a:ea typeface="Arial" pitchFamily="34" charset="-122"/>
                <a:cs typeface="Arial" pitchFamily="34" charset="-120"/>
              </a:rPr>
              <a:t>tools, RAG or local LLM</a:t>
            </a:r>
            <a:endParaRPr lang="en-US" sz="504" dirty="0"/>
          </a:p>
        </p:txBody>
      </p:sp>
      <p:pic>
        <p:nvPicPr>
          <p:cNvPr id="31" name="Image 5" descr="/sessions/zealous-intelligent-mayer/mnt/outputs/icons8/func.png"/>
          <p:cNvPicPr>
            <a:picLocks noChangeAspect="1"/>
          </p:cNvPicPr>
          <p:nvPr/>
        </p:nvPicPr>
        <p:blipFill>
          <a:blip r:embed="rId8"/>
          <a:stretch>
            <a:fillRect/>
          </a:stretch>
        </p:blipFill>
        <p:spPr>
          <a:xfrm>
            <a:off x="6631767" y="1328701"/>
            <a:ext cx="117869" cy="117869"/>
          </a:xfrm>
          <a:prstGeom prst="rect">
            <a:avLst/>
          </a:prstGeom>
        </p:spPr>
      </p:pic>
      <p:sp>
        <p:nvSpPr>
          <p:cNvPr id="32" name="Text 24"/>
          <p:cNvSpPr/>
          <p:nvPr/>
        </p:nvSpPr>
        <p:spPr>
          <a:xfrm>
            <a:off x="6792497" y="1317986"/>
            <a:ext cx="953665" cy="80365"/>
          </a:xfrm>
          <a:prstGeom prst="rect">
            <a:avLst/>
          </a:prstGeom>
          <a:noFill/>
          <a:ln/>
        </p:spPr>
        <p:txBody>
          <a:bodyPr wrap="square" lIns="0" tIns="0" rIns="0" bIns="0" rtlCol="0" anchor="ctr"/>
          <a:lstStyle/>
          <a:p>
            <a:r>
              <a:rPr lang="en-US" sz="492" b="1" dirty="0">
                <a:solidFill>
                  <a:srgbClr val="2B2F36"/>
                </a:solidFill>
                <a:latin typeface="Arial" pitchFamily="34" charset="0"/>
                <a:ea typeface="Arial" pitchFamily="34" charset="-122"/>
                <a:cs typeface="Arial" pitchFamily="34" charset="-120"/>
              </a:rPr>
              <a:t>Azure Functions</a:t>
            </a:r>
            <a:endParaRPr lang="en-US" sz="492" dirty="0"/>
          </a:p>
        </p:txBody>
      </p:sp>
      <p:sp>
        <p:nvSpPr>
          <p:cNvPr id="33" name="Text 25"/>
          <p:cNvSpPr/>
          <p:nvPr/>
        </p:nvSpPr>
        <p:spPr>
          <a:xfrm>
            <a:off x="6792497" y="1395672"/>
            <a:ext cx="953665" cy="69650"/>
          </a:xfrm>
          <a:prstGeom prst="rect">
            <a:avLst/>
          </a:prstGeom>
          <a:noFill/>
          <a:ln/>
        </p:spPr>
        <p:txBody>
          <a:bodyPr wrap="square" lIns="0" tIns="0" rIns="0" bIns="0" rtlCol="0" anchor="ctr"/>
          <a:lstStyle/>
          <a:p>
            <a:r>
              <a:rPr lang="en-US" sz="375" dirty="0">
                <a:solidFill>
                  <a:srgbClr val="6B7480"/>
                </a:solidFill>
                <a:latin typeface="Arial" pitchFamily="34" charset="0"/>
                <a:ea typeface="Arial" pitchFamily="34" charset="-122"/>
                <a:cs typeface="Arial" pitchFamily="34" charset="-120"/>
              </a:rPr>
              <a:t>Consumption free grant</a:t>
            </a:r>
            <a:endParaRPr lang="en-US" sz="375" dirty="0"/>
          </a:p>
        </p:txBody>
      </p:sp>
      <p:pic>
        <p:nvPicPr>
          <p:cNvPr id="34" name="Image 6" descr="/sessions/zealous-intelligent-mayer/mnt/outputs/icons8/sk.png"/>
          <p:cNvPicPr>
            <a:picLocks noChangeAspect="1"/>
          </p:cNvPicPr>
          <p:nvPr/>
        </p:nvPicPr>
        <p:blipFill>
          <a:blip r:embed="rId9"/>
          <a:stretch>
            <a:fillRect/>
          </a:stretch>
        </p:blipFill>
        <p:spPr>
          <a:xfrm>
            <a:off x="6631767" y="1521577"/>
            <a:ext cx="117869" cy="117869"/>
          </a:xfrm>
          <a:prstGeom prst="rect">
            <a:avLst/>
          </a:prstGeom>
        </p:spPr>
      </p:pic>
      <p:sp>
        <p:nvSpPr>
          <p:cNvPr id="35" name="Text 26"/>
          <p:cNvSpPr/>
          <p:nvPr/>
        </p:nvSpPr>
        <p:spPr>
          <a:xfrm>
            <a:off x="6792497" y="1510862"/>
            <a:ext cx="953665" cy="80365"/>
          </a:xfrm>
          <a:prstGeom prst="rect">
            <a:avLst/>
          </a:prstGeom>
          <a:noFill/>
          <a:ln/>
        </p:spPr>
        <p:txBody>
          <a:bodyPr wrap="square" lIns="0" tIns="0" rIns="0" bIns="0" rtlCol="0" anchor="ctr"/>
          <a:lstStyle/>
          <a:p>
            <a:r>
              <a:rPr lang="en-US" sz="492" b="1" dirty="0">
                <a:solidFill>
                  <a:srgbClr val="2B2F36"/>
                </a:solidFill>
                <a:latin typeface="Arial" pitchFamily="34" charset="0"/>
                <a:ea typeface="Arial" pitchFamily="34" charset="-122"/>
                <a:cs typeface="Arial" pitchFamily="34" charset="-120"/>
              </a:rPr>
              <a:t>Semantic Kernel</a:t>
            </a:r>
            <a:endParaRPr lang="en-US" sz="492" dirty="0"/>
          </a:p>
        </p:txBody>
      </p:sp>
      <p:sp>
        <p:nvSpPr>
          <p:cNvPr id="36" name="Text 27"/>
          <p:cNvSpPr/>
          <p:nvPr/>
        </p:nvSpPr>
        <p:spPr>
          <a:xfrm>
            <a:off x="6792497" y="1588548"/>
            <a:ext cx="953665" cy="69650"/>
          </a:xfrm>
          <a:prstGeom prst="rect">
            <a:avLst/>
          </a:prstGeom>
          <a:noFill/>
          <a:ln/>
        </p:spPr>
        <p:txBody>
          <a:bodyPr wrap="square" lIns="0" tIns="0" rIns="0" bIns="0" rtlCol="0" anchor="ctr"/>
          <a:lstStyle/>
          <a:p>
            <a:r>
              <a:rPr lang="en-US" sz="375" dirty="0">
                <a:solidFill>
                  <a:srgbClr val="6B7480"/>
                </a:solidFill>
                <a:latin typeface="Arial" pitchFamily="34" charset="0"/>
                <a:ea typeface="Arial" pitchFamily="34" charset="-122"/>
                <a:cs typeface="Arial" pitchFamily="34" charset="-120"/>
              </a:rPr>
              <a:t>Open source</a:t>
            </a:r>
            <a:endParaRPr lang="en-US" sz="375" dirty="0"/>
          </a:p>
        </p:txBody>
      </p:sp>
      <p:pic>
        <p:nvPicPr>
          <p:cNvPr id="37" name="Image 7" descr="/sessions/zealous-intelligent-mayer/mnt/outputs/icons8/lgraph.png"/>
          <p:cNvPicPr>
            <a:picLocks noChangeAspect="1"/>
          </p:cNvPicPr>
          <p:nvPr/>
        </p:nvPicPr>
        <p:blipFill>
          <a:blip r:embed="rId10"/>
          <a:stretch>
            <a:fillRect/>
          </a:stretch>
        </p:blipFill>
        <p:spPr>
          <a:xfrm>
            <a:off x="6631767" y="1714453"/>
            <a:ext cx="117869" cy="117869"/>
          </a:xfrm>
          <a:prstGeom prst="rect">
            <a:avLst/>
          </a:prstGeom>
        </p:spPr>
      </p:pic>
      <p:sp>
        <p:nvSpPr>
          <p:cNvPr id="38" name="Text 28"/>
          <p:cNvSpPr/>
          <p:nvPr/>
        </p:nvSpPr>
        <p:spPr>
          <a:xfrm>
            <a:off x="6792497" y="1703738"/>
            <a:ext cx="953665" cy="80365"/>
          </a:xfrm>
          <a:prstGeom prst="rect">
            <a:avLst/>
          </a:prstGeom>
          <a:noFill/>
          <a:ln/>
        </p:spPr>
        <p:txBody>
          <a:bodyPr wrap="square" lIns="0" tIns="0" rIns="0" bIns="0" rtlCol="0" anchor="ctr"/>
          <a:lstStyle/>
          <a:p>
            <a:r>
              <a:rPr lang="en-US" sz="492" b="1" dirty="0">
                <a:solidFill>
                  <a:srgbClr val="2B2F36"/>
                </a:solidFill>
                <a:latin typeface="Arial" pitchFamily="34" charset="0"/>
                <a:ea typeface="Arial" pitchFamily="34" charset="-122"/>
                <a:cs typeface="Arial" pitchFamily="34" charset="-120"/>
              </a:rPr>
              <a:t>LangGraph</a:t>
            </a:r>
            <a:endParaRPr lang="en-US" sz="492" dirty="0"/>
          </a:p>
        </p:txBody>
      </p:sp>
      <p:sp>
        <p:nvSpPr>
          <p:cNvPr id="39" name="Text 29"/>
          <p:cNvSpPr/>
          <p:nvPr/>
        </p:nvSpPr>
        <p:spPr>
          <a:xfrm>
            <a:off x="6792497" y="1781424"/>
            <a:ext cx="953665" cy="69650"/>
          </a:xfrm>
          <a:prstGeom prst="rect">
            <a:avLst/>
          </a:prstGeom>
          <a:noFill/>
          <a:ln/>
        </p:spPr>
        <p:txBody>
          <a:bodyPr wrap="square" lIns="0" tIns="0" rIns="0" bIns="0" rtlCol="0" anchor="ctr"/>
          <a:lstStyle/>
          <a:p>
            <a:r>
              <a:rPr lang="en-US" sz="375" dirty="0">
                <a:solidFill>
                  <a:srgbClr val="6B7480"/>
                </a:solidFill>
                <a:latin typeface="Arial" pitchFamily="34" charset="0"/>
                <a:ea typeface="Arial" pitchFamily="34" charset="-122"/>
                <a:cs typeface="Arial" pitchFamily="34" charset="-120"/>
              </a:rPr>
              <a:t>Open source</a:t>
            </a:r>
            <a:endParaRPr lang="en-US" sz="375" dirty="0"/>
          </a:p>
        </p:txBody>
      </p:sp>
      <p:sp>
        <p:nvSpPr>
          <p:cNvPr id="40" name="Shape 30"/>
          <p:cNvSpPr/>
          <p:nvPr/>
        </p:nvSpPr>
        <p:spPr>
          <a:xfrm>
            <a:off x="5978131" y="2068060"/>
            <a:ext cx="932234" cy="589343"/>
          </a:xfrm>
          <a:prstGeom prst="diamond">
            <a:avLst/>
          </a:prstGeom>
          <a:solidFill>
            <a:srgbClr val="EFF8F0"/>
          </a:solidFill>
          <a:ln w="15875">
            <a:solidFill>
              <a:srgbClr val="8CC79A"/>
            </a:solidFill>
            <a:prstDash val="solid"/>
          </a:ln>
        </p:spPr>
      </p:sp>
      <p:sp>
        <p:nvSpPr>
          <p:cNvPr id="41" name="Shape 31"/>
          <p:cNvSpPr/>
          <p:nvPr/>
        </p:nvSpPr>
        <p:spPr>
          <a:xfrm>
            <a:off x="6369241" y="2089490"/>
            <a:ext cx="150015" cy="150015"/>
          </a:xfrm>
          <a:prstGeom prst="ellipse">
            <a:avLst/>
          </a:prstGeom>
          <a:solidFill>
            <a:srgbClr val="2E9E4F"/>
          </a:solidFill>
          <a:ln/>
        </p:spPr>
      </p:sp>
      <p:sp>
        <p:nvSpPr>
          <p:cNvPr id="42" name="Text 32"/>
          <p:cNvSpPr/>
          <p:nvPr/>
        </p:nvSpPr>
        <p:spPr>
          <a:xfrm>
            <a:off x="6369241" y="2092169"/>
            <a:ext cx="150015" cy="144657"/>
          </a:xfrm>
          <a:prstGeom prst="rect">
            <a:avLst/>
          </a:prstGeom>
          <a:noFill/>
          <a:ln/>
        </p:spPr>
        <p:txBody>
          <a:bodyPr wrap="square" lIns="0" tIns="0" rIns="0" bIns="0" rtlCol="0" anchor="ctr"/>
          <a:lstStyle/>
          <a:p>
            <a:pPr algn="ctr"/>
            <a:r>
              <a:rPr lang="en-US" sz="586" b="1" dirty="0">
                <a:solidFill>
                  <a:srgbClr val="FFFFFF"/>
                </a:solidFill>
                <a:latin typeface="Arial" pitchFamily="34" charset="0"/>
                <a:ea typeface="Arial" pitchFamily="34" charset="-122"/>
                <a:cs typeface="Arial" pitchFamily="34" charset="-120"/>
              </a:rPr>
              <a:t>4</a:t>
            </a:r>
            <a:endParaRPr lang="en-US" sz="586" dirty="0"/>
          </a:p>
        </p:txBody>
      </p:sp>
      <p:sp>
        <p:nvSpPr>
          <p:cNvPr id="43" name="Text 33"/>
          <p:cNvSpPr/>
          <p:nvPr/>
        </p:nvSpPr>
        <p:spPr>
          <a:xfrm>
            <a:off x="6020993" y="2271651"/>
            <a:ext cx="846511" cy="235737"/>
          </a:xfrm>
          <a:prstGeom prst="rect">
            <a:avLst/>
          </a:prstGeom>
          <a:noFill/>
          <a:ln/>
        </p:spPr>
        <p:txBody>
          <a:bodyPr wrap="square" lIns="0" tIns="0" rIns="0" bIns="0" rtlCol="0" anchor="ctr"/>
          <a:lstStyle/>
          <a:p>
            <a:pPr algn="ctr"/>
            <a:r>
              <a:rPr lang="en-US" sz="527" b="1" dirty="0">
                <a:solidFill>
                  <a:srgbClr val="2B2F36"/>
                </a:solidFill>
                <a:latin typeface="Arial" pitchFamily="34" charset="0"/>
                <a:ea typeface="Arial" pitchFamily="34" charset="-122"/>
                <a:cs typeface="Arial" pitchFamily="34" charset="-120"/>
              </a:rPr>
              <a:t>Need plant</a:t>
            </a:r>
            <a:endParaRPr lang="en-US" sz="527" dirty="0"/>
          </a:p>
          <a:p>
            <a:pPr algn="ctr"/>
            <a:r>
              <a:rPr lang="en-US" sz="527" b="1" dirty="0">
                <a:solidFill>
                  <a:srgbClr val="2B2F36"/>
                </a:solidFill>
                <a:latin typeface="Arial" pitchFamily="34" charset="0"/>
                <a:ea typeface="Arial" pitchFamily="34" charset="-122"/>
                <a:cs typeface="Arial" pitchFamily="34" charset="-120"/>
              </a:rPr>
              <a:t>knowledge?</a:t>
            </a:r>
            <a:endParaRPr lang="en-US" sz="527" dirty="0"/>
          </a:p>
        </p:txBody>
      </p:sp>
      <p:sp>
        <p:nvSpPr>
          <p:cNvPr id="44" name="Shape 34"/>
          <p:cNvSpPr/>
          <p:nvPr/>
        </p:nvSpPr>
        <p:spPr>
          <a:xfrm>
            <a:off x="5967416" y="2710980"/>
            <a:ext cx="332175" cy="171445"/>
          </a:xfrm>
          <a:prstGeom prst="roundRect">
            <a:avLst>
              <a:gd name="adj" fmla="val 18750"/>
            </a:avLst>
          </a:prstGeom>
          <a:solidFill>
            <a:srgbClr val="D8F3DF"/>
          </a:solidFill>
          <a:ln w="12700">
            <a:solidFill>
              <a:srgbClr val="8CC79A"/>
            </a:solidFill>
            <a:prstDash val="solid"/>
          </a:ln>
        </p:spPr>
      </p:sp>
      <p:sp>
        <p:nvSpPr>
          <p:cNvPr id="45" name="Text 35"/>
          <p:cNvSpPr/>
          <p:nvPr/>
        </p:nvSpPr>
        <p:spPr>
          <a:xfrm>
            <a:off x="5967416" y="2710980"/>
            <a:ext cx="332175" cy="171445"/>
          </a:xfrm>
          <a:prstGeom prst="rect">
            <a:avLst/>
          </a:prstGeom>
          <a:noFill/>
          <a:ln/>
        </p:spPr>
        <p:txBody>
          <a:bodyPr wrap="square" lIns="0" tIns="0" rIns="0" bIns="0" rtlCol="0" anchor="ctr"/>
          <a:lstStyle/>
          <a:p>
            <a:pPr algn="ctr"/>
            <a:r>
              <a:rPr lang="en-US" sz="557" b="1" dirty="0">
                <a:solidFill>
                  <a:srgbClr val="17532C"/>
                </a:solidFill>
                <a:latin typeface="Arial" pitchFamily="34" charset="0"/>
                <a:ea typeface="Arial" pitchFamily="34" charset="-122"/>
                <a:cs typeface="Arial" pitchFamily="34" charset="-120"/>
              </a:rPr>
              <a:t>Yes</a:t>
            </a:r>
            <a:endParaRPr lang="en-US" sz="557" dirty="0"/>
          </a:p>
        </p:txBody>
      </p:sp>
      <p:sp>
        <p:nvSpPr>
          <p:cNvPr id="46" name="Shape 36"/>
          <p:cNvSpPr/>
          <p:nvPr/>
        </p:nvSpPr>
        <p:spPr>
          <a:xfrm>
            <a:off x="6588906" y="2710980"/>
            <a:ext cx="332175" cy="171445"/>
          </a:xfrm>
          <a:prstGeom prst="roundRect">
            <a:avLst>
              <a:gd name="adj" fmla="val 18750"/>
            </a:avLst>
          </a:prstGeom>
          <a:solidFill>
            <a:srgbClr val="E74C3C"/>
          </a:solidFill>
          <a:ln w="12700">
            <a:solidFill>
              <a:srgbClr val="C0392B"/>
            </a:solidFill>
            <a:prstDash val="solid"/>
          </a:ln>
        </p:spPr>
      </p:sp>
      <p:sp>
        <p:nvSpPr>
          <p:cNvPr id="47" name="Text 37"/>
          <p:cNvSpPr/>
          <p:nvPr/>
        </p:nvSpPr>
        <p:spPr>
          <a:xfrm>
            <a:off x="6588906" y="2710980"/>
            <a:ext cx="332175" cy="171445"/>
          </a:xfrm>
          <a:prstGeom prst="rect">
            <a:avLst/>
          </a:prstGeom>
          <a:noFill/>
          <a:ln/>
        </p:spPr>
        <p:txBody>
          <a:bodyPr wrap="square" lIns="0" tIns="0" rIns="0" bIns="0" rtlCol="0" anchor="ctr"/>
          <a:lstStyle/>
          <a:p>
            <a:pPr algn="ctr"/>
            <a:r>
              <a:rPr lang="en-US" sz="557" b="1" dirty="0">
                <a:solidFill>
                  <a:srgbClr val="FFFFFF"/>
                </a:solidFill>
                <a:latin typeface="Arial" pitchFamily="34" charset="0"/>
                <a:ea typeface="Arial" pitchFamily="34" charset="-122"/>
                <a:cs typeface="Arial" pitchFamily="34" charset="-120"/>
              </a:rPr>
              <a:t>NO</a:t>
            </a:r>
            <a:endParaRPr lang="en-US" sz="557" dirty="0"/>
          </a:p>
        </p:txBody>
      </p:sp>
      <p:sp>
        <p:nvSpPr>
          <p:cNvPr id="48" name="Shape 38"/>
          <p:cNvSpPr/>
          <p:nvPr/>
        </p:nvSpPr>
        <p:spPr>
          <a:xfrm>
            <a:off x="4595853" y="2625257"/>
            <a:ext cx="1307271" cy="1371563"/>
          </a:xfrm>
          <a:prstGeom prst="roundRect">
            <a:avLst>
              <a:gd name="adj" fmla="val 4098"/>
            </a:avLst>
          </a:prstGeom>
          <a:solidFill>
            <a:srgbClr val="EFF8F0"/>
          </a:solidFill>
          <a:ln w="15875">
            <a:solidFill>
              <a:srgbClr val="8CC79A"/>
            </a:solidFill>
            <a:prstDash val="solid"/>
          </a:ln>
        </p:spPr>
      </p:sp>
      <p:sp>
        <p:nvSpPr>
          <p:cNvPr id="49" name="Shape 39"/>
          <p:cNvSpPr/>
          <p:nvPr/>
        </p:nvSpPr>
        <p:spPr>
          <a:xfrm>
            <a:off x="4670860" y="2689549"/>
            <a:ext cx="150015" cy="150015"/>
          </a:xfrm>
          <a:prstGeom prst="ellipse">
            <a:avLst/>
          </a:prstGeom>
          <a:solidFill>
            <a:srgbClr val="2E9E4F"/>
          </a:solidFill>
          <a:ln/>
        </p:spPr>
      </p:sp>
      <p:sp>
        <p:nvSpPr>
          <p:cNvPr id="50" name="Text 40"/>
          <p:cNvSpPr/>
          <p:nvPr/>
        </p:nvSpPr>
        <p:spPr>
          <a:xfrm>
            <a:off x="4670860" y="2692228"/>
            <a:ext cx="150015" cy="144657"/>
          </a:xfrm>
          <a:prstGeom prst="rect">
            <a:avLst/>
          </a:prstGeom>
          <a:noFill/>
          <a:ln/>
        </p:spPr>
        <p:txBody>
          <a:bodyPr wrap="square" lIns="0" tIns="0" rIns="0" bIns="0" rtlCol="0" anchor="ctr"/>
          <a:lstStyle/>
          <a:p>
            <a:pPr algn="ctr"/>
            <a:r>
              <a:rPr lang="en-US" sz="586" b="1" dirty="0">
                <a:solidFill>
                  <a:srgbClr val="FFFFFF"/>
                </a:solidFill>
                <a:latin typeface="Arial" pitchFamily="34" charset="0"/>
                <a:ea typeface="Arial" pitchFamily="34" charset="-122"/>
                <a:cs typeface="Arial" pitchFamily="34" charset="-120"/>
              </a:rPr>
              <a:t>5</a:t>
            </a:r>
            <a:endParaRPr lang="en-US" sz="586" dirty="0"/>
          </a:p>
        </p:txBody>
      </p:sp>
      <p:sp>
        <p:nvSpPr>
          <p:cNvPr id="51" name="Text 41"/>
          <p:cNvSpPr/>
          <p:nvPr/>
        </p:nvSpPr>
        <p:spPr>
          <a:xfrm>
            <a:off x="4863736" y="2684191"/>
            <a:ext cx="1017957" cy="128584"/>
          </a:xfrm>
          <a:prstGeom prst="rect">
            <a:avLst/>
          </a:prstGeom>
          <a:noFill/>
          <a:ln/>
        </p:spPr>
        <p:txBody>
          <a:bodyPr wrap="square" lIns="0" tIns="0" rIns="0" bIns="0" rtlCol="0" anchor="ctr"/>
          <a:lstStyle/>
          <a:p>
            <a:r>
              <a:rPr lang="en-US" sz="732" b="1" dirty="0">
                <a:solidFill>
                  <a:srgbClr val="2E9E4F"/>
                </a:solidFill>
                <a:latin typeface="Arial" pitchFamily="34" charset="0"/>
                <a:ea typeface="Arial" pitchFamily="34" charset="-122"/>
                <a:cs typeface="Arial" pitchFamily="34" charset="-120"/>
              </a:rPr>
              <a:t>RAG Pipeline</a:t>
            </a:r>
            <a:endParaRPr lang="en-US" sz="732" dirty="0"/>
          </a:p>
        </p:txBody>
      </p:sp>
      <p:sp>
        <p:nvSpPr>
          <p:cNvPr id="52" name="Text 42"/>
          <p:cNvSpPr/>
          <p:nvPr/>
        </p:nvSpPr>
        <p:spPr>
          <a:xfrm>
            <a:off x="4863736" y="2818133"/>
            <a:ext cx="1017957" cy="192876"/>
          </a:xfrm>
          <a:prstGeom prst="rect">
            <a:avLst/>
          </a:prstGeom>
          <a:noFill/>
          <a:ln/>
        </p:spPr>
        <p:txBody>
          <a:bodyPr wrap="square" lIns="0" tIns="0" rIns="0" bIns="0" rtlCol="0" anchor="ctr"/>
          <a:lstStyle/>
          <a:p>
            <a:pPr>
              <a:lnSpc>
                <a:spcPct val="104000"/>
              </a:lnSpc>
            </a:pPr>
            <a:r>
              <a:rPr lang="en-US" sz="504" dirty="0">
                <a:solidFill>
                  <a:srgbClr val="2B2F36"/>
                </a:solidFill>
                <a:latin typeface="Arial" pitchFamily="34" charset="0"/>
                <a:ea typeface="Arial" pitchFamily="34" charset="-122"/>
                <a:cs typeface="Arial" pitchFamily="34" charset="-120"/>
              </a:rPr>
              <a:t>Context from specs,</a:t>
            </a:r>
            <a:endParaRPr lang="en-US" sz="504" dirty="0"/>
          </a:p>
          <a:p>
            <a:pPr>
              <a:lnSpc>
                <a:spcPct val="104000"/>
              </a:lnSpc>
            </a:pPr>
            <a:r>
              <a:rPr lang="en-US" sz="504" dirty="0">
                <a:solidFill>
                  <a:srgbClr val="2B2F36"/>
                </a:solidFill>
                <a:latin typeface="Arial" pitchFamily="34" charset="0"/>
                <a:ea typeface="Arial" pitchFamily="34" charset="-122"/>
                <a:cs typeface="Arial" pitchFamily="34" charset="-120"/>
              </a:rPr>
              <a:t>SOPs, COAs and NCRs</a:t>
            </a:r>
            <a:endParaRPr lang="en-US" sz="504" dirty="0"/>
          </a:p>
        </p:txBody>
      </p:sp>
      <p:pic>
        <p:nvPicPr>
          <p:cNvPr id="53" name="Image 8" descr="/sessions/zealous-intelligent-mayer/mnt/outputs/icons8/docint.png"/>
          <p:cNvPicPr>
            <a:picLocks noChangeAspect="1"/>
          </p:cNvPicPr>
          <p:nvPr/>
        </p:nvPicPr>
        <p:blipFill>
          <a:blip r:embed="rId11"/>
          <a:stretch>
            <a:fillRect/>
          </a:stretch>
        </p:blipFill>
        <p:spPr>
          <a:xfrm>
            <a:off x="4703006" y="3075301"/>
            <a:ext cx="117869" cy="117869"/>
          </a:xfrm>
          <a:prstGeom prst="rect">
            <a:avLst/>
          </a:prstGeom>
        </p:spPr>
      </p:pic>
      <p:sp>
        <p:nvSpPr>
          <p:cNvPr id="54" name="Text 43"/>
          <p:cNvSpPr/>
          <p:nvPr/>
        </p:nvSpPr>
        <p:spPr>
          <a:xfrm>
            <a:off x="4863737" y="3064585"/>
            <a:ext cx="964380" cy="80365"/>
          </a:xfrm>
          <a:prstGeom prst="rect">
            <a:avLst/>
          </a:prstGeom>
          <a:noFill/>
          <a:ln/>
        </p:spPr>
        <p:txBody>
          <a:bodyPr wrap="square" lIns="0" tIns="0" rIns="0" bIns="0" rtlCol="0" anchor="ctr"/>
          <a:lstStyle/>
          <a:p>
            <a:r>
              <a:rPr lang="en-US" sz="492" b="1" dirty="0">
                <a:solidFill>
                  <a:srgbClr val="2B2F36"/>
                </a:solidFill>
                <a:latin typeface="Arial" pitchFamily="34" charset="0"/>
                <a:ea typeface="Arial" pitchFamily="34" charset="-122"/>
                <a:cs typeface="Arial" pitchFamily="34" charset="-120"/>
              </a:rPr>
              <a:t>Ingest &amp; OCR</a:t>
            </a:r>
            <a:endParaRPr lang="en-US" sz="492" dirty="0"/>
          </a:p>
        </p:txBody>
      </p:sp>
      <p:sp>
        <p:nvSpPr>
          <p:cNvPr id="55" name="Text 44"/>
          <p:cNvSpPr/>
          <p:nvPr/>
        </p:nvSpPr>
        <p:spPr>
          <a:xfrm>
            <a:off x="4863737" y="3142271"/>
            <a:ext cx="964380" cy="69650"/>
          </a:xfrm>
          <a:prstGeom prst="rect">
            <a:avLst/>
          </a:prstGeom>
          <a:noFill/>
          <a:ln/>
        </p:spPr>
        <p:txBody>
          <a:bodyPr wrap="square" lIns="0" tIns="0" rIns="0" bIns="0" rtlCol="0" anchor="ctr"/>
          <a:lstStyle/>
          <a:p>
            <a:r>
              <a:rPr lang="en-US" sz="352" dirty="0">
                <a:solidFill>
                  <a:srgbClr val="6B7480"/>
                </a:solidFill>
                <a:latin typeface="Arial" pitchFamily="34" charset="0"/>
                <a:ea typeface="Arial" pitchFamily="34" charset="-122"/>
                <a:cs typeface="Arial" pitchFamily="34" charset="-120"/>
              </a:rPr>
              <a:t>Document Intelligence F0 — 500 pages/mo</a:t>
            </a:r>
            <a:endParaRPr lang="en-US" sz="352" dirty="0"/>
          </a:p>
        </p:txBody>
      </p:sp>
      <p:pic>
        <p:nvPicPr>
          <p:cNvPr id="56" name="Image 9" descr="/sessions/zealous-intelligent-mayer/mnt/outputs/icons8/embed.png"/>
          <p:cNvPicPr>
            <a:picLocks noChangeAspect="1"/>
          </p:cNvPicPr>
          <p:nvPr/>
        </p:nvPicPr>
        <p:blipFill>
          <a:blip r:embed="rId12"/>
          <a:stretch>
            <a:fillRect/>
          </a:stretch>
        </p:blipFill>
        <p:spPr>
          <a:xfrm>
            <a:off x="4703006" y="3300323"/>
            <a:ext cx="117869" cy="117869"/>
          </a:xfrm>
          <a:prstGeom prst="rect">
            <a:avLst/>
          </a:prstGeom>
        </p:spPr>
      </p:pic>
      <p:sp>
        <p:nvSpPr>
          <p:cNvPr id="57" name="Text 45"/>
          <p:cNvSpPr/>
          <p:nvPr/>
        </p:nvSpPr>
        <p:spPr>
          <a:xfrm>
            <a:off x="4863737" y="3289607"/>
            <a:ext cx="964380" cy="80365"/>
          </a:xfrm>
          <a:prstGeom prst="rect">
            <a:avLst/>
          </a:prstGeom>
          <a:noFill/>
          <a:ln/>
        </p:spPr>
        <p:txBody>
          <a:bodyPr wrap="square" lIns="0" tIns="0" rIns="0" bIns="0" rtlCol="0" anchor="ctr"/>
          <a:lstStyle/>
          <a:p>
            <a:r>
              <a:rPr lang="en-US" sz="492" b="1" dirty="0">
                <a:solidFill>
                  <a:srgbClr val="2B2F36"/>
                </a:solidFill>
                <a:latin typeface="Arial" pitchFamily="34" charset="0"/>
                <a:ea typeface="Arial" pitchFamily="34" charset="-122"/>
                <a:cs typeface="Arial" pitchFamily="34" charset="-120"/>
              </a:rPr>
              <a:t>Embed (BGE-M3)</a:t>
            </a:r>
            <a:endParaRPr lang="en-US" sz="492" dirty="0"/>
          </a:p>
        </p:txBody>
      </p:sp>
      <p:sp>
        <p:nvSpPr>
          <p:cNvPr id="58" name="Text 46"/>
          <p:cNvSpPr/>
          <p:nvPr/>
        </p:nvSpPr>
        <p:spPr>
          <a:xfrm>
            <a:off x="4863737" y="3367294"/>
            <a:ext cx="964380" cy="69650"/>
          </a:xfrm>
          <a:prstGeom prst="rect">
            <a:avLst/>
          </a:prstGeom>
          <a:noFill/>
          <a:ln/>
        </p:spPr>
        <p:txBody>
          <a:bodyPr wrap="square" lIns="0" tIns="0" rIns="0" bIns="0" rtlCol="0" anchor="ctr"/>
          <a:lstStyle/>
          <a:p>
            <a:r>
              <a:rPr lang="en-US" sz="352" dirty="0">
                <a:solidFill>
                  <a:srgbClr val="6B7480"/>
                </a:solidFill>
                <a:latin typeface="Arial" pitchFamily="34" charset="0"/>
                <a:ea typeface="Arial" pitchFamily="34" charset="-122"/>
                <a:cs typeface="Arial" pitchFamily="34" charset="-120"/>
              </a:rPr>
              <a:t>Runs locally — $0 tokens</a:t>
            </a:r>
            <a:endParaRPr lang="en-US" sz="352" dirty="0"/>
          </a:p>
        </p:txBody>
      </p:sp>
      <p:pic>
        <p:nvPicPr>
          <p:cNvPr id="59" name="Image 10" descr="/sessions/zealous-intelligent-mayer/mnt/outputs/icons8/search.png"/>
          <p:cNvPicPr>
            <a:picLocks noChangeAspect="1"/>
          </p:cNvPicPr>
          <p:nvPr/>
        </p:nvPicPr>
        <p:blipFill>
          <a:blip r:embed="rId13"/>
          <a:stretch>
            <a:fillRect/>
          </a:stretch>
        </p:blipFill>
        <p:spPr>
          <a:xfrm>
            <a:off x="4703006" y="3525345"/>
            <a:ext cx="117869" cy="117869"/>
          </a:xfrm>
          <a:prstGeom prst="rect">
            <a:avLst/>
          </a:prstGeom>
        </p:spPr>
      </p:pic>
      <p:sp>
        <p:nvSpPr>
          <p:cNvPr id="60" name="Text 47"/>
          <p:cNvSpPr/>
          <p:nvPr/>
        </p:nvSpPr>
        <p:spPr>
          <a:xfrm>
            <a:off x="4863737" y="3514630"/>
            <a:ext cx="964380" cy="80365"/>
          </a:xfrm>
          <a:prstGeom prst="rect">
            <a:avLst/>
          </a:prstGeom>
          <a:noFill/>
          <a:ln/>
        </p:spPr>
        <p:txBody>
          <a:bodyPr wrap="square" lIns="0" tIns="0" rIns="0" bIns="0" rtlCol="0" anchor="ctr"/>
          <a:lstStyle/>
          <a:p>
            <a:r>
              <a:rPr lang="en-US" sz="492" b="1" dirty="0">
                <a:solidFill>
                  <a:srgbClr val="2B2F36"/>
                </a:solidFill>
                <a:latin typeface="Arial" pitchFamily="34" charset="0"/>
                <a:ea typeface="Arial" pitchFamily="34" charset="-122"/>
                <a:cs typeface="Arial" pitchFamily="34" charset="-120"/>
              </a:rPr>
              <a:t>Store &amp; Search</a:t>
            </a:r>
            <a:endParaRPr lang="en-US" sz="492" dirty="0"/>
          </a:p>
        </p:txBody>
      </p:sp>
      <p:sp>
        <p:nvSpPr>
          <p:cNvPr id="61" name="Text 48"/>
          <p:cNvSpPr/>
          <p:nvPr/>
        </p:nvSpPr>
        <p:spPr>
          <a:xfrm>
            <a:off x="4863737" y="3592316"/>
            <a:ext cx="964380" cy="69650"/>
          </a:xfrm>
          <a:prstGeom prst="rect">
            <a:avLst/>
          </a:prstGeom>
          <a:noFill/>
          <a:ln/>
        </p:spPr>
        <p:txBody>
          <a:bodyPr wrap="square" lIns="0" tIns="0" rIns="0" bIns="0" rtlCol="0" anchor="ctr"/>
          <a:lstStyle/>
          <a:p>
            <a:r>
              <a:rPr lang="en-US" sz="352" dirty="0">
                <a:solidFill>
                  <a:srgbClr val="6B7480"/>
                </a:solidFill>
                <a:latin typeface="Arial" pitchFamily="34" charset="0"/>
                <a:ea typeface="Arial" pitchFamily="34" charset="-122"/>
                <a:cs typeface="Arial" pitchFamily="34" charset="-120"/>
              </a:rPr>
              <a:t>Azure AI Search Free — 50 MB, 3 indexes</a:t>
            </a:r>
            <a:endParaRPr lang="en-US" sz="352" dirty="0"/>
          </a:p>
        </p:txBody>
      </p:sp>
      <p:pic>
        <p:nvPicPr>
          <p:cNvPr id="62" name="Image 11" descr="/sessions/zealous-intelligent-mayer/mnt/outputs/icons8/rerank.png"/>
          <p:cNvPicPr>
            <a:picLocks noChangeAspect="1"/>
          </p:cNvPicPr>
          <p:nvPr/>
        </p:nvPicPr>
        <p:blipFill>
          <a:blip r:embed="rId14"/>
          <a:stretch>
            <a:fillRect/>
          </a:stretch>
        </p:blipFill>
        <p:spPr>
          <a:xfrm>
            <a:off x="4703006" y="3750367"/>
            <a:ext cx="117869" cy="117869"/>
          </a:xfrm>
          <a:prstGeom prst="rect">
            <a:avLst/>
          </a:prstGeom>
        </p:spPr>
      </p:pic>
      <p:sp>
        <p:nvSpPr>
          <p:cNvPr id="63" name="Text 49"/>
          <p:cNvSpPr/>
          <p:nvPr/>
        </p:nvSpPr>
        <p:spPr>
          <a:xfrm>
            <a:off x="4863737" y="3739652"/>
            <a:ext cx="964380" cy="80365"/>
          </a:xfrm>
          <a:prstGeom prst="rect">
            <a:avLst/>
          </a:prstGeom>
          <a:noFill/>
          <a:ln/>
        </p:spPr>
        <p:txBody>
          <a:bodyPr wrap="square" lIns="0" tIns="0" rIns="0" bIns="0" rtlCol="0" anchor="ctr"/>
          <a:lstStyle/>
          <a:p>
            <a:r>
              <a:rPr lang="en-US" sz="492" b="1" dirty="0">
                <a:solidFill>
                  <a:srgbClr val="2B2F36"/>
                </a:solidFill>
                <a:latin typeface="Arial" pitchFamily="34" charset="0"/>
                <a:ea typeface="Arial" pitchFamily="34" charset="-122"/>
                <a:cs typeface="Arial" pitchFamily="34" charset="-120"/>
              </a:rPr>
              <a:t>Rerank</a:t>
            </a:r>
            <a:endParaRPr lang="en-US" sz="492" dirty="0"/>
          </a:p>
        </p:txBody>
      </p:sp>
      <p:sp>
        <p:nvSpPr>
          <p:cNvPr id="64" name="Text 50"/>
          <p:cNvSpPr/>
          <p:nvPr/>
        </p:nvSpPr>
        <p:spPr>
          <a:xfrm>
            <a:off x="4863737" y="3817338"/>
            <a:ext cx="964380" cy="69650"/>
          </a:xfrm>
          <a:prstGeom prst="rect">
            <a:avLst/>
          </a:prstGeom>
          <a:noFill/>
          <a:ln/>
        </p:spPr>
        <p:txBody>
          <a:bodyPr wrap="square" lIns="0" tIns="0" rIns="0" bIns="0" rtlCol="0" anchor="ctr"/>
          <a:lstStyle/>
          <a:p>
            <a:r>
              <a:rPr lang="en-US" sz="352" dirty="0">
                <a:solidFill>
                  <a:srgbClr val="6B7480"/>
                </a:solidFill>
                <a:latin typeface="Arial" pitchFamily="34" charset="0"/>
                <a:ea typeface="Arial" pitchFamily="34" charset="-122"/>
                <a:cs typeface="Arial" pitchFamily="34" charset="-120"/>
              </a:rPr>
              <a:t>BGE-Reranker-v2 (local)</a:t>
            </a:r>
            <a:endParaRPr lang="en-US" sz="352" dirty="0"/>
          </a:p>
        </p:txBody>
      </p:sp>
      <p:sp>
        <p:nvSpPr>
          <p:cNvPr id="65" name="Shape 51"/>
          <p:cNvSpPr/>
          <p:nvPr/>
        </p:nvSpPr>
        <p:spPr>
          <a:xfrm>
            <a:off x="6931796" y="2625257"/>
            <a:ext cx="1317986" cy="1146541"/>
          </a:xfrm>
          <a:prstGeom prst="roundRect">
            <a:avLst>
              <a:gd name="adj" fmla="val 4673"/>
            </a:avLst>
          </a:prstGeom>
          <a:solidFill>
            <a:srgbClr val="FDF3EC"/>
          </a:solidFill>
          <a:ln w="15875">
            <a:solidFill>
              <a:srgbClr val="F1B294"/>
            </a:solidFill>
            <a:prstDash val="solid"/>
          </a:ln>
        </p:spPr>
      </p:sp>
      <p:sp>
        <p:nvSpPr>
          <p:cNvPr id="66" name="Shape 52"/>
          <p:cNvSpPr/>
          <p:nvPr/>
        </p:nvSpPr>
        <p:spPr>
          <a:xfrm>
            <a:off x="7006803" y="2689549"/>
            <a:ext cx="150015" cy="150015"/>
          </a:xfrm>
          <a:prstGeom prst="ellipse">
            <a:avLst/>
          </a:prstGeom>
          <a:solidFill>
            <a:srgbClr val="E8734A"/>
          </a:solidFill>
          <a:ln/>
        </p:spPr>
      </p:sp>
      <p:sp>
        <p:nvSpPr>
          <p:cNvPr id="67" name="Text 53"/>
          <p:cNvSpPr/>
          <p:nvPr/>
        </p:nvSpPr>
        <p:spPr>
          <a:xfrm>
            <a:off x="7006803" y="2692228"/>
            <a:ext cx="150015" cy="144657"/>
          </a:xfrm>
          <a:prstGeom prst="rect">
            <a:avLst/>
          </a:prstGeom>
          <a:noFill/>
          <a:ln/>
        </p:spPr>
        <p:txBody>
          <a:bodyPr wrap="square" lIns="0" tIns="0" rIns="0" bIns="0" rtlCol="0" anchor="ctr"/>
          <a:lstStyle/>
          <a:p>
            <a:pPr algn="ctr"/>
            <a:r>
              <a:rPr lang="en-US" sz="586" b="1" dirty="0">
                <a:solidFill>
                  <a:srgbClr val="FFFFFF"/>
                </a:solidFill>
                <a:latin typeface="Arial" pitchFamily="34" charset="0"/>
                <a:ea typeface="Arial" pitchFamily="34" charset="-122"/>
                <a:cs typeface="Arial" pitchFamily="34" charset="-120"/>
              </a:rPr>
              <a:t>6</a:t>
            </a:r>
            <a:endParaRPr lang="en-US" sz="586" dirty="0"/>
          </a:p>
        </p:txBody>
      </p:sp>
      <p:sp>
        <p:nvSpPr>
          <p:cNvPr id="68" name="Text 54"/>
          <p:cNvSpPr/>
          <p:nvPr/>
        </p:nvSpPr>
        <p:spPr>
          <a:xfrm>
            <a:off x="7199680" y="2684191"/>
            <a:ext cx="1039387" cy="128584"/>
          </a:xfrm>
          <a:prstGeom prst="rect">
            <a:avLst/>
          </a:prstGeom>
          <a:noFill/>
          <a:ln/>
        </p:spPr>
        <p:txBody>
          <a:bodyPr wrap="square" lIns="0" tIns="0" rIns="0" bIns="0" rtlCol="0" anchor="ctr"/>
          <a:lstStyle/>
          <a:p>
            <a:r>
              <a:rPr lang="en-US" sz="732" b="1" dirty="0">
                <a:solidFill>
                  <a:srgbClr val="E8734A"/>
                </a:solidFill>
                <a:latin typeface="Arial" pitchFamily="34" charset="0"/>
                <a:ea typeface="Arial" pitchFamily="34" charset="-122"/>
                <a:cs typeface="Arial" pitchFamily="34" charset="-120"/>
              </a:rPr>
              <a:t>LLM Layer</a:t>
            </a:r>
            <a:endParaRPr lang="en-US" sz="732" dirty="0"/>
          </a:p>
        </p:txBody>
      </p:sp>
      <p:sp>
        <p:nvSpPr>
          <p:cNvPr id="69" name="Text 55"/>
          <p:cNvSpPr/>
          <p:nvPr/>
        </p:nvSpPr>
        <p:spPr>
          <a:xfrm>
            <a:off x="7199680" y="2818133"/>
            <a:ext cx="1039387" cy="192876"/>
          </a:xfrm>
          <a:prstGeom prst="rect">
            <a:avLst/>
          </a:prstGeom>
          <a:noFill/>
          <a:ln/>
        </p:spPr>
        <p:txBody>
          <a:bodyPr wrap="square" lIns="0" tIns="0" rIns="0" bIns="0" rtlCol="0" anchor="ctr"/>
          <a:lstStyle/>
          <a:p>
            <a:pPr>
              <a:lnSpc>
                <a:spcPct val="104000"/>
              </a:lnSpc>
            </a:pPr>
            <a:r>
              <a:rPr lang="en-US" sz="504" dirty="0">
                <a:solidFill>
                  <a:srgbClr val="2B2F36"/>
                </a:solidFill>
                <a:latin typeface="Arial" pitchFamily="34" charset="0"/>
                <a:ea typeface="Arial" pitchFamily="34" charset="-122"/>
                <a:cs typeface="Arial" pitchFamily="34" charset="-120"/>
              </a:rPr>
              <a:t>Open-weight models on</a:t>
            </a:r>
            <a:endParaRPr lang="en-US" sz="504" dirty="0"/>
          </a:p>
          <a:p>
            <a:pPr>
              <a:lnSpc>
                <a:spcPct val="104000"/>
              </a:lnSpc>
            </a:pPr>
            <a:r>
              <a:rPr lang="en-US" sz="504" dirty="0">
                <a:solidFill>
                  <a:srgbClr val="2B2F36"/>
                </a:solidFill>
                <a:latin typeface="Arial" pitchFamily="34" charset="0"/>
                <a:ea typeface="Arial" pitchFamily="34" charset="-122"/>
                <a:cs typeface="Arial" pitchFamily="34" charset="-120"/>
              </a:rPr>
              <a:t>plant hardware — $0 tokens</a:t>
            </a:r>
            <a:endParaRPr lang="en-US" sz="504" dirty="0"/>
          </a:p>
        </p:txBody>
      </p:sp>
      <p:pic>
        <p:nvPicPr>
          <p:cNvPr id="70" name="Image 12" descr="/sessions/zealous-intelligent-mayer/mnt/outputs/icons8/local.png"/>
          <p:cNvPicPr>
            <a:picLocks noChangeAspect="1"/>
          </p:cNvPicPr>
          <p:nvPr/>
        </p:nvPicPr>
        <p:blipFill>
          <a:blip r:embed="rId15"/>
          <a:stretch>
            <a:fillRect/>
          </a:stretch>
        </p:blipFill>
        <p:spPr>
          <a:xfrm>
            <a:off x="7038949" y="3051191"/>
            <a:ext cx="85723" cy="85723"/>
          </a:xfrm>
          <a:prstGeom prst="rect">
            <a:avLst/>
          </a:prstGeom>
        </p:spPr>
      </p:pic>
      <p:sp>
        <p:nvSpPr>
          <p:cNvPr id="71" name="Text 56"/>
          <p:cNvSpPr/>
          <p:nvPr/>
        </p:nvSpPr>
        <p:spPr>
          <a:xfrm>
            <a:off x="7167534" y="3043155"/>
            <a:ext cx="1007241" cy="112511"/>
          </a:xfrm>
          <a:prstGeom prst="rect">
            <a:avLst/>
          </a:prstGeom>
          <a:noFill/>
          <a:ln/>
        </p:spPr>
        <p:txBody>
          <a:bodyPr wrap="square" lIns="0" tIns="0" rIns="0" bIns="0" rtlCol="0" anchor="ctr"/>
          <a:lstStyle/>
          <a:p>
            <a:r>
              <a:rPr lang="en-US" sz="469" dirty="0">
                <a:solidFill>
                  <a:srgbClr val="2B2F36"/>
                </a:solidFill>
                <a:latin typeface="Arial" pitchFamily="34" charset="0"/>
                <a:ea typeface="Arial" pitchFamily="34" charset="-122"/>
                <a:cs typeface="Arial" pitchFamily="34" charset="-120"/>
              </a:rPr>
              <a:t>Foundry Local (Windows / edge PC)</a:t>
            </a:r>
            <a:endParaRPr lang="en-US" sz="469" dirty="0"/>
          </a:p>
        </p:txBody>
      </p:sp>
      <p:pic>
        <p:nvPicPr>
          <p:cNvPr id="72" name="Image 13" descr="/sessions/zealous-intelligent-mayer/mnt/outputs/icons8/chip.png"/>
          <p:cNvPicPr>
            <a:picLocks noChangeAspect="1"/>
          </p:cNvPicPr>
          <p:nvPr/>
        </p:nvPicPr>
        <p:blipFill>
          <a:blip r:embed="rId16"/>
          <a:stretch>
            <a:fillRect/>
          </a:stretch>
        </p:blipFill>
        <p:spPr>
          <a:xfrm>
            <a:off x="7038949" y="3163702"/>
            <a:ext cx="85723" cy="85723"/>
          </a:xfrm>
          <a:prstGeom prst="rect">
            <a:avLst/>
          </a:prstGeom>
        </p:spPr>
      </p:pic>
      <p:sp>
        <p:nvSpPr>
          <p:cNvPr id="73" name="Text 57"/>
          <p:cNvSpPr/>
          <p:nvPr/>
        </p:nvSpPr>
        <p:spPr>
          <a:xfrm>
            <a:off x="7167534" y="3155666"/>
            <a:ext cx="1007241" cy="112511"/>
          </a:xfrm>
          <a:prstGeom prst="rect">
            <a:avLst/>
          </a:prstGeom>
          <a:noFill/>
          <a:ln/>
        </p:spPr>
        <p:txBody>
          <a:bodyPr wrap="square" lIns="0" tIns="0" rIns="0" bIns="0" rtlCol="0" anchor="ctr"/>
          <a:lstStyle/>
          <a:p>
            <a:r>
              <a:rPr lang="en-US" sz="469" dirty="0">
                <a:solidFill>
                  <a:srgbClr val="2B2F36"/>
                </a:solidFill>
                <a:latin typeface="Arial" pitchFamily="34" charset="0"/>
                <a:ea typeface="Arial" pitchFamily="34" charset="-122"/>
                <a:cs typeface="Arial" pitchFamily="34" charset="-120"/>
              </a:rPr>
              <a:t>Phi-4</a:t>
            </a:r>
            <a:endParaRPr lang="en-US" sz="469" dirty="0"/>
          </a:p>
        </p:txBody>
      </p:sp>
      <p:pic>
        <p:nvPicPr>
          <p:cNvPr id="74" name="Image 14" descr="/sessions/zealous-intelligent-mayer/mnt/outputs/icons8/cube.png"/>
          <p:cNvPicPr>
            <a:picLocks noChangeAspect="1"/>
          </p:cNvPicPr>
          <p:nvPr/>
        </p:nvPicPr>
        <p:blipFill>
          <a:blip r:embed="rId17"/>
          <a:stretch>
            <a:fillRect/>
          </a:stretch>
        </p:blipFill>
        <p:spPr>
          <a:xfrm>
            <a:off x="7038949" y="3276213"/>
            <a:ext cx="85723" cy="85723"/>
          </a:xfrm>
          <a:prstGeom prst="rect">
            <a:avLst/>
          </a:prstGeom>
        </p:spPr>
      </p:pic>
      <p:sp>
        <p:nvSpPr>
          <p:cNvPr id="75" name="Text 58"/>
          <p:cNvSpPr/>
          <p:nvPr/>
        </p:nvSpPr>
        <p:spPr>
          <a:xfrm>
            <a:off x="7167534" y="3268177"/>
            <a:ext cx="1007241" cy="112511"/>
          </a:xfrm>
          <a:prstGeom prst="rect">
            <a:avLst/>
          </a:prstGeom>
          <a:noFill/>
          <a:ln/>
        </p:spPr>
        <p:txBody>
          <a:bodyPr wrap="square" lIns="0" tIns="0" rIns="0" bIns="0" rtlCol="0" anchor="ctr"/>
          <a:lstStyle/>
          <a:p>
            <a:r>
              <a:rPr lang="en-US" sz="469" dirty="0">
                <a:solidFill>
                  <a:srgbClr val="2B2F36"/>
                </a:solidFill>
                <a:latin typeface="Arial" pitchFamily="34" charset="0"/>
                <a:ea typeface="Arial" pitchFamily="34" charset="-122"/>
                <a:cs typeface="Arial" pitchFamily="34" charset="-120"/>
              </a:rPr>
              <a:t>Llama 3.x</a:t>
            </a:r>
            <a:endParaRPr lang="en-US" sz="469" dirty="0"/>
          </a:p>
        </p:txBody>
      </p:sp>
      <p:pic>
        <p:nvPicPr>
          <p:cNvPr id="76" name="Image 15" descr="/sessions/zealous-intelligent-mayer/mnt/outputs/icons8/wind.png"/>
          <p:cNvPicPr>
            <a:picLocks noChangeAspect="1"/>
          </p:cNvPicPr>
          <p:nvPr/>
        </p:nvPicPr>
        <p:blipFill>
          <a:blip r:embed="rId18"/>
          <a:stretch>
            <a:fillRect/>
          </a:stretch>
        </p:blipFill>
        <p:spPr>
          <a:xfrm>
            <a:off x="7038949" y="3388724"/>
            <a:ext cx="85723" cy="85723"/>
          </a:xfrm>
          <a:prstGeom prst="rect">
            <a:avLst/>
          </a:prstGeom>
        </p:spPr>
      </p:pic>
      <p:sp>
        <p:nvSpPr>
          <p:cNvPr id="77" name="Text 59"/>
          <p:cNvSpPr/>
          <p:nvPr/>
        </p:nvSpPr>
        <p:spPr>
          <a:xfrm>
            <a:off x="7167534" y="3380688"/>
            <a:ext cx="1007241" cy="112511"/>
          </a:xfrm>
          <a:prstGeom prst="rect">
            <a:avLst/>
          </a:prstGeom>
          <a:noFill/>
          <a:ln/>
        </p:spPr>
        <p:txBody>
          <a:bodyPr wrap="square" lIns="0" tIns="0" rIns="0" bIns="0" rtlCol="0" anchor="ctr"/>
          <a:lstStyle/>
          <a:p>
            <a:r>
              <a:rPr lang="en-US" sz="469" dirty="0">
                <a:solidFill>
                  <a:srgbClr val="2B2F36"/>
                </a:solidFill>
                <a:latin typeface="Arial" pitchFamily="34" charset="0"/>
                <a:ea typeface="Arial" pitchFamily="34" charset="-122"/>
                <a:cs typeface="Arial" pitchFamily="34" charset="-120"/>
              </a:rPr>
              <a:t>Mistral Small</a:t>
            </a:r>
            <a:endParaRPr lang="en-US" sz="469" dirty="0"/>
          </a:p>
        </p:txBody>
      </p:sp>
      <p:pic>
        <p:nvPicPr>
          <p:cNvPr id="78" name="Image 16" descr="/sessions/zealous-intelligent-mayer/mnt/outputs/icons8/layers.png"/>
          <p:cNvPicPr>
            <a:picLocks noChangeAspect="1"/>
          </p:cNvPicPr>
          <p:nvPr/>
        </p:nvPicPr>
        <p:blipFill>
          <a:blip r:embed="rId19"/>
          <a:stretch>
            <a:fillRect/>
          </a:stretch>
        </p:blipFill>
        <p:spPr>
          <a:xfrm>
            <a:off x="7038949" y="3501235"/>
            <a:ext cx="85723" cy="85723"/>
          </a:xfrm>
          <a:prstGeom prst="rect">
            <a:avLst/>
          </a:prstGeom>
        </p:spPr>
      </p:pic>
      <p:sp>
        <p:nvSpPr>
          <p:cNvPr id="79" name="Text 60"/>
          <p:cNvSpPr/>
          <p:nvPr/>
        </p:nvSpPr>
        <p:spPr>
          <a:xfrm>
            <a:off x="7167534" y="3493199"/>
            <a:ext cx="1007241" cy="112511"/>
          </a:xfrm>
          <a:prstGeom prst="rect">
            <a:avLst/>
          </a:prstGeom>
          <a:noFill/>
          <a:ln/>
        </p:spPr>
        <p:txBody>
          <a:bodyPr wrap="square" lIns="0" tIns="0" rIns="0" bIns="0" rtlCol="0" anchor="ctr"/>
          <a:lstStyle/>
          <a:p>
            <a:r>
              <a:rPr lang="en-US" sz="469" dirty="0">
                <a:solidFill>
                  <a:srgbClr val="2B2F36"/>
                </a:solidFill>
                <a:latin typeface="Arial" pitchFamily="34" charset="0"/>
                <a:ea typeface="Arial" pitchFamily="34" charset="-122"/>
                <a:cs typeface="Arial" pitchFamily="34" charset="-120"/>
              </a:rPr>
              <a:t>Qwen3 / Gemma 3</a:t>
            </a:r>
            <a:endParaRPr lang="en-US" sz="469" dirty="0"/>
          </a:p>
        </p:txBody>
      </p:sp>
      <p:pic>
        <p:nvPicPr>
          <p:cNvPr id="80" name="Image 17" descr="/sessions/zealous-intelligent-mayer/mnt/outputs/icons8/brain.png"/>
          <p:cNvPicPr>
            <a:picLocks noChangeAspect="1"/>
          </p:cNvPicPr>
          <p:nvPr/>
        </p:nvPicPr>
        <p:blipFill>
          <a:blip r:embed="rId20"/>
          <a:stretch>
            <a:fillRect/>
          </a:stretch>
        </p:blipFill>
        <p:spPr>
          <a:xfrm>
            <a:off x="7038949" y="3613746"/>
            <a:ext cx="85723" cy="85723"/>
          </a:xfrm>
          <a:prstGeom prst="rect">
            <a:avLst/>
          </a:prstGeom>
        </p:spPr>
      </p:pic>
      <p:sp>
        <p:nvSpPr>
          <p:cNvPr id="81" name="Text 61"/>
          <p:cNvSpPr/>
          <p:nvPr/>
        </p:nvSpPr>
        <p:spPr>
          <a:xfrm>
            <a:off x="7167534" y="3605710"/>
            <a:ext cx="1007241" cy="112511"/>
          </a:xfrm>
          <a:prstGeom prst="rect">
            <a:avLst/>
          </a:prstGeom>
          <a:noFill/>
          <a:ln/>
        </p:spPr>
        <p:txBody>
          <a:bodyPr wrap="square" lIns="0" tIns="0" rIns="0" bIns="0" rtlCol="0" anchor="ctr"/>
          <a:lstStyle/>
          <a:p>
            <a:r>
              <a:rPr lang="en-US" sz="469" dirty="0">
                <a:solidFill>
                  <a:srgbClr val="2B2F36"/>
                </a:solidFill>
                <a:latin typeface="Arial" pitchFamily="34" charset="0"/>
                <a:ea typeface="Arial" pitchFamily="34" charset="-122"/>
                <a:cs typeface="Arial" pitchFamily="34" charset="-120"/>
              </a:rPr>
              <a:t>DeepSeek-R1</a:t>
            </a:r>
            <a:endParaRPr lang="en-US" sz="469" dirty="0"/>
          </a:p>
        </p:txBody>
      </p:sp>
      <p:sp>
        <p:nvSpPr>
          <p:cNvPr id="82" name="Shape 62"/>
          <p:cNvSpPr/>
          <p:nvPr/>
        </p:nvSpPr>
        <p:spPr>
          <a:xfrm>
            <a:off x="3556466" y="3193170"/>
            <a:ext cx="792935" cy="1650161"/>
          </a:xfrm>
          <a:prstGeom prst="roundRect">
            <a:avLst>
              <a:gd name="adj" fmla="val 6757"/>
            </a:avLst>
          </a:prstGeom>
          <a:solidFill>
            <a:srgbClr val="EFF8F0"/>
          </a:solidFill>
          <a:ln w="15875">
            <a:solidFill>
              <a:srgbClr val="8CC79A"/>
            </a:solidFill>
            <a:prstDash val="solid"/>
          </a:ln>
        </p:spPr>
      </p:sp>
      <p:sp>
        <p:nvSpPr>
          <p:cNvPr id="83" name="Shape 63"/>
          <p:cNvSpPr/>
          <p:nvPr/>
        </p:nvSpPr>
        <p:spPr>
          <a:xfrm>
            <a:off x="3749342" y="3257461"/>
            <a:ext cx="150015" cy="150015"/>
          </a:xfrm>
          <a:prstGeom prst="ellipse">
            <a:avLst/>
          </a:prstGeom>
          <a:solidFill>
            <a:srgbClr val="2E9E4F"/>
          </a:solidFill>
          <a:ln/>
        </p:spPr>
      </p:sp>
      <p:sp>
        <p:nvSpPr>
          <p:cNvPr id="84" name="Text 64"/>
          <p:cNvSpPr/>
          <p:nvPr/>
        </p:nvSpPr>
        <p:spPr>
          <a:xfrm>
            <a:off x="3749342" y="3260140"/>
            <a:ext cx="150015" cy="144657"/>
          </a:xfrm>
          <a:prstGeom prst="rect">
            <a:avLst/>
          </a:prstGeom>
          <a:noFill/>
          <a:ln/>
        </p:spPr>
        <p:txBody>
          <a:bodyPr wrap="square" lIns="0" tIns="0" rIns="0" bIns="0" rtlCol="0" anchor="ctr"/>
          <a:lstStyle/>
          <a:p>
            <a:pPr algn="ctr"/>
            <a:r>
              <a:rPr lang="en-US" sz="586" b="1" dirty="0">
                <a:solidFill>
                  <a:srgbClr val="FFFFFF"/>
                </a:solidFill>
                <a:latin typeface="Arial" pitchFamily="34" charset="0"/>
                <a:ea typeface="Arial" pitchFamily="34" charset="-122"/>
                <a:cs typeface="Arial" pitchFamily="34" charset="-120"/>
              </a:rPr>
              <a:t>11</a:t>
            </a:r>
            <a:endParaRPr lang="en-US" sz="586" dirty="0"/>
          </a:p>
        </p:txBody>
      </p:sp>
      <p:sp>
        <p:nvSpPr>
          <p:cNvPr id="85" name="Text 65"/>
          <p:cNvSpPr/>
          <p:nvPr/>
        </p:nvSpPr>
        <p:spPr>
          <a:xfrm>
            <a:off x="3588612" y="3439622"/>
            <a:ext cx="728643" cy="117869"/>
          </a:xfrm>
          <a:prstGeom prst="rect">
            <a:avLst/>
          </a:prstGeom>
          <a:noFill/>
          <a:ln/>
        </p:spPr>
        <p:txBody>
          <a:bodyPr wrap="square" lIns="0" tIns="0" rIns="0" bIns="0" rtlCol="0" anchor="ctr"/>
          <a:lstStyle/>
          <a:p>
            <a:pPr algn="ctr"/>
            <a:r>
              <a:rPr lang="en-US" sz="644" b="1" dirty="0">
                <a:solidFill>
                  <a:srgbClr val="2E9E4F"/>
                </a:solidFill>
                <a:latin typeface="Arial" pitchFamily="34" charset="0"/>
                <a:ea typeface="Arial" pitchFamily="34" charset="-122"/>
                <a:cs typeface="Arial" pitchFamily="34" charset="-120"/>
              </a:rPr>
              <a:t>Observability</a:t>
            </a:r>
            <a:endParaRPr lang="en-US" sz="644" dirty="0"/>
          </a:p>
        </p:txBody>
      </p:sp>
      <p:sp>
        <p:nvSpPr>
          <p:cNvPr id="86" name="Text 66"/>
          <p:cNvSpPr/>
          <p:nvPr/>
        </p:nvSpPr>
        <p:spPr>
          <a:xfrm>
            <a:off x="3588612" y="3568206"/>
            <a:ext cx="728643" cy="182161"/>
          </a:xfrm>
          <a:prstGeom prst="rect">
            <a:avLst/>
          </a:prstGeom>
          <a:noFill/>
          <a:ln/>
        </p:spPr>
        <p:txBody>
          <a:bodyPr wrap="square" lIns="0" tIns="0" rIns="0" bIns="0" rtlCol="0" anchor="ctr"/>
          <a:lstStyle/>
          <a:p>
            <a:pPr algn="ctr">
              <a:lnSpc>
                <a:spcPct val="102000"/>
              </a:lnSpc>
            </a:pPr>
            <a:r>
              <a:rPr lang="en-US" sz="469" dirty="0">
                <a:solidFill>
                  <a:srgbClr val="2B2F36"/>
                </a:solidFill>
                <a:latin typeface="Arial" pitchFamily="34" charset="0"/>
                <a:ea typeface="Arial" pitchFamily="34" charset="-122"/>
                <a:cs typeface="Arial" pitchFamily="34" charset="-120"/>
              </a:rPr>
              <a:t>Monitor, trace and</a:t>
            </a:r>
            <a:endParaRPr lang="en-US" sz="469" dirty="0"/>
          </a:p>
          <a:p>
            <a:pPr algn="ctr">
              <a:lnSpc>
                <a:spcPct val="102000"/>
              </a:lnSpc>
            </a:pPr>
            <a:r>
              <a:rPr lang="en-US" sz="469" dirty="0">
                <a:solidFill>
                  <a:srgbClr val="2B2F36"/>
                </a:solidFill>
                <a:latin typeface="Arial" pitchFamily="34" charset="0"/>
                <a:ea typeface="Arial" pitchFamily="34" charset="-122"/>
                <a:cs typeface="Arial" pitchFamily="34" charset="-120"/>
              </a:rPr>
              <a:t>evaluate the system</a:t>
            </a:r>
            <a:endParaRPr lang="en-US" sz="469" dirty="0"/>
          </a:p>
        </p:txBody>
      </p:sp>
      <p:pic>
        <p:nvPicPr>
          <p:cNvPr id="87" name="Image 18" descr="/sessions/zealous-intelligent-mayer/mnt/outputs/icons8/appin.png"/>
          <p:cNvPicPr>
            <a:picLocks noChangeAspect="1"/>
          </p:cNvPicPr>
          <p:nvPr/>
        </p:nvPicPr>
        <p:blipFill>
          <a:blip r:embed="rId21"/>
          <a:stretch>
            <a:fillRect/>
          </a:stretch>
        </p:blipFill>
        <p:spPr>
          <a:xfrm>
            <a:off x="3610043" y="3836090"/>
            <a:ext cx="107153" cy="107153"/>
          </a:xfrm>
          <a:prstGeom prst="rect">
            <a:avLst/>
          </a:prstGeom>
        </p:spPr>
      </p:pic>
      <p:sp>
        <p:nvSpPr>
          <p:cNvPr id="88" name="Text 67"/>
          <p:cNvSpPr/>
          <p:nvPr/>
        </p:nvSpPr>
        <p:spPr>
          <a:xfrm>
            <a:off x="3760057" y="3825374"/>
            <a:ext cx="546482" cy="80365"/>
          </a:xfrm>
          <a:prstGeom prst="rect">
            <a:avLst/>
          </a:prstGeom>
          <a:noFill/>
          <a:ln/>
        </p:spPr>
        <p:txBody>
          <a:bodyPr wrap="square" lIns="0" tIns="0" rIns="0" bIns="0" rtlCol="0" anchor="ctr"/>
          <a:lstStyle/>
          <a:p>
            <a:r>
              <a:rPr lang="en-US" sz="445" b="1" dirty="0">
                <a:solidFill>
                  <a:srgbClr val="2B2F36"/>
                </a:solidFill>
                <a:latin typeface="Arial" pitchFamily="34" charset="0"/>
                <a:ea typeface="Arial" pitchFamily="34" charset="-122"/>
                <a:cs typeface="Arial" pitchFamily="34" charset="-120"/>
              </a:rPr>
              <a:t>Application Insights</a:t>
            </a:r>
            <a:endParaRPr lang="en-US" sz="445" dirty="0"/>
          </a:p>
        </p:txBody>
      </p:sp>
      <p:sp>
        <p:nvSpPr>
          <p:cNvPr id="89" name="Text 68"/>
          <p:cNvSpPr/>
          <p:nvPr/>
        </p:nvSpPr>
        <p:spPr>
          <a:xfrm>
            <a:off x="3760057" y="3903060"/>
            <a:ext cx="546482" cy="69650"/>
          </a:xfrm>
          <a:prstGeom prst="rect">
            <a:avLst/>
          </a:prstGeom>
          <a:noFill/>
          <a:ln/>
        </p:spPr>
        <p:txBody>
          <a:bodyPr wrap="square" lIns="0" tIns="0" rIns="0" bIns="0" rtlCol="0" anchor="ctr"/>
          <a:lstStyle/>
          <a:p>
            <a:r>
              <a:rPr lang="en-US" sz="340" dirty="0">
                <a:solidFill>
                  <a:srgbClr val="6B7480"/>
                </a:solidFill>
                <a:latin typeface="Arial" pitchFamily="34" charset="0"/>
                <a:ea typeface="Arial" pitchFamily="34" charset="-122"/>
                <a:cs typeface="Arial" pitchFamily="34" charset="-120"/>
              </a:rPr>
              <a:t>free ingestion grant</a:t>
            </a:r>
            <a:endParaRPr lang="en-US" sz="340" dirty="0"/>
          </a:p>
        </p:txBody>
      </p:sp>
      <p:pic>
        <p:nvPicPr>
          <p:cNvPr id="90" name="Image 19" descr="/sessions/zealous-intelligent-mayer/mnt/outputs/icons8/gauge.png"/>
          <p:cNvPicPr>
            <a:picLocks noChangeAspect="1"/>
          </p:cNvPicPr>
          <p:nvPr/>
        </p:nvPicPr>
        <p:blipFill>
          <a:blip r:embed="rId22"/>
          <a:stretch>
            <a:fillRect/>
          </a:stretch>
        </p:blipFill>
        <p:spPr>
          <a:xfrm>
            <a:off x="3610043" y="4061112"/>
            <a:ext cx="107153" cy="107153"/>
          </a:xfrm>
          <a:prstGeom prst="rect">
            <a:avLst/>
          </a:prstGeom>
        </p:spPr>
      </p:pic>
      <p:sp>
        <p:nvSpPr>
          <p:cNvPr id="91" name="Text 69"/>
          <p:cNvSpPr/>
          <p:nvPr/>
        </p:nvSpPr>
        <p:spPr>
          <a:xfrm>
            <a:off x="3760057" y="4050396"/>
            <a:ext cx="546482" cy="80365"/>
          </a:xfrm>
          <a:prstGeom prst="rect">
            <a:avLst/>
          </a:prstGeom>
          <a:noFill/>
          <a:ln/>
        </p:spPr>
        <p:txBody>
          <a:bodyPr wrap="square" lIns="0" tIns="0" rIns="0" bIns="0" rtlCol="0" anchor="ctr"/>
          <a:lstStyle/>
          <a:p>
            <a:r>
              <a:rPr lang="en-US" sz="445" b="1" dirty="0">
                <a:solidFill>
                  <a:srgbClr val="2B2F36"/>
                </a:solidFill>
                <a:latin typeface="Arial" pitchFamily="34" charset="0"/>
                <a:ea typeface="Arial" pitchFamily="34" charset="-122"/>
                <a:cs typeface="Arial" pitchFamily="34" charset="-120"/>
              </a:rPr>
              <a:t>Azure Monitor</a:t>
            </a:r>
            <a:endParaRPr lang="en-US" sz="445" dirty="0"/>
          </a:p>
        </p:txBody>
      </p:sp>
      <p:sp>
        <p:nvSpPr>
          <p:cNvPr id="92" name="Text 70"/>
          <p:cNvSpPr/>
          <p:nvPr/>
        </p:nvSpPr>
        <p:spPr>
          <a:xfrm>
            <a:off x="3760057" y="4128082"/>
            <a:ext cx="546482" cy="69650"/>
          </a:xfrm>
          <a:prstGeom prst="rect">
            <a:avLst/>
          </a:prstGeom>
          <a:noFill/>
          <a:ln/>
        </p:spPr>
        <p:txBody>
          <a:bodyPr wrap="square" lIns="0" tIns="0" rIns="0" bIns="0" rtlCol="0" anchor="ctr"/>
          <a:lstStyle/>
          <a:p>
            <a:r>
              <a:rPr lang="en-US" sz="340" dirty="0">
                <a:solidFill>
                  <a:srgbClr val="6B7480"/>
                </a:solidFill>
                <a:latin typeface="Arial" pitchFamily="34" charset="0"/>
                <a:ea typeface="Arial" pitchFamily="34" charset="-122"/>
                <a:cs typeface="Arial" pitchFamily="34" charset="-120"/>
              </a:rPr>
              <a:t>free platform metrics</a:t>
            </a:r>
            <a:endParaRPr lang="en-US" sz="340" dirty="0"/>
          </a:p>
        </p:txBody>
      </p:sp>
      <p:pic>
        <p:nvPicPr>
          <p:cNvPr id="93" name="Image 20" descr="/sessions/zealous-intelligent-mayer/mnt/outputs/icons8/otel.png"/>
          <p:cNvPicPr>
            <a:picLocks noChangeAspect="1"/>
          </p:cNvPicPr>
          <p:nvPr/>
        </p:nvPicPr>
        <p:blipFill>
          <a:blip r:embed="rId23"/>
          <a:stretch>
            <a:fillRect/>
          </a:stretch>
        </p:blipFill>
        <p:spPr>
          <a:xfrm>
            <a:off x="3610043" y="4286134"/>
            <a:ext cx="107153" cy="107153"/>
          </a:xfrm>
          <a:prstGeom prst="rect">
            <a:avLst/>
          </a:prstGeom>
        </p:spPr>
      </p:pic>
      <p:sp>
        <p:nvSpPr>
          <p:cNvPr id="94" name="Text 71"/>
          <p:cNvSpPr/>
          <p:nvPr/>
        </p:nvSpPr>
        <p:spPr>
          <a:xfrm>
            <a:off x="3760057" y="4275418"/>
            <a:ext cx="546482" cy="80365"/>
          </a:xfrm>
          <a:prstGeom prst="rect">
            <a:avLst/>
          </a:prstGeom>
          <a:noFill/>
          <a:ln/>
        </p:spPr>
        <p:txBody>
          <a:bodyPr wrap="square" lIns="0" tIns="0" rIns="0" bIns="0" rtlCol="0" anchor="ctr"/>
          <a:lstStyle/>
          <a:p>
            <a:r>
              <a:rPr lang="en-US" sz="445" b="1" dirty="0">
                <a:solidFill>
                  <a:srgbClr val="2B2F36"/>
                </a:solidFill>
                <a:latin typeface="Arial" pitchFamily="34" charset="0"/>
                <a:ea typeface="Arial" pitchFamily="34" charset="-122"/>
                <a:cs typeface="Arial" pitchFamily="34" charset="-120"/>
              </a:rPr>
              <a:t>OpenTelemetry</a:t>
            </a:r>
            <a:endParaRPr lang="en-US" sz="445" dirty="0"/>
          </a:p>
        </p:txBody>
      </p:sp>
      <p:sp>
        <p:nvSpPr>
          <p:cNvPr id="95" name="Text 72"/>
          <p:cNvSpPr/>
          <p:nvPr/>
        </p:nvSpPr>
        <p:spPr>
          <a:xfrm>
            <a:off x="3760057" y="4353104"/>
            <a:ext cx="546482" cy="69650"/>
          </a:xfrm>
          <a:prstGeom prst="rect">
            <a:avLst/>
          </a:prstGeom>
          <a:noFill/>
          <a:ln/>
        </p:spPr>
        <p:txBody>
          <a:bodyPr wrap="square" lIns="0" tIns="0" rIns="0" bIns="0" rtlCol="0" anchor="ctr"/>
          <a:lstStyle/>
          <a:p>
            <a:r>
              <a:rPr lang="en-US" sz="340" dirty="0">
                <a:solidFill>
                  <a:srgbClr val="6B7480"/>
                </a:solidFill>
                <a:latin typeface="Arial" pitchFamily="34" charset="0"/>
                <a:ea typeface="Arial" pitchFamily="34" charset="-122"/>
                <a:cs typeface="Arial" pitchFamily="34" charset="-120"/>
              </a:rPr>
              <a:t>open source</a:t>
            </a:r>
            <a:endParaRPr lang="en-US" sz="340" dirty="0"/>
          </a:p>
        </p:txBody>
      </p:sp>
      <p:sp>
        <p:nvSpPr>
          <p:cNvPr id="96" name="Shape 73"/>
          <p:cNvSpPr/>
          <p:nvPr/>
        </p:nvSpPr>
        <p:spPr>
          <a:xfrm>
            <a:off x="6878219" y="4028966"/>
            <a:ext cx="1114395" cy="482190"/>
          </a:xfrm>
          <a:prstGeom prst="roundRect">
            <a:avLst>
              <a:gd name="adj" fmla="val 11111"/>
            </a:avLst>
          </a:prstGeom>
          <a:solidFill>
            <a:srgbClr val="FDF3EC"/>
          </a:solidFill>
          <a:ln w="15875">
            <a:solidFill>
              <a:srgbClr val="F1B294"/>
            </a:solidFill>
            <a:prstDash val="solid"/>
          </a:ln>
        </p:spPr>
      </p:sp>
      <p:sp>
        <p:nvSpPr>
          <p:cNvPr id="97" name="Shape 74"/>
          <p:cNvSpPr/>
          <p:nvPr/>
        </p:nvSpPr>
        <p:spPr>
          <a:xfrm>
            <a:off x="6942511" y="4082542"/>
            <a:ext cx="150015" cy="150015"/>
          </a:xfrm>
          <a:prstGeom prst="ellipse">
            <a:avLst/>
          </a:prstGeom>
          <a:solidFill>
            <a:srgbClr val="E8734A"/>
          </a:solidFill>
          <a:ln/>
        </p:spPr>
      </p:sp>
      <p:sp>
        <p:nvSpPr>
          <p:cNvPr id="98" name="Text 75"/>
          <p:cNvSpPr/>
          <p:nvPr/>
        </p:nvSpPr>
        <p:spPr>
          <a:xfrm>
            <a:off x="6942511" y="4085221"/>
            <a:ext cx="150015" cy="144657"/>
          </a:xfrm>
          <a:prstGeom prst="rect">
            <a:avLst/>
          </a:prstGeom>
          <a:noFill/>
          <a:ln/>
        </p:spPr>
        <p:txBody>
          <a:bodyPr wrap="square" lIns="0" tIns="0" rIns="0" bIns="0" rtlCol="0" anchor="ctr"/>
          <a:lstStyle/>
          <a:p>
            <a:pPr algn="ctr"/>
            <a:r>
              <a:rPr lang="en-US" sz="586" b="1" dirty="0">
                <a:solidFill>
                  <a:srgbClr val="FFFFFF"/>
                </a:solidFill>
                <a:latin typeface="Arial" pitchFamily="34" charset="0"/>
                <a:ea typeface="Arial" pitchFamily="34" charset="-122"/>
                <a:cs typeface="Arial" pitchFamily="34" charset="-120"/>
              </a:rPr>
              <a:t>7</a:t>
            </a:r>
            <a:endParaRPr lang="en-US" sz="586" dirty="0"/>
          </a:p>
        </p:txBody>
      </p:sp>
      <p:sp>
        <p:nvSpPr>
          <p:cNvPr id="99" name="Text 76"/>
          <p:cNvSpPr/>
          <p:nvPr/>
        </p:nvSpPr>
        <p:spPr>
          <a:xfrm>
            <a:off x="7135387" y="4077184"/>
            <a:ext cx="803650" cy="117869"/>
          </a:xfrm>
          <a:prstGeom prst="rect">
            <a:avLst/>
          </a:prstGeom>
          <a:noFill/>
          <a:ln/>
        </p:spPr>
        <p:txBody>
          <a:bodyPr wrap="square" lIns="0" tIns="0" rIns="0" bIns="0" rtlCol="0" anchor="ctr"/>
          <a:lstStyle/>
          <a:p>
            <a:r>
              <a:rPr lang="en-US" sz="644" b="1" dirty="0">
                <a:solidFill>
                  <a:srgbClr val="E8734A"/>
                </a:solidFill>
                <a:latin typeface="Arial" pitchFamily="34" charset="0"/>
                <a:ea typeface="Arial" pitchFamily="34" charset="-122"/>
                <a:cs typeface="Arial" pitchFamily="34" charset="-120"/>
              </a:rPr>
              <a:t>Tool Use via MCP</a:t>
            </a:r>
            <a:endParaRPr lang="en-US" sz="644" dirty="0"/>
          </a:p>
        </p:txBody>
      </p:sp>
      <p:sp>
        <p:nvSpPr>
          <p:cNvPr id="100" name="Text 77"/>
          <p:cNvSpPr/>
          <p:nvPr/>
        </p:nvSpPr>
        <p:spPr>
          <a:xfrm>
            <a:off x="6942511" y="4243272"/>
            <a:ext cx="996526" cy="182161"/>
          </a:xfrm>
          <a:prstGeom prst="rect">
            <a:avLst/>
          </a:prstGeom>
          <a:noFill/>
          <a:ln/>
        </p:spPr>
        <p:txBody>
          <a:bodyPr wrap="square" lIns="0" tIns="0" rIns="0" bIns="0" rtlCol="0" anchor="ctr"/>
          <a:lstStyle/>
          <a:p>
            <a:pPr>
              <a:lnSpc>
                <a:spcPct val="102000"/>
              </a:lnSpc>
            </a:pPr>
            <a:r>
              <a:rPr lang="en-US" sz="457" dirty="0">
                <a:solidFill>
                  <a:srgbClr val="2B2F36"/>
                </a:solidFill>
                <a:latin typeface="Arial" pitchFamily="34" charset="0"/>
                <a:ea typeface="Arial" pitchFamily="34" charset="-122"/>
                <a:cs typeface="Arial" pitchFamily="34" charset="-120"/>
              </a:rPr>
              <a:t>Read-only connectors to Ball systems</a:t>
            </a:r>
            <a:endParaRPr lang="en-US" sz="457" dirty="0"/>
          </a:p>
          <a:p>
            <a:pPr>
              <a:lnSpc>
                <a:spcPct val="102000"/>
              </a:lnSpc>
            </a:pPr>
            <a:r>
              <a:rPr lang="en-US" sz="457" dirty="0">
                <a:solidFill>
                  <a:srgbClr val="2B2F36"/>
                </a:solidFill>
                <a:latin typeface="Arial" pitchFamily="34" charset="0"/>
                <a:ea typeface="Arial" pitchFamily="34" charset="-122"/>
                <a:cs typeface="Arial" pitchFamily="34" charset="-120"/>
              </a:rPr>
              <a:t>and plant data at $0</a:t>
            </a:r>
            <a:endParaRPr lang="en-US" sz="457" dirty="0"/>
          </a:p>
        </p:txBody>
      </p:sp>
      <p:sp>
        <p:nvSpPr>
          <p:cNvPr id="101" name="Shape 78"/>
          <p:cNvSpPr/>
          <p:nvPr/>
        </p:nvSpPr>
        <p:spPr>
          <a:xfrm>
            <a:off x="8271213" y="3632498"/>
            <a:ext cx="342891" cy="225022"/>
          </a:xfrm>
          <a:prstGeom prst="roundRect">
            <a:avLst>
              <a:gd name="adj" fmla="val 14286"/>
            </a:avLst>
          </a:prstGeom>
          <a:solidFill>
            <a:srgbClr val="FFFFFF"/>
          </a:solidFill>
          <a:ln w="12700">
            <a:solidFill>
              <a:srgbClr val="C9D3DD"/>
            </a:solidFill>
            <a:prstDash val="solid"/>
          </a:ln>
        </p:spPr>
      </p:sp>
      <p:pic>
        <p:nvPicPr>
          <p:cNvPr id="102" name="Image 21" descr="/sessions/zealous-intelligent-mayer/mnt/outputs/icons8/sap.png"/>
          <p:cNvPicPr>
            <a:picLocks noChangeAspect="1"/>
          </p:cNvPicPr>
          <p:nvPr/>
        </p:nvPicPr>
        <p:blipFill>
          <a:blip r:embed="rId24"/>
          <a:stretch>
            <a:fillRect/>
          </a:stretch>
        </p:blipFill>
        <p:spPr>
          <a:xfrm>
            <a:off x="8335505" y="3664644"/>
            <a:ext cx="96438" cy="96438"/>
          </a:xfrm>
          <a:prstGeom prst="rect">
            <a:avLst/>
          </a:prstGeom>
        </p:spPr>
      </p:pic>
      <p:sp>
        <p:nvSpPr>
          <p:cNvPr id="103" name="Text 79"/>
          <p:cNvSpPr/>
          <p:nvPr/>
        </p:nvSpPr>
        <p:spPr>
          <a:xfrm>
            <a:off x="8271213" y="3771797"/>
            <a:ext cx="342891" cy="69650"/>
          </a:xfrm>
          <a:prstGeom prst="rect">
            <a:avLst/>
          </a:prstGeom>
          <a:noFill/>
          <a:ln/>
        </p:spPr>
        <p:txBody>
          <a:bodyPr wrap="square" lIns="0" tIns="0" rIns="0" bIns="0" rtlCol="0" anchor="ctr"/>
          <a:lstStyle/>
          <a:p>
            <a:pPr algn="ctr"/>
            <a:r>
              <a:rPr lang="en-US" sz="316" dirty="0">
                <a:solidFill>
                  <a:srgbClr val="2B2F36"/>
                </a:solidFill>
                <a:latin typeface="Arial" pitchFamily="34" charset="0"/>
                <a:ea typeface="Arial" pitchFamily="34" charset="-122"/>
                <a:cs typeface="Arial" pitchFamily="34" charset="-120"/>
              </a:rPr>
              <a:t>SAP</a:t>
            </a:r>
            <a:endParaRPr lang="en-US" sz="316" dirty="0"/>
          </a:p>
        </p:txBody>
      </p:sp>
      <p:sp>
        <p:nvSpPr>
          <p:cNvPr id="104" name="Shape 80"/>
          <p:cNvSpPr/>
          <p:nvPr/>
        </p:nvSpPr>
        <p:spPr>
          <a:xfrm>
            <a:off x="8003330" y="3745009"/>
            <a:ext cx="257168" cy="0"/>
          </a:xfrm>
          <a:prstGeom prst="line">
            <a:avLst/>
          </a:prstGeom>
          <a:noFill/>
          <a:ln w="15875">
            <a:solidFill>
              <a:srgbClr val="1D1F24"/>
            </a:solidFill>
            <a:prstDash val="solid"/>
            <a:headEnd type="triangle"/>
          </a:ln>
        </p:spPr>
      </p:sp>
      <p:sp>
        <p:nvSpPr>
          <p:cNvPr id="105" name="Shape 81"/>
          <p:cNvSpPr/>
          <p:nvPr/>
        </p:nvSpPr>
        <p:spPr>
          <a:xfrm>
            <a:off x="8271213" y="3900382"/>
            <a:ext cx="342891" cy="225022"/>
          </a:xfrm>
          <a:prstGeom prst="roundRect">
            <a:avLst>
              <a:gd name="adj" fmla="val 14286"/>
            </a:avLst>
          </a:prstGeom>
          <a:solidFill>
            <a:srgbClr val="FFFFFF"/>
          </a:solidFill>
          <a:ln w="12700">
            <a:solidFill>
              <a:srgbClr val="C9D3DD"/>
            </a:solidFill>
            <a:prstDash val="solid"/>
          </a:ln>
        </p:spPr>
      </p:sp>
      <p:pic>
        <p:nvPicPr>
          <p:cNvPr id="106" name="Image 22" descr="/sessions/zealous-intelligent-mayer/mnt/outputs/icons8/pi.png"/>
          <p:cNvPicPr>
            <a:picLocks noChangeAspect="1"/>
          </p:cNvPicPr>
          <p:nvPr/>
        </p:nvPicPr>
        <p:blipFill>
          <a:blip r:embed="rId25"/>
          <a:stretch>
            <a:fillRect/>
          </a:stretch>
        </p:blipFill>
        <p:spPr>
          <a:xfrm>
            <a:off x="8335505" y="3932528"/>
            <a:ext cx="96438" cy="96438"/>
          </a:xfrm>
          <a:prstGeom prst="rect">
            <a:avLst/>
          </a:prstGeom>
        </p:spPr>
      </p:pic>
      <p:sp>
        <p:nvSpPr>
          <p:cNvPr id="107" name="Text 82"/>
          <p:cNvSpPr/>
          <p:nvPr/>
        </p:nvSpPr>
        <p:spPr>
          <a:xfrm>
            <a:off x="8271213" y="4039681"/>
            <a:ext cx="342891" cy="69650"/>
          </a:xfrm>
          <a:prstGeom prst="rect">
            <a:avLst/>
          </a:prstGeom>
          <a:noFill/>
          <a:ln/>
        </p:spPr>
        <p:txBody>
          <a:bodyPr wrap="square" lIns="0" tIns="0" rIns="0" bIns="0" rtlCol="0" anchor="ctr"/>
          <a:lstStyle/>
          <a:p>
            <a:pPr algn="ctr"/>
            <a:r>
              <a:rPr lang="en-US" sz="316" dirty="0">
                <a:solidFill>
                  <a:srgbClr val="2B2F36"/>
                </a:solidFill>
                <a:latin typeface="Arial" pitchFamily="34" charset="0"/>
                <a:ea typeface="Arial" pitchFamily="34" charset="-122"/>
                <a:cs typeface="Arial" pitchFamily="34" charset="-120"/>
              </a:rPr>
              <a:t>AVEVA PI</a:t>
            </a:r>
            <a:endParaRPr lang="en-US" sz="316" dirty="0"/>
          </a:p>
        </p:txBody>
      </p:sp>
      <p:sp>
        <p:nvSpPr>
          <p:cNvPr id="108" name="Shape 83"/>
          <p:cNvSpPr/>
          <p:nvPr/>
        </p:nvSpPr>
        <p:spPr>
          <a:xfrm>
            <a:off x="8003330" y="4012893"/>
            <a:ext cx="257168" cy="0"/>
          </a:xfrm>
          <a:prstGeom prst="line">
            <a:avLst/>
          </a:prstGeom>
          <a:noFill/>
          <a:ln w="15875">
            <a:solidFill>
              <a:srgbClr val="1D1F24"/>
            </a:solidFill>
            <a:prstDash val="solid"/>
            <a:headEnd type="triangle"/>
          </a:ln>
        </p:spPr>
      </p:sp>
      <p:sp>
        <p:nvSpPr>
          <p:cNvPr id="109" name="Shape 84"/>
          <p:cNvSpPr/>
          <p:nvPr/>
        </p:nvSpPr>
        <p:spPr>
          <a:xfrm>
            <a:off x="8271213" y="4168265"/>
            <a:ext cx="342891" cy="225022"/>
          </a:xfrm>
          <a:prstGeom prst="roundRect">
            <a:avLst>
              <a:gd name="adj" fmla="val 14286"/>
            </a:avLst>
          </a:prstGeom>
          <a:solidFill>
            <a:srgbClr val="FFFFFF"/>
          </a:solidFill>
          <a:ln w="12700">
            <a:solidFill>
              <a:srgbClr val="C9D3DD"/>
            </a:solidFill>
            <a:prstDash val="solid"/>
          </a:ln>
        </p:spPr>
      </p:sp>
      <p:pic>
        <p:nvPicPr>
          <p:cNvPr id="110" name="Image 23" descr="/sessions/zealous-intelligent-mayer/mnt/outputs/icons8/mes.png"/>
          <p:cNvPicPr>
            <a:picLocks noChangeAspect="1"/>
          </p:cNvPicPr>
          <p:nvPr/>
        </p:nvPicPr>
        <p:blipFill>
          <a:blip r:embed="rId26"/>
          <a:stretch>
            <a:fillRect/>
          </a:stretch>
        </p:blipFill>
        <p:spPr>
          <a:xfrm>
            <a:off x="8335505" y="4200411"/>
            <a:ext cx="96438" cy="96438"/>
          </a:xfrm>
          <a:prstGeom prst="rect">
            <a:avLst/>
          </a:prstGeom>
        </p:spPr>
      </p:pic>
      <p:sp>
        <p:nvSpPr>
          <p:cNvPr id="111" name="Text 85"/>
          <p:cNvSpPr/>
          <p:nvPr/>
        </p:nvSpPr>
        <p:spPr>
          <a:xfrm>
            <a:off x="8271213" y="4307564"/>
            <a:ext cx="342891" cy="69650"/>
          </a:xfrm>
          <a:prstGeom prst="rect">
            <a:avLst/>
          </a:prstGeom>
          <a:noFill/>
          <a:ln/>
        </p:spPr>
        <p:txBody>
          <a:bodyPr wrap="square" lIns="0" tIns="0" rIns="0" bIns="0" rtlCol="0" anchor="ctr"/>
          <a:lstStyle/>
          <a:p>
            <a:pPr algn="ctr"/>
            <a:r>
              <a:rPr lang="en-US" sz="316" dirty="0">
                <a:solidFill>
                  <a:srgbClr val="2B2F36"/>
                </a:solidFill>
                <a:latin typeface="Arial" pitchFamily="34" charset="0"/>
                <a:ea typeface="Arial" pitchFamily="34" charset="-122"/>
                <a:cs typeface="Arial" pitchFamily="34" charset="-120"/>
              </a:rPr>
              <a:t>FactoryTalk</a:t>
            </a:r>
            <a:endParaRPr lang="en-US" sz="316" dirty="0"/>
          </a:p>
        </p:txBody>
      </p:sp>
      <p:sp>
        <p:nvSpPr>
          <p:cNvPr id="112" name="Shape 86"/>
          <p:cNvSpPr/>
          <p:nvPr/>
        </p:nvSpPr>
        <p:spPr>
          <a:xfrm>
            <a:off x="8003330" y="4280776"/>
            <a:ext cx="257168" cy="0"/>
          </a:xfrm>
          <a:prstGeom prst="line">
            <a:avLst/>
          </a:prstGeom>
          <a:noFill/>
          <a:ln w="15875">
            <a:solidFill>
              <a:srgbClr val="1D1F24"/>
            </a:solidFill>
            <a:prstDash val="solid"/>
            <a:headEnd type="triangle"/>
          </a:ln>
        </p:spPr>
      </p:sp>
      <p:sp>
        <p:nvSpPr>
          <p:cNvPr id="113" name="Shape 87"/>
          <p:cNvSpPr/>
          <p:nvPr/>
        </p:nvSpPr>
        <p:spPr>
          <a:xfrm>
            <a:off x="8271213" y="4436148"/>
            <a:ext cx="342891" cy="225022"/>
          </a:xfrm>
          <a:prstGeom prst="roundRect">
            <a:avLst>
              <a:gd name="adj" fmla="val 14286"/>
            </a:avLst>
          </a:prstGeom>
          <a:solidFill>
            <a:srgbClr val="FFFFFF"/>
          </a:solidFill>
          <a:ln w="12700">
            <a:solidFill>
              <a:srgbClr val="C9D3DD"/>
            </a:solidFill>
            <a:prstDash val="solid"/>
          </a:ln>
        </p:spPr>
      </p:sp>
      <p:pic>
        <p:nvPicPr>
          <p:cNvPr id="114" name="Image 24" descr="/sessions/zealous-intelligent-mayer/mnt/outputs/icons8/sp.png"/>
          <p:cNvPicPr>
            <a:picLocks noChangeAspect="1"/>
          </p:cNvPicPr>
          <p:nvPr/>
        </p:nvPicPr>
        <p:blipFill>
          <a:blip r:embed="rId27"/>
          <a:stretch>
            <a:fillRect/>
          </a:stretch>
        </p:blipFill>
        <p:spPr>
          <a:xfrm>
            <a:off x="8335505" y="4468294"/>
            <a:ext cx="96438" cy="96438"/>
          </a:xfrm>
          <a:prstGeom prst="rect">
            <a:avLst/>
          </a:prstGeom>
        </p:spPr>
      </p:pic>
      <p:sp>
        <p:nvSpPr>
          <p:cNvPr id="115" name="Text 88"/>
          <p:cNvSpPr/>
          <p:nvPr/>
        </p:nvSpPr>
        <p:spPr>
          <a:xfrm>
            <a:off x="8271213" y="4575447"/>
            <a:ext cx="342891" cy="69650"/>
          </a:xfrm>
          <a:prstGeom prst="rect">
            <a:avLst/>
          </a:prstGeom>
          <a:noFill/>
          <a:ln/>
        </p:spPr>
        <p:txBody>
          <a:bodyPr wrap="square" lIns="0" tIns="0" rIns="0" bIns="0" rtlCol="0" anchor="ctr"/>
          <a:lstStyle/>
          <a:p>
            <a:pPr algn="ctr"/>
            <a:r>
              <a:rPr lang="en-US" sz="316" dirty="0">
                <a:solidFill>
                  <a:srgbClr val="2B2F36"/>
                </a:solidFill>
                <a:latin typeface="Arial" pitchFamily="34" charset="0"/>
                <a:ea typeface="Arial" pitchFamily="34" charset="-122"/>
                <a:cs typeface="Arial" pitchFamily="34" charset="-120"/>
              </a:rPr>
              <a:t>SharePoint</a:t>
            </a:r>
            <a:endParaRPr lang="en-US" sz="316" dirty="0"/>
          </a:p>
        </p:txBody>
      </p:sp>
      <p:sp>
        <p:nvSpPr>
          <p:cNvPr id="116" name="Shape 89"/>
          <p:cNvSpPr/>
          <p:nvPr/>
        </p:nvSpPr>
        <p:spPr>
          <a:xfrm>
            <a:off x="8003330" y="4548659"/>
            <a:ext cx="257168" cy="0"/>
          </a:xfrm>
          <a:prstGeom prst="line">
            <a:avLst/>
          </a:prstGeom>
          <a:noFill/>
          <a:ln w="15875">
            <a:solidFill>
              <a:srgbClr val="1D1F24"/>
            </a:solidFill>
            <a:prstDash val="solid"/>
            <a:headEnd type="triangle"/>
          </a:ln>
        </p:spPr>
      </p:sp>
      <p:sp>
        <p:nvSpPr>
          <p:cNvPr id="117" name="Shape 90"/>
          <p:cNvSpPr/>
          <p:nvPr/>
        </p:nvSpPr>
        <p:spPr>
          <a:xfrm>
            <a:off x="4531561" y="4318279"/>
            <a:ext cx="1960906" cy="889373"/>
          </a:xfrm>
          <a:prstGeom prst="roundRect">
            <a:avLst>
              <a:gd name="adj" fmla="val 6024"/>
            </a:avLst>
          </a:prstGeom>
          <a:solidFill>
            <a:srgbClr val="FDF3EC"/>
          </a:solidFill>
          <a:ln w="15875">
            <a:solidFill>
              <a:srgbClr val="F1B294"/>
            </a:solidFill>
            <a:prstDash val="solid"/>
          </a:ln>
        </p:spPr>
      </p:sp>
      <p:sp>
        <p:nvSpPr>
          <p:cNvPr id="118" name="Shape 91"/>
          <p:cNvSpPr/>
          <p:nvPr/>
        </p:nvSpPr>
        <p:spPr>
          <a:xfrm>
            <a:off x="4606568" y="4382571"/>
            <a:ext cx="150015" cy="150015"/>
          </a:xfrm>
          <a:prstGeom prst="ellipse">
            <a:avLst/>
          </a:prstGeom>
          <a:solidFill>
            <a:srgbClr val="E8734A"/>
          </a:solidFill>
          <a:ln/>
        </p:spPr>
      </p:sp>
      <p:sp>
        <p:nvSpPr>
          <p:cNvPr id="119" name="Text 92"/>
          <p:cNvSpPr/>
          <p:nvPr/>
        </p:nvSpPr>
        <p:spPr>
          <a:xfrm>
            <a:off x="4606568" y="4385250"/>
            <a:ext cx="150015" cy="144657"/>
          </a:xfrm>
          <a:prstGeom prst="rect">
            <a:avLst/>
          </a:prstGeom>
          <a:noFill/>
          <a:ln/>
        </p:spPr>
        <p:txBody>
          <a:bodyPr wrap="square" lIns="0" tIns="0" rIns="0" bIns="0" rtlCol="0" anchor="ctr"/>
          <a:lstStyle/>
          <a:p>
            <a:pPr algn="ctr"/>
            <a:r>
              <a:rPr lang="en-US" sz="586" b="1" dirty="0">
                <a:solidFill>
                  <a:srgbClr val="FFFFFF"/>
                </a:solidFill>
                <a:latin typeface="Arial" pitchFamily="34" charset="0"/>
                <a:ea typeface="Arial" pitchFamily="34" charset="-122"/>
                <a:cs typeface="Arial" pitchFamily="34" charset="-120"/>
              </a:rPr>
              <a:t>9</a:t>
            </a:r>
            <a:endParaRPr lang="en-US" sz="586" dirty="0"/>
          </a:p>
        </p:txBody>
      </p:sp>
      <p:sp>
        <p:nvSpPr>
          <p:cNvPr id="120" name="Text 93"/>
          <p:cNvSpPr/>
          <p:nvPr/>
        </p:nvSpPr>
        <p:spPr>
          <a:xfrm>
            <a:off x="4799444" y="4377214"/>
            <a:ext cx="1660877" cy="128584"/>
          </a:xfrm>
          <a:prstGeom prst="rect">
            <a:avLst/>
          </a:prstGeom>
          <a:noFill/>
          <a:ln/>
        </p:spPr>
        <p:txBody>
          <a:bodyPr wrap="square" lIns="0" tIns="0" rIns="0" bIns="0" rtlCol="0" anchor="ctr"/>
          <a:lstStyle/>
          <a:p>
            <a:r>
              <a:rPr lang="en-US" sz="732" b="1" dirty="0">
                <a:solidFill>
                  <a:srgbClr val="E8734A"/>
                </a:solidFill>
                <a:latin typeface="Arial" pitchFamily="34" charset="0"/>
                <a:ea typeface="Arial" pitchFamily="34" charset="-122"/>
                <a:cs typeface="Arial" pitchFamily="34" charset="-120"/>
              </a:rPr>
              <a:t>Memory, Data &amp; Cache</a:t>
            </a:r>
            <a:endParaRPr lang="en-US" sz="732" dirty="0"/>
          </a:p>
        </p:txBody>
      </p:sp>
      <p:sp>
        <p:nvSpPr>
          <p:cNvPr id="121" name="Text 94"/>
          <p:cNvSpPr/>
          <p:nvPr/>
        </p:nvSpPr>
        <p:spPr>
          <a:xfrm>
            <a:off x="4799444" y="4511156"/>
            <a:ext cx="1660877" cy="192876"/>
          </a:xfrm>
          <a:prstGeom prst="rect">
            <a:avLst/>
          </a:prstGeom>
          <a:noFill/>
          <a:ln/>
        </p:spPr>
        <p:txBody>
          <a:bodyPr wrap="square" lIns="0" tIns="0" rIns="0" bIns="0" rtlCol="0" anchor="ctr"/>
          <a:lstStyle/>
          <a:p>
            <a:pPr>
              <a:lnSpc>
                <a:spcPct val="104000"/>
              </a:lnSpc>
            </a:pPr>
            <a:r>
              <a:rPr lang="en-US" sz="504" dirty="0">
                <a:solidFill>
                  <a:srgbClr val="2B2F36"/>
                </a:solidFill>
                <a:latin typeface="Arial" pitchFamily="34" charset="0"/>
                <a:ea typeface="Arial" pitchFamily="34" charset="-122"/>
                <a:cs typeface="Arial" pitchFamily="34" charset="-120"/>
              </a:rPr>
              <a:t>Store state, memory and speed up responses</a:t>
            </a:r>
            <a:endParaRPr lang="en-US" sz="504" dirty="0"/>
          </a:p>
        </p:txBody>
      </p:sp>
      <p:pic>
        <p:nvPicPr>
          <p:cNvPr id="122" name="Image 25" descr="/sessions/zealous-intelligent-mayer/mnt/outputs/icons8/cosmos.png"/>
          <p:cNvPicPr>
            <a:picLocks noChangeAspect="1"/>
          </p:cNvPicPr>
          <p:nvPr/>
        </p:nvPicPr>
        <p:blipFill>
          <a:blip r:embed="rId28"/>
          <a:stretch>
            <a:fillRect/>
          </a:stretch>
        </p:blipFill>
        <p:spPr>
          <a:xfrm>
            <a:off x="4627999" y="4725462"/>
            <a:ext cx="107153" cy="107153"/>
          </a:xfrm>
          <a:prstGeom prst="rect">
            <a:avLst/>
          </a:prstGeom>
        </p:spPr>
      </p:pic>
      <p:sp>
        <p:nvSpPr>
          <p:cNvPr id="123" name="Text 95"/>
          <p:cNvSpPr/>
          <p:nvPr/>
        </p:nvSpPr>
        <p:spPr>
          <a:xfrm>
            <a:off x="4778014" y="4714747"/>
            <a:ext cx="771504" cy="80365"/>
          </a:xfrm>
          <a:prstGeom prst="rect">
            <a:avLst/>
          </a:prstGeom>
          <a:noFill/>
          <a:ln/>
        </p:spPr>
        <p:txBody>
          <a:bodyPr wrap="square" lIns="0" tIns="0" rIns="0" bIns="0" rtlCol="0" anchor="ctr"/>
          <a:lstStyle/>
          <a:p>
            <a:r>
              <a:rPr lang="en-US" sz="469" b="1" dirty="0">
                <a:solidFill>
                  <a:srgbClr val="2B2F36"/>
                </a:solidFill>
                <a:latin typeface="Arial" pitchFamily="34" charset="0"/>
                <a:ea typeface="Arial" pitchFamily="34" charset="-122"/>
                <a:cs typeface="Arial" pitchFamily="34" charset="-120"/>
              </a:rPr>
              <a:t>Cosmos DB</a:t>
            </a:r>
            <a:endParaRPr lang="en-US" sz="469" dirty="0"/>
          </a:p>
        </p:txBody>
      </p:sp>
      <p:sp>
        <p:nvSpPr>
          <p:cNvPr id="124" name="Text 96"/>
          <p:cNvSpPr/>
          <p:nvPr/>
        </p:nvSpPr>
        <p:spPr>
          <a:xfrm>
            <a:off x="4778014" y="4792433"/>
            <a:ext cx="771504" cy="69650"/>
          </a:xfrm>
          <a:prstGeom prst="rect">
            <a:avLst/>
          </a:prstGeom>
          <a:noFill/>
          <a:ln/>
        </p:spPr>
        <p:txBody>
          <a:bodyPr wrap="square" lIns="0" tIns="0" rIns="0" bIns="0" rtlCol="0" anchor="ctr"/>
          <a:lstStyle/>
          <a:p>
            <a:r>
              <a:rPr lang="en-US" sz="340" dirty="0">
                <a:solidFill>
                  <a:srgbClr val="6B7480"/>
                </a:solidFill>
                <a:latin typeface="Arial" pitchFamily="34" charset="0"/>
                <a:ea typeface="Arial" pitchFamily="34" charset="-122"/>
                <a:cs typeface="Arial" pitchFamily="34" charset="-120"/>
              </a:rPr>
              <a:t>Free tier: 1000 RU/s + 25 GB</a:t>
            </a:r>
            <a:endParaRPr lang="en-US" sz="340" dirty="0"/>
          </a:p>
        </p:txBody>
      </p:sp>
      <p:pic>
        <p:nvPicPr>
          <p:cNvPr id="125" name="Image 26" descr="/sessions/zealous-intelligent-mayer/mnt/outputs/icons8/sqldb.png"/>
          <p:cNvPicPr>
            <a:picLocks noChangeAspect="1"/>
          </p:cNvPicPr>
          <p:nvPr/>
        </p:nvPicPr>
        <p:blipFill>
          <a:blip r:embed="rId6"/>
          <a:stretch>
            <a:fillRect/>
          </a:stretch>
        </p:blipFill>
        <p:spPr>
          <a:xfrm>
            <a:off x="4627999" y="4886192"/>
            <a:ext cx="107153" cy="107153"/>
          </a:xfrm>
          <a:prstGeom prst="rect">
            <a:avLst/>
          </a:prstGeom>
        </p:spPr>
      </p:pic>
      <p:sp>
        <p:nvSpPr>
          <p:cNvPr id="126" name="Text 97"/>
          <p:cNvSpPr/>
          <p:nvPr/>
        </p:nvSpPr>
        <p:spPr>
          <a:xfrm>
            <a:off x="4778014" y="4875477"/>
            <a:ext cx="771504" cy="80365"/>
          </a:xfrm>
          <a:prstGeom prst="rect">
            <a:avLst/>
          </a:prstGeom>
          <a:noFill/>
          <a:ln/>
        </p:spPr>
        <p:txBody>
          <a:bodyPr wrap="square" lIns="0" tIns="0" rIns="0" bIns="0" rtlCol="0" anchor="ctr"/>
          <a:lstStyle/>
          <a:p>
            <a:r>
              <a:rPr lang="en-US" sz="469" b="1" dirty="0">
                <a:solidFill>
                  <a:srgbClr val="2B2F36"/>
                </a:solidFill>
                <a:latin typeface="Arial" pitchFamily="34" charset="0"/>
                <a:ea typeface="Arial" pitchFamily="34" charset="-122"/>
                <a:cs typeface="Arial" pitchFamily="34" charset="-120"/>
              </a:rPr>
              <a:t>Azure SQL</a:t>
            </a:r>
            <a:endParaRPr lang="en-US" sz="469" dirty="0"/>
          </a:p>
        </p:txBody>
      </p:sp>
      <p:sp>
        <p:nvSpPr>
          <p:cNvPr id="127" name="Text 98"/>
          <p:cNvSpPr/>
          <p:nvPr/>
        </p:nvSpPr>
        <p:spPr>
          <a:xfrm>
            <a:off x="4778014" y="4953163"/>
            <a:ext cx="771504" cy="69650"/>
          </a:xfrm>
          <a:prstGeom prst="rect">
            <a:avLst/>
          </a:prstGeom>
          <a:noFill/>
          <a:ln/>
        </p:spPr>
        <p:txBody>
          <a:bodyPr wrap="square" lIns="0" tIns="0" rIns="0" bIns="0" rtlCol="0" anchor="ctr"/>
          <a:lstStyle/>
          <a:p>
            <a:r>
              <a:rPr lang="en-US" sz="340" dirty="0">
                <a:solidFill>
                  <a:srgbClr val="6B7480"/>
                </a:solidFill>
                <a:latin typeface="Arial" pitchFamily="34" charset="0"/>
                <a:ea typeface="Arial" pitchFamily="34" charset="-122"/>
                <a:cs typeface="Arial" pitchFamily="34" charset="-120"/>
              </a:rPr>
              <a:t>free offer (serverless)</a:t>
            </a:r>
            <a:endParaRPr lang="en-US" sz="340" dirty="0"/>
          </a:p>
        </p:txBody>
      </p:sp>
      <p:pic>
        <p:nvPicPr>
          <p:cNvPr id="128" name="Image 27" descr="/sessions/zealous-intelligent-mayer/mnt/outputs/icons8/cache.png"/>
          <p:cNvPicPr>
            <a:picLocks noChangeAspect="1"/>
          </p:cNvPicPr>
          <p:nvPr/>
        </p:nvPicPr>
        <p:blipFill>
          <a:blip r:embed="rId29"/>
          <a:stretch>
            <a:fillRect/>
          </a:stretch>
        </p:blipFill>
        <p:spPr>
          <a:xfrm>
            <a:off x="4627999" y="5046922"/>
            <a:ext cx="107153" cy="107153"/>
          </a:xfrm>
          <a:prstGeom prst="rect">
            <a:avLst/>
          </a:prstGeom>
        </p:spPr>
      </p:pic>
      <p:sp>
        <p:nvSpPr>
          <p:cNvPr id="129" name="Text 99"/>
          <p:cNvSpPr/>
          <p:nvPr/>
        </p:nvSpPr>
        <p:spPr>
          <a:xfrm>
            <a:off x="4778014" y="5036207"/>
            <a:ext cx="771504" cy="80365"/>
          </a:xfrm>
          <a:prstGeom prst="rect">
            <a:avLst/>
          </a:prstGeom>
          <a:noFill/>
          <a:ln/>
        </p:spPr>
        <p:txBody>
          <a:bodyPr wrap="square" lIns="0" tIns="0" rIns="0" bIns="0" rtlCol="0" anchor="ctr"/>
          <a:lstStyle/>
          <a:p>
            <a:r>
              <a:rPr lang="en-US" sz="469" b="1" dirty="0">
                <a:solidFill>
                  <a:srgbClr val="2B2F36"/>
                </a:solidFill>
                <a:latin typeface="Arial" pitchFamily="34" charset="0"/>
                <a:ea typeface="Arial" pitchFamily="34" charset="-122"/>
                <a:cs typeface="Arial" pitchFamily="34" charset="-120"/>
              </a:rPr>
              <a:t>In-process cache</a:t>
            </a:r>
            <a:endParaRPr lang="en-US" sz="469" dirty="0"/>
          </a:p>
        </p:txBody>
      </p:sp>
      <p:sp>
        <p:nvSpPr>
          <p:cNvPr id="130" name="Text 100"/>
          <p:cNvSpPr/>
          <p:nvPr/>
        </p:nvSpPr>
        <p:spPr>
          <a:xfrm>
            <a:off x="4778014" y="5113893"/>
            <a:ext cx="771504" cy="69650"/>
          </a:xfrm>
          <a:prstGeom prst="rect">
            <a:avLst/>
          </a:prstGeom>
          <a:noFill/>
          <a:ln/>
        </p:spPr>
        <p:txBody>
          <a:bodyPr wrap="square" lIns="0" tIns="0" rIns="0" bIns="0" rtlCol="0" anchor="ctr"/>
          <a:lstStyle/>
          <a:p>
            <a:r>
              <a:rPr lang="en-US" sz="340" dirty="0">
                <a:solidFill>
                  <a:srgbClr val="6B7480"/>
                </a:solidFill>
                <a:latin typeface="Arial" pitchFamily="34" charset="0"/>
                <a:ea typeface="Arial" pitchFamily="34" charset="-122"/>
                <a:cs typeface="Arial" pitchFamily="34" charset="-120"/>
              </a:rPr>
              <a:t>no Redis at $0</a:t>
            </a:r>
            <a:endParaRPr lang="en-US" sz="340" dirty="0"/>
          </a:p>
        </p:txBody>
      </p:sp>
      <p:pic>
        <p:nvPicPr>
          <p:cNvPr id="131" name="Image 28" descr="/sessions/zealous-intelligent-mayer/mnt/outputs/icons8/blob.png"/>
          <p:cNvPicPr>
            <a:picLocks noChangeAspect="1"/>
          </p:cNvPicPr>
          <p:nvPr/>
        </p:nvPicPr>
        <p:blipFill>
          <a:blip r:embed="rId30"/>
          <a:stretch>
            <a:fillRect/>
          </a:stretch>
        </p:blipFill>
        <p:spPr>
          <a:xfrm>
            <a:off x="5592379" y="4725462"/>
            <a:ext cx="107153" cy="107153"/>
          </a:xfrm>
          <a:prstGeom prst="rect">
            <a:avLst/>
          </a:prstGeom>
        </p:spPr>
      </p:pic>
      <p:sp>
        <p:nvSpPr>
          <p:cNvPr id="132" name="Text 101"/>
          <p:cNvSpPr/>
          <p:nvPr/>
        </p:nvSpPr>
        <p:spPr>
          <a:xfrm>
            <a:off x="5742394" y="4714747"/>
            <a:ext cx="707212" cy="80365"/>
          </a:xfrm>
          <a:prstGeom prst="rect">
            <a:avLst/>
          </a:prstGeom>
          <a:noFill/>
          <a:ln/>
        </p:spPr>
        <p:txBody>
          <a:bodyPr wrap="square" lIns="0" tIns="0" rIns="0" bIns="0" rtlCol="0" anchor="ctr"/>
          <a:lstStyle/>
          <a:p>
            <a:r>
              <a:rPr lang="en-US" sz="469" b="1" dirty="0">
                <a:solidFill>
                  <a:srgbClr val="2B2F36"/>
                </a:solidFill>
                <a:latin typeface="Arial" pitchFamily="34" charset="0"/>
                <a:ea typeface="Arial" pitchFamily="34" charset="-122"/>
                <a:cs typeface="Arial" pitchFamily="34" charset="-120"/>
              </a:rPr>
              <a:t>Blob / Table Storage</a:t>
            </a:r>
            <a:endParaRPr lang="en-US" sz="469" dirty="0"/>
          </a:p>
        </p:txBody>
      </p:sp>
      <p:sp>
        <p:nvSpPr>
          <p:cNvPr id="133" name="Text 102"/>
          <p:cNvSpPr/>
          <p:nvPr/>
        </p:nvSpPr>
        <p:spPr>
          <a:xfrm>
            <a:off x="5742394" y="4792433"/>
            <a:ext cx="707212" cy="69650"/>
          </a:xfrm>
          <a:prstGeom prst="rect">
            <a:avLst/>
          </a:prstGeom>
          <a:noFill/>
          <a:ln/>
        </p:spPr>
        <p:txBody>
          <a:bodyPr wrap="square" lIns="0" tIns="0" rIns="0" bIns="0" rtlCol="0" anchor="ctr"/>
          <a:lstStyle/>
          <a:p>
            <a:r>
              <a:rPr lang="en-US" sz="340" dirty="0">
                <a:solidFill>
                  <a:srgbClr val="6B7480"/>
                </a:solidFill>
                <a:latin typeface="Arial" pitchFamily="34" charset="0"/>
                <a:ea typeface="Arial" pitchFamily="34" charset="-122"/>
                <a:cs typeface="Arial" pitchFamily="34" charset="-120"/>
              </a:rPr>
              <a:t>free grant</a:t>
            </a:r>
            <a:endParaRPr lang="en-US" sz="340" dirty="0"/>
          </a:p>
        </p:txBody>
      </p:sp>
      <p:pic>
        <p:nvPicPr>
          <p:cNvPr id="134" name="Image 29" descr="/sessions/zealous-intelligent-mayer/mnt/outputs/icons8/cosmos.png"/>
          <p:cNvPicPr>
            <a:picLocks noChangeAspect="1"/>
          </p:cNvPicPr>
          <p:nvPr/>
        </p:nvPicPr>
        <p:blipFill>
          <a:blip r:embed="rId28"/>
          <a:stretch>
            <a:fillRect/>
          </a:stretch>
        </p:blipFill>
        <p:spPr>
          <a:xfrm>
            <a:off x="5592379" y="4886192"/>
            <a:ext cx="107153" cy="107153"/>
          </a:xfrm>
          <a:prstGeom prst="rect">
            <a:avLst/>
          </a:prstGeom>
        </p:spPr>
      </p:pic>
      <p:sp>
        <p:nvSpPr>
          <p:cNvPr id="135" name="Text 103"/>
          <p:cNvSpPr/>
          <p:nvPr/>
        </p:nvSpPr>
        <p:spPr>
          <a:xfrm>
            <a:off x="5742394" y="4875477"/>
            <a:ext cx="707212" cy="80365"/>
          </a:xfrm>
          <a:prstGeom prst="rect">
            <a:avLst/>
          </a:prstGeom>
          <a:noFill/>
          <a:ln/>
        </p:spPr>
        <p:txBody>
          <a:bodyPr wrap="square" lIns="0" tIns="0" rIns="0" bIns="0" rtlCol="0" anchor="ctr"/>
          <a:lstStyle/>
          <a:p>
            <a:r>
              <a:rPr lang="en-US" sz="469" b="1" dirty="0">
                <a:solidFill>
                  <a:srgbClr val="2B2F36"/>
                </a:solidFill>
                <a:latin typeface="Arial" pitchFamily="34" charset="0"/>
                <a:ea typeface="Arial" pitchFamily="34" charset="-122"/>
                <a:cs typeface="Arial" pitchFamily="34" charset="-120"/>
              </a:rPr>
              <a:t>SQLite / DuckDB</a:t>
            </a:r>
            <a:endParaRPr lang="en-US" sz="469" dirty="0"/>
          </a:p>
        </p:txBody>
      </p:sp>
      <p:sp>
        <p:nvSpPr>
          <p:cNvPr id="136" name="Text 104"/>
          <p:cNvSpPr/>
          <p:nvPr/>
        </p:nvSpPr>
        <p:spPr>
          <a:xfrm>
            <a:off x="5742394" y="4953163"/>
            <a:ext cx="707212" cy="69650"/>
          </a:xfrm>
          <a:prstGeom prst="rect">
            <a:avLst/>
          </a:prstGeom>
          <a:noFill/>
          <a:ln/>
        </p:spPr>
        <p:txBody>
          <a:bodyPr wrap="square" lIns="0" tIns="0" rIns="0" bIns="0" rtlCol="0" anchor="ctr"/>
          <a:lstStyle/>
          <a:p>
            <a:r>
              <a:rPr lang="en-US" sz="340" dirty="0">
                <a:solidFill>
                  <a:srgbClr val="6B7480"/>
                </a:solidFill>
                <a:latin typeface="Arial" pitchFamily="34" charset="0"/>
                <a:ea typeface="Arial" pitchFamily="34" charset="-122"/>
                <a:cs typeface="Arial" pitchFamily="34" charset="-120"/>
              </a:rPr>
              <a:t>on-device</a:t>
            </a:r>
            <a:endParaRPr lang="en-US" sz="340" dirty="0"/>
          </a:p>
        </p:txBody>
      </p:sp>
      <p:pic>
        <p:nvPicPr>
          <p:cNvPr id="137" name="Image 30" descr="/sessions/zealous-intelligent-mayer/mnt/outputs/icons8/func.png"/>
          <p:cNvPicPr>
            <a:picLocks noChangeAspect="1"/>
          </p:cNvPicPr>
          <p:nvPr/>
        </p:nvPicPr>
        <p:blipFill>
          <a:blip r:embed="rId8"/>
          <a:stretch>
            <a:fillRect/>
          </a:stretch>
        </p:blipFill>
        <p:spPr>
          <a:xfrm>
            <a:off x="5592379" y="5046922"/>
            <a:ext cx="107153" cy="107153"/>
          </a:xfrm>
          <a:prstGeom prst="rect">
            <a:avLst/>
          </a:prstGeom>
        </p:spPr>
      </p:pic>
      <p:sp>
        <p:nvSpPr>
          <p:cNvPr id="138" name="Text 105"/>
          <p:cNvSpPr/>
          <p:nvPr/>
        </p:nvSpPr>
        <p:spPr>
          <a:xfrm>
            <a:off x="5742394" y="5036207"/>
            <a:ext cx="707212" cy="80365"/>
          </a:xfrm>
          <a:prstGeom prst="rect">
            <a:avLst/>
          </a:prstGeom>
          <a:noFill/>
          <a:ln/>
        </p:spPr>
        <p:txBody>
          <a:bodyPr wrap="square" lIns="0" tIns="0" rIns="0" bIns="0" rtlCol="0" anchor="ctr"/>
          <a:lstStyle/>
          <a:p>
            <a:r>
              <a:rPr lang="en-US" sz="469" b="1" dirty="0">
                <a:solidFill>
                  <a:srgbClr val="2B2F36"/>
                </a:solidFill>
                <a:latin typeface="Arial" pitchFamily="34" charset="0"/>
                <a:ea typeface="Arial" pitchFamily="34" charset="-122"/>
                <a:cs typeface="Arial" pitchFamily="34" charset="-120"/>
              </a:rPr>
              <a:t>Durable Functions</a:t>
            </a:r>
            <a:endParaRPr lang="en-US" sz="469" dirty="0"/>
          </a:p>
        </p:txBody>
      </p:sp>
      <p:sp>
        <p:nvSpPr>
          <p:cNvPr id="139" name="Text 106"/>
          <p:cNvSpPr/>
          <p:nvPr/>
        </p:nvSpPr>
        <p:spPr>
          <a:xfrm>
            <a:off x="5742394" y="5113893"/>
            <a:ext cx="707212" cy="69650"/>
          </a:xfrm>
          <a:prstGeom prst="rect">
            <a:avLst/>
          </a:prstGeom>
          <a:noFill/>
          <a:ln/>
        </p:spPr>
        <p:txBody>
          <a:bodyPr wrap="square" lIns="0" tIns="0" rIns="0" bIns="0" rtlCol="0" anchor="ctr"/>
          <a:lstStyle/>
          <a:p>
            <a:r>
              <a:rPr lang="en-US" sz="340" dirty="0">
                <a:solidFill>
                  <a:srgbClr val="6B7480"/>
                </a:solidFill>
                <a:latin typeface="Arial" pitchFamily="34" charset="0"/>
                <a:ea typeface="Arial" pitchFamily="34" charset="-122"/>
                <a:cs typeface="Arial" pitchFamily="34" charset="-120"/>
              </a:rPr>
              <a:t>state &amp; checkpoints</a:t>
            </a:r>
            <a:endParaRPr lang="en-US" sz="340" dirty="0"/>
          </a:p>
        </p:txBody>
      </p:sp>
      <p:sp>
        <p:nvSpPr>
          <p:cNvPr id="140" name="Shape 107"/>
          <p:cNvSpPr/>
          <p:nvPr/>
        </p:nvSpPr>
        <p:spPr>
          <a:xfrm>
            <a:off x="6878219" y="4596878"/>
            <a:ext cx="1157256" cy="771504"/>
          </a:xfrm>
          <a:prstGeom prst="roundRect">
            <a:avLst>
              <a:gd name="adj" fmla="val 6944"/>
            </a:avLst>
          </a:prstGeom>
          <a:solidFill>
            <a:srgbClr val="FDF3EC"/>
          </a:solidFill>
          <a:ln w="15875">
            <a:solidFill>
              <a:srgbClr val="F1B294"/>
            </a:solidFill>
            <a:prstDash val="solid"/>
          </a:ln>
        </p:spPr>
      </p:sp>
      <p:sp>
        <p:nvSpPr>
          <p:cNvPr id="141" name="Shape 108"/>
          <p:cNvSpPr/>
          <p:nvPr/>
        </p:nvSpPr>
        <p:spPr>
          <a:xfrm>
            <a:off x="6953227" y="4661170"/>
            <a:ext cx="150015" cy="150015"/>
          </a:xfrm>
          <a:prstGeom prst="ellipse">
            <a:avLst/>
          </a:prstGeom>
          <a:solidFill>
            <a:srgbClr val="E8734A"/>
          </a:solidFill>
          <a:ln/>
        </p:spPr>
      </p:sp>
      <p:sp>
        <p:nvSpPr>
          <p:cNvPr id="142" name="Text 109"/>
          <p:cNvSpPr/>
          <p:nvPr/>
        </p:nvSpPr>
        <p:spPr>
          <a:xfrm>
            <a:off x="6953227" y="4663849"/>
            <a:ext cx="150015" cy="144657"/>
          </a:xfrm>
          <a:prstGeom prst="rect">
            <a:avLst/>
          </a:prstGeom>
          <a:noFill/>
          <a:ln/>
        </p:spPr>
        <p:txBody>
          <a:bodyPr wrap="square" lIns="0" tIns="0" rIns="0" bIns="0" rtlCol="0" anchor="ctr"/>
          <a:lstStyle/>
          <a:p>
            <a:pPr algn="ctr"/>
            <a:r>
              <a:rPr lang="en-US" sz="586" b="1" dirty="0">
                <a:solidFill>
                  <a:srgbClr val="FFFFFF"/>
                </a:solidFill>
                <a:latin typeface="Arial" pitchFamily="34" charset="0"/>
                <a:ea typeface="Arial" pitchFamily="34" charset="-122"/>
                <a:cs typeface="Arial" pitchFamily="34" charset="-120"/>
              </a:rPr>
              <a:t>8</a:t>
            </a:r>
            <a:endParaRPr lang="en-US" sz="586" dirty="0"/>
          </a:p>
        </p:txBody>
      </p:sp>
      <p:sp>
        <p:nvSpPr>
          <p:cNvPr id="143" name="Text 110"/>
          <p:cNvSpPr/>
          <p:nvPr/>
        </p:nvSpPr>
        <p:spPr>
          <a:xfrm>
            <a:off x="7146103" y="4655813"/>
            <a:ext cx="857227" cy="128584"/>
          </a:xfrm>
          <a:prstGeom prst="rect">
            <a:avLst/>
          </a:prstGeom>
          <a:noFill/>
          <a:ln/>
        </p:spPr>
        <p:txBody>
          <a:bodyPr wrap="square" lIns="0" tIns="0" rIns="0" bIns="0" rtlCol="0" anchor="ctr"/>
          <a:lstStyle/>
          <a:p>
            <a:r>
              <a:rPr lang="en-US" sz="732" b="1" dirty="0">
                <a:solidFill>
                  <a:srgbClr val="E8734A"/>
                </a:solidFill>
                <a:latin typeface="Arial" pitchFamily="34" charset="0"/>
                <a:ea typeface="Arial" pitchFamily="34" charset="-122"/>
                <a:cs typeface="Arial" pitchFamily="34" charset="-120"/>
              </a:rPr>
              <a:t>Code Agent</a:t>
            </a:r>
            <a:endParaRPr lang="en-US" sz="732" dirty="0"/>
          </a:p>
        </p:txBody>
      </p:sp>
      <p:sp>
        <p:nvSpPr>
          <p:cNvPr id="144" name="Text 111"/>
          <p:cNvSpPr/>
          <p:nvPr/>
        </p:nvSpPr>
        <p:spPr>
          <a:xfrm>
            <a:off x="7146103" y="4789754"/>
            <a:ext cx="857227" cy="192876"/>
          </a:xfrm>
          <a:prstGeom prst="rect">
            <a:avLst/>
          </a:prstGeom>
          <a:noFill/>
          <a:ln/>
        </p:spPr>
        <p:txBody>
          <a:bodyPr wrap="square" lIns="0" tIns="0" rIns="0" bIns="0" rtlCol="0" anchor="ctr"/>
          <a:lstStyle/>
          <a:p>
            <a:pPr>
              <a:lnSpc>
                <a:spcPct val="104000"/>
              </a:lnSpc>
            </a:pPr>
            <a:r>
              <a:rPr lang="en-US" sz="504" dirty="0">
                <a:solidFill>
                  <a:srgbClr val="2B2F36"/>
                </a:solidFill>
                <a:latin typeface="Arial" pitchFamily="34" charset="0"/>
                <a:ea typeface="Arial" pitchFamily="34" charset="-122"/>
                <a:cs typeface="Arial" pitchFamily="34" charset="-120"/>
              </a:rPr>
              <a:t>Writes, edits and</a:t>
            </a:r>
            <a:endParaRPr lang="en-US" sz="504" dirty="0"/>
          </a:p>
          <a:p>
            <a:pPr>
              <a:lnSpc>
                <a:spcPct val="104000"/>
              </a:lnSpc>
            </a:pPr>
            <a:r>
              <a:rPr lang="en-US" sz="504" dirty="0">
                <a:solidFill>
                  <a:srgbClr val="2B2F36"/>
                </a:solidFill>
                <a:latin typeface="Arial" pitchFamily="34" charset="0"/>
                <a:ea typeface="Arial" pitchFamily="34" charset="-122"/>
                <a:cs typeface="Arial" pitchFamily="34" charset="-120"/>
              </a:rPr>
              <a:t>tests code</a:t>
            </a:r>
            <a:endParaRPr lang="en-US" sz="504" dirty="0"/>
          </a:p>
        </p:txBody>
      </p:sp>
      <p:pic>
        <p:nvPicPr>
          <p:cNvPr id="145" name="Image 31" descr="/sessions/zealous-intelligent-mayer/mnt/outputs/icons8/devops.png"/>
          <p:cNvPicPr>
            <a:picLocks noChangeAspect="1"/>
          </p:cNvPicPr>
          <p:nvPr/>
        </p:nvPicPr>
        <p:blipFill>
          <a:blip r:embed="rId31"/>
          <a:stretch>
            <a:fillRect/>
          </a:stretch>
        </p:blipFill>
        <p:spPr>
          <a:xfrm>
            <a:off x="6985373" y="5001382"/>
            <a:ext cx="91080" cy="91080"/>
          </a:xfrm>
          <a:prstGeom prst="rect">
            <a:avLst/>
          </a:prstGeom>
        </p:spPr>
      </p:pic>
      <p:sp>
        <p:nvSpPr>
          <p:cNvPr id="146" name="Text 112"/>
          <p:cNvSpPr/>
          <p:nvPr/>
        </p:nvSpPr>
        <p:spPr>
          <a:xfrm>
            <a:off x="7119314" y="4993345"/>
            <a:ext cx="851869" cy="117869"/>
          </a:xfrm>
          <a:prstGeom prst="rect">
            <a:avLst/>
          </a:prstGeom>
          <a:noFill/>
          <a:ln/>
        </p:spPr>
        <p:txBody>
          <a:bodyPr wrap="square" lIns="0" tIns="0" rIns="0" bIns="0" rtlCol="0" anchor="ctr"/>
          <a:lstStyle/>
          <a:p>
            <a:r>
              <a:rPr lang="en-US" sz="445" dirty="0">
                <a:solidFill>
                  <a:srgbClr val="2B2F36"/>
                </a:solidFill>
                <a:latin typeface="Arial" pitchFamily="34" charset="0"/>
                <a:ea typeface="Arial" pitchFamily="34" charset="-122"/>
                <a:cs typeface="Arial" pitchFamily="34" charset="-120"/>
              </a:rPr>
              <a:t>Azure DevOps (free 5 users)</a:t>
            </a:r>
            <a:endParaRPr lang="en-US" sz="445" dirty="0"/>
          </a:p>
        </p:txBody>
      </p:sp>
      <p:pic>
        <p:nvPicPr>
          <p:cNvPr id="147" name="Image 32" descr="/sessions/zealous-intelligent-mayer/mnt/outputs/icons8/ghact.png"/>
          <p:cNvPicPr>
            <a:picLocks noChangeAspect="1"/>
          </p:cNvPicPr>
          <p:nvPr/>
        </p:nvPicPr>
        <p:blipFill>
          <a:blip r:embed="rId32"/>
          <a:stretch>
            <a:fillRect/>
          </a:stretch>
        </p:blipFill>
        <p:spPr>
          <a:xfrm>
            <a:off x="6985373" y="5119251"/>
            <a:ext cx="91080" cy="91080"/>
          </a:xfrm>
          <a:prstGeom prst="rect">
            <a:avLst/>
          </a:prstGeom>
        </p:spPr>
      </p:pic>
      <p:sp>
        <p:nvSpPr>
          <p:cNvPr id="148" name="Text 113"/>
          <p:cNvSpPr/>
          <p:nvPr/>
        </p:nvSpPr>
        <p:spPr>
          <a:xfrm>
            <a:off x="7119314" y="5111214"/>
            <a:ext cx="851869" cy="117869"/>
          </a:xfrm>
          <a:prstGeom prst="rect">
            <a:avLst/>
          </a:prstGeom>
          <a:noFill/>
          <a:ln/>
        </p:spPr>
        <p:txBody>
          <a:bodyPr wrap="square" lIns="0" tIns="0" rIns="0" bIns="0" rtlCol="0" anchor="ctr"/>
          <a:lstStyle/>
          <a:p>
            <a:r>
              <a:rPr lang="en-US" sz="445" dirty="0">
                <a:solidFill>
                  <a:srgbClr val="2B2F36"/>
                </a:solidFill>
                <a:latin typeface="Arial" pitchFamily="34" charset="0"/>
                <a:ea typeface="Arial" pitchFamily="34" charset="-122"/>
                <a:cs typeface="Arial" pitchFamily="34" charset="-120"/>
              </a:rPr>
              <a:t>GitHub Actions (free minutes)</a:t>
            </a:r>
            <a:endParaRPr lang="en-US" sz="445" dirty="0"/>
          </a:p>
        </p:txBody>
      </p:sp>
      <p:pic>
        <p:nvPicPr>
          <p:cNvPr id="149" name="Image 33" descr="/sessions/zealous-intelligent-mayer/mnt/outputs/icons8/vscode.png"/>
          <p:cNvPicPr>
            <a:picLocks noChangeAspect="1"/>
          </p:cNvPicPr>
          <p:nvPr/>
        </p:nvPicPr>
        <p:blipFill>
          <a:blip r:embed="rId33"/>
          <a:stretch>
            <a:fillRect/>
          </a:stretch>
        </p:blipFill>
        <p:spPr>
          <a:xfrm>
            <a:off x="6985373" y="5237120"/>
            <a:ext cx="91080" cy="91080"/>
          </a:xfrm>
          <a:prstGeom prst="rect">
            <a:avLst/>
          </a:prstGeom>
        </p:spPr>
      </p:pic>
      <p:sp>
        <p:nvSpPr>
          <p:cNvPr id="150" name="Text 114"/>
          <p:cNvSpPr/>
          <p:nvPr/>
        </p:nvSpPr>
        <p:spPr>
          <a:xfrm>
            <a:off x="7119314" y="5229083"/>
            <a:ext cx="851869" cy="117869"/>
          </a:xfrm>
          <a:prstGeom prst="rect">
            <a:avLst/>
          </a:prstGeom>
          <a:noFill/>
          <a:ln/>
        </p:spPr>
        <p:txBody>
          <a:bodyPr wrap="square" lIns="0" tIns="0" rIns="0" bIns="0" rtlCol="0" anchor="ctr"/>
          <a:lstStyle/>
          <a:p>
            <a:r>
              <a:rPr lang="en-US" sz="445" dirty="0">
                <a:solidFill>
                  <a:srgbClr val="2B2F36"/>
                </a:solidFill>
                <a:latin typeface="Arial" pitchFamily="34" charset="0"/>
                <a:ea typeface="Arial" pitchFamily="34" charset="-122"/>
                <a:cs typeface="Arial" pitchFamily="34" charset="-120"/>
              </a:rPr>
              <a:t>VS Code + Foundry Local</a:t>
            </a:r>
            <a:endParaRPr lang="en-US" sz="445" dirty="0"/>
          </a:p>
        </p:txBody>
      </p:sp>
      <p:sp>
        <p:nvSpPr>
          <p:cNvPr id="151" name="Shape 115"/>
          <p:cNvSpPr/>
          <p:nvPr/>
        </p:nvSpPr>
        <p:spPr>
          <a:xfrm>
            <a:off x="4585138" y="5325521"/>
            <a:ext cx="1821607" cy="567913"/>
          </a:xfrm>
          <a:prstGeom prst="roundRect">
            <a:avLst>
              <a:gd name="adj" fmla="val 9434"/>
            </a:avLst>
          </a:prstGeom>
          <a:solidFill>
            <a:srgbClr val="EFF8F0"/>
          </a:solidFill>
          <a:ln w="15875">
            <a:solidFill>
              <a:srgbClr val="8CC79A"/>
            </a:solidFill>
            <a:prstDash val="solid"/>
          </a:ln>
        </p:spPr>
      </p:sp>
      <p:sp>
        <p:nvSpPr>
          <p:cNvPr id="152" name="Shape 116"/>
          <p:cNvSpPr/>
          <p:nvPr/>
        </p:nvSpPr>
        <p:spPr>
          <a:xfrm>
            <a:off x="4660145" y="5379098"/>
            <a:ext cx="150015" cy="150015"/>
          </a:xfrm>
          <a:prstGeom prst="ellipse">
            <a:avLst/>
          </a:prstGeom>
          <a:solidFill>
            <a:srgbClr val="2E9E4F"/>
          </a:solidFill>
          <a:ln/>
        </p:spPr>
      </p:sp>
      <p:sp>
        <p:nvSpPr>
          <p:cNvPr id="153" name="Text 117"/>
          <p:cNvSpPr/>
          <p:nvPr/>
        </p:nvSpPr>
        <p:spPr>
          <a:xfrm>
            <a:off x="4660145" y="5381777"/>
            <a:ext cx="150015" cy="144657"/>
          </a:xfrm>
          <a:prstGeom prst="rect">
            <a:avLst/>
          </a:prstGeom>
          <a:noFill/>
          <a:ln/>
        </p:spPr>
        <p:txBody>
          <a:bodyPr wrap="square" lIns="0" tIns="0" rIns="0" bIns="0" rtlCol="0" anchor="ctr"/>
          <a:lstStyle/>
          <a:p>
            <a:pPr algn="ctr"/>
            <a:r>
              <a:rPr lang="en-US" sz="586" b="1" dirty="0">
                <a:solidFill>
                  <a:srgbClr val="FFFFFF"/>
                </a:solidFill>
                <a:latin typeface="Arial" pitchFamily="34" charset="0"/>
                <a:ea typeface="Arial" pitchFamily="34" charset="-122"/>
                <a:cs typeface="Arial" pitchFamily="34" charset="-120"/>
              </a:rPr>
              <a:t>10</a:t>
            </a:r>
            <a:endParaRPr lang="en-US" sz="586" dirty="0"/>
          </a:p>
        </p:txBody>
      </p:sp>
      <p:sp>
        <p:nvSpPr>
          <p:cNvPr id="154" name="Text 118"/>
          <p:cNvSpPr/>
          <p:nvPr/>
        </p:nvSpPr>
        <p:spPr>
          <a:xfrm>
            <a:off x="4853021" y="5373740"/>
            <a:ext cx="1553723" cy="128584"/>
          </a:xfrm>
          <a:prstGeom prst="rect">
            <a:avLst/>
          </a:prstGeom>
          <a:noFill/>
          <a:ln/>
        </p:spPr>
        <p:txBody>
          <a:bodyPr wrap="square" lIns="0" tIns="0" rIns="0" bIns="0" rtlCol="0" anchor="ctr"/>
          <a:lstStyle/>
          <a:p>
            <a:r>
              <a:rPr lang="en-US" sz="732" b="1" dirty="0">
                <a:solidFill>
                  <a:srgbClr val="2E9E4F"/>
                </a:solidFill>
                <a:latin typeface="Arial" pitchFamily="34" charset="0"/>
                <a:ea typeface="Arial" pitchFamily="34" charset="-122"/>
                <a:cs typeface="Arial" pitchFamily="34" charset="-120"/>
              </a:rPr>
              <a:t>Guardrails &amp; Evals</a:t>
            </a:r>
            <a:endParaRPr lang="en-US" sz="732" dirty="0"/>
          </a:p>
        </p:txBody>
      </p:sp>
      <p:sp>
        <p:nvSpPr>
          <p:cNvPr id="155" name="Text 119"/>
          <p:cNvSpPr/>
          <p:nvPr/>
        </p:nvSpPr>
        <p:spPr>
          <a:xfrm>
            <a:off x="4853021" y="5507682"/>
            <a:ext cx="1553723" cy="192876"/>
          </a:xfrm>
          <a:prstGeom prst="rect">
            <a:avLst/>
          </a:prstGeom>
          <a:noFill/>
          <a:ln/>
        </p:spPr>
        <p:txBody>
          <a:bodyPr wrap="square" lIns="0" tIns="0" rIns="0" bIns="0" rtlCol="0" anchor="ctr"/>
          <a:lstStyle/>
          <a:p>
            <a:pPr>
              <a:lnSpc>
                <a:spcPct val="104000"/>
              </a:lnSpc>
            </a:pPr>
            <a:r>
              <a:rPr lang="en-US" sz="504" dirty="0">
                <a:solidFill>
                  <a:srgbClr val="2B2F36"/>
                </a:solidFill>
                <a:latin typeface="Arial" pitchFamily="34" charset="0"/>
                <a:ea typeface="Arial" pitchFamily="34" charset="-122"/>
                <a:cs typeface="Arial" pitchFamily="34" charset="-120"/>
              </a:rPr>
              <a:t>Ensure quality, safety and evaluate outputs</a:t>
            </a:r>
            <a:endParaRPr lang="en-US" sz="504" dirty="0"/>
          </a:p>
        </p:txBody>
      </p:sp>
      <p:pic>
        <p:nvPicPr>
          <p:cNvPr id="156" name="Image 34" descr="/sessions/zealous-intelligent-mayer/mnt/outputs/icons8/safety.png"/>
          <p:cNvPicPr>
            <a:picLocks noChangeAspect="1"/>
          </p:cNvPicPr>
          <p:nvPr/>
        </p:nvPicPr>
        <p:blipFill>
          <a:blip r:embed="rId34"/>
          <a:stretch>
            <a:fillRect/>
          </a:stretch>
        </p:blipFill>
        <p:spPr>
          <a:xfrm>
            <a:off x="4660145" y="5711273"/>
            <a:ext cx="107153" cy="107153"/>
          </a:xfrm>
          <a:prstGeom prst="rect">
            <a:avLst/>
          </a:prstGeom>
        </p:spPr>
      </p:pic>
      <p:sp>
        <p:nvSpPr>
          <p:cNvPr id="157" name="Text 120"/>
          <p:cNvSpPr/>
          <p:nvPr/>
        </p:nvSpPr>
        <p:spPr>
          <a:xfrm>
            <a:off x="4799445" y="5711273"/>
            <a:ext cx="771504" cy="107153"/>
          </a:xfrm>
          <a:prstGeom prst="rect">
            <a:avLst/>
          </a:prstGeom>
          <a:noFill/>
          <a:ln/>
        </p:spPr>
        <p:txBody>
          <a:bodyPr wrap="square" lIns="0" tIns="0" rIns="0" bIns="0" rtlCol="0" anchor="ctr"/>
          <a:lstStyle/>
          <a:p>
            <a:r>
              <a:rPr lang="en-US" sz="445" dirty="0">
                <a:solidFill>
                  <a:srgbClr val="2B2F36"/>
                </a:solidFill>
                <a:latin typeface="Arial" pitchFamily="34" charset="0"/>
                <a:ea typeface="Arial" pitchFamily="34" charset="-122"/>
                <a:cs typeface="Arial" pitchFamily="34" charset="-120"/>
              </a:rPr>
              <a:t>Azure AI Content Safety F0</a:t>
            </a:r>
            <a:endParaRPr lang="en-US" sz="445" dirty="0"/>
          </a:p>
        </p:txBody>
      </p:sp>
      <p:pic>
        <p:nvPicPr>
          <p:cNvPr id="158" name="Image 35" descr="/sessions/zealous-intelligent-mayer/mnt/outputs/icons8/flask.png"/>
          <p:cNvPicPr>
            <a:picLocks noChangeAspect="1"/>
          </p:cNvPicPr>
          <p:nvPr/>
        </p:nvPicPr>
        <p:blipFill>
          <a:blip r:embed="rId35"/>
          <a:stretch>
            <a:fillRect/>
          </a:stretch>
        </p:blipFill>
        <p:spPr>
          <a:xfrm>
            <a:off x="5570949" y="5711273"/>
            <a:ext cx="107153" cy="107153"/>
          </a:xfrm>
          <a:prstGeom prst="rect">
            <a:avLst/>
          </a:prstGeom>
        </p:spPr>
      </p:pic>
      <p:sp>
        <p:nvSpPr>
          <p:cNvPr id="159" name="Text 121"/>
          <p:cNvSpPr/>
          <p:nvPr/>
        </p:nvSpPr>
        <p:spPr>
          <a:xfrm>
            <a:off x="5710248" y="5711273"/>
            <a:ext cx="771504" cy="107153"/>
          </a:xfrm>
          <a:prstGeom prst="rect">
            <a:avLst/>
          </a:prstGeom>
          <a:noFill/>
          <a:ln/>
        </p:spPr>
        <p:txBody>
          <a:bodyPr wrap="square" lIns="0" tIns="0" rIns="0" bIns="0" rtlCol="0" anchor="ctr"/>
          <a:lstStyle/>
          <a:p>
            <a:r>
              <a:rPr lang="en-US" sz="445" dirty="0">
                <a:solidFill>
                  <a:srgbClr val="2B2F36"/>
                </a:solidFill>
                <a:latin typeface="Arial" pitchFamily="34" charset="0"/>
                <a:ea typeface="Arial" pitchFamily="34" charset="-122"/>
                <a:cs typeface="Arial" pitchFamily="34" charset="-120"/>
              </a:rPr>
              <a:t>Promptfoo</a:t>
            </a:r>
            <a:endParaRPr lang="en-US" sz="445" dirty="0"/>
          </a:p>
        </p:txBody>
      </p:sp>
      <p:pic>
        <p:nvPicPr>
          <p:cNvPr id="160" name="Image 36" descr="/sessions/zealous-intelligent-mayer/mnt/outputs/icons8/chart.png"/>
          <p:cNvPicPr>
            <a:picLocks noChangeAspect="1"/>
          </p:cNvPicPr>
          <p:nvPr/>
        </p:nvPicPr>
        <p:blipFill>
          <a:blip r:embed="rId36"/>
          <a:stretch>
            <a:fillRect/>
          </a:stretch>
        </p:blipFill>
        <p:spPr>
          <a:xfrm>
            <a:off x="6053139" y="5711273"/>
            <a:ext cx="107153" cy="107153"/>
          </a:xfrm>
          <a:prstGeom prst="rect">
            <a:avLst/>
          </a:prstGeom>
        </p:spPr>
      </p:pic>
      <p:sp>
        <p:nvSpPr>
          <p:cNvPr id="161" name="Text 122"/>
          <p:cNvSpPr/>
          <p:nvPr/>
        </p:nvSpPr>
        <p:spPr>
          <a:xfrm>
            <a:off x="6192438" y="5711273"/>
            <a:ext cx="771504" cy="107153"/>
          </a:xfrm>
          <a:prstGeom prst="rect">
            <a:avLst/>
          </a:prstGeom>
          <a:noFill/>
          <a:ln/>
        </p:spPr>
        <p:txBody>
          <a:bodyPr wrap="square" lIns="0" tIns="0" rIns="0" bIns="0" rtlCol="0" anchor="ctr"/>
          <a:lstStyle/>
          <a:p>
            <a:r>
              <a:rPr lang="en-US" sz="445" dirty="0">
                <a:solidFill>
                  <a:srgbClr val="2B2F36"/>
                </a:solidFill>
                <a:latin typeface="Arial" pitchFamily="34" charset="0"/>
                <a:ea typeface="Arial" pitchFamily="34" charset="-122"/>
                <a:cs typeface="Arial" pitchFamily="34" charset="-120"/>
              </a:rPr>
              <a:t>Ragas</a:t>
            </a:r>
            <a:endParaRPr lang="en-US" sz="445" dirty="0"/>
          </a:p>
        </p:txBody>
      </p:sp>
      <p:sp>
        <p:nvSpPr>
          <p:cNvPr id="162" name="Shape 123"/>
          <p:cNvSpPr/>
          <p:nvPr/>
        </p:nvSpPr>
        <p:spPr>
          <a:xfrm>
            <a:off x="3845780" y="5979156"/>
            <a:ext cx="4586163" cy="407183"/>
          </a:xfrm>
          <a:prstGeom prst="roundRect">
            <a:avLst>
              <a:gd name="adj" fmla="val 13158"/>
            </a:avLst>
          </a:prstGeom>
          <a:solidFill>
            <a:srgbClr val="FDF3EC"/>
          </a:solidFill>
          <a:ln w="15875">
            <a:solidFill>
              <a:srgbClr val="F1B294"/>
            </a:solidFill>
            <a:prstDash val="solid"/>
          </a:ln>
        </p:spPr>
      </p:sp>
      <p:sp>
        <p:nvSpPr>
          <p:cNvPr id="163" name="Shape 124"/>
          <p:cNvSpPr/>
          <p:nvPr/>
        </p:nvSpPr>
        <p:spPr>
          <a:xfrm>
            <a:off x="3920787" y="6043448"/>
            <a:ext cx="150015" cy="150015"/>
          </a:xfrm>
          <a:prstGeom prst="ellipse">
            <a:avLst/>
          </a:prstGeom>
          <a:solidFill>
            <a:srgbClr val="E8734A"/>
          </a:solidFill>
          <a:ln/>
        </p:spPr>
      </p:sp>
      <p:sp>
        <p:nvSpPr>
          <p:cNvPr id="164" name="Text 125"/>
          <p:cNvSpPr/>
          <p:nvPr/>
        </p:nvSpPr>
        <p:spPr>
          <a:xfrm>
            <a:off x="3920787" y="6046127"/>
            <a:ext cx="150015" cy="144657"/>
          </a:xfrm>
          <a:prstGeom prst="rect">
            <a:avLst/>
          </a:prstGeom>
          <a:noFill/>
          <a:ln/>
        </p:spPr>
        <p:txBody>
          <a:bodyPr wrap="square" lIns="0" tIns="0" rIns="0" bIns="0" rtlCol="0" anchor="ctr"/>
          <a:lstStyle/>
          <a:p>
            <a:pPr algn="ctr"/>
            <a:r>
              <a:rPr lang="en-US" sz="586" b="1" dirty="0">
                <a:solidFill>
                  <a:srgbClr val="FFFFFF"/>
                </a:solidFill>
                <a:latin typeface="Arial" pitchFamily="34" charset="0"/>
                <a:ea typeface="Arial" pitchFamily="34" charset="-122"/>
                <a:cs typeface="Arial" pitchFamily="34" charset="-120"/>
              </a:rPr>
              <a:t>12</a:t>
            </a:r>
            <a:endParaRPr lang="en-US" sz="586" dirty="0"/>
          </a:p>
        </p:txBody>
      </p:sp>
      <p:sp>
        <p:nvSpPr>
          <p:cNvPr id="165" name="Text 126"/>
          <p:cNvSpPr/>
          <p:nvPr/>
        </p:nvSpPr>
        <p:spPr>
          <a:xfrm>
            <a:off x="4113663" y="6038091"/>
            <a:ext cx="642920" cy="117869"/>
          </a:xfrm>
          <a:prstGeom prst="rect">
            <a:avLst/>
          </a:prstGeom>
          <a:noFill/>
          <a:ln/>
        </p:spPr>
        <p:txBody>
          <a:bodyPr wrap="square" lIns="0" tIns="0" rIns="0" bIns="0" rtlCol="0" anchor="ctr"/>
          <a:lstStyle/>
          <a:p>
            <a:r>
              <a:rPr lang="en-US" sz="644" b="1" dirty="0">
                <a:solidFill>
                  <a:srgbClr val="E8734A"/>
                </a:solidFill>
                <a:latin typeface="Arial" pitchFamily="34" charset="0"/>
                <a:ea typeface="Arial" pitchFamily="34" charset="-122"/>
                <a:cs typeface="Arial" pitchFamily="34" charset="-120"/>
              </a:rPr>
              <a:t>Deployment</a:t>
            </a:r>
            <a:endParaRPr lang="en-US" sz="644" dirty="0"/>
          </a:p>
        </p:txBody>
      </p:sp>
      <p:sp>
        <p:nvSpPr>
          <p:cNvPr id="166" name="Text 127"/>
          <p:cNvSpPr/>
          <p:nvPr/>
        </p:nvSpPr>
        <p:spPr>
          <a:xfrm>
            <a:off x="4113663" y="6161317"/>
            <a:ext cx="642920" cy="85723"/>
          </a:xfrm>
          <a:prstGeom prst="rect">
            <a:avLst/>
          </a:prstGeom>
          <a:noFill/>
          <a:ln/>
        </p:spPr>
        <p:txBody>
          <a:bodyPr wrap="square" lIns="0" tIns="0" rIns="0" bIns="0" rtlCol="0" anchor="ctr"/>
          <a:lstStyle/>
          <a:p>
            <a:r>
              <a:rPr lang="en-US" sz="445" dirty="0">
                <a:solidFill>
                  <a:srgbClr val="2B2F36"/>
                </a:solidFill>
                <a:latin typeface="Arial" pitchFamily="34" charset="0"/>
                <a:ea typeface="Arial" pitchFamily="34" charset="-122"/>
                <a:cs typeface="Arial" pitchFamily="34" charset="-120"/>
              </a:rPr>
              <a:t>Ship for $0</a:t>
            </a:r>
            <a:endParaRPr lang="en-US" sz="445" dirty="0"/>
          </a:p>
        </p:txBody>
      </p:sp>
      <p:pic>
        <p:nvPicPr>
          <p:cNvPr id="167" name="Image 37" descr="/sessions/zealous-intelligent-mayer/mnt/outputs/icons8/cont.png"/>
          <p:cNvPicPr>
            <a:picLocks noChangeAspect="1"/>
          </p:cNvPicPr>
          <p:nvPr/>
        </p:nvPicPr>
        <p:blipFill>
          <a:blip r:embed="rId37"/>
          <a:stretch>
            <a:fillRect/>
          </a:stretch>
        </p:blipFill>
        <p:spPr>
          <a:xfrm>
            <a:off x="4820875" y="6075594"/>
            <a:ext cx="128584" cy="128584"/>
          </a:xfrm>
          <a:prstGeom prst="rect">
            <a:avLst/>
          </a:prstGeom>
        </p:spPr>
      </p:pic>
      <p:sp>
        <p:nvSpPr>
          <p:cNvPr id="168" name="Text 128"/>
          <p:cNvSpPr/>
          <p:nvPr/>
        </p:nvSpPr>
        <p:spPr>
          <a:xfrm>
            <a:off x="4981605" y="6054164"/>
            <a:ext cx="857227" cy="80365"/>
          </a:xfrm>
          <a:prstGeom prst="rect">
            <a:avLst/>
          </a:prstGeom>
          <a:noFill/>
          <a:ln/>
        </p:spPr>
        <p:txBody>
          <a:bodyPr wrap="square" lIns="0" tIns="0" rIns="0" bIns="0" rtlCol="0" anchor="ctr"/>
          <a:lstStyle/>
          <a:p>
            <a:r>
              <a:rPr lang="en-US" sz="469" b="1" dirty="0">
                <a:solidFill>
                  <a:srgbClr val="2B2F36"/>
                </a:solidFill>
                <a:latin typeface="Arial" pitchFamily="34" charset="0"/>
                <a:ea typeface="Arial" pitchFamily="34" charset="-122"/>
                <a:cs typeface="Arial" pitchFamily="34" charset="-120"/>
              </a:rPr>
              <a:t>Azure Container Apps</a:t>
            </a:r>
            <a:endParaRPr lang="en-US" sz="469" dirty="0"/>
          </a:p>
        </p:txBody>
      </p:sp>
      <p:sp>
        <p:nvSpPr>
          <p:cNvPr id="169" name="Text 129"/>
          <p:cNvSpPr/>
          <p:nvPr/>
        </p:nvSpPr>
        <p:spPr>
          <a:xfrm>
            <a:off x="4981605" y="6139886"/>
            <a:ext cx="921519" cy="128584"/>
          </a:xfrm>
          <a:prstGeom prst="rect">
            <a:avLst/>
          </a:prstGeom>
          <a:noFill/>
          <a:ln/>
        </p:spPr>
        <p:txBody>
          <a:bodyPr wrap="square" lIns="0" tIns="0" rIns="0" bIns="0" rtlCol="0" anchor="ctr"/>
          <a:lstStyle/>
          <a:p>
            <a:r>
              <a:rPr lang="en-US" sz="363" dirty="0">
                <a:solidFill>
                  <a:srgbClr val="6B7480"/>
                </a:solidFill>
                <a:latin typeface="Arial" pitchFamily="34" charset="0"/>
                <a:ea typeface="Arial" pitchFamily="34" charset="-122"/>
                <a:cs typeface="Arial" pitchFamily="34" charset="-120"/>
              </a:rPr>
              <a:t>(free monthly grant)</a:t>
            </a:r>
            <a:endParaRPr lang="en-US" sz="363" dirty="0"/>
          </a:p>
        </p:txBody>
      </p:sp>
      <p:pic>
        <p:nvPicPr>
          <p:cNvPr id="170" name="Image 38" descr="/sessions/zealous-intelligent-mayer/mnt/outputs/icons8/globe.png"/>
          <p:cNvPicPr>
            <a:picLocks noChangeAspect="1"/>
          </p:cNvPicPr>
          <p:nvPr/>
        </p:nvPicPr>
        <p:blipFill>
          <a:blip r:embed="rId38"/>
          <a:stretch>
            <a:fillRect/>
          </a:stretch>
        </p:blipFill>
        <p:spPr>
          <a:xfrm>
            <a:off x="5785255" y="6075594"/>
            <a:ext cx="128584" cy="128584"/>
          </a:xfrm>
          <a:prstGeom prst="rect">
            <a:avLst/>
          </a:prstGeom>
        </p:spPr>
      </p:pic>
      <p:sp>
        <p:nvSpPr>
          <p:cNvPr id="171" name="Text 130"/>
          <p:cNvSpPr/>
          <p:nvPr/>
        </p:nvSpPr>
        <p:spPr>
          <a:xfrm>
            <a:off x="5945985" y="6054164"/>
            <a:ext cx="857227" cy="80365"/>
          </a:xfrm>
          <a:prstGeom prst="rect">
            <a:avLst/>
          </a:prstGeom>
          <a:noFill/>
          <a:ln/>
        </p:spPr>
        <p:txBody>
          <a:bodyPr wrap="square" lIns="0" tIns="0" rIns="0" bIns="0" rtlCol="0" anchor="ctr"/>
          <a:lstStyle/>
          <a:p>
            <a:r>
              <a:rPr lang="en-US" sz="469" b="1" dirty="0">
                <a:solidFill>
                  <a:srgbClr val="2B2F36"/>
                </a:solidFill>
                <a:latin typeface="Arial" pitchFamily="34" charset="0"/>
                <a:ea typeface="Arial" pitchFamily="34" charset="-122"/>
                <a:cs typeface="Arial" pitchFamily="34" charset="-120"/>
              </a:rPr>
              <a:t>Static Web Apps</a:t>
            </a:r>
            <a:endParaRPr lang="en-US" sz="469" dirty="0"/>
          </a:p>
        </p:txBody>
      </p:sp>
      <p:sp>
        <p:nvSpPr>
          <p:cNvPr id="172" name="Text 131"/>
          <p:cNvSpPr/>
          <p:nvPr/>
        </p:nvSpPr>
        <p:spPr>
          <a:xfrm>
            <a:off x="5945985" y="6139886"/>
            <a:ext cx="921519" cy="128584"/>
          </a:xfrm>
          <a:prstGeom prst="rect">
            <a:avLst/>
          </a:prstGeom>
          <a:noFill/>
          <a:ln/>
        </p:spPr>
        <p:txBody>
          <a:bodyPr wrap="square" lIns="0" tIns="0" rIns="0" bIns="0" rtlCol="0" anchor="ctr"/>
          <a:lstStyle/>
          <a:p>
            <a:r>
              <a:rPr lang="en-US" sz="363" dirty="0">
                <a:solidFill>
                  <a:srgbClr val="6B7480"/>
                </a:solidFill>
                <a:latin typeface="Arial" pitchFamily="34" charset="0"/>
                <a:ea typeface="Arial" pitchFamily="34" charset="-122"/>
                <a:cs typeface="Arial" pitchFamily="34" charset="-120"/>
              </a:rPr>
              <a:t>(Free plan)</a:t>
            </a:r>
            <a:endParaRPr lang="en-US" sz="363" dirty="0"/>
          </a:p>
        </p:txBody>
      </p:sp>
      <p:pic>
        <p:nvPicPr>
          <p:cNvPr id="173" name="Image 39" descr="/sessions/zealous-intelligent-mayer/mnt/outputs/icons8/func.png"/>
          <p:cNvPicPr>
            <a:picLocks noChangeAspect="1"/>
          </p:cNvPicPr>
          <p:nvPr/>
        </p:nvPicPr>
        <p:blipFill>
          <a:blip r:embed="rId8"/>
          <a:stretch>
            <a:fillRect/>
          </a:stretch>
        </p:blipFill>
        <p:spPr>
          <a:xfrm>
            <a:off x="6642482" y="6075594"/>
            <a:ext cx="128584" cy="128584"/>
          </a:xfrm>
          <a:prstGeom prst="rect">
            <a:avLst/>
          </a:prstGeom>
        </p:spPr>
      </p:pic>
      <p:sp>
        <p:nvSpPr>
          <p:cNvPr id="174" name="Text 132"/>
          <p:cNvSpPr/>
          <p:nvPr/>
        </p:nvSpPr>
        <p:spPr>
          <a:xfrm>
            <a:off x="6803212" y="6054164"/>
            <a:ext cx="857227" cy="80365"/>
          </a:xfrm>
          <a:prstGeom prst="rect">
            <a:avLst/>
          </a:prstGeom>
          <a:noFill/>
          <a:ln/>
        </p:spPr>
        <p:txBody>
          <a:bodyPr wrap="square" lIns="0" tIns="0" rIns="0" bIns="0" rtlCol="0" anchor="ctr"/>
          <a:lstStyle/>
          <a:p>
            <a:r>
              <a:rPr lang="en-US" sz="469" b="1" dirty="0">
                <a:solidFill>
                  <a:srgbClr val="2B2F36"/>
                </a:solidFill>
                <a:latin typeface="Arial" pitchFamily="34" charset="0"/>
                <a:ea typeface="Arial" pitchFamily="34" charset="-122"/>
                <a:cs typeface="Arial" pitchFamily="34" charset="-120"/>
              </a:rPr>
              <a:t>Azure Functions</a:t>
            </a:r>
            <a:endParaRPr lang="en-US" sz="469" dirty="0"/>
          </a:p>
        </p:txBody>
      </p:sp>
      <p:sp>
        <p:nvSpPr>
          <p:cNvPr id="175" name="Text 133"/>
          <p:cNvSpPr/>
          <p:nvPr/>
        </p:nvSpPr>
        <p:spPr>
          <a:xfrm>
            <a:off x="6803212" y="6139886"/>
            <a:ext cx="921519" cy="128584"/>
          </a:xfrm>
          <a:prstGeom prst="rect">
            <a:avLst/>
          </a:prstGeom>
          <a:noFill/>
          <a:ln/>
        </p:spPr>
        <p:txBody>
          <a:bodyPr wrap="square" lIns="0" tIns="0" rIns="0" bIns="0" rtlCol="0" anchor="ctr"/>
          <a:lstStyle/>
          <a:p>
            <a:r>
              <a:rPr lang="en-US" sz="363" dirty="0">
                <a:solidFill>
                  <a:srgbClr val="6B7480"/>
                </a:solidFill>
                <a:latin typeface="Arial" pitchFamily="34" charset="0"/>
                <a:ea typeface="Arial" pitchFamily="34" charset="-122"/>
                <a:cs typeface="Arial" pitchFamily="34" charset="-120"/>
              </a:rPr>
              <a:t>(Consumption)</a:t>
            </a:r>
            <a:endParaRPr lang="en-US" sz="363" dirty="0"/>
          </a:p>
        </p:txBody>
      </p:sp>
      <p:pic>
        <p:nvPicPr>
          <p:cNvPr id="176" name="Image 40" descr="/sessions/zealous-intelligent-mayer/mnt/outputs/icons8/tag.png"/>
          <p:cNvPicPr>
            <a:picLocks noChangeAspect="1"/>
          </p:cNvPicPr>
          <p:nvPr/>
        </p:nvPicPr>
        <p:blipFill>
          <a:blip r:embed="rId39"/>
          <a:stretch>
            <a:fillRect/>
          </a:stretch>
        </p:blipFill>
        <p:spPr>
          <a:xfrm>
            <a:off x="7446132" y="6075594"/>
            <a:ext cx="128584" cy="128584"/>
          </a:xfrm>
          <a:prstGeom prst="rect">
            <a:avLst/>
          </a:prstGeom>
        </p:spPr>
      </p:pic>
      <p:sp>
        <p:nvSpPr>
          <p:cNvPr id="177" name="Text 134"/>
          <p:cNvSpPr/>
          <p:nvPr/>
        </p:nvSpPr>
        <p:spPr>
          <a:xfrm>
            <a:off x="7606862" y="6054164"/>
            <a:ext cx="857227" cy="80365"/>
          </a:xfrm>
          <a:prstGeom prst="rect">
            <a:avLst/>
          </a:prstGeom>
          <a:noFill/>
          <a:ln/>
        </p:spPr>
        <p:txBody>
          <a:bodyPr wrap="square" lIns="0" tIns="0" rIns="0" bIns="0" rtlCol="0" anchor="ctr"/>
          <a:lstStyle/>
          <a:p>
            <a:r>
              <a:rPr lang="en-US" sz="469" b="1" dirty="0">
                <a:solidFill>
                  <a:srgbClr val="2B2F36"/>
                </a:solidFill>
                <a:latin typeface="Arial" pitchFamily="34" charset="0"/>
                <a:ea typeface="Arial" pitchFamily="34" charset="-122"/>
                <a:cs typeface="Arial" pitchFamily="34" charset="-120"/>
              </a:rPr>
              <a:t>Azure Free Account</a:t>
            </a:r>
            <a:endParaRPr lang="en-US" sz="469" dirty="0"/>
          </a:p>
        </p:txBody>
      </p:sp>
      <p:sp>
        <p:nvSpPr>
          <p:cNvPr id="178" name="Text 135"/>
          <p:cNvSpPr/>
          <p:nvPr/>
        </p:nvSpPr>
        <p:spPr>
          <a:xfrm>
            <a:off x="7606862" y="6139886"/>
            <a:ext cx="921519" cy="128584"/>
          </a:xfrm>
          <a:prstGeom prst="rect">
            <a:avLst/>
          </a:prstGeom>
          <a:noFill/>
          <a:ln/>
        </p:spPr>
        <p:txBody>
          <a:bodyPr wrap="square" lIns="0" tIns="0" rIns="0" bIns="0" rtlCol="0" anchor="ctr"/>
          <a:lstStyle/>
          <a:p>
            <a:r>
              <a:rPr lang="en-US" sz="363" dirty="0">
                <a:solidFill>
                  <a:srgbClr val="6B7480"/>
                </a:solidFill>
                <a:latin typeface="Arial" pitchFamily="34" charset="0"/>
                <a:ea typeface="Arial" pitchFamily="34" charset="-122"/>
                <a:cs typeface="Arial" pitchFamily="34" charset="-120"/>
              </a:rPr>
              <a:t>($200 / 30 days + always-free)</a:t>
            </a:r>
            <a:endParaRPr lang="en-US" sz="363" dirty="0"/>
          </a:p>
        </p:txBody>
      </p:sp>
      <p:sp>
        <p:nvSpPr>
          <p:cNvPr id="179" name="Shape 136"/>
          <p:cNvSpPr/>
          <p:nvPr/>
        </p:nvSpPr>
        <p:spPr>
          <a:xfrm>
            <a:off x="3556466" y="6418485"/>
            <a:ext cx="5079068" cy="353606"/>
          </a:xfrm>
          <a:prstGeom prst="roundRect">
            <a:avLst>
              <a:gd name="adj" fmla="val 9091"/>
            </a:avLst>
          </a:prstGeom>
          <a:solidFill>
            <a:srgbClr val="FFFFFF"/>
          </a:solidFill>
          <a:ln w="12700">
            <a:solidFill>
              <a:srgbClr val="CBD5E0"/>
            </a:solidFill>
            <a:prstDash val="solid"/>
          </a:ln>
        </p:spPr>
      </p:sp>
      <p:pic>
        <p:nvPicPr>
          <p:cNvPr id="180" name="Image 41" descr="/sessions/zealous-intelligent-mayer/mnt/outputs/icons8/check.png"/>
          <p:cNvPicPr>
            <a:picLocks noChangeAspect="1"/>
          </p:cNvPicPr>
          <p:nvPr/>
        </p:nvPicPr>
        <p:blipFill>
          <a:blip r:embed="rId40"/>
          <a:stretch>
            <a:fillRect/>
          </a:stretch>
        </p:blipFill>
        <p:spPr>
          <a:xfrm>
            <a:off x="3610043" y="6450631"/>
            <a:ext cx="75007" cy="75007"/>
          </a:xfrm>
          <a:prstGeom prst="rect">
            <a:avLst/>
          </a:prstGeom>
        </p:spPr>
      </p:pic>
      <p:sp>
        <p:nvSpPr>
          <p:cNvPr id="181" name="Text 137"/>
          <p:cNvSpPr/>
          <p:nvPr/>
        </p:nvSpPr>
        <p:spPr>
          <a:xfrm>
            <a:off x="3717196" y="6445274"/>
            <a:ext cx="1232263" cy="75007"/>
          </a:xfrm>
          <a:prstGeom prst="rect">
            <a:avLst/>
          </a:prstGeom>
          <a:noFill/>
          <a:ln/>
        </p:spPr>
        <p:txBody>
          <a:bodyPr wrap="square" lIns="0" tIns="0" rIns="0" bIns="0" rtlCol="0" anchor="ctr"/>
          <a:lstStyle/>
          <a:p>
            <a:r>
              <a:rPr lang="en-US" sz="375" b="1" dirty="0">
                <a:solidFill>
                  <a:srgbClr val="2E9E4F"/>
                </a:solidFill>
                <a:latin typeface="Arial" pitchFamily="34" charset="0"/>
                <a:ea typeface="Arial" pitchFamily="34" charset="-122"/>
                <a:cs typeface="Arial" pitchFamily="34" charset="-120"/>
              </a:rPr>
              <a:t>VERIFIED FREE TIERS (Microsoft docs)</a:t>
            </a:r>
            <a:endParaRPr lang="en-US" sz="375" dirty="0"/>
          </a:p>
        </p:txBody>
      </p:sp>
      <p:sp>
        <p:nvSpPr>
          <p:cNvPr id="182" name="Text 138"/>
          <p:cNvSpPr/>
          <p:nvPr/>
        </p:nvSpPr>
        <p:spPr>
          <a:xfrm>
            <a:off x="3717196" y="6530996"/>
            <a:ext cx="2325228" cy="214307"/>
          </a:xfrm>
          <a:prstGeom prst="rect">
            <a:avLst/>
          </a:prstGeom>
          <a:noFill/>
          <a:ln/>
        </p:spPr>
        <p:txBody>
          <a:bodyPr wrap="square" lIns="0" tIns="0" rIns="0" bIns="0" rtlCol="0" anchor="ctr"/>
          <a:lstStyle/>
          <a:p>
            <a:pPr>
              <a:lnSpc>
                <a:spcPct val="106000"/>
              </a:lnSpc>
            </a:pPr>
            <a:r>
              <a:rPr lang="en-US" sz="316" dirty="0">
                <a:solidFill>
                  <a:srgbClr val="2B2F36"/>
                </a:solidFill>
                <a:latin typeface="Arial" pitchFamily="34" charset="0"/>
                <a:ea typeface="Arial" pitchFamily="34" charset="-122"/>
                <a:cs typeface="Arial" pitchFamily="34" charset="-120"/>
              </a:rPr>
              <a:t>Cosmos DB free tier — first 1000 RU/s + 25 GB, lifetime of account, one per subscription, opt in at creation</a:t>
            </a:r>
            <a:endParaRPr lang="en-US" sz="316" dirty="0"/>
          </a:p>
          <a:p>
            <a:pPr>
              <a:lnSpc>
                <a:spcPct val="106000"/>
              </a:lnSpc>
            </a:pPr>
            <a:r>
              <a:rPr lang="en-US" sz="316" dirty="0">
                <a:solidFill>
                  <a:srgbClr val="2B2F36"/>
                </a:solidFill>
                <a:latin typeface="Arial" pitchFamily="34" charset="0"/>
                <a:ea typeface="Arial" pitchFamily="34" charset="-122"/>
                <a:cs typeface="Arial" pitchFamily="34" charset="-120"/>
              </a:rPr>
              <a:t>AI Search Free tier — 50 MB, 3 indexes, one service per subscription, never expires</a:t>
            </a:r>
            <a:endParaRPr lang="en-US" sz="316" dirty="0"/>
          </a:p>
          <a:p>
            <a:pPr>
              <a:lnSpc>
                <a:spcPct val="106000"/>
              </a:lnSpc>
            </a:pPr>
            <a:r>
              <a:rPr lang="en-US" sz="316" dirty="0">
                <a:solidFill>
                  <a:srgbClr val="2B2F36"/>
                </a:solidFill>
                <a:latin typeface="Arial" pitchFamily="34" charset="0"/>
                <a:ea typeface="Arial" pitchFamily="34" charset="-122"/>
                <a:cs typeface="Arial" pitchFamily="34" charset="-120"/>
              </a:rPr>
              <a:t>Functions Consumption — 1M requests + 400,000 GB-s free grant per month per subscription</a:t>
            </a:r>
            <a:endParaRPr lang="en-US" sz="316" dirty="0"/>
          </a:p>
        </p:txBody>
      </p:sp>
      <p:pic>
        <p:nvPicPr>
          <p:cNvPr id="183" name="Image 42" descr="/sessions/zealous-intelligent-mayer/mnt/outputs/icons8/warn.png"/>
          <p:cNvPicPr>
            <a:picLocks noChangeAspect="1"/>
          </p:cNvPicPr>
          <p:nvPr/>
        </p:nvPicPr>
        <p:blipFill>
          <a:blip r:embed="rId41"/>
          <a:stretch>
            <a:fillRect/>
          </a:stretch>
        </p:blipFill>
        <p:spPr>
          <a:xfrm>
            <a:off x="6149577" y="6450631"/>
            <a:ext cx="75007" cy="75007"/>
          </a:xfrm>
          <a:prstGeom prst="rect">
            <a:avLst/>
          </a:prstGeom>
        </p:spPr>
      </p:pic>
      <p:sp>
        <p:nvSpPr>
          <p:cNvPr id="184" name="Text 139"/>
          <p:cNvSpPr/>
          <p:nvPr/>
        </p:nvSpPr>
        <p:spPr>
          <a:xfrm>
            <a:off x="6256730" y="6445274"/>
            <a:ext cx="1232263" cy="75007"/>
          </a:xfrm>
          <a:prstGeom prst="rect">
            <a:avLst/>
          </a:prstGeom>
          <a:noFill/>
          <a:ln/>
        </p:spPr>
        <p:txBody>
          <a:bodyPr wrap="square" lIns="0" tIns="0" rIns="0" bIns="0" rtlCol="0" anchor="ctr"/>
          <a:lstStyle/>
          <a:p>
            <a:r>
              <a:rPr lang="en-US" sz="375" b="1" dirty="0">
                <a:solidFill>
                  <a:srgbClr val="E8734A"/>
                </a:solidFill>
                <a:latin typeface="Arial" pitchFamily="34" charset="0"/>
                <a:ea typeface="Arial" pitchFamily="34" charset="-122"/>
                <a:cs typeface="Arial" pitchFamily="34" charset="-120"/>
              </a:rPr>
              <a:t>CHECK BEFORE YOU COMMIT</a:t>
            </a:r>
            <a:endParaRPr lang="en-US" sz="375" dirty="0"/>
          </a:p>
        </p:txBody>
      </p:sp>
      <p:sp>
        <p:nvSpPr>
          <p:cNvPr id="185" name="Text 140"/>
          <p:cNvSpPr/>
          <p:nvPr/>
        </p:nvSpPr>
        <p:spPr>
          <a:xfrm>
            <a:off x="6256730" y="6530996"/>
            <a:ext cx="2325228" cy="214307"/>
          </a:xfrm>
          <a:prstGeom prst="rect">
            <a:avLst/>
          </a:prstGeom>
          <a:noFill/>
          <a:ln/>
        </p:spPr>
        <p:txBody>
          <a:bodyPr wrap="square" lIns="0" tIns="0" rIns="0" bIns="0" rtlCol="0" anchor="ctr"/>
          <a:lstStyle/>
          <a:p>
            <a:pPr>
              <a:lnSpc>
                <a:spcPct val="106000"/>
              </a:lnSpc>
            </a:pPr>
            <a:r>
              <a:rPr lang="en-US" sz="316" dirty="0">
                <a:solidFill>
                  <a:srgbClr val="2B2F36"/>
                </a:solidFill>
                <a:latin typeface="Arial" pitchFamily="34" charset="0"/>
                <a:ea typeface="Arial" pitchFamily="34" charset="-122"/>
                <a:cs typeface="Arial" pitchFamily="34" charset="-120"/>
              </a:rPr>
              <a:t>Content Safety F0 — 5,000 text + 5,000 image analyses/month;  Doc Intelligence F0 — 500 pages/month</a:t>
            </a:r>
            <a:endParaRPr lang="en-US" sz="316" dirty="0"/>
          </a:p>
          <a:p>
            <a:pPr>
              <a:lnSpc>
                <a:spcPct val="106000"/>
              </a:lnSpc>
            </a:pPr>
            <a:r>
              <a:rPr lang="en-US" sz="316" dirty="0">
                <a:solidFill>
                  <a:srgbClr val="2B2F36"/>
                </a:solidFill>
                <a:latin typeface="Arial" pitchFamily="34" charset="0"/>
                <a:ea typeface="Arial" pitchFamily="34" charset="-122"/>
                <a:cs typeface="Arial" pitchFamily="34" charset="-120"/>
              </a:rPr>
              <a:t>App Service Free (F1) — shared CPU, no scale-out;  Functions needs Consumption, not Free/Shared plans</a:t>
            </a:r>
            <a:endParaRPr lang="en-US" sz="316" dirty="0"/>
          </a:p>
          <a:p>
            <a:pPr>
              <a:lnSpc>
                <a:spcPct val="106000"/>
              </a:lnSpc>
            </a:pPr>
            <a:r>
              <a:rPr lang="en-US" sz="316" dirty="0">
                <a:solidFill>
                  <a:srgbClr val="2B2F36"/>
                </a:solidFill>
                <a:latin typeface="Arial" pitchFamily="34" charset="0"/>
                <a:ea typeface="Arial" pitchFamily="34" charset="-122"/>
                <a:cs typeface="Arial" pitchFamily="34" charset="-120"/>
              </a:rPr>
              <a:t>GitHub Models is retired — $0 inference here comes from Foundry Local on plant hardware</a:t>
            </a:r>
            <a:endParaRPr lang="en-US" sz="316" dirty="0"/>
          </a:p>
        </p:txBody>
      </p:sp>
      <p:sp>
        <p:nvSpPr>
          <p:cNvPr id="186" name="Text 141"/>
          <p:cNvSpPr/>
          <p:nvPr/>
        </p:nvSpPr>
        <p:spPr>
          <a:xfrm>
            <a:off x="3417167" y="6793522"/>
            <a:ext cx="5357667" cy="75007"/>
          </a:xfrm>
          <a:prstGeom prst="rect">
            <a:avLst/>
          </a:prstGeom>
          <a:noFill/>
          <a:ln/>
        </p:spPr>
        <p:txBody>
          <a:bodyPr wrap="square" lIns="0" tIns="0" rIns="0" bIns="0" rtlCol="0" anchor="ctr"/>
          <a:lstStyle/>
          <a:p>
            <a:pPr algn="ctr"/>
            <a:r>
              <a:rPr lang="en-US" sz="363" dirty="0">
                <a:solidFill>
                  <a:srgbClr val="6B7480"/>
                </a:solidFill>
                <a:latin typeface="Arial" pitchFamily="34" charset="0"/>
                <a:ea typeface="Arial" pitchFamily="34" charset="-122"/>
                <a:cs typeface="Arial" pitchFamily="34" charset="-120"/>
              </a:rPr>
              <a:t>Ball Corporation  ·  $0 Azure reference stack  ·  adapted from a concept by Vaibhav Aggarwal</a:t>
            </a:r>
            <a:endParaRPr lang="en-US" sz="363" dirty="0"/>
          </a:p>
        </p:txBody>
      </p:sp>
      <p:sp>
        <p:nvSpPr>
          <p:cNvPr id="187" name="Shape 142"/>
          <p:cNvSpPr/>
          <p:nvPr/>
        </p:nvSpPr>
        <p:spPr>
          <a:xfrm>
            <a:off x="4274393" y="1350132"/>
            <a:ext cx="567913" cy="0"/>
          </a:xfrm>
          <a:prstGeom prst="line">
            <a:avLst/>
          </a:prstGeom>
          <a:noFill/>
          <a:ln w="15875">
            <a:solidFill>
              <a:srgbClr val="1D1F24"/>
            </a:solidFill>
            <a:prstDash val="solid"/>
            <a:tailEnd type="triangle"/>
          </a:ln>
        </p:spPr>
      </p:sp>
      <p:sp>
        <p:nvSpPr>
          <p:cNvPr id="188" name="Shape 143"/>
          <p:cNvSpPr/>
          <p:nvPr/>
        </p:nvSpPr>
        <p:spPr>
          <a:xfrm>
            <a:off x="4528882" y="1326022"/>
            <a:ext cx="48219" cy="48219"/>
          </a:xfrm>
          <a:prstGeom prst="ellipse">
            <a:avLst/>
          </a:prstGeom>
          <a:solidFill>
            <a:srgbClr val="2E9E4F"/>
          </a:solidFill>
          <a:ln/>
        </p:spPr>
      </p:sp>
      <p:sp>
        <p:nvSpPr>
          <p:cNvPr id="189" name="Shape 144"/>
          <p:cNvSpPr/>
          <p:nvPr/>
        </p:nvSpPr>
        <p:spPr>
          <a:xfrm>
            <a:off x="6138862" y="1350132"/>
            <a:ext cx="364321" cy="0"/>
          </a:xfrm>
          <a:prstGeom prst="line">
            <a:avLst/>
          </a:prstGeom>
          <a:noFill/>
          <a:ln w="15875">
            <a:solidFill>
              <a:srgbClr val="1D1F24"/>
            </a:solidFill>
            <a:prstDash val="solid"/>
            <a:tailEnd type="triangle"/>
          </a:ln>
        </p:spPr>
      </p:sp>
      <p:sp>
        <p:nvSpPr>
          <p:cNvPr id="190" name="Shape 145"/>
          <p:cNvSpPr/>
          <p:nvPr/>
        </p:nvSpPr>
        <p:spPr>
          <a:xfrm>
            <a:off x="6296913" y="1326022"/>
            <a:ext cx="48219" cy="48219"/>
          </a:xfrm>
          <a:prstGeom prst="ellipse">
            <a:avLst/>
          </a:prstGeom>
          <a:solidFill>
            <a:srgbClr val="E74C3C"/>
          </a:solidFill>
          <a:ln/>
        </p:spPr>
      </p:sp>
      <p:sp>
        <p:nvSpPr>
          <p:cNvPr id="191" name="Shape 146"/>
          <p:cNvSpPr/>
          <p:nvPr/>
        </p:nvSpPr>
        <p:spPr>
          <a:xfrm>
            <a:off x="7172891" y="1928760"/>
            <a:ext cx="0" cy="75007"/>
          </a:xfrm>
          <a:prstGeom prst="line">
            <a:avLst/>
          </a:prstGeom>
          <a:noFill/>
          <a:ln w="15875">
            <a:solidFill>
              <a:srgbClr val="1D1F24"/>
            </a:solidFill>
            <a:prstDash val="solid"/>
          </a:ln>
        </p:spPr>
      </p:sp>
      <p:sp>
        <p:nvSpPr>
          <p:cNvPr id="192" name="Shape 147"/>
          <p:cNvSpPr/>
          <p:nvPr/>
        </p:nvSpPr>
        <p:spPr>
          <a:xfrm>
            <a:off x="6449606" y="2003767"/>
            <a:ext cx="723285" cy="0"/>
          </a:xfrm>
          <a:prstGeom prst="line">
            <a:avLst/>
          </a:prstGeom>
          <a:noFill/>
          <a:ln w="15875">
            <a:solidFill>
              <a:srgbClr val="1D1F24"/>
            </a:solidFill>
            <a:prstDash val="solid"/>
          </a:ln>
        </p:spPr>
      </p:sp>
      <p:sp>
        <p:nvSpPr>
          <p:cNvPr id="193" name="Shape 148"/>
          <p:cNvSpPr/>
          <p:nvPr/>
        </p:nvSpPr>
        <p:spPr>
          <a:xfrm>
            <a:off x="6993409" y="1979658"/>
            <a:ext cx="48219" cy="48219"/>
          </a:xfrm>
          <a:prstGeom prst="ellipse">
            <a:avLst/>
          </a:prstGeom>
          <a:solidFill>
            <a:srgbClr val="2E9E4F"/>
          </a:solidFill>
          <a:ln/>
        </p:spPr>
      </p:sp>
      <p:sp>
        <p:nvSpPr>
          <p:cNvPr id="194" name="Shape 149"/>
          <p:cNvSpPr/>
          <p:nvPr/>
        </p:nvSpPr>
        <p:spPr>
          <a:xfrm>
            <a:off x="6449606" y="2003767"/>
            <a:ext cx="0" cy="53577"/>
          </a:xfrm>
          <a:prstGeom prst="line">
            <a:avLst/>
          </a:prstGeom>
          <a:noFill/>
          <a:ln w="15875">
            <a:solidFill>
              <a:srgbClr val="1D1F24"/>
            </a:solidFill>
            <a:prstDash val="solid"/>
            <a:tailEnd type="triangle"/>
          </a:ln>
        </p:spPr>
      </p:sp>
      <p:sp>
        <p:nvSpPr>
          <p:cNvPr id="195" name="Shape 150"/>
          <p:cNvSpPr/>
          <p:nvPr/>
        </p:nvSpPr>
        <p:spPr>
          <a:xfrm>
            <a:off x="5249489" y="2362731"/>
            <a:ext cx="723285" cy="0"/>
          </a:xfrm>
          <a:prstGeom prst="line">
            <a:avLst/>
          </a:prstGeom>
          <a:noFill/>
          <a:ln w="15875">
            <a:solidFill>
              <a:srgbClr val="1D1F24"/>
            </a:solidFill>
            <a:prstDash val="solid"/>
          </a:ln>
        </p:spPr>
      </p:sp>
      <p:sp>
        <p:nvSpPr>
          <p:cNvPr id="196" name="Shape 151"/>
          <p:cNvSpPr/>
          <p:nvPr/>
        </p:nvSpPr>
        <p:spPr>
          <a:xfrm>
            <a:off x="5578985" y="2338622"/>
            <a:ext cx="48219" cy="48219"/>
          </a:xfrm>
          <a:prstGeom prst="ellipse">
            <a:avLst/>
          </a:prstGeom>
          <a:solidFill>
            <a:srgbClr val="2E9E4F"/>
          </a:solidFill>
          <a:ln/>
        </p:spPr>
      </p:sp>
      <p:sp>
        <p:nvSpPr>
          <p:cNvPr id="197" name="Shape 152"/>
          <p:cNvSpPr/>
          <p:nvPr/>
        </p:nvSpPr>
        <p:spPr>
          <a:xfrm>
            <a:off x="5249489" y="2362731"/>
            <a:ext cx="0" cy="251810"/>
          </a:xfrm>
          <a:prstGeom prst="line">
            <a:avLst/>
          </a:prstGeom>
          <a:noFill/>
          <a:ln w="15875">
            <a:solidFill>
              <a:srgbClr val="1D1F24"/>
            </a:solidFill>
            <a:prstDash val="solid"/>
            <a:tailEnd type="triangle"/>
          </a:ln>
        </p:spPr>
      </p:sp>
      <p:sp>
        <p:nvSpPr>
          <p:cNvPr id="198" name="Shape 153"/>
          <p:cNvSpPr/>
          <p:nvPr/>
        </p:nvSpPr>
        <p:spPr>
          <a:xfrm>
            <a:off x="6915723" y="2362731"/>
            <a:ext cx="675066" cy="0"/>
          </a:xfrm>
          <a:prstGeom prst="line">
            <a:avLst/>
          </a:prstGeom>
          <a:noFill/>
          <a:ln w="15875">
            <a:solidFill>
              <a:srgbClr val="1D1F24"/>
            </a:solidFill>
            <a:prstDash val="solid"/>
          </a:ln>
        </p:spPr>
      </p:sp>
      <p:sp>
        <p:nvSpPr>
          <p:cNvPr id="199" name="Shape 154"/>
          <p:cNvSpPr/>
          <p:nvPr/>
        </p:nvSpPr>
        <p:spPr>
          <a:xfrm>
            <a:off x="7239862" y="2338622"/>
            <a:ext cx="48219" cy="48219"/>
          </a:xfrm>
          <a:prstGeom prst="ellipse">
            <a:avLst/>
          </a:prstGeom>
          <a:solidFill>
            <a:srgbClr val="2E9E4F"/>
          </a:solidFill>
          <a:ln/>
        </p:spPr>
      </p:sp>
      <p:sp>
        <p:nvSpPr>
          <p:cNvPr id="200" name="Shape 155"/>
          <p:cNvSpPr/>
          <p:nvPr/>
        </p:nvSpPr>
        <p:spPr>
          <a:xfrm>
            <a:off x="7590789" y="2362731"/>
            <a:ext cx="0" cy="251810"/>
          </a:xfrm>
          <a:prstGeom prst="line">
            <a:avLst/>
          </a:prstGeom>
          <a:noFill/>
          <a:ln w="15875">
            <a:solidFill>
              <a:srgbClr val="1D1F24"/>
            </a:solidFill>
            <a:prstDash val="solid"/>
            <a:tailEnd type="triangle"/>
          </a:ln>
        </p:spPr>
      </p:sp>
      <p:sp>
        <p:nvSpPr>
          <p:cNvPr id="201" name="Shape 156"/>
          <p:cNvSpPr/>
          <p:nvPr/>
        </p:nvSpPr>
        <p:spPr>
          <a:xfrm>
            <a:off x="5913839" y="3375330"/>
            <a:ext cx="535767" cy="0"/>
          </a:xfrm>
          <a:prstGeom prst="line">
            <a:avLst/>
          </a:prstGeom>
          <a:noFill/>
          <a:ln w="15875">
            <a:solidFill>
              <a:srgbClr val="1D1F24"/>
            </a:solidFill>
            <a:prstDash val="solid"/>
          </a:ln>
        </p:spPr>
      </p:sp>
      <p:sp>
        <p:nvSpPr>
          <p:cNvPr id="202" name="Text 157"/>
          <p:cNvSpPr/>
          <p:nvPr/>
        </p:nvSpPr>
        <p:spPr>
          <a:xfrm>
            <a:off x="5945986" y="3396761"/>
            <a:ext cx="428613" cy="75007"/>
          </a:xfrm>
          <a:prstGeom prst="rect">
            <a:avLst/>
          </a:prstGeom>
          <a:noFill/>
          <a:ln/>
        </p:spPr>
        <p:txBody>
          <a:bodyPr wrap="square" lIns="0" tIns="0" rIns="0" bIns="0" rtlCol="0" anchor="ctr"/>
          <a:lstStyle/>
          <a:p>
            <a:r>
              <a:rPr lang="en-US" sz="410" dirty="0">
                <a:solidFill>
                  <a:srgbClr val="2B2F36"/>
                </a:solidFill>
                <a:latin typeface="Arial" pitchFamily="34" charset="0"/>
                <a:ea typeface="Arial" pitchFamily="34" charset="-122"/>
                <a:cs typeface="Arial" pitchFamily="34" charset="-120"/>
              </a:rPr>
              <a:t>Context</a:t>
            </a:r>
            <a:endParaRPr lang="en-US" sz="410" dirty="0"/>
          </a:p>
        </p:txBody>
      </p:sp>
      <p:sp>
        <p:nvSpPr>
          <p:cNvPr id="203" name="Shape 158"/>
          <p:cNvSpPr/>
          <p:nvPr/>
        </p:nvSpPr>
        <p:spPr>
          <a:xfrm>
            <a:off x="6449606" y="2657403"/>
            <a:ext cx="0" cy="1639446"/>
          </a:xfrm>
          <a:prstGeom prst="line">
            <a:avLst/>
          </a:prstGeom>
          <a:noFill/>
          <a:ln w="15875">
            <a:solidFill>
              <a:srgbClr val="1D1F24"/>
            </a:solidFill>
            <a:prstDash val="solid"/>
          </a:ln>
        </p:spPr>
      </p:sp>
      <p:sp>
        <p:nvSpPr>
          <p:cNvPr id="204" name="Text 159"/>
          <p:cNvSpPr/>
          <p:nvPr/>
        </p:nvSpPr>
        <p:spPr>
          <a:xfrm>
            <a:off x="6149577" y="3803943"/>
            <a:ext cx="428613" cy="150015"/>
          </a:xfrm>
          <a:prstGeom prst="rect">
            <a:avLst/>
          </a:prstGeom>
          <a:noFill/>
          <a:ln/>
        </p:spPr>
        <p:txBody>
          <a:bodyPr wrap="square" lIns="0" tIns="0" rIns="0" bIns="0" rtlCol="0" anchor="ctr"/>
          <a:lstStyle/>
          <a:p>
            <a:pPr algn="r"/>
            <a:r>
              <a:rPr lang="en-US" sz="410" dirty="0">
                <a:solidFill>
                  <a:srgbClr val="2B2F36"/>
                </a:solidFill>
                <a:latin typeface="Arial" pitchFamily="34" charset="0"/>
                <a:ea typeface="Arial" pitchFamily="34" charset="-122"/>
                <a:cs typeface="Arial" pitchFamily="34" charset="-120"/>
              </a:rPr>
              <a:t>Application</a:t>
            </a:r>
            <a:endParaRPr lang="en-US" sz="410" dirty="0"/>
          </a:p>
          <a:p>
            <a:pPr algn="r"/>
            <a:r>
              <a:rPr lang="en-US" sz="410" dirty="0">
                <a:solidFill>
                  <a:srgbClr val="2B2F36"/>
                </a:solidFill>
                <a:latin typeface="Arial" pitchFamily="34" charset="0"/>
                <a:ea typeface="Arial" pitchFamily="34" charset="-122"/>
                <a:cs typeface="Arial" pitchFamily="34" charset="-120"/>
              </a:rPr>
              <a:t>State</a:t>
            </a:r>
            <a:endParaRPr lang="en-US" sz="410" dirty="0"/>
          </a:p>
        </p:txBody>
      </p:sp>
      <p:sp>
        <p:nvSpPr>
          <p:cNvPr id="205" name="Shape 160"/>
          <p:cNvSpPr/>
          <p:nvPr/>
        </p:nvSpPr>
        <p:spPr>
          <a:xfrm>
            <a:off x="6425497" y="3351221"/>
            <a:ext cx="48219" cy="48219"/>
          </a:xfrm>
          <a:prstGeom prst="ellipse">
            <a:avLst/>
          </a:prstGeom>
          <a:solidFill>
            <a:srgbClr val="2E9E4F"/>
          </a:solidFill>
          <a:ln/>
        </p:spPr>
      </p:sp>
      <p:sp>
        <p:nvSpPr>
          <p:cNvPr id="206" name="Shape 161"/>
          <p:cNvSpPr/>
          <p:nvPr/>
        </p:nvSpPr>
        <p:spPr>
          <a:xfrm>
            <a:off x="6425497" y="4047717"/>
            <a:ext cx="48219" cy="48219"/>
          </a:xfrm>
          <a:prstGeom prst="ellipse">
            <a:avLst/>
          </a:prstGeom>
          <a:solidFill>
            <a:srgbClr val="2E9E4F"/>
          </a:solidFill>
          <a:ln/>
        </p:spPr>
      </p:sp>
      <p:sp>
        <p:nvSpPr>
          <p:cNvPr id="207" name="Shape 162"/>
          <p:cNvSpPr/>
          <p:nvPr/>
        </p:nvSpPr>
        <p:spPr>
          <a:xfrm>
            <a:off x="6449606" y="4071827"/>
            <a:ext cx="407183" cy="0"/>
          </a:xfrm>
          <a:prstGeom prst="line">
            <a:avLst/>
          </a:prstGeom>
          <a:noFill/>
          <a:ln w="15875">
            <a:solidFill>
              <a:srgbClr val="1D1F24"/>
            </a:solidFill>
            <a:prstDash val="solid"/>
            <a:tailEnd type="triangle"/>
          </a:ln>
        </p:spPr>
      </p:sp>
      <p:sp>
        <p:nvSpPr>
          <p:cNvPr id="208" name="Shape 163"/>
          <p:cNvSpPr/>
          <p:nvPr/>
        </p:nvSpPr>
        <p:spPr>
          <a:xfrm>
            <a:off x="6449606" y="4296849"/>
            <a:ext cx="407183" cy="578628"/>
          </a:xfrm>
          <a:prstGeom prst="line">
            <a:avLst/>
          </a:prstGeom>
          <a:noFill/>
          <a:ln w="15875">
            <a:solidFill>
              <a:srgbClr val="1D1F24"/>
            </a:solidFill>
            <a:prstDash val="solid"/>
          </a:ln>
        </p:spPr>
      </p:sp>
      <p:sp>
        <p:nvSpPr>
          <p:cNvPr id="209" name="Shape 164"/>
          <p:cNvSpPr/>
          <p:nvPr/>
        </p:nvSpPr>
        <p:spPr>
          <a:xfrm>
            <a:off x="7590789" y="3771798"/>
            <a:ext cx="0" cy="235737"/>
          </a:xfrm>
          <a:prstGeom prst="line">
            <a:avLst/>
          </a:prstGeom>
          <a:noFill/>
          <a:ln w="15875">
            <a:solidFill>
              <a:srgbClr val="1D1F24"/>
            </a:solidFill>
            <a:prstDash val="solid"/>
            <a:tailEnd type="triangle"/>
          </a:ln>
        </p:spPr>
      </p:sp>
      <p:sp>
        <p:nvSpPr>
          <p:cNvPr id="210" name="Shape 165"/>
          <p:cNvSpPr/>
          <p:nvPr/>
        </p:nvSpPr>
        <p:spPr>
          <a:xfrm>
            <a:off x="5249489" y="3996820"/>
            <a:ext cx="0" cy="300029"/>
          </a:xfrm>
          <a:prstGeom prst="line">
            <a:avLst/>
          </a:prstGeom>
          <a:noFill/>
          <a:ln w="15875">
            <a:solidFill>
              <a:srgbClr val="1D1F24"/>
            </a:solidFill>
            <a:prstDash val="solid"/>
            <a:tailEnd type="triangle"/>
          </a:ln>
        </p:spPr>
      </p:sp>
      <p:sp>
        <p:nvSpPr>
          <p:cNvPr id="211" name="Shape 166"/>
          <p:cNvSpPr/>
          <p:nvPr/>
        </p:nvSpPr>
        <p:spPr>
          <a:xfrm>
            <a:off x="5225379" y="4122725"/>
            <a:ext cx="48219" cy="48219"/>
          </a:xfrm>
          <a:prstGeom prst="ellipse">
            <a:avLst/>
          </a:prstGeom>
          <a:solidFill>
            <a:srgbClr val="2E9E4F"/>
          </a:solidFill>
          <a:ln/>
        </p:spPr>
      </p:sp>
      <p:sp>
        <p:nvSpPr>
          <p:cNvPr id="212" name="Shape 167"/>
          <p:cNvSpPr/>
          <p:nvPr/>
        </p:nvSpPr>
        <p:spPr>
          <a:xfrm>
            <a:off x="6513898" y="4982630"/>
            <a:ext cx="353606" cy="0"/>
          </a:xfrm>
          <a:prstGeom prst="line">
            <a:avLst/>
          </a:prstGeom>
          <a:noFill/>
          <a:ln w="15875">
            <a:solidFill>
              <a:srgbClr val="1D1F24"/>
            </a:solidFill>
            <a:prstDash val="solid"/>
            <a:headEnd type="triangle"/>
          </a:ln>
        </p:spPr>
      </p:sp>
      <p:sp>
        <p:nvSpPr>
          <p:cNvPr id="213" name="Shape 168"/>
          <p:cNvSpPr/>
          <p:nvPr/>
        </p:nvSpPr>
        <p:spPr>
          <a:xfrm>
            <a:off x="5506657" y="5207652"/>
            <a:ext cx="0" cy="96438"/>
          </a:xfrm>
          <a:prstGeom prst="line">
            <a:avLst/>
          </a:prstGeom>
          <a:noFill/>
          <a:ln w="15875">
            <a:solidFill>
              <a:srgbClr val="1D1F24"/>
            </a:solidFill>
            <a:prstDash val="solid"/>
            <a:tailEnd type="triangle"/>
          </a:ln>
        </p:spPr>
      </p:sp>
      <p:sp>
        <p:nvSpPr>
          <p:cNvPr id="214" name="Shape 169"/>
          <p:cNvSpPr/>
          <p:nvPr/>
        </p:nvSpPr>
        <p:spPr>
          <a:xfrm>
            <a:off x="5506657" y="5893434"/>
            <a:ext cx="0" cy="75007"/>
          </a:xfrm>
          <a:prstGeom prst="line">
            <a:avLst/>
          </a:prstGeom>
          <a:noFill/>
          <a:ln w="15875">
            <a:solidFill>
              <a:srgbClr val="1D1F24"/>
            </a:solidFill>
            <a:prstDash val="solid"/>
            <a:tailEnd type="triangle"/>
          </a:ln>
        </p:spPr>
      </p:sp>
      <p:sp>
        <p:nvSpPr>
          <p:cNvPr id="215" name="Shape 170"/>
          <p:cNvSpPr/>
          <p:nvPr/>
        </p:nvSpPr>
        <p:spPr>
          <a:xfrm>
            <a:off x="4370831" y="4071827"/>
            <a:ext cx="203591" cy="0"/>
          </a:xfrm>
          <a:prstGeom prst="line">
            <a:avLst/>
          </a:prstGeom>
          <a:noFill/>
          <a:ln w="15875">
            <a:solidFill>
              <a:srgbClr val="1D1F24"/>
            </a:solidFill>
            <a:prstDash val="dash"/>
            <a:headEnd type="triangle"/>
          </a:ln>
        </p:spPr>
      </p:sp>
      <p:sp>
        <p:nvSpPr>
          <p:cNvPr id="216" name="Shape 171"/>
          <p:cNvSpPr/>
          <p:nvPr/>
        </p:nvSpPr>
        <p:spPr>
          <a:xfrm>
            <a:off x="3952933" y="1982337"/>
            <a:ext cx="0" cy="1189402"/>
          </a:xfrm>
          <a:prstGeom prst="line">
            <a:avLst/>
          </a:prstGeom>
          <a:noFill/>
          <a:ln w="15875">
            <a:solidFill>
              <a:srgbClr val="1D1F24"/>
            </a:solidFill>
            <a:prstDash val="dash"/>
            <a:tailEnd type="triangle"/>
          </a:ln>
        </p:spPr>
      </p:sp>
      <p:sp>
        <p:nvSpPr>
          <p:cNvPr id="217" name="Shape 172"/>
          <p:cNvSpPr/>
          <p:nvPr/>
        </p:nvSpPr>
        <p:spPr>
          <a:xfrm>
            <a:off x="3952933" y="1982337"/>
            <a:ext cx="889373" cy="0"/>
          </a:xfrm>
          <a:prstGeom prst="line">
            <a:avLst/>
          </a:prstGeom>
          <a:noFill/>
          <a:ln w="15875">
            <a:solidFill>
              <a:srgbClr val="1D1F24"/>
            </a:solidFill>
            <a:prstDash val="dash"/>
          </a:ln>
        </p:spPr>
      </p:sp>
      <p:sp>
        <p:nvSpPr>
          <p:cNvPr id="218" name="Shape 173"/>
          <p:cNvSpPr/>
          <p:nvPr/>
        </p:nvSpPr>
        <p:spPr>
          <a:xfrm>
            <a:off x="3952933" y="4854046"/>
            <a:ext cx="0" cy="1114395"/>
          </a:xfrm>
          <a:prstGeom prst="line">
            <a:avLst/>
          </a:prstGeom>
          <a:noFill/>
          <a:ln w="15875">
            <a:solidFill>
              <a:srgbClr val="1D1F24"/>
            </a:solidFill>
            <a:prstDash val="dash"/>
            <a:tailEnd type="triangle"/>
          </a:ln>
        </p:spPr>
      </p:sp>
      <p:sp>
        <p:nvSpPr>
          <p:cNvPr id="219" name="Shape 174"/>
          <p:cNvSpPr/>
          <p:nvPr/>
        </p:nvSpPr>
        <p:spPr>
          <a:xfrm>
            <a:off x="3928824" y="5279981"/>
            <a:ext cx="48219" cy="48219"/>
          </a:xfrm>
          <a:prstGeom prst="ellipse">
            <a:avLst/>
          </a:prstGeom>
          <a:solidFill>
            <a:srgbClr val="2E9E4F"/>
          </a:solidFill>
          <a:ln/>
        </p:spPr>
      </p:sp>
      <p:sp>
        <p:nvSpPr>
          <p:cNvPr id="220" name="Shape 175"/>
          <p:cNvSpPr/>
          <p:nvPr/>
        </p:nvSpPr>
        <p:spPr>
          <a:xfrm>
            <a:off x="3928824" y="5655018"/>
            <a:ext cx="48219" cy="48219"/>
          </a:xfrm>
          <a:prstGeom prst="ellipse">
            <a:avLst/>
          </a:prstGeom>
          <a:solidFill>
            <a:srgbClr val="2E9E4F"/>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ASSESSMENT · E</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The agentic AI ecosystem at Ball</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548640" y="1481328"/>
            <a:ext cx="3503066" cy="2066544"/>
          </a:xfrm>
          <a:prstGeom prst="roundRect">
            <a:avLst>
              <a:gd name="adj" fmla="val 354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7" name="Shape 5"/>
          <p:cNvSpPr/>
          <p:nvPr/>
        </p:nvSpPr>
        <p:spPr>
          <a:xfrm>
            <a:off x="548640" y="1481328"/>
            <a:ext cx="3503066" cy="457200"/>
          </a:xfrm>
          <a:prstGeom prst="roundRect">
            <a:avLst>
              <a:gd name="adj" fmla="val 16000"/>
            </a:avLst>
          </a:prstGeom>
          <a:solidFill>
            <a:srgbClr val="00A9E0"/>
          </a:solidFill>
          <a:ln w="12700">
            <a:solidFill>
              <a:srgbClr val="333333"/>
            </a:solidFill>
            <a:prstDash val="solid"/>
          </a:ln>
        </p:spPr>
      </p:sp>
      <p:sp>
        <p:nvSpPr>
          <p:cNvPr id="8" name="Text 6"/>
          <p:cNvSpPr/>
          <p:nvPr/>
        </p:nvSpPr>
        <p:spPr>
          <a:xfrm>
            <a:off x="804672" y="1481328"/>
            <a:ext cx="2991002" cy="457200"/>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Intelligence</a:t>
            </a:r>
            <a:endParaRPr lang="en-US" sz="1400" dirty="0"/>
          </a:p>
        </p:txBody>
      </p:sp>
      <p:sp>
        <p:nvSpPr>
          <p:cNvPr id="9" name="Text 7"/>
          <p:cNvSpPr/>
          <p:nvPr/>
        </p:nvSpPr>
        <p:spPr>
          <a:xfrm>
            <a:off x="804672" y="2066544"/>
            <a:ext cx="2991002" cy="137160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Frontier and open-weight models via the gateway</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Task-based routing and fallback</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Fine-tuned and distilled models for narrow, high-volume tasks</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Embedding and reranking models</a:t>
            </a:r>
            <a:endParaRPr lang="en-US" sz="1080" dirty="0"/>
          </a:p>
        </p:txBody>
      </p:sp>
      <p:sp>
        <p:nvSpPr>
          <p:cNvPr id="10" name="Shape 8"/>
          <p:cNvSpPr/>
          <p:nvPr/>
        </p:nvSpPr>
        <p:spPr>
          <a:xfrm>
            <a:off x="4344314" y="1481328"/>
            <a:ext cx="3503066" cy="2066544"/>
          </a:xfrm>
          <a:prstGeom prst="roundRect">
            <a:avLst>
              <a:gd name="adj" fmla="val 354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1" name="Shape 9"/>
          <p:cNvSpPr/>
          <p:nvPr/>
        </p:nvSpPr>
        <p:spPr>
          <a:xfrm>
            <a:off x="4344314" y="1481328"/>
            <a:ext cx="3503066" cy="457200"/>
          </a:xfrm>
          <a:prstGeom prst="roundRect">
            <a:avLst>
              <a:gd name="adj" fmla="val 16000"/>
            </a:avLst>
          </a:prstGeom>
          <a:solidFill>
            <a:srgbClr val="1B6CA8"/>
          </a:solidFill>
          <a:ln w="12700">
            <a:solidFill>
              <a:srgbClr val="333333"/>
            </a:solidFill>
            <a:prstDash val="solid"/>
          </a:ln>
        </p:spPr>
      </p:sp>
      <p:sp>
        <p:nvSpPr>
          <p:cNvPr id="12" name="Text 10"/>
          <p:cNvSpPr/>
          <p:nvPr/>
        </p:nvSpPr>
        <p:spPr>
          <a:xfrm>
            <a:off x="4600346" y="1481328"/>
            <a:ext cx="2991002"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Capability</a:t>
            </a:r>
            <a:endParaRPr lang="en-US" sz="1400" dirty="0"/>
          </a:p>
        </p:txBody>
      </p:sp>
      <p:sp>
        <p:nvSpPr>
          <p:cNvPr id="13" name="Text 11"/>
          <p:cNvSpPr/>
          <p:nvPr/>
        </p:nvSpPr>
        <p:spPr>
          <a:xfrm>
            <a:off x="4600346" y="2066544"/>
            <a:ext cx="2991002" cy="137160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MCP tool servers over every system of record</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Skills: reusable, versioned units of know-how</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Retrieval, search and semantic services</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Deterministic orchestrations as callable tools</a:t>
            </a:r>
            <a:endParaRPr lang="en-US" sz="1080" dirty="0"/>
          </a:p>
        </p:txBody>
      </p:sp>
      <p:sp>
        <p:nvSpPr>
          <p:cNvPr id="14" name="Shape 12"/>
          <p:cNvSpPr/>
          <p:nvPr/>
        </p:nvSpPr>
        <p:spPr>
          <a:xfrm>
            <a:off x="8139989" y="1481328"/>
            <a:ext cx="3503066" cy="2066544"/>
          </a:xfrm>
          <a:prstGeom prst="roundRect">
            <a:avLst>
              <a:gd name="adj" fmla="val 354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5" name="Shape 13"/>
          <p:cNvSpPr/>
          <p:nvPr/>
        </p:nvSpPr>
        <p:spPr>
          <a:xfrm>
            <a:off x="8139989" y="1481328"/>
            <a:ext cx="3503066" cy="457200"/>
          </a:xfrm>
          <a:prstGeom prst="roundRect">
            <a:avLst>
              <a:gd name="adj" fmla="val 16000"/>
            </a:avLst>
          </a:prstGeom>
          <a:solidFill>
            <a:srgbClr val="13355F"/>
          </a:solidFill>
          <a:ln w="12700">
            <a:solidFill>
              <a:srgbClr val="333333"/>
            </a:solidFill>
            <a:prstDash val="solid"/>
          </a:ln>
        </p:spPr>
      </p:sp>
      <p:sp>
        <p:nvSpPr>
          <p:cNvPr id="16" name="Text 14"/>
          <p:cNvSpPr/>
          <p:nvPr/>
        </p:nvSpPr>
        <p:spPr>
          <a:xfrm>
            <a:off x="8396021" y="1481328"/>
            <a:ext cx="2991002"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Memory</a:t>
            </a:r>
            <a:endParaRPr lang="en-US" sz="1400" dirty="0"/>
          </a:p>
        </p:txBody>
      </p:sp>
      <p:sp>
        <p:nvSpPr>
          <p:cNvPr id="17" name="Text 15"/>
          <p:cNvSpPr/>
          <p:nvPr/>
        </p:nvSpPr>
        <p:spPr>
          <a:xfrm>
            <a:off x="8396021" y="2066544"/>
            <a:ext cx="2991002" cy="137160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Short-term working context per task</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Long-term entity memory: plants, SKUs, customers, suppliers</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Institutional memory: decisions, precedents, resolutions</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Evaluation memory: what has failed before</a:t>
            </a:r>
            <a:endParaRPr lang="en-US" sz="1080" dirty="0"/>
          </a:p>
        </p:txBody>
      </p:sp>
      <p:sp>
        <p:nvSpPr>
          <p:cNvPr id="18" name="Shape 16"/>
          <p:cNvSpPr/>
          <p:nvPr/>
        </p:nvSpPr>
        <p:spPr>
          <a:xfrm>
            <a:off x="548640" y="3767328"/>
            <a:ext cx="3503066" cy="2066544"/>
          </a:xfrm>
          <a:prstGeom prst="roundRect">
            <a:avLst>
              <a:gd name="adj" fmla="val 354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9" name="Shape 17"/>
          <p:cNvSpPr/>
          <p:nvPr/>
        </p:nvSpPr>
        <p:spPr>
          <a:xfrm>
            <a:off x="548640" y="3767328"/>
            <a:ext cx="3503066" cy="457200"/>
          </a:xfrm>
          <a:prstGeom prst="roundRect">
            <a:avLst>
              <a:gd name="adj" fmla="val 16000"/>
            </a:avLst>
          </a:prstGeom>
          <a:solidFill>
            <a:srgbClr val="0A2240"/>
          </a:solidFill>
          <a:ln w="12700">
            <a:solidFill>
              <a:srgbClr val="333333"/>
            </a:solidFill>
            <a:prstDash val="solid"/>
          </a:ln>
        </p:spPr>
      </p:sp>
      <p:sp>
        <p:nvSpPr>
          <p:cNvPr id="20" name="Text 18"/>
          <p:cNvSpPr/>
          <p:nvPr/>
        </p:nvSpPr>
        <p:spPr>
          <a:xfrm>
            <a:off x="804672" y="3767328"/>
            <a:ext cx="2991002"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Control</a:t>
            </a:r>
            <a:endParaRPr lang="en-US" sz="1400" dirty="0"/>
          </a:p>
        </p:txBody>
      </p:sp>
      <p:sp>
        <p:nvSpPr>
          <p:cNvPr id="21" name="Text 19"/>
          <p:cNvSpPr/>
          <p:nvPr/>
        </p:nvSpPr>
        <p:spPr>
          <a:xfrm>
            <a:off x="804672" y="4352544"/>
            <a:ext cx="2991002" cy="137160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Unity Catalog registry for data, models, agents, tools and skills</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Gateway policy: spend, residency, PII, injection defence</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Human-in-the-loop checkpoints and approval routing</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Immutable audit trail per agent action</a:t>
            </a:r>
            <a:endParaRPr lang="en-US" sz="1080" dirty="0"/>
          </a:p>
        </p:txBody>
      </p:sp>
      <p:sp>
        <p:nvSpPr>
          <p:cNvPr id="22" name="Shape 20"/>
          <p:cNvSpPr/>
          <p:nvPr/>
        </p:nvSpPr>
        <p:spPr>
          <a:xfrm>
            <a:off x="4344314" y="3767328"/>
            <a:ext cx="3503066" cy="2066544"/>
          </a:xfrm>
          <a:prstGeom prst="roundRect">
            <a:avLst>
              <a:gd name="adj" fmla="val 354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3" name="Shape 21"/>
          <p:cNvSpPr/>
          <p:nvPr/>
        </p:nvSpPr>
        <p:spPr>
          <a:xfrm>
            <a:off x="4344314" y="3767328"/>
            <a:ext cx="3503066" cy="457200"/>
          </a:xfrm>
          <a:prstGeom prst="roundRect">
            <a:avLst>
              <a:gd name="adj" fmla="val 16000"/>
            </a:avLst>
          </a:prstGeom>
          <a:solidFill>
            <a:srgbClr val="1B6CA8"/>
          </a:solidFill>
          <a:ln w="12700">
            <a:solidFill>
              <a:srgbClr val="333333"/>
            </a:solidFill>
            <a:prstDash val="solid"/>
          </a:ln>
        </p:spPr>
      </p:sp>
      <p:sp>
        <p:nvSpPr>
          <p:cNvPr id="24" name="Text 22"/>
          <p:cNvSpPr/>
          <p:nvPr/>
        </p:nvSpPr>
        <p:spPr>
          <a:xfrm>
            <a:off x="4600346" y="3767328"/>
            <a:ext cx="2991002"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Experience</a:t>
            </a:r>
            <a:endParaRPr lang="en-US" sz="1400" dirty="0"/>
          </a:p>
        </p:txBody>
      </p:sp>
      <p:sp>
        <p:nvSpPr>
          <p:cNvPr id="25" name="Text 23"/>
          <p:cNvSpPr/>
          <p:nvPr/>
        </p:nvSpPr>
        <p:spPr>
          <a:xfrm>
            <a:off x="4600346" y="4352544"/>
            <a:ext cx="2991002" cy="137160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Conversational surfaces in Teams and the browser</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Agents embedded in JDE, SAP and QA tooling</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IDE agents for engineering</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Scheduled and event-triggered agents</a:t>
            </a:r>
            <a:endParaRPr lang="en-US" sz="1080" dirty="0"/>
          </a:p>
        </p:txBody>
      </p:sp>
      <p:sp>
        <p:nvSpPr>
          <p:cNvPr id="26" name="Shape 24"/>
          <p:cNvSpPr/>
          <p:nvPr/>
        </p:nvSpPr>
        <p:spPr>
          <a:xfrm>
            <a:off x="8139989" y="3767328"/>
            <a:ext cx="3503066" cy="2066544"/>
          </a:xfrm>
          <a:prstGeom prst="roundRect">
            <a:avLst>
              <a:gd name="adj" fmla="val 354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7" name="Shape 25"/>
          <p:cNvSpPr/>
          <p:nvPr/>
        </p:nvSpPr>
        <p:spPr>
          <a:xfrm>
            <a:off x="8139989" y="3767328"/>
            <a:ext cx="3503066" cy="457200"/>
          </a:xfrm>
          <a:prstGeom prst="roundRect">
            <a:avLst>
              <a:gd name="adj" fmla="val 16000"/>
            </a:avLst>
          </a:prstGeom>
          <a:solidFill>
            <a:srgbClr val="E8A33D"/>
          </a:solidFill>
          <a:ln w="12700">
            <a:solidFill>
              <a:srgbClr val="333333"/>
            </a:solidFill>
            <a:prstDash val="solid"/>
          </a:ln>
        </p:spPr>
      </p:sp>
      <p:sp>
        <p:nvSpPr>
          <p:cNvPr id="28" name="Text 26"/>
          <p:cNvSpPr/>
          <p:nvPr/>
        </p:nvSpPr>
        <p:spPr>
          <a:xfrm>
            <a:off x="8396021" y="3767328"/>
            <a:ext cx="2991002" cy="457200"/>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Assurance</a:t>
            </a:r>
            <a:endParaRPr lang="en-US" sz="1400" dirty="0"/>
          </a:p>
        </p:txBody>
      </p:sp>
      <p:sp>
        <p:nvSpPr>
          <p:cNvPr id="29" name="Text 27"/>
          <p:cNvSpPr/>
          <p:nvPr/>
        </p:nvSpPr>
        <p:spPr>
          <a:xfrm>
            <a:off x="8396021" y="4352544"/>
            <a:ext cx="2991002" cy="1371600"/>
          </a:xfrm>
          <a:prstGeom prst="rect">
            <a:avLst/>
          </a:prstGeom>
          <a:noFill/>
          <a:ln/>
        </p:spPr>
        <p:txBody>
          <a:bodyPr wrap="square" lIns="0" tIns="0" rIns="0" bIns="0" rtlCol="0" anchor="t"/>
          <a:lstStyle/>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Continuous evaluation against gold sets</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Drift and regression detection</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Incident response for agent failures</a:t>
            </a:r>
            <a:endParaRPr lang="en-US" sz="1080" dirty="0"/>
          </a:p>
          <a:p>
            <a:pPr marL="342900" indent="-342900">
              <a:lnSpc>
                <a:spcPts val="1400"/>
              </a:lnSpc>
              <a:spcAft>
                <a:spcPts val="500"/>
              </a:spcAft>
              <a:buSzPct val="100000"/>
              <a:buChar char="•"/>
            </a:pPr>
            <a:r>
              <a:rPr lang="en-US" sz="1080" dirty="0">
                <a:solidFill>
                  <a:srgbClr val="16222E"/>
                </a:solidFill>
                <a:latin typeface="Calibri" pitchFamily="34" charset="0"/>
                <a:ea typeface="Calibri" pitchFamily="34" charset="-122"/>
                <a:cs typeface="Calibri" pitchFamily="34" charset="-120"/>
              </a:rPr>
              <a:t>Model and third-party agent risk review</a:t>
            </a:r>
            <a:endParaRPr lang="en-US" sz="10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ASSESSMENT · F</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AI agentic action flow — one request, end to end</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548640" y="1481328"/>
            <a:ext cx="2581580" cy="1938528"/>
          </a:xfrm>
          <a:prstGeom prst="roundRect">
            <a:avLst>
              <a:gd name="adj" fmla="val 3774"/>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7" name="Shape 5"/>
          <p:cNvSpPr/>
          <p:nvPr/>
        </p:nvSpPr>
        <p:spPr>
          <a:xfrm>
            <a:off x="786384" y="1682496"/>
            <a:ext cx="420624" cy="420624"/>
          </a:xfrm>
          <a:prstGeom prst="ellipse">
            <a:avLst/>
          </a:prstGeom>
          <a:solidFill>
            <a:srgbClr val="1B6CA8"/>
          </a:solidFill>
          <a:ln w="12700">
            <a:solidFill>
              <a:srgbClr val="1B6CA8"/>
            </a:solidFill>
            <a:prstDash val="solid"/>
          </a:ln>
        </p:spPr>
      </p:sp>
      <p:sp>
        <p:nvSpPr>
          <p:cNvPr id="8" name="Text 6"/>
          <p:cNvSpPr/>
          <p:nvPr/>
        </p:nvSpPr>
        <p:spPr>
          <a:xfrm>
            <a:off x="786384" y="168249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316736" y="1682496"/>
            <a:ext cx="1612316" cy="420624"/>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Intent</a:t>
            </a:r>
            <a:endParaRPr lang="en-US" sz="1400" dirty="0"/>
          </a:p>
        </p:txBody>
      </p:sp>
      <p:sp>
        <p:nvSpPr>
          <p:cNvPr id="10" name="Text 8"/>
          <p:cNvSpPr/>
          <p:nvPr/>
        </p:nvSpPr>
        <p:spPr>
          <a:xfrm>
            <a:off x="786384" y="2212848"/>
            <a:ext cx="2106092" cy="1060704"/>
          </a:xfrm>
          <a:prstGeom prst="rect">
            <a:avLst/>
          </a:prstGeom>
          <a:noFill/>
          <a:ln/>
        </p:spPr>
        <p:txBody>
          <a:bodyPr wrap="square" lIns="0" tIns="0" rIns="0" bIns="0" rtlCol="0" anchor="t"/>
          <a:lstStyle/>
          <a:p>
            <a:pPr marL="0" indent="0">
              <a:lnSpc>
                <a:spcPts val="1400"/>
              </a:lnSpc>
              <a:buNone/>
            </a:pPr>
            <a:r>
              <a:rPr lang="en-US" sz="1080" dirty="0">
                <a:solidFill>
                  <a:srgbClr val="5A6B7B"/>
                </a:solidFill>
                <a:latin typeface="Calibri" pitchFamily="34" charset="0"/>
                <a:ea typeface="Calibri" pitchFamily="34" charset="-122"/>
                <a:cs typeface="Calibri" pitchFamily="34" charset="-120"/>
              </a:rPr>
              <a:t>A planner in QA asks: 'which open defects block the release of line 4's new lid spec?'</a:t>
            </a:r>
            <a:endParaRPr lang="en-US" sz="1080" dirty="0"/>
          </a:p>
        </p:txBody>
      </p:sp>
      <p:sp>
        <p:nvSpPr>
          <p:cNvPr id="11" name="Shape 9"/>
          <p:cNvSpPr/>
          <p:nvPr/>
        </p:nvSpPr>
        <p:spPr>
          <a:xfrm>
            <a:off x="3386252" y="1481328"/>
            <a:ext cx="2581580" cy="1938528"/>
          </a:xfrm>
          <a:prstGeom prst="roundRect">
            <a:avLst>
              <a:gd name="adj" fmla="val 3774"/>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12" name="Shape 10"/>
          <p:cNvSpPr/>
          <p:nvPr/>
        </p:nvSpPr>
        <p:spPr>
          <a:xfrm>
            <a:off x="3623996" y="1682496"/>
            <a:ext cx="420624" cy="420624"/>
          </a:xfrm>
          <a:prstGeom prst="ellipse">
            <a:avLst/>
          </a:prstGeom>
          <a:solidFill>
            <a:srgbClr val="1B6CA8"/>
          </a:solidFill>
          <a:ln w="12700">
            <a:solidFill>
              <a:srgbClr val="1B6CA8"/>
            </a:solidFill>
            <a:prstDash val="solid"/>
          </a:ln>
        </p:spPr>
      </p:sp>
      <p:sp>
        <p:nvSpPr>
          <p:cNvPr id="13" name="Text 11"/>
          <p:cNvSpPr/>
          <p:nvPr/>
        </p:nvSpPr>
        <p:spPr>
          <a:xfrm>
            <a:off x="3623996" y="168249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4154348" y="1682496"/>
            <a:ext cx="1612316" cy="420624"/>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Identity &amp; policy</a:t>
            </a:r>
            <a:endParaRPr lang="en-US" sz="1400" dirty="0"/>
          </a:p>
        </p:txBody>
      </p:sp>
      <p:sp>
        <p:nvSpPr>
          <p:cNvPr id="15" name="Text 13"/>
          <p:cNvSpPr/>
          <p:nvPr/>
        </p:nvSpPr>
        <p:spPr>
          <a:xfrm>
            <a:off x="3623996" y="2212848"/>
            <a:ext cx="2106092" cy="1060704"/>
          </a:xfrm>
          <a:prstGeom prst="rect">
            <a:avLst/>
          </a:prstGeom>
          <a:noFill/>
          <a:ln/>
        </p:spPr>
        <p:txBody>
          <a:bodyPr wrap="square" lIns="0" tIns="0" rIns="0" bIns="0" rtlCol="0" anchor="t"/>
          <a:lstStyle/>
          <a:p>
            <a:pPr marL="0" indent="0">
              <a:lnSpc>
                <a:spcPts val="1400"/>
              </a:lnSpc>
              <a:buNone/>
            </a:pPr>
            <a:r>
              <a:rPr lang="en-US" sz="1080" dirty="0">
                <a:solidFill>
                  <a:srgbClr val="5A6B7B"/>
                </a:solidFill>
                <a:latin typeface="Calibri" pitchFamily="34" charset="0"/>
                <a:ea typeface="Calibri" pitchFamily="34" charset="-122"/>
                <a:cs typeface="Calibri" pitchFamily="34" charset="-120"/>
              </a:rPr>
              <a:t>Gateway resolves the user, their entitlements, the data classification in scope and the applicable policy.</a:t>
            </a:r>
            <a:endParaRPr lang="en-US" sz="1080" dirty="0"/>
          </a:p>
        </p:txBody>
      </p:sp>
      <p:sp>
        <p:nvSpPr>
          <p:cNvPr id="16" name="Shape 14"/>
          <p:cNvSpPr/>
          <p:nvPr/>
        </p:nvSpPr>
        <p:spPr>
          <a:xfrm>
            <a:off x="6223864" y="1481328"/>
            <a:ext cx="2581580" cy="1938528"/>
          </a:xfrm>
          <a:prstGeom prst="roundRect">
            <a:avLst>
              <a:gd name="adj" fmla="val 3774"/>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17" name="Shape 15"/>
          <p:cNvSpPr/>
          <p:nvPr/>
        </p:nvSpPr>
        <p:spPr>
          <a:xfrm>
            <a:off x="6461608" y="1682496"/>
            <a:ext cx="420624" cy="420624"/>
          </a:xfrm>
          <a:prstGeom prst="ellipse">
            <a:avLst/>
          </a:prstGeom>
          <a:solidFill>
            <a:srgbClr val="1B6CA8"/>
          </a:solidFill>
          <a:ln w="12700">
            <a:solidFill>
              <a:srgbClr val="1B6CA8"/>
            </a:solidFill>
            <a:prstDash val="solid"/>
          </a:ln>
        </p:spPr>
      </p:sp>
      <p:sp>
        <p:nvSpPr>
          <p:cNvPr id="18" name="Text 16"/>
          <p:cNvSpPr/>
          <p:nvPr/>
        </p:nvSpPr>
        <p:spPr>
          <a:xfrm>
            <a:off x="6461608" y="168249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6991960" y="1682496"/>
            <a:ext cx="1612316" cy="420624"/>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Context assembly</a:t>
            </a:r>
            <a:endParaRPr lang="en-US" sz="1400" dirty="0"/>
          </a:p>
        </p:txBody>
      </p:sp>
      <p:sp>
        <p:nvSpPr>
          <p:cNvPr id="20" name="Text 18"/>
          <p:cNvSpPr/>
          <p:nvPr/>
        </p:nvSpPr>
        <p:spPr>
          <a:xfrm>
            <a:off x="6461608" y="2212848"/>
            <a:ext cx="2106092" cy="1060704"/>
          </a:xfrm>
          <a:prstGeom prst="rect">
            <a:avLst/>
          </a:prstGeom>
          <a:noFill/>
          <a:ln/>
        </p:spPr>
        <p:txBody>
          <a:bodyPr wrap="square" lIns="0" tIns="0" rIns="0" bIns="0" rtlCol="0" anchor="t"/>
          <a:lstStyle/>
          <a:p>
            <a:pPr marL="0" indent="0">
              <a:lnSpc>
                <a:spcPts val="1400"/>
              </a:lnSpc>
              <a:buNone/>
            </a:pPr>
            <a:r>
              <a:rPr lang="en-US" sz="1080" dirty="0">
                <a:solidFill>
                  <a:srgbClr val="5A6B7B"/>
                </a:solidFill>
                <a:latin typeface="Calibri" pitchFamily="34" charset="0"/>
                <a:ea typeface="Calibri" pitchFamily="34" charset="-122"/>
                <a:cs typeface="Calibri" pitchFamily="34" charset="-120"/>
              </a:rPr>
              <a:t>Context service retrieves the spec, linked defects, prior change records and the canonical definition of 'blocking'.</a:t>
            </a:r>
            <a:endParaRPr lang="en-US" sz="1080" dirty="0"/>
          </a:p>
        </p:txBody>
      </p:sp>
      <p:sp>
        <p:nvSpPr>
          <p:cNvPr id="21" name="Shape 19"/>
          <p:cNvSpPr/>
          <p:nvPr/>
        </p:nvSpPr>
        <p:spPr>
          <a:xfrm>
            <a:off x="9061475" y="1481328"/>
            <a:ext cx="2581580" cy="1938528"/>
          </a:xfrm>
          <a:prstGeom prst="roundRect">
            <a:avLst>
              <a:gd name="adj" fmla="val 3774"/>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22" name="Shape 20"/>
          <p:cNvSpPr/>
          <p:nvPr/>
        </p:nvSpPr>
        <p:spPr>
          <a:xfrm>
            <a:off x="9299219" y="1682496"/>
            <a:ext cx="420624" cy="420624"/>
          </a:xfrm>
          <a:prstGeom prst="ellipse">
            <a:avLst/>
          </a:prstGeom>
          <a:solidFill>
            <a:srgbClr val="1B6CA8"/>
          </a:solidFill>
          <a:ln w="12700">
            <a:solidFill>
              <a:srgbClr val="1B6CA8"/>
            </a:solidFill>
            <a:prstDash val="solid"/>
          </a:ln>
        </p:spPr>
      </p:sp>
      <p:sp>
        <p:nvSpPr>
          <p:cNvPr id="23" name="Text 21"/>
          <p:cNvSpPr/>
          <p:nvPr/>
        </p:nvSpPr>
        <p:spPr>
          <a:xfrm>
            <a:off x="9299219" y="168249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9829571" y="1682496"/>
            <a:ext cx="1612316" cy="420624"/>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Plan</a:t>
            </a:r>
            <a:endParaRPr lang="en-US" sz="1400" dirty="0"/>
          </a:p>
        </p:txBody>
      </p:sp>
      <p:sp>
        <p:nvSpPr>
          <p:cNvPr id="25" name="Text 23"/>
          <p:cNvSpPr/>
          <p:nvPr/>
        </p:nvSpPr>
        <p:spPr>
          <a:xfrm>
            <a:off x="9299219" y="2212848"/>
            <a:ext cx="2106092" cy="1060704"/>
          </a:xfrm>
          <a:prstGeom prst="rect">
            <a:avLst/>
          </a:prstGeom>
          <a:noFill/>
          <a:ln/>
        </p:spPr>
        <p:txBody>
          <a:bodyPr wrap="square" lIns="0" tIns="0" rIns="0" bIns="0" rtlCol="0" anchor="t"/>
          <a:lstStyle/>
          <a:p>
            <a:pPr marL="0" indent="0">
              <a:lnSpc>
                <a:spcPts val="1400"/>
              </a:lnSpc>
              <a:buNone/>
            </a:pPr>
            <a:r>
              <a:rPr lang="en-US" sz="1080" dirty="0">
                <a:solidFill>
                  <a:srgbClr val="5A6B7B"/>
                </a:solidFill>
                <a:latin typeface="Calibri" pitchFamily="34" charset="0"/>
                <a:ea typeface="Calibri" pitchFamily="34" charset="-122"/>
                <a:cs typeface="Calibri" pitchFamily="34" charset="-120"/>
              </a:rPr>
              <a:t>Agent decomposes the request into tool calls and declares which are read-only and which would write.</a:t>
            </a:r>
            <a:endParaRPr lang="en-US" sz="1080" dirty="0"/>
          </a:p>
        </p:txBody>
      </p:sp>
      <p:sp>
        <p:nvSpPr>
          <p:cNvPr id="26" name="Shape 24"/>
          <p:cNvSpPr/>
          <p:nvPr/>
        </p:nvSpPr>
        <p:spPr>
          <a:xfrm>
            <a:off x="548640" y="3639312"/>
            <a:ext cx="2581580" cy="1938528"/>
          </a:xfrm>
          <a:prstGeom prst="roundRect">
            <a:avLst>
              <a:gd name="adj" fmla="val 3774"/>
            </a:avLst>
          </a:prstGeom>
          <a:solidFill>
            <a:srgbClr val="FFFFFF"/>
          </a:solidFill>
          <a:ln w="12700">
            <a:solidFill>
              <a:srgbClr val="E4EBF2"/>
            </a:solidFill>
            <a:prstDash val="solid"/>
          </a:ln>
          <a:effectLst>
            <a:outerShdw blurRad="101600" dist="25400" dir="5400000" algn="bl" rotWithShape="0">
              <a:srgbClr val="0A2240">
                <a:alpha val="12000"/>
              </a:srgbClr>
            </a:outerShdw>
          </a:effectLst>
        </p:spPr>
      </p:sp>
      <p:sp>
        <p:nvSpPr>
          <p:cNvPr id="27" name="Shape 25"/>
          <p:cNvSpPr/>
          <p:nvPr/>
        </p:nvSpPr>
        <p:spPr>
          <a:xfrm>
            <a:off x="786384" y="3840480"/>
            <a:ext cx="420624" cy="420624"/>
          </a:xfrm>
          <a:prstGeom prst="ellipse">
            <a:avLst/>
          </a:prstGeom>
          <a:solidFill>
            <a:srgbClr val="0A2240"/>
          </a:solidFill>
          <a:ln w="12700">
            <a:solidFill>
              <a:srgbClr val="0A2240"/>
            </a:solidFill>
            <a:prstDash val="solid"/>
          </a:ln>
        </p:spPr>
      </p:sp>
      <p:sp>
        <p:nvSpPr>
          <p:cNvPr id="28" name="Text 26"/>
          <p:cNvSpPr/>
          <p:nvPr/>
        </p:nvSpPr>
        <p:spPr>
          <a:xfrm>
            <a:off x="786384" y="384048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1316736" y="3840480"/>
            <a:ext cx="1612316" cy="420624"/>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Tool execution</a:t>
            </a:r>
            <a:endParaRPr lang="en-US" sz="1400" dirty="0"/>
          </a:p>
        </p:txBody>
      </p:sp>
      <p:sp>
        <p:nvSpPr>
          <p:cNvPr id="30" name="Text 28"/>
          <p:cNvSpPr/>
          <p:nvPr/>
        </p:nvSpPr>
        <p:spPr>
          <a:xfrm>
            <a:off x="786384" y="4370832"/>
            <a:ext cx="2106092" cy="1060704"/>
          </a:xfrm>
          <a:prstGeom prst="rect">
            <a:avLst/>
          </a:prstGeom>
          <a:noFill/>
          <a:ln/>
        </p:spPr>
        <p:txBody>
          <a:bodyPr wrap="square" lIns="0" tIns="0" rIns="0" bIns="0" rtlCol="0" anchor="t"/>
          <a:lstStyle/>
          <a:p>
            <a:pPr marL="0" indent="0">
              <a:lnSpc>
                <a:spcPts val="1400"/>
              </a:lnSpc>
              <a:buNone/>
            </a:pPr>
            <a:r>
              <a:rPr lang="en-US" sz="1080" dirty="0">
                <a:solidFill>
                  <a:srgbClr val="5A6B7B"/>
                </a:solidFill>
                <a:latin typeface="Calibri" pitchFamily="34" charset="0"/>
                <a:ea typeface="Calibri" pitchFamily="34" charset="-122"/>
                <a:cs typeface="Calibri" pitchFamily="34" charset="-120"/>
              </a:rPr>
              <a:t>MCP servers query JDE, the lakehouse and the document estate — each call permission-filtered and logged.</a:t>
            </a:r>
            <a:endParaRPr lang="en-US" sz="1080" dirty="0"/>
          </a:p>
        </p:txBody>
      </p:sp>
      <p:sp>
        <p:nvSpPr>
          <p:cNvPr id="31" name="Shape 29"/>
          <p:cNvSpPr/>
          <p:nvPr/>
        </p:nvSpPr>
        <p:spPr>
          <a:xfrm>
            <a:off x="3386252" y="3639312"/>
            <a:ext cx="2581580" cy="1938528"/>
          </a:xfrm>
          <a:prstGeom prst="roundRect">
            <a:avLst>
              <a:gd name="adj" fmla="val 3774"/>
            </a:avLst>
          </a:prstGeom>
          <a:solidFill>
            <a:srgbClr val="FFFFFF"/>
          </a:solidFill>
          <a:ln w="12700">
            <a:solidFill>
              <a:srgbClr val="E4EBF2"/>
            </a:solidFill>
            <a:prstDash val="solid"/>
          </a:ln>
          <a:effectLst>
            <a:outerShdw blurRad="101600" dist="25400" dir="5400000" algn="bl" rotWithShape="0">
              <a:srgbClr val="0A2240">
                <a:alpha val="12000"/>
              </a:srgbClr>
            </a:outerShdw>
          </a:effectLst>
        </p:spPr>
      </p:sp>
      <p:sp>
        <p:nvSpPr>
          <p:cNvPr id="32" name="Shape 30"/>
          <p:cNvSpPr/>
          <p:nvPr/>
        </p:nvSpPr>
        <p:spPr>
          <a:xfrm>
            <a:off x="3623996" y="3840480"/>
            <a:ext cx="420624" cy="420624"/>
          </a:xfrm>
          <a:prstGeom prst="ellipse">
            <a:avLst/>
          </a:prstGeom>
          <a:solidFill>
            <a:srgbClr val="0A2240"/>
          </a:solidFill>
          <a:ln w="12700">
            <a:solidFill>
              <a:srgbClr val="0A2240"/>
            </a:solidFill>
            <a:prstDash val="solid"/>
          </a:ln>
        </p:spPr>
      </p:sp>
      <p:sp>
        <p:nvSpPr>
          <p:cNvPr id="33" name="Text 31"/>
          <p:cNvSpPr/>
          <p:nvPr/>
        </p:nvSpPr>
        <p:spPr>
          <a:xfrm>
            <a:off x="3623996" y="384048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p:nvPr/>
        </p:nvSpPr>
        <p:spPr>
          <a:xfrm>
            <a:off x="4154348" y="3840480"/>
            <a:ext cx="1612316" cy="420624"/>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Synthesis &amp; check</a:t>
            </a:r>
            <a:endParaRPr lang="en-US" sz="1400" dirty="0"/>
          </a:p>
        </p:txBody>
      </p:sp>
      <p:sp>
        <p:nvSpPr>
          <p:cNvPr id="35" name="Text 33"/>
          <p:cNvSpPr/>
          <p:nvPr/>
        </p:nvSpPr>
        <p:spPr>
          <a:xfrm>
            <a:off x="3623996" y="4370832"/>
            <a:ext cx="2106092" cy="1060704"/>
          </a:xfrm>
          <a:prstGeom prst="rect">
            <a:avLst/>
          </a:prstGeom>
          <a:noFill/>
          <a:ln/>
        </p:spPr>
        <p:txBody>
          <a:bodyPr wrap="square" lIns="0" tIns="0" rIns="0" bIns="0" rtlCol="0" anchor="t"/>
          <a:lstStyle/>
          <a:p>
            <a:pPr marL="0" indent="0">
              <a:lnSpc>
                <a:spcPts val="1400"/>
              </a:lnSpc>
              <a:buNone/>
            </a:pPr>
            <a:r>
              <a:rPr lang="en-US" sz="1080" dirty="0">
                <a:solidFill>
                  <a:srgbClr val="5A6B7B"/>
                </a:solidFill>
                <a:latin typeface="Calibri" pitchFamily="34" charset="0"/>
                <a:ea typeface="Calibri" pitchFamily="34" charset="-122"/>
                <a:cs typeface="Calibri" pitchFamily="34" charset="-120"/>
              </a:rPr>
              <a:t>Answer assembled with citations; confidence scored; low-confidence output routed to human review.</a:t>
            </a:r>
            <a:endParaRPr lang="en-US" sz="1080" dirty="0"/>
          </a:p>
        </p:txBody>
      </p:sp>
      <p:sp>
        <p:nvSpPr>
          <p:cNvPr id="36" name="Shape 34"/>
          <p:cNvSpPr/>
          <p:nvPr/>
        </p:nvSpPr>
        <p:spPr>
          <a:xfrm>
            <a:off x="6223864" y="3639312"/>
            <a:ext cx="2581580" cy="1938528"/>
          </a:xfrm>
          <a:prstGeom prst="roundRect">
            <a:avLst>
              <a:gd name="adj" fmla="val 3774"/>
            </a:avLst>
          </a:prstGeom>
          <a:solidFill>
            <a:srgbClr val="FFFFFF"/>
          </a:solidFill>
          <a:ln w="12700">
            <a:solidFill>
              <a:srgbClr val="E4EBF2"/>
            </a:solidFill>
            <a:prstDash val="solid"/>
          </a:ln>
          <a:effectLst>
            <a:outerShdw blurRad="101600" dist="25400" dir="5400000" algn="bl" rotWithShape="0">
              <a:srgbClr val="0A2240">
                <a:alpha val="12000"/>
              </a:srgbClr>
            </a:outerShdw>
          </a:effectLst>
        </p:spPr>
      </p:sp>
      <p:sp>
        <p:nvSpPr>
          <p:cNvPr id="37" name="Shape 35"/>
          <p:cNvSpPr/>
          <p:nvPr/>
        </p:nvSpPr>
        <p:spPr>
          <a:xfrm>
            <a:off x="6461608" y="3840480"/>
            <a:ext cx="420624" cy="420624"/>
          </a:xfrm>
          <a:prstGeom prst="ellipse">
            <a:avLst/>
          </a:prstGeom>
          <a:solidFill>
            <a:srgbClr val="0A2240"/>
          </a:solidFill>
          <a:ln w="12700">
            <a:solidFill>
              <a:srgbClr val="0A2240"/>
            </a:solidFill>
            <a:prstDash val="solid"/>
          </a:ln>
        </p:spPr>
      </p:sp>
      <p:sp>
        <p:nvSpPr>
          <p:cNvPr id="38" name="Text 36"/>
          <p:cNvSpPr/>
          <p:nvPr/>
        </p:nvSpPr>
        <p:spPr>
          <a:xfrm>
            <a:off x="6461608" y="384048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9" name="Text 37"/>
          <p:cNvSpPr/>
          <p:nvPr/>
        </p:nvSpPr>
        <p:spPr>
          <a:xfrm>
            <a:off x="6991960" y="3840480"/>
            <a:ext cx="1612316" cy="420624"/>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Action</a:t>
            </a:r>
            <a:endParaRPr lang="en-US" sz="1400" dirty="0"/>
          </a:p>
        </p:txBody>
      </p:sp>
      <p:sp>
        <p:nvSpPr>
          <p:cNvPr id="40" name="Text 38"/>
          <p:cNvSpPr/>
          <p:nvPr/>
        </p:nvSpPr>
        <p:spPr>
          <a:xfrm>
            <a:off x="6461608" y="4370832"/>
            <a:ext cx="2106092" cy="1060704"/>
          </a:xfrm>
          <a:prstGeom prst="rect">
            <a:avLst/>
          </a:prstGeom>
          <a:noFill/>
          <a:ln/>
        </p:spPr>
        <p:txBody>
          <a:bodyPr wrap="square" lIns="0" tIns="0" rIns="0" bIns="0" rtlCol="0" anchor="t"/>
          <a:lstStyle/>
          <a:p>
            <a:pPr marL="0" indent="0">
              <a:lnSpc>
                <a:spcPts val="1400"/>
              </a:lnSpc>
              <a:buNone/>
            </a:pPr>
            <a:r>
              <a:rPr lang="en-US" sz="1080" dirty="0">
                <a:solidFill>
                  <a:srgbClr val="5A6B7B"/>
                </a:solidFill>
                <a:latin typeface="Calibri" pitchFamily="34" charset="0"/>
                <a:ea typeface="Calibri" pitchFamily="34" charset="-122"/>
                <a:cs typeface="Calibri" pitchFamily="34" charset="-120"/>
              </a:rPr>
              <a:t>Any write executes through a deterministic orchestration with approval — never as a free-form agent call.</a:t>
            </a:r>
            <a:endParaRPr lang="en-US" sz="1080" dirty="0"/>
          </a:p>
        </p:txBody>
      </p:sp>
      <p:sp>
        <p:nvSpPr>
          <p:cNvPr id="41" name="Shape 39"/>
          <p:cNvSpPr/>
          <p:nvPr/>
        </p:nvSpPr>
        <p:spPr>
          <a:xfrm>
            <a:off x="9061475" y="3639312"/>
            <a:ext cx="2581580" cy="1938528"/>
          </a:xfrm>
          <a:prstGeom prst="roundRect">
            <a:avLst>
              <a:gd name="adj" fmla="val 3774"/>
            </a:avLst>
          </a:prstGeom>
          <a:solidFill>
            <a:srgbClr val="FFFFFF"/>
          </a:solidFill>
          <a:ln w="12700">
            <a:solidFill>
              <a:srgbClr val="E4EBF2"/>
            </a:solidFill>
            <a:prstDash val="solid"/>
          </a:ln>
          <a:effectLst>
            <a:outerShdw blurRad="101600" dist="25400" dir="5400000" algn="bl" rotWithShape="0">
              <a:srgbClr val="0A2240">
                <a:alpha val="12000"/>
              </a:srgbClr>
            </a:outerShdw>
          </a:effectLst>
        </p:spPr>
      </p:sp>
      <p:sp>
        <p:nvSpPr>
          <p:cNvPr id="42" name="Shape 40"/>
          <p:cNvSpPr/>
          <p:nvPr/>
        </p:nvSpPr>
        <p:spPr>
          <a:xfrm>
            <a:off x="9299219" y="3840480"/>
            <a:ext cx="420624" cy="420624"/>
          </a:xfrm>
          <a:prstGeom prst="ellipse">
            <a:avLst/>
          </a:prstGeom>
          <a:solidFill>
            <a:srgbClr val="0A2240"/>
          </a:solidFill>
          <a:ln w="12700">
            <a:solidFill>
              <a:srgbClr val="0A2240"/>
            </a:solidFill>
            <a:prstDash val="solid"/>
          </a:ln>
        </p:spPr>
      </p:sp>
      <p:sp>
        <p:nvSpPr>
          <p:cNvPr id="43" name="Text 41"/>
          <p:cNvSpPr/>
          <p:nvPr/>
        </p:nvSpPr>
        <p:spPr>
          <a:xfrm>
            <a:off x="9299219" y="384048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4" name="Text 42"/>
          <p:cNvSpPr/>
          <p:nvPr/>
        </p:nvSpPr>
        <p:spPr>
          <a:xfrm>
            <a:off x="9829571" y="3840480"/>
            <a:ext cx="1612316" cy="420624"/>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Trace &amp; learn</a:t>
            </a:r>
            <a:endParaRPr lang="en-US" sz="1400" dirty="0"/>
          </a:p>
        </p:txBody>
      </p:sp>
      <p:sp>
        <p:nvSpPr>
          <p:cNvPr id="45" name="Text 43"/>
          <p:cNvSpPr/>
          <p:nvPr/>
        </p:nvSpPr>
        <p:spPr>
          <a:xfrm>
            <a:off x="9299219" y="4370832"/>
            <a:ext cx="2106092" cy="1060704"/>
          </a:xfrm>
          <a:prstGeom prst="rect">
            <a:avLst/>
          </a:prstGeom>
          <a:noFill/>
          <a:ln/>
        </p:spPr>
        <p:txBody>
          <a:bodyPr wrap="square" lIns="0" tIns="0" rIns="0" bIns="0" rtlCol="0" anchor="t"/>
          <a:lstStyle/>
          <a:p>
            <a:pPr marL="0" indent="0">
              <a:lnSpc>
                <a:spcPts val="1400"/>
              </a:lnSpc>
              <a:buNone/>
            </a:pPr>
            <a:r>
              <a:rPr lang="en-US" sz="1080" dirty="0">
                <a:solidFill>
                  <a:srgbClr val="5A6B7B"/>
                </a:solidFill>
                <a:latin typeface="Calibri" pitchFamily="34" charset="0"/>
                <a:ea typeface="Calibri" pitchFamily="34" charset="-122"/>
                <a:cs typeface="Calibri" pitchFamily="34" charset="-120"/>
              </a:rPr>
              <a:t>Full trace persisted: context, tools, model version, cost, outcome. Feeds evaluation and memory.</a:t>
            </a:r>
            <a:endParaRPr lang="en-US" sz="1080" dirty="0"/>
          </a:p>
        </p:txBody>
      </p:sp>
      <p:sp>
        <p:nvSpPr>
          <p:cNvPr id="46" name="Text 44"/>
          <p:cNvSpPr/>
          <p:nvPr/>
        </p:nvSpPr>
        <p:spPr>
          <a:xfrm>
            <a:off x="548640" y="5943600"/>
            <a:ext cx="11094415" cy="365760"/>
          </a:xfrm>
          <a:prstGeom prst="rect">
            <a:avLst/>
          </a:prstGeom>
          <a:noFill/>
          <a:ln/>
        </p:spPr>
        <p:txBody>
          <a:bodyPr wrap="square" lIns="0" tIns="0" rIns="0" bIns="0" rtlCol="0" anchor="ctr"/>
          <a:lstStyle/>
          <a:p>
            <a:pPr marL="0" indent="0">
              <a:lnSpc>
                <a:spcPts val="1500"/>
              </a:lnSpc>
              <a:buNone/>
            </a:pPr>
            <a:r>
              <a:rPr lang="en-US" sz="1150" b="1" i="1" dirty="0">
                <a:solidFill>
                  <a:srgbClr val="1B6CA8"/>
                </a:solidFill>
                <a:latin typeface="Calibri" pitchFamily="34" charset="0"/>
                <a:ea typeface="Calibri" pitchFamily="34" charset="-122"/>
                <a:cs typeface="Calibri" pitchFamily="34" charset="-120"/>
              </a:rPr>
              <a:t>Steps 2, 5, 7 and 8 are where governance is enforced. They are infrastructure, not per-use-case work — which is precisely why they belong to a division rather than a project.</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03929" y="86403"/>
            <a:ext cx="5184142" cy="259207"/>
          </a:xfrm>
          <a:prstGeom prst="rect">
            <a:avLst/>
          </a:prstGeom>
          <a:noFill/>
          <a:ln/>
        </p:spPr>
        <p:txBody>
          <a:bodyPr wrap="square" lIns="0" tIns="0" rIns="0" bIns="0" rtlCol="0" anchor="ctr"/>
          <a:lstStyle/>
          <a:p>
            <a:pPr algn="ctr"/>
            <a:r>
              <a:rPr lang="en-US" sz="1536" b="1" dirty="0">
                <a:solidFill>
                  <a:srgbClr val="1A56DB"/>
                </a:solidFill>
                <a:latin typeface="Arial" pitchFamily="34" charset="0"/>
                <a:ea typeface="Arial" pitchFamily="34" charset="-122"/>
                <a:cs typeface="Arial" pitchFamily="34" charset="-120"/>
              </a:rPr>
              <a:t>Prompt</a:t>
            </a:r>
            <a:r>
              <a:rPr lang="en-US" sz="1536" b="1" dirty="0">
                <a:solidFill>
                  <a:srgbClr val="1F2937"/>
                </a:solidFill>
                <a:latin typeface="Arial" pitchFamily="34" charset="0"/>
                <a:ea typeface="Arial" pitchFamily="34" charset="-122"/>
                <a:cs typeface="Arial" pitchFamily="34" charset="-120"/>
              </a:rPr>
              <a:t> vs </a:t>
            </a:r>
            <a:r>
              <a:rPr lang="en-US" sz="1536" b="1" dirty="0">
                <a:solidFill>
                  <a:srgbClr val="1A56DB"/>
                </a:solidFill>
                <a:latin typeface="Arial" pitchFamily="34" charset="0"/>
                <a:ea typeface="Arial" pitchFamily="34" charset="-122"/>
                <a:cs typeface="Arial" pitchFamily="34" charset="-120"/>
              </a:rPr>
              <a:t>Context</a:t>
            </a:r>
            <a:r>
              <a:rPr lang="en-US" sz="1536" b="1" dirty="0">
                <a:solidFill>
                  <a:srgbClr val="1F2937"/>
                </a:solidFill>
                <a:latin typeface="Arial" pitchFamily="34" charset="0"/>
                <a:ea typeface="Arial" pitchFamily="34" charset="-122"/>
                <a:cs typeface="Arial" pitchFamily="34" charset="-120"/>
              </a:rPr>
              <a:t> vs </a:t>
            </a:r>
            <a:r>
              <a:rPr lang="en-US" sz="1536" b="1" dirty="0">
                <a:solidFill>
                  <a:srgbClr val="1A56DB"/>
                </a:solidFill>
                <a:latin typeface="Arial" pitchFamily="34" charset="0"/>
                <a:ea typeface="Arial" pitchFamily="34" charset="-122"/>
                <a:cs typeface="Arial" pitchFamily="34" charset="-120"/>
              </a:rPr>
              <a:t>Harness</a:t>
            </a:r>
            <a:r>
              <a:rPr lang="en-US" sz="1536" b="1" dirty="0">
                <a:solidFill>
                  <a:srgbClr val="1F2937"/>
                </a:solidFill>
                <a:latin typeface="Arial" pitchFamily="34" charset="0"/>
                <a:ea typeface="Arial" pitchFamily="34" charset="-122"/>
                <a:cs typeface="Arial" pitchFamily="34" charset="-120"/>
              </a:rPr>
              <a:t> vs </a:t>
            </a:r>
            <a:r>
              <a:rPr lang="en-US" sz="1536" b="1" dirty="0">
                <a:solidFill>
                  <a:srgbClr val="1A56DB"/>
                </a:solidFill>
                <a:latin typeface="Arial" pitchFamily="34" charset="0"/>
                <a:ea typeface="Arial" pitchFamily="34" charset="-122"/>
                <a:cs typeface="Arial" pitchFamily="34" charset="-120"/>
              </a:rPr>
              <a:t>Loop</a:t>
            </a:r>
            <a:endParaRPr lang="en-US" sz="1536" dirty="0"/>
          </a:p>
        </p:txBody>
      </p:sp>
      <p:sp>
        <p:nvSpPr>
          <p:cNvPr id="3" name="Text 1"/>
          <p:cNvSpPr/>
          <p:nvPr/>
        </p:nvSpPr>
        <p:spPr>
          <a:xfrm>
            <a:off x="3503929" y="356410"/>
            <a:ext cx="3672100" cy="259207"/>
          </a:xfrm>
          <a:prstGeom prst="rect">
            <a:avLst/>
          </a:prstGeom>
          <a:noFill/>
          <a:ln/>
        </p:spPr>
        <p:txBody>
          <a:bodyPr wrap="square" lIns="0" tIns="0" rIns="0" bIns="0" rtlCol="0" anchor="ctr"/>
          <a:lstStyle/>
          <a:p>
            <a:pPr algn="ctr"/>
            <a:r>
              <a:rPr lang="en-US" sz="1536" b="1" dirty="0">
                <a:solidFill>
                  <a:srgbClr val="1F2937"/>
                </a:solidFill>
                <a:latin typeface="Arial" pitchFamily="34" charset="0"/>
                <a:ea typeface="Arial" pitchFamily="34" charset="-122"/>
                <a:cs typeface="Arial" pitchFamily="34" charset="-120"/>
              </a:rPr>
              <a:t>vs </a:t>
            </a:r>
            <a:r>
              <a:rPr lang="en-US" sz="1536" b="1" dirty="0">
                <a:solidFill>
                  <a:srgbClr val="1A56DB"/>
                </a:solidFill>
                <a:latin typeface="Arial" pitchFamily="34" charset="0"/>
                <a:ea typeface="Arial" pitchFamily="34" charset="-122"/>
                <a:cs typeface="Arial" pitchFamily="34" charset="-120"/>
              </a:rPr>
              <a:t>Graph</a:t>
            </a:r>
            <a:r>
              <a:rPr lang="en-US" sz="1536" b="1" dirty="0">
                <a:solidFill>
                  <a:srgbClr val="1F2937"/>
                </a:solidFill>
                <a:latin typeface="Arial" pitchFamily="34" charset="0"/>
                <a:ea typeface="Arial" pitchFamily="34" charset="-122"/>
                <a:cs typeface="Arial" pitchFamily="34" charset="-120"/>
              </a:rPr>
              <a:t> Engineering</a:t>
            </a:r>
            <a:endParaRPr lang="en-US" sz="1536" dirty="0"/>
          </a:p>
        </p:txBody>
      </p:sp>
      <p:sp>
        <p:nvSpPr>
          <p:cNvPr id="4" name="Shape 2"/>
          <p:cNvSpPr/>
          <p:nvPr/>
        </p:nvSpPr>
        <p:spPr>
          <a:xfrm>
            <a:off x="7230031" y="378010"/>
            <a:ext cx="1404038" cy="280808"/>
          </a:xfrm>
          <a:prstGeom prst="roundRect">
            <a:avLst>
              <a:gd name="adj" fmla="val 15385"/>
            </a:avLst>
          </a:prstGeom>
          <a:solidFill>
            <a:srgbClr val="FFFFFF"/>
          </a:solidFill>
          <a:ln w="12700">
            <a:solidFill>
              <a:srgbClr val="D8D5CC"/>
            </a:solidFill>
            <a:prstDash val="solid"/>
          </a:ln>
        </p:spPr>
      </p:sp>
      <p:sp>
        <p:nvSpPr>
          <p:cNvPr id="5" name="Text 3"/>
          <p:cNvSpPr/>
          <p:nvPr/>
        </p:nvSpPr>
        <p:spPr>
          <a:xfrm>
            <a:off x="7305633" y="410411"/>
            <a:ext cx="1263635" cy="108003"/>
          </a:xfrm>
          <a:prstGeom prst="rect">
            <a:avLst/>
          </a:prstGeom>
          <a:noFill/>
          <a:ln/>
        </p:spPr>
        <p:txBody>
          <a:bodyPr wrap="square" lIns="0" tIns="0" rIns="0" bIns="0" rtlCol="0" anchor="ctr"/>
          <a:lstStyle/>
          <a:p>
            <a:r>
              <a:rPr lang="en-US" sz="591" b="1" dirty="0">
                <a:solidFill>
                  <a:srgbClr val="1A56DB"/>
                </a:solidFill>
                <a:latin typeface="Arial" pitchFamily="34" charset="0"/>
                <a:ea typeface="Arial" pitchFamily="34" charset="-122"/>
                <a:cs typeface="Arial" pitchFamily="34" charset="-120"/>
              </a:rPr>
              <a:t>Ball Corporation</a:t>
            </a:r>
            <a:endParaRPr lang="en-US" sz="591" dirty="0"/>
          </a:p>
        </p:txBody>
      </p:sp>
      <p:sp>
        <p:nvSpPr>
          <p:cNvPr id="6" name="Text 4"/>
          <p:cNvSpPr/>
          <p:nvPr/>
        </p:nvSpPr>
        <p:spPr>
          <a:xfrm>
            <a:off x="7305633" y="518414"/>
            <a:ext cx="1263635" cy="97203"/>
          </a:xfrm>
          <a:prstGeom prst="rect">
            <a:avLst/>
          </a:prstGeom>
          <a:noFill/>
          <a:ln/>
        </p:spPr>
        <p:txBody>
          <a:bodyPr wrap="square" lIns="0" tIns="0" rIns="0" bIns="0" rtlCol="0" anchor="ctr"/>
          <a:lstStyle/>
          <a:p>
            <a:r>
              <a:rPr lang="en-US" sz="413" dirty="0">
                <a:solidFill>
                  <a:srgbClr val="6B7280"/>
                </a:solidFill>
                <a:latin typeface="Arial" pitchFamily="34" charset="0"/>
                <a:ea typeface="Arial" pitchFamily="34" charset="-122"/>
                <a:cs typeface="Arial" pitchFamily="34" charset="-120"/>
              </a:rPr>
              <a:t>Manufacturing &amp; Supply Chain AI</a:t>
            </a:r>
            <a:endParaRPr lang="en-US" sz="413" dirty="0"/>
          </a:p>
        </p:txBody>
      </p:sp>
      <p:sp>
        <p:nvSpPr>
          <p:cNvPr id="7" name="Shape 5"/>
          <p:cNvSpPr/>
          <p:nvPr/>
        </p:nvSpPr>
        <p:spPr>
          <a:xfrm>
            <a:off x="3547131" y="712820"/>
            <a:ext cx="5097739" cy="0"/>
          </a:xfrm>
          <a:prstGeom prst="line">
            <a:avLst/>
          </a:prstGeom>
          <a:noFill/>
          <a:ln w="15875">
            <a:solidFill>
              <a:srgbClr val="3C3C3C"/>
            </a:solidFill>
            <a:prstDash val="dash"/>
          </a:ln>
        </p:spPr>
      </p:sp>
      <p:sp>
        <p:nvSpPr>
          <p:cNvPr id="8" name="Text 6"/>
          <p:cNvSpPr/>
          <p:nvPr/>
        </p:nvSpPr>
        <p:spPr>
          <a:xfrm>
            <a:off x="3547131" y="766821"/>
            <a:ext cx="5097739" cy="140404"/>
          </a:xfrm>
          <a:prstGeom prst="rect">
            <a:avLst/>
          </a:prstGeom>
          <a:noFill/>
          <a:ln/>
        </p:spPr>
        <p:txBody>
          <a:bodyPr wrap="square" lIns="0" tIns="0" rIns="0" bIns="0" rtlCol="0" anchor="ctr"/>
          <a:lstStyle/>
          <a:p>
            <a:pPr algn="ctr"/>
            <a:r>
              <a:rPr lang="en-US" sz="886" b="1" dirty="0">
                <a:solidFill>
                  <a:srgbClr val="1F2937"/>
                </a:solidFill>
                <a:latin typeface="Arial" pitchFamily="34" charset="0"/>
                <a:ea typeface="Arial" pitchFamily="34" charset="-122"/>
                <a:cs typeface="Arial" pitchFamily="34" charset="-120"/>
              </a:rPr>
              <a:t>Five layers that expand one model call into a governed AI system</a:t>
            </a:r>
            <a:endParaRPr lang="en-US" sz="886" dirty="0"/>
          </a:p>
        </p:txBody>
      </p:sp>
      <p:sp>
        <p:nvSpPr>
          <p:cNvPr id="9" name="Shape 7"/>
          <p:cNvSpPr/>
          <p:nvPr/>
        </p:nvSpPr>
        <p:spPr>
          <a:xfrm>
            <a:off x="3547130" y="950426"/>
            <a:ext cx="950426" cy="1015228"/>
          </a:xfrm>
          <a:prstGeom prst="roundRect">
            <a:avLst>
              <a:gd name="adj" fmla="val 3409"/>
            </a:avLst>
          </a:prstGeom>
          <a:solidFill>
            <a:srgbClr val="6B3FA0"/>
          </a:solidFill>
          <a:ln w="12700">
            <a:solidFill>
              <a:srgbClr val="6B3FA0"/>
            </a:solidFill>
            <a:prstDash val="solid"/>
          </a:ln>
        </p:spPr>
      </p:sp>
      <p:sp>
        <p:nvSpPr>
          <p:cNvPr id="10" name="Shape 8"/>
          <p:cNvSpPr/>
          <p:nvPr/>
        </p:nvSpPr>
        <p:spPr>
          <a:xfrm>
            <a:off x="3881939" y="1026028"/>
            <a:ext cx="280808" cy="280808"/>
          </a:xfrm>
          <a:prstGeom prst="roundRect">
            <a:avLst>
              <a:gd name="adj" fmla="val 11538"/>
            </a:avLst>
          </a:prstGeom>
          <a:solidFill>
            <a:srgbClr val="FFFFFF"/>
          </a:solidFill>
          <a:ln/>
        </p:spPr>
      </p:sp>
      <p:pic>
        <p:nvPicPr>
          <p:cNvPr id="11" name="Image 0" descr="/sessions/zealous-intelligent-mayer/mnt/outputs/icons6/lp1.png"/>
          <p:cNvPicPr>
            <a:picLocks noChangeAspect="1"/>
          </p:cNvPicPr>
          <p:nvPr/>
        </p:nvPicPr>
        <p:blipFill>
          <a:blip r:embed="rId3"/>
          <a:stretch>
            <a:fillRect/>
          </a:stretch>
        </p:blipFill>
        <p:spPr>
          <a:xfrm>
            <a:off x="3952141" y="1096230"/>
            <a:ext cx="140404" cy="140404"/>
          </a:xfrm>
          <a:prstGeom prst="rect">
            <a:avLst/>
          </a:prstGeom>
        </p:spPr>
      </p:pic>
      <p:sp>
        <p:nvSpPr>
          <p:cNvPr id="12" name="Text 9"/>
          <p:cNvSpPr/>
          <p:nvPr/>
        </p:nvSpPr>
        <p:spPr>
          <a:xfrm>
            <a:off x="3568731" y="1339237"/>
            <a:ext cx="907225" cy="205206"/>
          </a:xfrm>
          <a:prstGeom prst="rect">
            <a:avLst/>
          </a:prstGeom>
          <a:noFill/>
          <a:ln/>
        </p:spPr>
        <p:txBody>
          <a:bodyPr wrap="square" lIns="0" tIns="0" rIns="0" bIns="0" rtlCol="0" anchor="ctr"/>
          <a:lstStyle/>
          <a:p>
            <a:pPr algn="ctr"/>
            <a:r>
              <a:rPr lang="en-US" sz="650" b="1" dirty="0">
                <a:solidFill>
                  <a:srgbClr val="FFFFFF"/>
                </a:solidFill>
                <a:latin typeface="Arial" pitchFamily="34" charset="0"/>
                <a:ea typeface="Arial" pitchFamily="34" charset="-122"/>
                <a:cs typeface="Arial" pitchFamily="34" charset="-120"/>
              </a:rPr>
              <a:t>Prompt</a:t>
            </a:r>
            <a:endParaRPr lang="en-US" sz="650" dirty="0"/>
          </a:p>
          <a:p>
            <a:pPr algn="ctr"/>
            <a:r>
              <a:rPr lang="en-US" sz="650" b="1" dirty="0">
                <a:solidFill>
                  <a:srgbClr val="FFFFFF"/>
                </a:solidFill>
                <a:latin typeface="Arial" pitchFamily="34" charset="0"/>
                <a:ea typeface="Arial" pitchFamily="34" charset="-122"/>
                <a:cs typeface="Arial" pitchFamily="34" charset="-120"/>
              </a:rPr>
              <a:t>Engineering</a:t>
            </a:r>
            <a:endParaRPr lang="en-US" sz="650" dirty="0"/>
          </a:p>
        </p:txBody>
      </p:sp>
      <p:sp>
        <p:nvSpPr>
          <p:cNvPr id="13" name="Text 10"/>
          <p:cNvSpPr/>
          <p:nvPr/>
        </p:nvSpPr>
        <p:spPr>
          <a:xfrm>
            <a:off x="3579531" y="1555243"/>
            <a:ext cx="885624" cy="183605"/>
          </a:xfrm>
          <a:prstGeom prst="rect">
            <a:avLst/>
          </a:prstGeom>
          <a:noFill/>
          <a:ln/>
        </p:spPr>
        <p:txBody>
          <a:bodyPr wrap="square" lIns="0" tIns="0" rIns="0" bIns="0" rtlCol="0" anchor="ctr"/>
          <a:lstStyle/>
          <a:p>
            <a:pPr algn="ctr">
              <a:lnSpc>
                <a:spcPct val="102000"/>
              </a:lnSpc>
            </a:pPr>
            <a:r>
              <a:rPr lang="en-US" sz="472" dirty="0">
                <a:solidFill>
                  <a:srgbClr val="F0E9FB"/>
                </a:solidFill>
                <a:latin typeface="Arial" pitchFamily="34" charset="0"/>
                <a:ea typeface="Arial" pitchFamily="34" charset="-122"/>
                <a:cs typeface="Arial" pitchFamily="34" charset="-120"/>
              </a:rPr>
              <a:t>Shape the</a:t>
            </a:r>
            <a:endParaRPr lang="en-US" sz="472" dirty="0"/>
          </a:p>
          <a:p>
            <a:pPr algn="ctr">
              <a:lnSpc>
                <a:spcPct val="102000"/>
              </a:lnSpc>
            </a:pPr>
            <a:r>
              <a:rPr lang="en-US" sz="472" dirty="0">
                <a:solidFill>
                  <a:srgbClr val="F0E9FB"/>
                </a:solidFill>
                <a:latin typeface="Arial" pitchFamily="34" charset="0"/>
                <a:ea typeface="Arial" pitchFamily="34" charset="-122"/>
                <a:cs typeface="Arial" pitchFamily="34" charset="-120"/>
              </a:rPr>
              <a:t>instruction</a:t>
            </a:r>
            <a:endParaRPr lang="en-US" sz="472" dirty="0"/>
          </a:p>
        </p:txBody>
      </p:sp>
      <p:sp>
        <p:nvSpPr>
          <p:cNvPr id="14" name="Text 11"/>
          <p:cNvSpPr/>
          <p:nvPr/>
        </p:nvSpPr>
        <p:spPr>
          <a:xfrm>
            <a:off x="3590331" y="1760449"/>
            <a:ext cx="864024" cy="237606"/>
          </a:xfrm>
          <a:prstGeom prst="rect">
            <a:avLst/>
          </a:prstGeom>
          <a:noFill/>
          <a:ln/>
        </p:spPr>
        <p:txBody>
          <a:bodyPr wrap="square" lIns="0" tIns="0" rIns="0" bIns="0" rtlCol="0" anchor="ctr"/>
          <a:lstStyle/>
          <a:p>
            <a:pPr algn="ctr">
              <a:lnSpc>
                <a:spcPct val="102000"/>
              </a:lnSpc>
            </a:pPr>
            <a:r>
              <a:rPr lang="en-US" sz="366" i="1" dirty="0">
                <a:solidFill>
                  <a:srgbClr val="E7DFF6"/>
                </a:solidFill>
                <a:latin typeface="Arial" pitchFamily="34" charset="0"/>
                <a:ea typeface="Arial" pitchFamily="34" charset="-122"/>
                <a:cs typeface="Arial" pitchFamily="34" charset="-120"/>
              </a:rPr>
              <a:t>e.g. draft a seam-defect NCR summary from spec + shift log</a:t>
            </a:r>
            <a:endParaRPr lang="en-US" sz="366" dirty="0"/>
          </a:p>
        </p:txBody>
      </p:sp>
      <p:sp>
        <p:nvSpPr>
          <p:cNvPr id="15" name="Shape 12"/>
          <p:cNvSpPr/>
          <p:nvPr/>
        </p:nvSpPr>
        <p:spPr>
          <a:xfrm>
            <a:off x="4497556" y="950426"/>
            <a:ext cx="4147313" cy="1015228"/>
          </a:xfrm>
          <a:prstGeom prst="roundRect">
            <a:avLst>
              <a:gd name="adj" fmla="val 3191"/>
            </a:avLst>
          </a:prstGeom>
          <a:solidFill>
            <a:srgbClr val="FFFFFF"/>
          </a:solidFill>
          <a:ln w="12700">
            <a:solidFill>
              <a:srgbClr val="7C3AED"/>
            </a:solidFill>
            <a:prstDash val="solid"/>
          </a:ln>
        </p:spPr>
      </p:sp>
      <p:sp>
        <p:nvSpPr>
          <p:cNvPr id="16" name="Shape 13"/>
          <p:cNvSpPr/>
          <p:nvPr/>
        </p:nvSpPr>
        <p:spPr>
          <a:xfrm>
            <a:off x="4616360" y="1026028"/>
            <a:ext cx="1026028" cy="669618"/>
          </a:xfrm>
          <a:prstGeom prst="roundRect">
            <a:avLst>
              <a:gd name="adj" fmla="val 4032"/>
            </a:avLst>
          </a:prstGeom>
          <a:solidFill>
            <a:srgbClr val="F6F2FE"/>
          </a:solidFill>
          <a:ln w="12700">
            <a:solidFill>
              <a:srgbClr val="C9B6F2"/>
            </a:solidFill>
            <a:prstDash val="solid"/>
          </a:ln>
        </p:spPr>
      </p:sp>
      <p:sp>
        <p:nvSpPr>
          <p:cNvPr id="17" name="Text 14"/>
          <p:cNvSpPr/>
          <p:nvPr/>
        </p:nvSpPr>
        <p:spPr>
          <a:xfrm>
            <a:off x="4637960" y="1053029"/>
            <a:ext cx="982827" cy="97203"/>
          </a:xfrm>
          <a:prstGeom prst="rect">
            <a:avLst/>
          </a:prstGeom>
          <a:noFill/>
          <a:ln/>
        </p:spPr>
        <p:txBody>
          <a:bodyPr wrap="square" lIns="0" tIns="0" rIns="0" bIns="0" rtlCol="0" anchor="ctr"/>
          <a:lstStyle/>
          <a:p>
            <a:pPr algn="ctr"/>
            <a:r>
              <a:rPr lang="en-US" sz="532" b="1" dirty="0">
                <a:solidFill>
                  <a:srgbClr val="1F2937"/>
                </a:solidFill>
                <a:latin typeface="Arial" pitchFamily="34" charset="0"/>
                <a:ea typeface="Arial" pitchFamily="34" charset="-122"/>
                <a:cs typeface="Arial" pitchFamily="34" charset="-120"/>
              </a:rPr>
              <a:t>Inputs</a:t>
            </a:r>
            <a:endParaRPr lang="en-US" sz="532" dirty="0"/>
          </a:p>
        </p:txBody>
      </p:sp>
      <p:sp>
        <p:nvSpPr>
          <p:cNvPr id="18" name="Shape 15"/>
          <p:cNvSpPr/>
          <p:nvPr/>
        </p:nvSpPr>
        <p:spPr>
          <a:xfrm>
            <a:off x="4654161" y="1171832"/>
            <a:ext cx="453612" cy="226806"/>
          </a:xfrm>
          <a:prstGeom prst="roundRect">
            <a:avLst>
              <a:gd name="adj" fmla="val 9524"/>
            </a:avLst>
          </a:prstGeom>
          <a:solidFill>
            <a:srgbClr val="FFFFFF"/>
          </a:solidFill>
          <a:ln w="12700">
            <a:solidFill>
              <a:srgbClr val="C9B6F2"/>
            </a:solidFill>
            <a:prstDash val="solid"/>
          </a:ln>
        </p:spPr>
      </p:sp>
      <p:sp>
        <p:nvSpPr>
          <p:cNvPr id="19" name="Text 16"/>
          <p:cNvSpPr/>
          <p:nvPr/>
        </p:nvSpPr>
        <p:spPr>
          <a:xfrm>
            <a:off x="4670361" y="1171832"/>
            <a:ext cx="421212" cy="226806"/>
          </a:xfrm>
          <a:prstGeom prst="rect">
            <a:avLst/>
          </a:prstGeom>
          <a:noFill/>
          <a:ln/>
        </p:spPr>
        <p:txBody>
          <a:bodyPr wrap="square" lIns="0" tIns="0" rIns="0" bIns="0" rtlCol="0" anchor="ctr"/>
          <a:lstStyle/>
          <a:p>
            <a:pPr algn="ctr"/>
            <a:r>
              <a:rPr lang="en-US" sz="437" b="1" dirty="0">
                <a:solidFill>
                  <a:srgbClr val="1F2937"/>
                </a:solidFill>
                <a:latin typeface="Arial" pitchFamily="34" charset="0"/>
                <a:ea typeface="Arial" pitchFamily="34" charset="-122"/>
                <a:cs typeface="Arial" pitchFamily="34" charset="-120"/>
              </a:rPr>
              <a:t>Goal</a:t>
            </a:r>
            <a:endParaRPr lang="en-US" sz="437" dirty="0"/>
          </a:p>
        </p:txBody>
      </p:sp>
      <p:sp>
        <p:nvSpPr>
          <p:cNvPr id="20" name="Shape 17"/>
          <p:cNvSpPr/>
          <p:nvPr/>
        </p:nvSpPr>
        <p:spPr>
          <a:xfrm>
            <a:off x="5150974" y="1171832"/>
            <a:ext cx="453612" cy="226806"/>
          </a:xfrm>
          <a:prstGeom prst="roundRect">
            <a:avLst>
              <a:gd name="adj" fmla="val 9524"/>
            </a:avLst>
          </a:prstGeom>
          <a:solidFill>
            <a:srgbClr val="FFFFFF"/>
          </a:solidFill>
          <a:ln w="12700">
            <a:solidFill>
              <a:srgbClr val="C9B6F2"/>
            </a:solidFill>
            <a:prstDash val="solid"/>
          </a:ln>
        </p:spPr>
      </p:sp>
      <p:sp>
        <p:nvSpPr>
          <p:cNvPr id="21" name="Text 18"/>
          <p:cNvSpPr/>
          <p:nvPr/>
        </p:nvSpPr>
        <p:spPr>
          <a:xfrm>
            <a:off x="5167174" y="1171832"/>
            <a:ext cx="421212" cy="226806"/>
          </a:xfrm>
          <a:prstGeom prst="rect">
            <a:avLst/>
          </a:prstGeom>
          <a:noFill/>
          <a:ln/>
        </p:spPr>
        <p:txBody>
          <a:bodyPr wrap="square" lIns="0" tIns="0" rIns="0" bIns="0" rtlCol="0" anchor="ctr"/>
          <a:lstStyle/>
          <a:p>
            <a:pPr algn="ctr"/>
            <a:r>
              <a:rPr lang="en-US" sz="437" b="1" dirty="0">
                <a:solidFill>
                  <a:srgbClr val="1F2937"/>
                </a:solidFill>
                <a:latin typeface="Arial" pitchFamily="34" charset="0"/>
                <a:ea typeface="Arial" pitchFamily="34" charset="-122"/>
                <a:cs typeface="Arial" pitchFamily="34" charset="-120"/>
              </a:rPr>
              <a:t>Role</a:t>
            </a:r>
            <a:endParaRPr lang="en-US" sz="437" dirty="0"/>
          </a:p>
        </p:txBody>
      </p:sp>
      <p:sp>
        <p:nvSpPr>
          <p:cNvPr id="22" name="Shape 19"/>
          <p:cNvSpPr/>
          <p:nvPr/>
        </p:nvSpPr>
        <p:spPr>
          <a:xfrm>
            <a:off x="4654161" y="1420239"/>
            <a:ext cx="453612" cy="226806"/>
          </a:xfrm>
          <a:prstGeom prst="roundRect">
            <a:avLst>
              <a:gd name="adj" fmla="val 9524"/>
            </a:avLst>
          </a:prstGeom>
          <a:solidFill>
            <a:srgbClr val="FFFFFF"/>
          </a:solidFill>
          <a:ln w="12700">
            <a:solidFill>
              <a:srgbClr val="C9B6F2"/>
            </a:solidFill>
            <a:prstDash val="solid"/>
          </a:ln>
        </p:spPr>
      </p:sp>
      <p:sp>
        <p:nvSpPr>
          <p:cNvPr id="23" name="Text 20"/>
          <p:cNvSpPr/>
          <p:nvPr/>
        </p:nvSpPr>
        <p:spPr>
          <a:xfrm>
            <a:off x="4670361" y="1420239"/>
            <a:ext cx="421212" cy="226806"/>
          </a:xfrm>
          <a:prstGeom prst="rect">
            <a:avLst/>
          </a:prstGeom>
          <a:noFill/>
          <a:ln/>
        </p:spPr>
        <p:txBody>
          <a:bodyPr wrap="square" lIns="0" tIns="0" rIns="0" bIns="0" rtlCol="0" anchor="ctr"/>
          <a:lstStyle/>
          <a:p>
            <a:pPr algn="ctr"/>
            <a:r>
              <a:rPr lang="en-US" sz="437" b="1" dirty="0">
                <a:solidFill>
                  <a:srgbClr val="1F2937"/>
                </a:solidFill>
                <a:latin typeface="Arial" pitchFamily="34" charset="0"/>
                <a:ea typeface="Arial" pitchFamily="34" charset="-122"/>
                <a:cs typeface="Arial" pitchFamily="34" charset="-120"/>
              </a:rPr>
              <a:t>Rules</a:t>
            </a:r>
            <a:endParaRPr lang="en-US" sz="437" dirty="0"/>
          </a:p>
        </p:txBody>
      </p:sp>
      <p:sp>
        <p:nvSpPr>
          <p:cNvPr id="24" name="Shape 21"/>
          <p:cNvSpPr/>
          <p:nvPr/>
        </p:nvSpPr>
        <p:spPr>
          <a:xfrm>
            <a:off x="5150974" y="1420239"/>
            <a:ext cx="453612" cy="226806"/>
          </a:xfrm>
          <a:prstGeom prst="roundRect">
            <a:avLst>
              <a:gd name="adj" fmla="val 9524"/>
            </a:avLst>
          </a:prstGeom>
          <a:solidFill>
            <a:srgbClr val="FFFFFF"/>
          </a:solidFill>
          <a:ln w="12700">
            <a:solidFill>
              <a:srgbClr val="C9B6F2"/>
            </a:solidFill>
            <a:prstDash val="solid"/>
          </a:ln>
        </p:spPr>
      </p:sp>
      <p:sp>
        <p:nvSpPr>
          <p:cNvPr id="25" name="Text 22"/>
          <p:cNvSpPr/>
          <p:nvPr/>
        </p:nvSpPr>
        <p:spPr>
          <a:xfrm>
            <a:off x="5167174" y="1420239"/>
            <a:ext cx="421212" cy="226806"/>
          </a:xfrm>
          <a:prstGeom prst="rect">
            <a:avLst/>
          </a:prstGeom>
          <a:noFill/>
          <a:ln/>
        </p:spPr>
        <p:txBody>
          <a:bodyPr wrap="square" lIns="0" tIns="0" rIns="0" bIns="0" rtlCol="0" anchor="ctr"/>
          <a:lstStyle/>
          <a:p>
            <a:pPr algn="ctr"/>
            <a:r>
              <a:rPr lang="en-US" sz="437" b="1" dirty="0">
                <a:solidFill>
                  <a:srgbClr val="1F2937"/>
                </a:solidFill>
                <a:latin typeface="Arial" pitchFamily="34" charset="0"/>
                <a:ea typeface="Arial" pitchFamily="34" charset="-122"/>
                <a:cs typeface="Arial" pitchFamily="34" charset="-120"/>
              </a:rPr>
              <a:t>Examples</a:t>
            </a:r>
            <a:endParaRPr lang="en-US" sz="437" dirty="0"/>
          </a:p>
        </p:txBody>
      </p:sp>
      <p:sp>
        <p:nvSpPr>
          <p:cNvPr id="26" name="Shape 23"/>
          <p:cNvSpPr/>
          <p:nvPr/>
        </p:nvSpPr>
        <p:spPr>
          <a:xfrm>
            <a:off x="5890795" y="1209633"/>
            <a:ext cx="712819" cy="388811"/>
          </a:xfrm>
          <a:prstGeom prst="roundRect">
            <a:avLst>
              <a:gd name="adj" fmla="val 6944"/>
            </a:avLst>
          </a:prstGeom>
          <a:solidFill>
            <a:srgbClr val="F6F2FE"/>
          </a:solidFill>
          <a:ln w="12700">
            <a:solidFill>
              <a:srgbClr val="C9B6F2"/>
            </a:solidFill>
            <a:prstDash val="solid"/>
          </a:ln>
        </p:spPr>
      </p:sp>
      <p:pic>
        <p:nvPicPr>
          <p:cNvPr id="27" name="Image 1" descr="/sessions/zealous-intelligent-mayer/mnt/outputs/icons6/b1_build.png"/>
          <p:cNvPicPr>
            <a:picLocks noChangeAspect="1"/>
          </p:cNvPicPr>
          <p:nvPr/>
        </p:nvPicPr>
        <p:blipFill>
          <a:blip r:embed="rId4"/>
          <a:stretch>
            <a:fillRect/>
          </a:stretch>
        </p:blipFill>
        <p:spPr>
          <a:xfrm>
            <a:off x="5928595" y="1339237"/>
            <a:ext cx="129604" cy="129604"/>
          </a:xfrm>
          <a:prstGeom prst="rect">
            <a:avLst/>
          </a:prstGeom>
        </p:spPr>
      </p:pic>
      <p:sp>
        <p:nvSpPr>
          <p:cNvPr id="28" name="Text 24"/>
          <p:cNvSpPr/>
          <p:nvPr/>
        </p:nvSpPr>
        <p:spPr>
          <a:xfrm>
            <a:off x="6096000" y="1209633"/>
            <a:ext cx="480613" cy="388811"/>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Prompt</a:t>
            </a:r>
            <a:endParaRPr lang="en-US" sz="472" dirty="0"/>
          </a:p>
          <a:p>
            <a:r>
              <a:rPr lang="en-US" sz="472" b="1" dirty="0">
                <a:solidFill>
                  <a:srgbClr val="1F2937"/>
                </a:solidFill>
                <a:latin typeface="Arial" pitchFamily="34" charset="0"/>
                <a:ea typeface="Arial" pitchFamily="34" charset="-122"/>
                <a:cs typeface="Arial" pitchFamily="34" charset="-120"/>
              </a:rPr>
              <a:t>Builder</a:t>
            </a:r>
            <a:endParaRPr lang="en-US" sz="472" dirty="0"/>
          </a:p>
        </p:txBody>
      </p:sp>
      <p:sp>
        <p:nvSpPr>
          <p:cNvPr id="29" name="Shape 25"/>
          <p:cNvSpPr/>
          <p:nvPr/>
        </p:nvSpPr>
        <p:spPr>
          <a:xfrm>
            <a:off x="6765618" y="1209633"/>
            <a:ext cx="669618" cy="388811"/>
          </a:xfrm>
          <a:prstGeom prst="roundRect">
            <a:avLst>
              <a:gd name="adj" fmla="val 6944"/>
            </a:avLst>
          </a:prstGeom>
          <a:solidFill>
            <a:srgbClr val="F6F2FE"/>
          </a:solidFill>
          <a:ln w="12700">
            <a:solidFill>
              <a:srgbClr val="C9B6F2"/>
            </a:solidFill>
            <a:prstDash val="solid"/>
          </a:ln>
        </p:spPr>
      </p:sp>
      <p:pic>
        <p:nvPicPr>
          <p:cNvPr id="30" name="Image 2" descr="/sessions/zealous-intelligent-mayer/mnt/outputs/icons6/b1_llm.png"/>
          <p:cNvPicPr>
            <a:picLocks noChangeAspect="1"/>
          </p:cNvPicPr>
          <p:nvPr/>
        </p:nvPicPr>
        <p:blipFill>
          <a:blip r:embed="rId5"/>
          <a:stretch>
            <a:fillRect/>
          </a:stretch>
        </p:blipFill>
        <p:spPr>
          <a:xfrm>
            <a:off x="6803419" y="1339237"/>
            <a:ext cx="129604" cy="129604"/>
          </a:xfrm>
          <a:prstGeom prst="rect">
            <a:avLst/>
          </a:prstGeom>
        </p:spPr>
      </p:pic>
      <p:sp>
        <p:nvSpPr>
          <p:cNvPr id="31" name="Text 26"/>
          <p:cNvSpPr/>
          <p:nvPr/>
        </p:nvSpPr>
        <p:spPr>
          <a:xfrm>
            <a:off x="6970824" y="1209633"/>
            <a:ext cx="437412" cy="388811"/>
          </a:xfrm>
          <a:prstGeom prst="rect">
            <a:avLst/>
          </a:prstGeom>
          <a:noFill/>
          <a:ln/>
        </p:spPr>
        <p:txBody>
          <a:bodyPr wrap="square" lIns="0" tIns="0" rIns="0" bIns="0" rtlCol="0" anchor="ctr"/>
          <a:lstStyle/>
          <a:p>
            <a:r>
              <a:rPr lang="en-US" sz="437" b="1" dirty="0">
                <a:solidFill>
                  <a:srgbClr val="1F2937"/>
                </a:solidFill>
                <a:latin typeface="Arial" pitchFamily="34" charset="0"/>
                <a:ea typeface="Arial" pitchFamily="34" charset="-122"/>
                <a:cs typeface="Arial" pitchFamily="34" charset="-120"/>
              </a:rPr>
              <a:t>LLM</a:t>
            </a:r>
            <a:endParaRPr lang="en-US" sz="437" dirty="0"/>
          </a:p>
          <a:p>
            <a:r>
              <a:rPr lang="en-US" sz="437" b="1" dirty="0">
                <a:solidFill>
                  <a:srgbClr val="1F2937"/>
                </a:solidFill>
                <a:latin typeface="Arial" pitchFamily="34" charset="0"/>
                <a:ea typeface="Arial" pitchFamily="34" charset="-122"/>
                <a:cs typeface="Arial" pitchFamily="34" charset="-120"/>
              </a:rPr>
              <a:t>(Azure OpenAI)</a:t>
            </a:r>
            <a:endParaRPr lang="en-US" sz="437" dirty="0"/>
          </a:p>
        </p:txBody>
      </p:sp>
      <p:sp>
        <p:nvSpPr>
          <p:cNvPr id="32" name="Shape 27"/>
          <p:cNvSpPr/>
          <p:nvPr/>
        </p:nvSpPr>
        <p:spPr>
          <a:xfrm>
            <a:off x="7597241" y="1209633"/>
            <a:ext cx="820822" cy="388811"/>
          </a:xfrm>
          <a:prstGeom prst="roundRect">
            <a:avLst>
              <a:gd name="adj" fmla="val 6944"/>
            </a:avLst>
          </a:prstGeom>
          <a:solidFill>
            <a:srgbClr val="F6F2FE"/>
          </a:solidFill>
          <a:ln w="12700">
            <a:solidFill>
              <a:srgbClr val="C9B6F2"/>
            </a:solidFill>
            <a:prstDash val="solid"/>
          </a:ln>
        </p:spPr>
      </p:sp>
      <p:pic>
        <p:nvPicPr>
          <p:cNvPr id="33" name="Image 3" descr="/sessions/zealous-intelligent-mayer/mnt/outputs/icons6/b1_draft.png"/>
          <p:cNvPicPr>
            <a:picLocks noChangeAspect="1"/>
          </p:cNvPicPr>
          <p:nvPr/>
        </p:nvPicPr>
        <p:blipFill>
          <a:blip r:embed="rId6"/>
          <a:stretch>
            <a:fillRect/>
          </a:stretch>
        </p:blipFill>
        <p:spPr>
          <a:xfrm>
            <a:off x="7635042" y="1339237"/>
            <a:ext cx="129604" cy="129604"/>
          </a:xfrm>
          <a:prstGeom prst="rect">
            <a:avLst/>
          </a:prstGeom>
        </p:spPr>
      </p:pic>
      <p:sp>
        <p:nvSpPr>
          <p:cNvPr id="34" name="Text 28"/>
          <p:cNvSpPr/>
          <p:nvPr/>
        </p:nvSpPr>
        <p:spPr>
          <a:xfrm>
            <a:off x="7802447" y="1209633"/>
            <a:ext cx="588616" cy="388811"/>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Draft</a:t>
            </a:r>
            <a:endParaRPr lang="en-US" sz="472" dirty="0"/>
          </a:p>
          <a:p>
            <a:r>
              <a:rPr lang="en-US" sz="472" b="1" dirty="0">
                <a:solidFill>
                  <a:srgbClr val="1F2937"/>
                </a:solidFill>
                <a:latin typeface="Arial" pitchFamily="34" charset="0"/>
                <a:ea typeface="Arial" pitchFamily="34" charset="-122"/>
                <a:cs typeface="Arial" pitchFamily="34" charset="-120"/>
              </a:rPr>
              <a:t>Response</a:t>
            </a:r>
            <a:endParaRPr lang="en-US" sz="472" dirty="0"/>
          </a:p>
        </p:txBody>
      </p:sp>
      <p:sp>
        <p:nvSpPr>
          <p:cNvPr id="35" name="Shape 29"/>
          <p:cNvSpPr/>
          <p:nvPr/>
        </p:nvSpPr>
        <p:spPr>
          <a:xfrm>
            <a:off x="5653188" y="1404039"/>
            <a:ext cx="226806" cy="0"/>
          </a:xfrm>
          <a:prstGeom prst="line">
            <a:avLst/>
          </a:prstGeom>
          <a:noFill/>
          <a:ln w="15875">
            <a:solidFill>
              <a:srgbClr val="1F2937"/>
            </a:solidFill>
            <a:prstDash val="solid"/>
            <a:tailEnd type="triangle"/>
          </a:ln>
        </p:spPr>
      </p:sp>
      <p:sp>
        <p:nvSpPr>
          <p:cNvPr id="36" name="Shape 30"/>
          <p:cNvSpPr/>
          <p:nvPr/>
        </p:nvSpPr>
        <p:spPr>
          <a:xfrm>
            <a:off x="6614414" y="1404039"/>
            <a:ext cx="140404" cy="0"/>
          </a:xfrm>
          <a:prstGeom prst="line">
            <a:avLst/>
          </a:prstGeom>
          <a:noFill/>
          <a:ln w="15875">
            <a:solidFill>
              <a:srgbClr val="1F2937"/>
            </a:solidFill>
            <a:prstDash val="solid"/>
            <a:tailEnd type="triangle"/>
          </a:ln>
        </p:spPr>
      </p:sp>
      <p:sp>
        <p:nvSpPr>
          <p:cNvPr id="37" name="Shape 31"/>
          <p:cNvSpPr/>
          <p:nvPr/>
        </p:nvSpPr>
        <p:spPr>
          <a:xfrm>
            <a:off x="7446037" y="1404039"/>
            <a:ext cx="140404" cy="0"/>
          </a:xfrm>
          <a:prstGeom prst="line">
            <a:avLst/>
          </a:prstGeom>
          <a:noFill/>
          <a:ln w="15875">
            <a:solidFill>
              <a:srgbClr val="1F2937"/>
            </a:solidFill>
            <a:prstDash val="solid"/>
            <a:tailEnd type="triangle"/>
          </a:ln>
        </p:spPr>
      </p:sp>
      <p:sp>
        <p:nvSpPr>
          <p:cNvPr id="38" name="Shape 32"/>
          <p:cNvSpPr/>
          <p:nvPr/>
        </p:nvSpPr>
        <p:spPr>
          <a:xfrm>
            <a:off x="8007652" y="1598444"/>
            <a:ext cx="0" cy="151204"/>
          </a:xfrm>
          <a:prstGeom prst="line">
            <a:avLst/>
          </a:prstGeom>
          <a:noFill/>
          <a:ln w="15875">
            <a:solidFill>
              <a:srgbClr val="7C3AED"/>
            </a:solidFill>
            <a:prstDash val="dash"/>
          </a:ln>
        </p:spPr>
      </p:sp>
      <p:sp>
        <p:nvSpPr>
          <p:cNvPr id="39" name="Shape 33"/>
          <p:cNvSpPr/>
          <p:nvPr/>
        </p:nvSpPr>
        <p:spPr>
          <a:xfrm>
            <a:off x="6247204" y="1749648"/>
            <a:ext cx="1760448" cy="0"/>
          </a:xfrm>
          <a:prstGeom prst="line">
            <a:avLst/>
          </a:prstGeom>
          <a:noFill/>
          <a:ln w="15875">
            <a:solidFill>
              <a:srgbClr val="7C3AED"/>
            </a:solidFill>
            <a:prstDash val="dash"/>
          </a:ln>
        </p:spPr>
      </p:sp>
      <p:sp>
        <p:nvSpPr>
          <p:cNvPr id="40" name="Shape 34"/>
          <p:cNvSpPr/>
          <p:nvPr/>
        </p:nvSpPr>
        <p:spPr>
          <a:xfrm>
            <a:off x="6247204" y="1598444"/>
            <a:ext cx="0" cy="151204"/>
          </a:xfrm>
          <a:prstGeom prst="line">
            <a:avLst/>
          </a:prstGeom>
          <a:noFill/>
          <a:ln w="15875">
            <a:solidFill>
              <a:srgbClr val="7C3AED"/>
            </a:solidFill>
            <a:prstDash val="dash"/>
            <a:headEnd type="triangle"/>
          </a:ln>
        </p:spPr>
      </p:sp>
      <p:sp>
        <p:nvSpPr>
          <p:cNvPr id="41" name="Text 35"/>
          <p:cNvSpPr/>
          <p:nvPr/>
        </p:nvSpPr>
        <p:spPr>
          <a:xfrm>
            <a:off x="6312006" y="1652445"/>
            <a:ext cx="1620044" cy="81002"/>
          </a:xfrm>
          <a:prstGeom prst="rect">
            <a:avLst/>
          </a:prstGeom>
          <a:noFill/>
          <a:ln/>
        </p:spPr>
        <p:txBody>
          <a:bodyPr wrap="square" lIns="0" tIns="0" rIns="0" bIns="0" rtlCol="0" anchor="ctr"/>
          <a:lstStyle/>
          <a:p>
            <a:pPr algn="ctr"/>
            <a:r>
              <a:rPr lang="en-US" sz="443" b="1" dirty="0">
                <a:solidFill>
                  <a:srgbClr val="7C3AED"/>
                </a:solidFill>
                <a:latin typeface="Arial" pitchFamily="34" charset="0"/>
                <a:ea typeface="Arial" pitchFamily="34" charset="-122"/>
                <a:cs typeface="Arial" pitchFamily="34" charset="-120"/>
              </a:rPr>
              <a:t>Evaluate and refine prompt</a:t>
            </a:r>
            <a:endParaRPr lang="en-US" sz="443" dirty="0"/>
          </a:p>
        </p:txBody>
      </p:sp>
      <p:sp>
        <p:nvSpPr>
          <p:cNvPr id="42" name="Text 36"/>
          <p:cNvSpPr/>
          <p:nvPr/>
        </p:nvSpPr>
        <p:spPr>
          <a:xfrm>
            <a:off x="4497556" y="1836051"/>
            <a:ext cx="4147313" cy="86402"/>
          </a:xfrm>
          <a:prstGeom prst="rect">
            <a:avLst/>
          </a:prstGeom>
          <a:noFill/>
          <a:ln/>
        </p:spPr>
        <p:txBody>
          <a:bodyPr wrap="square" lIns="0" tIns="0" rIns="0" bIns="0" rtlCol="0" anchor="ctr"/>
          <a:lstStyle/>
          <a:p>
            <a:pPr algn="ctr"/>
            <a:r>
              <a:rPr lang="en-US" sz="502" b="1" dirty="0">
                <a:solidFill>
                  <a:srgbClr val="7C3AED"/>
                </a:solidFill>
                <a:latin typeface="Arial" pitchFamily="34" charset="0"/>
                <a:ea typeface="Arial" pitchFamily="34" charset="-122"/>
                <a:cs typeface="Arial" pitchFamily="34" charset="-120"/>
              </a:rPr>
              <a:t>Unit of work: </a:t>
            </a:r>
            <a:r>
              <a:rPr lang="en-US" sz="502" dirty="0">
                <a:solidFill>
                  <a:srgbClr val="1F2937"/>
                </a:solidFill>
                <a:latin typeface="Arial" pitchFamily="34" charset="0"/>
                <a:ea typeface="Arial" pitchFamily="34" charset="-122"/>
                <a:cs typeface="Arial" pitchFamily="34" charset="-120"/>
              </a:rPr>
              <a:t>one instruction</a:t>
            </a:r>
            <a:endParaRPr lang="en-US" sz="502" dirty="0"/>
          </a:p>
        </p:txBody>
      </p:sp>
      <p:sp>
        <p:nvSpPr>
          <p:cNvPr id="43" name="Shape 37"/>
          <p:cNvSpPr/>
          <p:nvPr/>
        </p:nvSpPr>
        <p:spPr>
          <a:xfrm>
            <a:off x="3547130" y="2019655"/>
            <a:ext cx="950426" cy="1101630"/>
          </a:xfrm>
          <a:prstGeom prst="roundRect">
            <a:avLst>
              <a:gd name="adj" fmla="val 3409"/>
            </a:avLst>
          </a:prstGeom>
          <a:solidFill>
            <a:srgbClr val="2E9E4F"/>
          </a:solidFill>
          <a:ln w="12700">
            <a:solidFill>
              <a:srgbClr val="2E9E4F"/>
            </a:solidFill>
            <a:prstDash val="solid"/>
          </a:ln>
        </p:spPr>
      </p:sp>
      <p:sp>
        <p:nvSpPr>
          <p:cNvPr id="44" name="Shape 38"/>
          <p:cNvSpPr/>
          <p:nvPr/>
        </p:nvSpPr>
        <p:spPr>
          <a:xfrm>
            <a:off x="3881939" y="2095257"/>
            <a:ext cx="280808" cy="280808"/>
          </a:xfrm>
          <a:prstGeom prst="roundRect">
            <a:avLst>
              <a:gd name="adj" fmla="val 11538"/>
            </a:avLst>
          </a:prstGeom>
          <a:solidFill>
            <a:srgbClr val="FFFFFF"/>
          </a:solidFill>
          <a:ln/>
        </p:spPr>
      </p:sp>
      <p:pic>
        <p:nvPicPr>
          <p:cNvPr id="45" name="Image 4" descr="/sessions/zealous-intelligent-mayer/mnt/outputs/icons6/lp2.png"/>
          <p:cNvPicPr>
            <a:picLocks noChangeAspect="1"/>
          </p:cNvPicPr>
          <p:nvPr/>
        </p:nvPicPr>
        <p:blipFill>
          <a:blip r:embed="rId7"/>
          <a:stretch>
            <a:fillRect/>
          </a:stretch>
        </p:blipFill>
        <p:spPr>
          <a:xfrm>
            <a:off x="3952141" y="2165459"/>
            <a:ext cx="140404" cy="140404"/>
          </a:xfrm>
          <a:prstGeom prst="rect">
            <a:avLst/>
          </a:prstGeom>
        </p:spPr>
      </p:pic>
      <p:sp>
        <p:nvSpPr>
          <p:cNvPr id="46" name="Text 39"/>
          <p:cNvSpPr/>
          <p:nvPr/>
        </p:nvSpPr>
        <p:spPr>
          <a:xfrm>
            <a:off x="3568731" y="2408466"/>
            <a:ext cx="907225" cy="205206"/>
          </a:xfrm>
          <a:prstGeom prst="rect">
            <a:avLst/>
          </a:prstGeom>
          <a:noFill/>
          <a:ln/>
        </p:spPr>
        <p:txBody>
          <a:bodyPr wrap="square" lIns="0" tIns="0" rIns="0" bIns="0" rtlCol="0" anchor="ctr"/>
          <a:lstStyle/>
          <a:p>
            <a:pPr algn="ctr"/>
            <a:r>
              <a:rPr lang="en-US" sz="650" b="1" dirty="0">
                <a:solidFill>
                  <a:srgbClr val="FFFFFF"/>
                </a:solidFill>
                <a:latin typeface="Arial" pitchFamily="34" charset="0"/>
                <a:ea typeface="Arial" pitchFamily="34" charset="-122"/>
                <a:cs typeface="Arial" pitchFamily="34" charset="-120"/>
              </a:rPr>
              <a:t>Context</a:t>
            </a:r>
            <a:endParaRPr lang="en-US" sz="650" dirty="0"/>
          </a:p>
          <a:p>
            <a:pPr algn="ctr"/>
            <a:r>
              <a:rPr lang="en-US" sz="650" b="1" dirty="0">
                <a:solidFill>
                  <a:srgbClr val="FFFFFF"/>
                </a:solidFill>
                <a:latin typeface="Arial" pitchFamily="34" charset="0"/>
                <a:ea typeface="Arial" pitchFamily="34" charset="-122"/>
                <a:cs typeface="Arial" pitchFamily="34" charset="-120"/>
              </a:rPr>
              <a:t>Engineering</a:t>
            </a:r>
            <a:endParaRPr lang="en-US" sz="650" dirty="0"/>
          </a:p>
        </p:txBody>
      </p:sp>
      <p:sp>
        <p:nvSpPr>
          <p:cNvPr id="47" name="Text 40"/>
          <p:cNvSpPr/>
          <p:nvPr/>
        </p:nvSpPr>
        <p:spPr>
          <a:xfrm>
            <a:off x="3579531" y="2624472"/>
            <a:ext cx="885624" cy="183605"/>
          </a:xfrm>
          <a:prstGeom prst="rect">
            <a:avLst/>
          </a:prstGeom>
          <a:noFill/>
          <a:ln/>
        </p:spPr>
        <p:txBody>
          <a:bodyPr wrap="square" lIns="0" tIns="0" rIns="0" bIns="0" rtlCol="0" anchor="ctr"/>
          <a:lstStyle/>
          <a:p>
            <a:pPr algn="ctr">
              <a:lnSpc>
                <a:spcPct val="102000"/>
              </a:lnSpc>
            </a:pPr>
            <a:r>
              <a:rPr lang="en-US" sz="472" dirty="0">
                <a:solidFill>
                  <a:srgbClr val="F0E9FB"/>
                </a:solidFill>
                <a:latin typeface="Arial" pitchFamily="34" charset="0"/>
                <a:ea typeface="Arial" pitchFamily="34" charset="-122"/>
                <a:cs typeface="Arial" pitchFamily="34" charset="-120"/>
              </a:rPr>
              <a:t>Curate what the</a:t>
            </a:r>
            <a:endParaRPr lang="en-US" sz="472" dirty="0"/>
          </a:p>
          <a:p>
            <a:pPr algn="ctr">
              <a:lnSpc>
                <a:spcPct val="102000"/>
              </a:lnSpc>
            </a:pPr>
            <a:r>
              <a:rPr lang="en-US" sz="472" dirty="0">
                <a:solidFill>
                  <a:srgbClr val="F0E9FB"/>
                </a:solidFill>
                <a:latin typeface="Arial" pitchFamily="34" charset="0"/>
                <a:ea typeface="Arial" pitchFamily="34" charset="-122"/>
                <a:cs typeface="Arial" pitchFamily="34" charset="-120"/>
              </a:rPr>
              <a:t>model sees</a:t>
            </a:r>
            <a:endParaRPr lang="en-US" sz="472" dirty="0"/>
          </a:p>
        </p:txBody>
      </p:sp>
      <p:sp>
        <p:nvSpPr>
          <p:cNvPr id="48" name="Text 41"/>
          <p:cNvSpPr/>
          <p:nvPr/>
        </p:nvSpPr>
        <p:spPr>
          <a:xfrm>
            <a:off x="3590331" y="2829678"/>
            <a:ext cx="864024" cy="237606"/>
          </a:xfrm>
          <a:prstGeom prst="rect">
            <a:avLst/>
          </a:prstGeom>
          <a:noFill/>
          <a:ln/>
        </p:spPr>
        <p:txBody>
          <a:bodyPr wrap="square" lIns="0" tIns="0" rIns="0" bIns="0" rtlCol="0" anchor="ctr"/>
          <a:lstStyle/>
          <a:p>
            <a:pPr algn="ctr">
              <a:lnSpc>
                <a:spcPct val="102000"/>
              </a:lnSpc>
            </a:pPr>
            <a:r>
              <a:rPr lang="en-US" sz="366" i="1" dirty="0">
                <a:solidFill>
                  <a:srgbClr val="E7DFF6"/>
                </a:solidFill>
                <a:latin typeface="Arial" pitchFamily="34" charset="0"/>
                <a:ea typeface="Arial" pitchFamily="34" charset="-122"/>
                <a:cs typeface="Arial" pitchFamily="34" charset="-120"/>
              </a:rPr>
              <a:t>e.g. right spec revision, SPC window and prior NCRs — nothing else</a:t>
            </a:r>
            <a:endParaRPr lang="en-US" sz="366" dirty="0"/>
          </a:p>
        </p:txBody>
      </p:sp>
      <p:sp>
        <p:nvSpPr>
          <p:cNvPr id="49" name="Shape 42"/>
          <p:cNvSpPr/>
          <p:nvPr/>
        </p:nvSpPr>
        <p:spPr>
          <a:xfrm>
            <a:off x="4497556" y="2019655"/>
            <a:ext cx="4147313" cy="1101630"/>
          </a:xfrm>
          <a:prstGeom prst="roundRect">
            <a:avLst>
              <a:gd name="adj" fmla="val 2941"/>
            </a:avLst>
          </a:prstGeom>
          <a:solidFill>
            <a:srgbClr val="FFFFFF"/>
          </a:solidFill>
          <a:ln w="12700">
            <a:solidFill>
              <a:srgbClr val="2E9E4F"/>
            </a:solidFill>
            <a:prstDash val="solid"/>
          </a:ln>
        </p:spPr>
      </p:sp>
      <p:sp>
        <p:nvSpPr>
          <p:cNvPr id="50" name="Shape 43"/>
          <p:cNvSpPr/>
          <p:nvPr/>
        </p:nvSpPr>
        <p:spPr>
          <a:xfrm>
            <a:off x="4616360" y="2095258"/>
            <a:ext cx="1026028" cy="669618"/>
          </a:xfrm>
          <a:prstGeom prst="roundRect">
            <a:avLst>
              <a:gd name="adj" fmla="val 4032"/>
            </a:avLst>
          </a:prstGeom>
          <a:solidFill>
            <a:srgbClr val="EDF8F0"/>
          </a:solidFill>
          <a:ln w="12700">
            <a:solidFill>
              <a:srgbClr val="AEDCBB"/>
            </a:solidFill>
            <a:prstDash val="solid"/>
          </a:ln>
        </p:spPr>
      </p:sp>
      <p:sp>
        <p:nvSpPr>
          <p:cNvPr id="51" name="Text 44"/>
          <p:cNvSpPr/>
          <p:nvPr/>
        </p:nvSpPr>
        <p:spPr>
          <a:xfrm>
            <a:off x="4637960" y="2122258"/>
            <a:ext cx="982827" cy="97203"/>
          </a:xfrm>
          <a:prstGeom prst="rect">
            <a:avLst/>
          </a:prstGeom>
          <a:noFill/>
          <a:ln/>
        </p:spPr>
        <p:txBody>
          <a:bodyPr wrap="square" lIns="0" tIns="0" rIns="0" bIns="0" rtlCol="0" anchor="ctr"/>
          <a:lstStyle/>
          <a:p>
            <a:pPr algn="ctr"/>
            <a:r>
              <a:rPr lang="en-US" sz="532" b="1" dirty="0">
                <a:solidFill>
                  <a:srgbClr val="1F2937"/>
                </a:solidFill>
                <a:latin typeface="Arial" pitchFamily="34" charset="0"/>
                <a:ea typeface="Arial" pitchFamily="34" charset="-122"/>
                <a:cs typeface="Arial" pitchFamily="34" charset="-120"/>
              </a:rPr>
              <a:t>Signals</a:t>
            </a:r>
            <a:endParaRPr lang="en-US" sz="532" dirty="0"/>
          </a:p>
        </p:txBody>
      </p:sp>
      <p:sp>
        <p:nvSpPr>
          <p:cNvPr id="52" name="Shape 45"/>
          <p:cNvSpPr/>
          <p:nvPr/>
        </p:nvSpPr>
        <p:spPr>
          <a:xfrm>
            <a:off x="4654161" y="2241062"/>
            <a:ext cx="453612" cy="226806"/>
          </a:xfrm>
          <a:prstGeom prst="roundRect">
            <a:avLst>
              <a:gd name="adj" fmla="val 9524"/>
            </a:avLst>
          </a:prstGeom>
          <a:solidFill>
            <a:srgbClr val="FFFFFF"/>
          </a:solidFill>
          <a:ln w="12700">
            <a:solidFill>
              <a:srgbClr val="AEDCBB"/>
            </a:solidFill>
            <a:prstDash val="solid"/>
          </a:ln>
        </p:spPr>
      </p:sp>
      <p:sp>
        <p:nvSpPr>
          <p:cNvPr id="53" name="Text 46"/>
          <p:cNvSpPr/>
          <p:nvPr/>
        </p:nvSpPr>
        <p:spPr>
          <a:xfrm>
            <a:off x="4670361" y="2241062"/>
            <a:ext cx="421212" cy="226806"/>
          </a:xfrm>
          <a:prstGeom prst="rect">
            <a:avLst/>
          </a:prstGeom>
          <a:noFill/>
          <a:ln/>
        </p:spPr>
        <p:txBody>
          <a:bodyPr wrap="square" lIns="0" tIns="0" rIns="0" bIns="0" rtlCol="0" anchor="ctr"/>
          <a:lstStyle/>
          <a:p>
            <a:pPr algn="ctr"/>
            <a:r>
              <a:rPr lang="en-US" sz="437" b="1" dirty="0">
                <a:solidFill>
                  <a:srgbClr val="1F2937"/>
                </a:solidFill>
                <a:latin typeface="Arial" pitchFamily="34" charset="0"/>
                <a:ea typeface="Arial" pitchFamily="34" charset="-122"/>
                <a:cs typeface="Arial" pitchFamily="34" charset="-120"/>
              </a:rPr>
              <a:t>Query</a:t>
            </a:r>
            <a:endParaRPr lang="en-US" sz="437" dirty="0"/>
          </a:p>
        </p:txBody>
      </p:sp>
      <p:sp>
        <p:nvSpPr>
          <p:cNvPr id="54" name="Shape 47"/>
          <p:cNvSpPr/>
          <p:nvPr/>
        </p:nvSpPr>
        <p:spPr>
          <a:xfrm>
            <a:off x="5150974" y="2241062"/>
            <a:ext cx="453612" cy="226806"/>
          </a:xfrm>
          <a:prstGeom prst="roundRect">
            <a:avLst>
              <a:gd name="adj" fmla="val 9524"/>
            </a:avLst>
          </a:prstGeom>
          <a:solidFill>
            <a:srgbClr val="FFFFFF"/>
          </a:solidFill>
          <a:ln w="12700">
            <a:solidFill>
              <a:srgbClr val="AEDCBB"/>
            </a:solidFill>
            <a:prstDash val="solid"/>
          </a:ln>
        </p:spPr>
      </p:sp>
      <p:sp>
        <p:nvSpPr>
          <p:cNvPr id="55" name="Text 48"/>
          <p:cNvSpPr/>
          <p:nvPr/>
        </p:nvSpPr>
        <p:spPr>
          <a:xfrm>
            <a:off x="5167174" y="2241062"/>
            <a:ext cx="421212" cy="226806"/>
          </a:xfrm>
          <a:prstGeom prst="rect">
            <a:avLst/>
          </a:prstGeom>
          <a:noFill/>
          <a:ln/>
        </p:spPr>
        <p:txBody>
          <a:bodyPr wrap="square" lIns="0" tIns="0" rIns="0" bIns="0" rtlCol="0" anchor="ctr"/>
          <a:lstStyle/>
          <a:p>
            <a:pPr algn="ctr"/>
            <a:r>
              <a:rPr lang="en-US" sz="437" b="1" dirty="0">
                <a:solidFill>
                  <a:srgbClr val="1F2937"/>
                </a:solidFill>
                <a:latin typeface="Arial" pitchFamily="34" charset="0"/>
                <a:ea typeface="Arial" pitchFamily="34" charset="-122"/>
                <a:cs typeface="Arial" pitchFamily="34" charset="-120"/>
              </a:rPr>
              <a:t>Specs &amp;</a:t>
            </a:r>
            <a:endParaRPr lang="en-US" sz="437" dirty="0"/>
          </a:p>
          <a:p>
            <a:pPr algn="ctr"/>
            <a:r>
              <a:rPr lang="en-US" sz="437" b="1" dirty="0">
                <a:solidFill>
                  <a:srgbClr val="1F2937"/>
                </a:solidFill>
                <a:latin typeface="Arial" pitchFamily="34" charset="0"/>
                <a:ea typeface="Arial" pitchFamily="34" charset="-122"/>
                <a:cs typeface="Arial" pitchFamily="34" charset="-120"/>
              </a:rPr>
              <a:t>SOPs</a:t>
            </a:r>
            <a:endParaRPr lang="en-US" sz="437" dirty="0"/>
          </a:p>
        </p:txBody>
      </p:sp>
      <p:sp>
        <p:nvSpPr>
          <p:cNvPr id="56" name="Shape 49"/>
          <p:cNvSpPr/>
          <p:nvPr/>
        </p:nvSpPr>
        <p:spPr>
          <a:xfrm>
            <a:off x="4654161" y="2489468"/>
            <a:ext cx="453612" cy="226806"/>
          </a:xfrm>
          <a:prstGeom prst="roundRect">
            <a:avLst>
              <a:gd name="adj" fmla="val 9524"/>
            </a:avLst>
          </a:prstGeom>
          <a:solidFill>
            <a:srgbClr val="FFFFFF"/>
          </a:solidFill>
          <a:ln w="12700">
            <a:solidFill>
              <a:srgbClr val="AEDCBB"/>
            </a:solidFill>
            <a:prstDash val="solid"/>
          </a:ln>
        </p:spPr>
      </p:sp>
      <p:sp>
        <p:nvSpPr>
          <p:cNvPr id="57" name="Text 50"/>
          <p:cNvSpPr/>
          <p:nvPr/>
        </p:nvSpPr>
        <p:spPr>
          <a:xfrm>
            <a:off x="4670361" y="2489468"/>
            <a:ext cx="421212" cy="226806"/>
          </a:xfrm>
          <a:prstGeom prst="rect">
            <a:avLst/>
          </a:prstGeom>
          <a:noFill/>
          <a:ln/>
        </p:spPr>
        <p:txBody>
          <a:bodyPr wrap="square" lIns="0" tIns="0" rIns="0" bIns="0" rtlCol="0" anchor="ctr"/>
          <a:lstStyle/>
          <a:p>
            <a:pPr algn="ctr"/>
            <a:r>
              <a:rPr lang="en-US" sz="437" b="1" dirty="0">
                <a:solidFill>
                  <a:srgbClr val="1F2937"/>
                </a:solidFill>
                <a:latin typeface="Arial" pitchFamily="34" charset="0"/>
                <a:ea typeface="Arial" pitchFamily="34" charset="-122"/>
                <a:cs typeface="Arial" pitchFamily="34" charset="-120"/>
              </a:rPr>
              <a:t>Memory</a:t>
            </a:r>
            <a:endParaRPr lang="en-US" sz="437" dirty="0"/>
          </a:p>
        </p:txBody>
      </p:sp>
      <p:sp>
        <p:nvSpPr>
          <p:cNvPr id="58" name="Shape 51"/>
          <p:cNvSpPr/>
          <p:nvPr/>
        </p:nvSpPr>
        <p:spPr>
          <a:xfrm>
            <a:off x="5150974" y="2489468"/>
            <a:ext cx="453612" cy="226806"/>
          </a:xfrm>
          <a:prstGeom prst="roundRect">
            <a:avLst>
              <a:gd name="adj" fmla="val 9524"/>
            </a:avLst>
          </a:prstGeom>
          <a:solidFill>
            <a:srgbClr val="FFFFFF"/>
          </a:solidFill>
          <a:ln w="12700">
            <a:solidFill>
              <a:srgbClr val="AEDCBB"/>
            </a:solidFill>
            <a:prstDash val="solid"/>
          </a:ln>
        </p:spPr>
      </p:sp>
      <p:sp>
        <p:nvSpPr>
          <p:cNvPr id="59" name="Text 52"/>
          <p:cNvSpPr/>
          <p:nvPr/>
        </p:nvSpPr>
        <p:spPr>
          <a:xfrm>
            <a:off x="5167174" y="2489468"/>
            <a:ext cx="421212" cy="226806"/>
          </a:xfrm>
          <a:prstGeom prst="rect">
            <a:avLst/>
          </a:prstGeom>
          <a:noFill/>
          <a:ln/>
        </p:spPr>
        <p:txBody>
          <a:bodyPr wrap="square" lIns="0" tIns="0" rIns="0" bIns="0" rtlCol="0" anchor="ctr"/>
          <a:lstStyle/>
          <a:p>
            <a:pPr algn="ctr"/>
            <a:r>
              <a:rPr lang="en-US" sz="437" b="1" dirty="0">
                <a:solidFill>
                  <a:srgbClr val="1F2937"/>
                </a:solidFill>
                <a:latin typeface="Arial" pitchFamily="34" charset="0"/>
                <a:ea typeface="Arial" pitchFamily="34" charset="-122"/>
                <a:cs typeface="Arial" pitchFamily="34" charset="-120"/>
              </a:rPr>
              <a:t>PI / MES</a:t>
            </a:r>
            <a:endParaRPr lang="en-US" sz="437" dirty="0"/>
          </a:p>
          <a:p>
            <a:pPr algn="ctr"/>
            <a:r>
              <a:rPr lang="en-US" sz="437" b="1" dirty="0">
                <a:solidFill>
                  <a:srgbClr val="1F2937"/>
                </a:solidFill>
                <a:latin typeface="Arial" pitchFamily="34" charset="0"/>
                <a:ea typeface="Arial" pitchFamily="34" charset="-122"/>
                <a:cs typeface="Arial" pitchFamily="34" charset="-120"/>
              </a:rPr>
              <a:t>Results</a:t>
            </a:r>
            <a:endParaRPr lang="en-US" sz="437" dirty="0"/>
          </a:p>
        </p:txBody>
      </p:sp>
      <p:sp>
        <p:nvSpPr>
          <p:cNvPr id="60" name="Shape 53"/>
          <p:cNvSpPr/>
          <p:nvPr/>
        </p:nvSpPr>
        <p:spPr>
          <a:xfrm>
            <a:off x="5890794" y="2116858"/>
            <a:ext cx="723620" cy="356410"/>
          </a:xfrm>
          <a:prstGeom prst="roundRect">
            <a:avLst>
              <a:gd name="adj" fmla="val 7576"/>
            </a:avLst>
          </a:prstGeom>
          <a:solidFill>
            <a:srgbClr val="EDF8F0"/>
          </a:solidFill>
          <a:ln w="12700">
            <a:solidFill>
              <a:srgbClr val="AEDCBB"/>
            </a:solidFill>
            <a:prstDash val="solid"/>
          </a:ln>
        </p:spPr>
      </p:sp>
      <p:pic>
        <p:nvPicPr>
          <p:cNvPr id="61" name="Image 5" descr="/sessions/zealous-intelligent-mayer/mnt/outputs/icons6/b2_router.png"/>
          <p:cNvPicPr>
            <a:picLocks noChangeAspect="1"/>
          </p:cNvPicPr>
          <p:nvPr/>
        </p:nvPicPr>
        <p:blipFill>
          <a:blip r:embed="rId8"/>
          <a:stretch>
            <a:fillRect/>
          </a:stretch>
        </p:blipFill>
        <p:spPr>
          <a:xfrm>
            <a:off x="5928595" y="2230261"/>
            <a:ext cx="129604" cy="129604"/>
          </a:xfrm>
          <a:prstGeom prst="rect">
            <a:avLst/>
          </a:prstGeom>
        </p:spPr>
      </p:pic>
      <p:sp>
        <p:nvSpPr>
          <p:cNvPr id="62" name="Text 54"/>
          <p:cNvSpPr/>
          <p:nvPr/>
        </p:nvSpPr>
        <p:spPr>
          <a:xfrm>
            <a:off x="6096000" y="2116858"/>
            <a:ext cx="491413" cy="356410"/>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Context</a:t>
            </a:r>
            <a:endParaRPr lang="en-US" sz="472" dirty="0"/>
          </a:p>
          <a:p>
            <a:r>
              <a:rPr lang="en-US" sz="472" b="1" dirty="0">
                <a:solidFill>
                  <a:srgbClr val="1F2937"/>
                </a:solidFill>
                <a:latin typeface="Arial" pitchFamily="34" charset="0"/>
                <a:ea typeface="Arial" pitchFamily="34" charset="-122"/>
                <a:cs typeface="Arial" pitchFamily="34" charset="-120"/>
              </a:rPr>
              <a:t>Router</a:t>
            </a:r>
            <a:endParaRPr lang="en-US" sz="472" dirty="0"/>
          </a:p>
        </p:txBody>
      </p:sp>
      <p:sp>
        <p:nvSpPr>
          <p:cNvPr id="63" name="Shape 55"/>
          <p:cNvSpPr/>
          <p:nvPr/>
        </p:nvSpPr>
        <p:spPr>
          <a:xfrm>
            <a:off x="6765618" y="2116858"/>
            <a:ext cx="669618" cy="356410"/>
          </a:xfrm>
          <a:prstGeom prst="roundRect">
            <a:avLst>
              <a:gd name="adj" fmla="val 7576"/>
            </a:avLst>
          </a:prstGeom>
          <a:solidFill>
            <a:srgbClr val="EDF8F0"/>
          </a:solidFill>
          <a:ln w="12700">
            <a:solidFill>
              <a:srgbClr val="AEDCBB"/>
            </a:solidFill>
            <a:prstDash val="solid"/>
          </a:ln>
        </p:spPr>
      </p:sp>
      <p:pic>
        <p:nvPicPr>
          <p:cNvPr id="64" name="Image 6" descr="/sessions/zealous-intelligent-mayer/mnt/outputs/icons6/b2_ret.png"/>
          <p:cNvPicPr>
            <a:picLocks noChangeAspect="1"/>
          </p:cNvPicPr>
          <p:nvPr/>
        </p:nvPicPr>
        <p:blipFill>
          <a:blip r:embed="rId9"/>
          <a:stretch>
            <a:fillRect/>
          </a:stretch>
        </p:blipFill>
        <p:spPr>
          <a:xfrm>
            <a:off x="6803419" y="2230261"/>
            <a:ext cx="129604" cy="129604"/>
          </a:xfrm>
          <a:prstGeom prst="rect">
            <a:avLst/>
          </a:prstGeom>
        </p:spPr>
      </p:pic>
      <p:sp>
        <p:nvSpPr>
          <p:cNvPr id="65" name="Text 56"/>
          <p:cNvSpPr/>
          <p:nvPr/>
        </p:nvSpPr>
        <p:spPr>
          <a:xfrm>
            <a:off x="6970824" y="2116858"/>
            <a:ext cx="437412" cy="356410"/>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Retrieve</a:t>
            </a:r>
            <a:endParaRPr lang="en-US" sz="472" dirty="0"/>
          </a:p>
        </p:txBody>
      </p:sp>
      <p:sp>
        <p:nvSpPr>
          <p:cNvPr id="66" name="Shape 57"/>
          <p:cNvSpPr/>
          <p:nvPr/>
        </p:nvSpPr>
        <p:spPr>
          <a:xfrm>
            <a:off x="7586441" y="2116858"/>
            <a:ext cx="831623" cy="356410"/>
          </a:xfrm>
          <a:prstGeom prst="roundRect">
            <a:avLst>
              <a:gd name="adj" fmla="val 7576"/>
            </a:avLst>
          </a:prstGeom>
          <a:solidFill>
            <a:srgbClr val="EDF8F0"/>
          </a:solidFill>
          <a:ln w="12700">
            <a:solidFill>
              <a:srgbClr val="AEDCBB"/>
            </a:solidFill>
            <a:prstDash val="solid"/>
          </a:ln>
        </p:spPr>
      </p:sp>
      <p:pic>
        <p:nvPicPr>
          <p:cNvPr id="67" name="Image 7" descr="/sessions/zealous-intelligent-mayer/mnt/outputs/icons6/b2_rank.png"/>
          <p:cNvPicPr>
            <a:picLocks noChangeAspect="1"/>
          </p:cNvPicPr>
          <p:nvPr/>
        </p:nvPicPr>
        <p:blipFill>
          <a:blip r:embed="rId10"/>
          <a:stretch>
            <a:fillRect/>
          </a:stretch>
        </p:blipFill>
        <p:spPr>
          <a:xfrm>
            <a:off x="7624242" y="2230261"/>
            <a:ext cx="129604" cy="129604"/>
          </a:xfrm>
          <a:prstGeom prst="rect">
            <a:avLst/>
          </a:prstGeom>
        </p:spPr>
      </p:pic>
      <p:sp>
        <p:nvSpPr>
          <p:cNvPr id="68" name="Text 58"/>
          <p:cNvSpPr/>
          <p:nvPr/>
        </p:nvSpPr>
        <p:spPr>
          <a:xfrm>
            <a:off x="7791647" y="2116858"/>
            <a:ext cx="599416" cy="356410"/>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Rank +</a:t>
            </a:r>
            <a:endParaRPr lang="en-US" sz="472" dirty="0"/>
          </a:p>
          <a:p>
            <a:r>
              <a:rPr lang="en-US" sz="472" b="1" dirty="0">
                <a:solidFill>
                  <a:srgbClr val="1F2937"/>
                </a:solidFill>
                <a:latin typeface="Arial" pitchFamily="34" charset="0"/>
                <a:ea typeface="Arial" pitchFamily="34" charset="-122"/>
                <a:cs typeface="Arial" pitchFamily="34" charset="-120"/>
              </a:rPr>
              <a:t>Compress</a:t>
            </a:r>
            <a:endParaRPr lang="en-US" sz="472" dirty="0"/>
          </a:p>
        </p:txBody>
      </p:sp>
      <p:sp>
        <p:nvSpPr>
          <p:cNvPr id="69" name="Shape 59"/>
          <p:cNvSpPr/>
          <p:nvPr/>
        </p:nvSpPr>
        <p:spPr>
          <a:xfrm>
            <a:off x="7586441" y="2624472"/>
            <a:ext cx="831623" cy="356410"/>
          </a:xfrm>
          <a:prstGeom prst="roundRect">
            <a:avLst>
              <a:gd name="adj" fmla="val 7576"/>
            </a:avLst>
          </a:prstGeom>
          <a:solidFill>
            <a:srgbClr val="EDF8F0"/>
          </a:solidFill>
          <a:ln w="12700">
            <a:solidFill>
              <a:srgbClr val="AEDCBB"/>
            </a:solidFill>
            <a:prstDash val="solid"/>
          </a:ln>
        </p:spPr>
      </p:sp>
      <p:pic>
        <p:nvPicPr>
          <p:cNvPr id="70" name="Image 8" descr="/sessions/zealous-intelligent-mayer/mnt/outputs/icons6/b2_pack.png"/>
          <p:cNvPicPr>
            <a:picLocks noChangeAspect="1"/>
          </p:cNvPicPr>
          <p:nvPr/>
        </p:nvPicPr>
        <p:blipFill>
          <a:blip r:embed="rId11"/>
          <a:stretch>
            <a:fillRect/>
          </a:stretch>
        </p:blipFill>
        <p:spPr>
          <a:xfrm>
            <a:off x="7624242" y="2737875"/>
            <a:ext cx="129604" cy="129604"/>
          </a:xfrm>
          <a:prstGeom prst="rect">
            <a:avLst/>
          </a:prstGeom>
        </p:spPr>
      </p:pic>
      <p:sp>
        <p:nvSpPr>
          <p:cNvPr id="71" name="Text 60"/>
          <p:cNvSpPr/>
          <p:nvPr/>
        </p:nvSpPr>
        <p:spPr>
          <a:xfrm>
            <a:off x="7791647" y="2624472"/>
            <a:ext cx="599416" cy="356410"/>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Context</a:t>
            </a:r>
            <a:endParaRPr lang="en-US" sz="472" dirty="0"/>
          </a:p>
          <a:p>
            <a:r>
              <a:rPr lang="en-US" sz="472" b="1" dirty="0">
                <a:solidFill>
                  <a:srgbClr val="1F2937"/>
                </a:solidFill>
                <a:latin typeface="Arial" pitchFamily="34" charset="0"/>
                <a:ea typeface="Arial" pitchFamily="34" charset="-122"/>
                <a:cs typeface="Arial" pitchFamily="34" charset="-120"/>
              </a:rPr>
              <a:t>Pack</a:t>
            </a:r>
            <a:endParaRPr lang="en-US" sz="472" dirty="0"/>
          </a:p>
        </p:txBody>
      </p:sp>
      <p:sp>
        <p:nvSpPr>
          <p:cNvPr id="72" name="Shape 61"/>
          <p:cNvSpPr/>
          <p:nvPr/>
        </p:nvSpPr>
        <p:spPr>
          <a:xfrm>
            <a:off x="6765618" y="2624472"/>
            <a:ext cx="669618" cy="356410"/>
          </a:xfrm>
          <a:prstGeom prst="roundRect">
            <a:avLst>
              <a:gd name="adj" fmla="val 7576"/>
            </a:avLst>
          </a:prstGeom>
          <a:solidFill>
            <a:srgbClr val="EDF8F0"/>
          </a:solidFill>
          <a:ln w="12700">
            <a:solidFill>
              <a:srgbClr val="AEDCBB"/>
            </a:solidFill>
            <a:prstDash val="solid"/>
          </a:ln>
        </p:spPr>
      </p:sp>
      <p:pic>
        <p:nvPicPr>
          <p:cNvPr id="73" name="Image 9" descr="/sessions/zealous-intelligent-mayer/mnt/outputs/icons6/b2_llm.png"/>
          <p:cNvPicPr>
            <a:picLocks noChangeAspect="1"/>
          </p:cNvPicPr>
          <p:nvPr/>
        </p:nvPicPr>
        <p:blipFill>
          <a:blip r:embed="rId12"/>
          <a:stretch>
            <a:fillRect/>
          </a:stretch>
        </p:blipFill>
        <p:spPr>
          <a:xfrm>
            <a:off x="6803419" y="2737875"/>
            <a:ext cx="129604" cy="129604"/>
          </a:xfrm>
          <a:prstGeom prst="rect">
            <a:avLst/>
          </a:prstGeom>
        </p:spPr>
      </p:pic>
      <p:sp>
        <p:nvSpPr>
          <p:cNvPr id="74" name="Text 62"/>
          <p:cNvSpPr/>
          <p:nvPr/>
        </p:nvSpPr>
        <p:spPr>
          <a:xfrm>
            <a:off x="6970824" y="2624472"/>
            <a:ext cx="437412" cy="356410"/>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LLM</a:t>
            </a:r>
            <a:endParaRPr lang="en-US" sz="472" dirty="0"/>
          </a:p>
        </p:txBody>
      </p:sp>
      <p:sp>
        <p:nvSpPr>
          <p:cNvPr id="75" name="Shape 63"/>
          <p:cNvSpPr/>
          <p:nvPr/>
        </p:nvSpPr>
        <p:spPr>
          <a:xfrm>
            <a:off x="5890794" y="2624472"/>
            <a:ext cx="723620" cy="356410"/>
          </a:xfrm>
          <a:prstGeom prst="roundRect">
            <a:avLst>
              <a:gd name="adj" fmla="val 7576"/>
            </a:avLst>
          </a:prstGeom>
          <a:solidFill>
            <a:srgbClr val="EDF8F0"/>
          </a:solidFill>
          <a:ln w="12700">
            <a:solidFill>
              <a:srgbClr val="AEDCBB"/>
            </a:solidFill>
            <a:prstDash val="solid"/>
          </a:ln>
        </p:spPr>
      </p:sp>
      <p:pic>
        <p:nvPicPr>
          <p:cNvPr id="76" name="Image 10" descr="/sessions/zealous-intelligent-mayer/mnt/outputs/icons6/b2_ans.png"/>
          <p:cNvPicPr>
            <a:picLocks noChangeAspect="1"/>
          </p:cNvPicPr>
          <p:nvPr/>
        </p:nvPicPr>
        <p:blipFill>
          <a:blip r:embed="rId13"/>
          <a:stretch>
            <a:fillRect/>
          </a:stretch>
        </p:blipFill>
        <p:spPr>
          <a:xfrm>
            <a:off x="5928595" y="2737875"/>
            <a:ext cx="129604" cy="129604"/>
          </a:xfrm>
          <a:prstGeom prst="rect">
            <a:avLst/>
          </a:prstGeom>
        </p:spPr>
      </p:pic>
      <p:sp>
        <p:nvSpPr>
          <p:cNvPr id="77" name="Text 64"/>
          <p:cNvSpPr/>
          <p:nvPr/>
        </p:nvSpPr>
        <p:spPr>
          <a:xfrm>
            <a:off x="6096000" y="2624472"/>
            <a:ext cx="491413" cy="356410"/>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Grounded</a:t>
            </a:r>
            <a:endParaRPr lang="en-US" sz="472" dirty="0"/>
          </a:p>
          <a:p>
            <a:r>
              <a:rPr lang="en-US" sz="472" b="1" dirty="0">
                <a:solidFill>
                  <a:srgbClr val="1F2937"/>
                </a:solidFill>
                <a:latin typeface="Arial" pitchFamily="34" charset="0"/>
                <a:ea typeface="Arial" pitchFamily="34" charset="-122"/>
                <a:cs typeface="Arial" pitchFamily="34" charset="-120"/>
              </a:rPr>
              <a:t>Answer</a:t>
            </a:r>
            <a:endParaRPr lang="en-US" sz="472" dirty="0"/>
          </a:p>
        </p:txBody>
      </p:sp>
      <p:sp>
        <p:nvSpPr>
          <p:cNvPr id="78" name="Shape 65"/>
          <p:cNvSpPr/>
          <p:nvPr/>
        </p:nvSpPr>
        <p:spPr>
          <a:xfrm>
            <a:off x="5653188" y="2295063"/>
            <a:ext cx="226806" cy="0"/>
          </a:xfrm>
          <a:prstGeom prst="line">
            <a:avLst/>
          </a:prstGeom>
          <a:noFill/>
          <a:ln w="15875">
            <a:solidFill>
              <a:srgbClr val="1F2937"/>
            </a:solidFill>
            <a:prstDash val="solid"/>
            <a:tailEnd type="triangle"/>
          </a:ln>
        </p:spPr>
      </p:sp>
      <p:sp>
        <p:nvSpPr>
          <p:cNvPr id="79" name="Shape 66"/>
          <p:cNvSpPr/>
          <p:nvPr/>
        </p:nvSpPr>
        <p:spPr>
          <a:xfrm>
            <a:off x="6625214" y="2295063"/>
            <a:ext cx="129604" cy="0"/>
          </a:xfrm>
          <a:prstGeom prst="line">
            <a:avLst/>
          </a:prstGeom>
          <a:noFill/>
          <a:ln w="15875">
            <a:solidFill>
              <a:srgbClr val="1F2937"/>
            </a:solidFill>
            <a:prstDash val="solid"/>
            <a:tailEnd type="triangle"/>
          </a:ln>
        </p:spPr>
      </p:sp>
      <p:sp>
        <p:nvSpPr>
          <p:cNvPr id="80" name="Shape 67"/>
          <p:cNvSpPr/>
          <p:nvPr/>
        </p:nvSpPr>
        <p:spPr>
          <a:xfrm>
            <a:off x="7446037" y="2295063"/>
            <a:ext cx="129604" cy="0"/>
          </a:xfrm>
          <a:prstGeom prst="line">
            <a:avLst/>
          </a:prstGeom>
          <a:noFill/>
          <a:ln w="15875">
            <a:solidFill>
              <a:srgbClr val="1F2937"/>
            </a:solidFill>
            <a:prstDash val="solid"/>
            <a:tailEnd type="triangle"/>
          </a:ln>
        </p:spPr>
      </p:sp>
      <p:sp>
        <p:nvSpPr>
          <p:cNvPr id="81" name="Shape 68"/>
          <p:cNvSpPr/>
          <p:nvPr/>
        </p:nvSpPr>
        <p:spPr>
          <a:xfrm>
            <a:off x="8002252" y="2473268"/>
            <a:ext cx="0" cy="151204"/>
          </a:xfrm>
          <a:prstGeom prst="line">
            <a:avLst/>
          </a:prstGeom>
          <a:noFill/>
          <a:ln w="15875">
            <a:solidFill>
              <a:srgbClr val="1F2937"/>
            </a:solidFill>
            <a:prstDash val="solid"/>
            <a:tailEnd type="triangle"/>
          </a:ln>
        </p:spPr>
      </p:sp>
      <p:sp>
        <p:nvSpPr>
          <p:cNvPr id="82" name="Shape 69"/>
          <p:cNvSpPr/>
          <p:nvPr/>
        </p:nvSpPr>
        <p:spPr>
          <a:xfrm>
            <a:off x="7446037" y="2802677"/>
            <a:ext cx="129604" cy="0"/>
          </a:xfrm>
          <a:prstGeom prst="line">
            <a:avLst/>
          </a:prstGeom>
          <a:noFill/>
          <a:ln w="15875">
            <a:solidFill>
              <a:srgbClr val="1F2937"/>
            </a:solidFill>
            <a:prstDash val="solid"/>
            <a:headEnd type="triangle"/>
          </a:ln>
        </p:spPr>
      </p:sp>
      <p:sp>
        <p:nvSpPr>
          <p:cNvPr id="83" name="Shape 70"/>
          <p:cNvSpPr/>
          <p:nvPr/>
        </p:nvSpPr>
        <p:spPr>
          <a:xfrm>
            <a:off x="6625214" y="2802677"/>
            <a:ext cx="129604" cy="0"/>
          </a:xfrm>
          <a:prstGeom prst="line">
            <a:avLst/>
          </a:prstGeom>
          <a:noFill/>
          <a:ln w="15875">
            <a:solidFill>
              <a:srgbClr val="1F2937"/>
            </a:solidFill>
            <a:prstDash val="solid"/>
            <a:headEnd type="triangle"/>
          </a:ln>
        </p:spPr>
      </p:sp>
      <p:sp>
        <p:nvSpPr>
          <p:cNvPr id="84" name="Shape 71"/>
          <p:cNvSpPr/>
          <p:nvPr/>
        </p:nvSpPr>
        <p:spPr>
          <a:xfrm>
            <a:off x="6252604" y="2980881"/>
            <a:ext cx="0" cy="21601"/>
          </a:xfrm>
          <a:prstGeom prst="line">
            <a:avLst/>
          </a:prstGeom>
          <a:noFill/>
          <a:ln w="15875">
            <a:solidFill>
              <a:srgbClr val="2E9E4F"/>
            </a:solidFill>
            <a:prstDash val="dash"/>
          </a:ln>
        </p:spPr>
      </p:sp>
      <p:sp>
        <p:nvSpPr>
          <p:cNvPr id="85" name="Shape 72"/>
          <p:cNvSpPr/>
          <p:nvPr/>
        </p:nvSpPr>
        <p:spPr>
          <a:xfrm>
            <a:off x="4799964" y="3002482"/>
            <a:ext cx="1452640" cy="0"/>
          </a:xfrm>
          <a:prstGeom prst="line">
            <a:avLst/>
          </a:prstGeom>
          <a:noFill/>
          <a:ln w="15875">
            <a:solidFill>
              <a:srgbClr val="2E9E4F"/>
            </a:solidFill>
            <a:prstDash val="dash"/>
          </a:ln>
        </p:spPr>
      </p:sp>
      <p:sp>
        <p:nvSpPr>
          <p:cNvPr id="86" name="Shape 73"/>
          <p:cNvSpPr/>
          <p:nvPr/>
        </p:nvSpPr>
        <p:spPr>
          <a:xfrm>
            <a:off x="4799965" y="2764876"/>
            <a:ext cx="0" cy="237606"/>
          </a:xfrm>
          <a:prstGeom prst="line">
            <a:avLst/>
          </a:prstGeom>
          <a:noFill/>
          <a:ln w="15875">
            <a:solidFill>
              <a:srgbClr val="2E9E4F"/>
            </a:solidFill>
            <a:prstDash val="dash"/>
            <a:headEnd type="triangle"/>
          </a:ln>
        </p:spPr>
      </p:sp>
      <p:sp>
        <p:nvSpPr>
          <p:cNvPr id="87" name="Text 74"/>
          <p:cNvSpPr/>
          <p:nvPr/>
        </p:nvSpPr>
        <p:spPr>
          <a:xfrm>
            <a:off x="4637960" y="2883679"/>
            <a:ext cx="1231234" cy="81002"/>
          </a:xfrm>
          <a:prstGeom prst="rect">
            <a:avLst/>
          </a:prstGeom>
          <a:noFill/>
          <a:ln/>
        </p:spPr>
        <p:txBody>
          <a:bodyPr wrap="square" lIns="0" tIns="0" rIns="0" bIns="0" rtlCol="0" anchor="ctr"/>
          <a:lstStyle/>
          <a:p>
            <a:r>
              <a:rPr lang="en-US" sz="425" b="1" dirty="0">
                <a:solidFill>
                  <a:srgbClr val="2E9E4F"/>
                </a:solidFill>
                <a:latin typeface="Arial" pitchFamily="34" charset="0"/>
                <a:ea typeface="Arial" pitchFamily="34" charset="-122"/>
                <a:cs typeface="Arial" pitchFamily="34" charset="-120"/>
              </a:rPr>
              <a:t>Store useful outcomes, discard noise</a:t>
            </a:r>
            <a:endParaRPr lang="en-US" sz="425" dirty="0"/>
          </a:p>
        </p:txBody>
      </p:sp>
      <p:sp>
        <p:nvSpPr>
          <p:cNvPr id="88" name="Text 75"/>
          <p:cNvSpPr/>
          <p:nvPr/>
        </p:nvSpPr>
        <p:spPr>
          <a:xfrm>
            <a:off x="4497556" y="3034883"/>
            <a:ext cx="4147313" cy="86402"/>
          </a:xfrm>
          <a:prstGeom prst="rect">
            <a:avLst/>
          </a:prstGeom>
          <a:noFill/>
          <a:ln/>
        </p:spPr>
        <p:txBody>
          <a:bodyPr wrap="square" lIns="0" tIns="0" rIns="0" bIns="0" rtlCol="0" anchor="ctr"/>
          <a:lstStyle/>
          <a:p>
            <a:pPr algn="ctr"/>
            <a:r>
              <a:rPr lang="en-US" sz="502" b="1" dirty="0">
                <a:solidFill>
                  <a:srgbClr val="2E9E4F"/>
                </a:solidFill>
                <a:latin typeface="Arial" pitchFamily="34" charset="0"/>
                <a:ea typeface="Arial" pitchFamily="34" charset="-122"/>
                <a:cs typeface="Arial" pitchFamily="34" charset="-120"/>
              </a:rPr>
              <a:t>Unit of work: </a:t>
            </a:r>
            <a:r>
              <a:rPr lang="en-US" sz="502" dirty="0">
                <a:solidFill>
                  <a:srgbClr val="1F2937"/>
                </a:solidFill>
                <a:latin typeface="Arial" pitchFamily="34" charset="0"/>
                <a:ea typeface="Arial" pitchFamily="34" charset="-122"/>
                <a:cs typeface="Arial" pitchFamily="34" charset="-120"/>
              </a:rPr>
              <a:t>one context package</a:t>
            </a:r>
            <a:endParaRPr lang="en-US" sz="502" dirty="0"/>
          </a:p>
        </p:txBody>
      </p:sp>
      <p:sp>
        <p:nvSpPr>
          <p:cNvPr id="89" name="Shape 76"/>
          <p:cNvSpPr/>
          <p:nvPr/>
        </p:nvSpPr>
        <p:spPr>
          <a:xfrm>
            <a:off x="3547130" y="3175287"/>
            <a:ext cx="950426" cy="1198833"/>
          </a:xfrm>
          <a:prstGeom prst="roundRect">
            <a:avLst>
              <a:gd name="adj" fmla="val 3409"/>
            </a:avLst>
          </a:prstGeom>
          <a:solidFill>
            <a:srgbClr val="1F5FA8"/>
          </a:solidFill>
          <a:ln w="12700">
            <a:solidFill>
              <a:srgbClr val="1F5FA8"/>
            </a:solidFill>
            <a:prstDash val="solid"/>
          </a:ln>
        </p:spPr>
      </p:sp>
      <p:sp>
        <p:nvSpPr>
          <p:cNvPr id="90" name="Shape 77"/>
          <p:cNvSpPr/>
          <p:nvPr/>
        </p:nvSpPr>
        <p:spPr>
          <a:xfrm>
            <a:off x="3881939" y="3250889"/>
            <a:ext cx="280808" cy="280808"/>
          </a:xfrm>
          <a:prstGeom prst="roundRect">
            <a:avLst>
              <a:gd name="adj" fmla="val 11538"/>
            </a:avLst>
          </a:prstGeom>
          <a:solidFill>
            <a:srgbClr val="FFFFFF"/>
          </a:solidFill>
          <a:ln/>
        </p:spPr>
      </p:sp>
      <p:pic>
        <p:nvPicPr>
          <p:cNvPr id="91" name="Image 11" descr="/sessions/zealous-intelligent-mayer/mnt/outputs/icons6/lp3.png"/>
          <p:cNvPicPr>
            <a:picLocks noChangeAspect="1"/>
          </p:cNvPicPr>
          <p:nvPr/>
        </p:nvPicPr>
        <p:blipFill>
          <a:blip r:embed="rId14"/>
          <a:stretch>
            <a:fillRect/>
          </a:stretch>
        </p:blipFill>
        <p:spPr>
          <a:xfrm>
            <a:off x="3952141" y="3321091"/>
            <a:ext cx="140404" cy="140404"/>
          </a:xfrm>
          <a:prstGeom prst="rect">
            <a:avLst/>
          </a:prstGeom>
        </p:spPr>
      </p:pic>
      <p:sp>
        <p:nvSpPr>
          <p:cNvPr id="92" name="Text 78"/>
          <p:cNvSpPr/>
          <p:nvPr/>
        </p:nvSpPr>
        <p:spPr>
          <a:xfrm>
            <a:off x="3568731" y="3564097"/>
            <a:ext cx="907225" cy="205206"/>
          </a:xfrm>
          <a:prstGeom prst="rect">
            <a:avLst/>
          </a:prstGeom>
          <a:noFill/>
          <a:ln/>
        </p:spPr>
        <p:txBody>
          <a:bodyPr wrap="square" lIns="0" tIns="0" rIns="0" bIns="0" rtlCol="0" anchor="ctr"/>
          <a:lstStyle/>
          <a:p>
            <a:pPr algn="ctr"/>
            <a:r>
              <a:rPr lang="en-US" sz="650" b="1" dirty="0">
                <a:solidFill>
                  <a:srgbClr val="FFFFFF"/>
                </a:solidFill>
                <a:latin typeface="Arial" pitchFamily="34" charset="0"/>
                <a:ea typeface="Arial" pitchFamily="34" charset="-122"/>
                <a:cs typeface="Arial" pitchFamily="34" charset="-120"/>
              </a:rPr>
              <a:t>Harness</a:t>
            </a:r>
            <a:endParaRPr lang="en-US" sz="650" dirty="0"/>
          </a:p>
          <a:p>
            <a:pPr algn="ctr"/>
            <a:r>
              <a:rPr lang="en-US" sz="650" b="1" dirty="0">
                <a:solidFill>
                  <a:srgbClr val="FFFFFF"/>
                </a:solidFill>
                <a:latin typeface="Arial" pitchFamily="34" charset="0"/>
                <a:ea typeface="Arial" pitchFamily="34" charset="-122"/>
                <a:cs typeface="Arial" pitchFamily="34" charset="-120"/>
              </a:rPr>
              <a:t>Engineering</a:t>
            </a:r>
            <a:endParaRPr lang="en-US" sz="650" dirty="0"/>
          </a:p>
        </p:txBody>
      </p:sp>
      <p:sp>
        <p:nvSpPr>
          <p:cNvPr id="93" name="Text 79"/>
          <p:cNvSpPr/>
          <p:nvPr/>
        </p:nvSpPr>
        <p:spPr>
          <a:xfrm>
            <a:off x="3579531" y="3780104"/>
            <a:ext cx="885624" cy="183605"/>
          </a:xfrm>
          <a:prstGeom prst="rect">
            <a:avLst/>
          </a:prstGeom>
          <a:noFill/>
          <a:ln/>
        </p:spPr>
        <p:txBody>
          <a:bodyPr wrap="square" lIns="0" tIns="0" rIns="0" bIns="0" rtlCol="0" anchor="ctr"/>
          <a:lstStyle/>
          <a:p>
            <a:pPr algn="ctr">
              <a:lnSpc>
                <a:spcPct val="102000"/>
              </a:lnSpc>
            </a:pPr>
            <a:r>
              <a:rPr lang="en-US" sz="472" dirty="0">
                <a:solidFill>
                  <a:srgbClr val="F0E9FB"/>
                </a:solidFill>
                <a:latin typeface="Arial" pitchFamily="34" charset="0"/>
                <a:ea typeface="Arial" pitchFamily="34" charset="-122"/>
                <a:cs typeface="Arial" pitchFamily="34" charset="-120"/>
              </a:rPr>
              <a:t>Connect reasoning</a:t>
            </a:r>
            <a:endParaRPr lang="en-US" sz="472" dirty="0"/>
          </a:p>
          <a:p>
            <a:pPr algn="ctr">
              <a:lnSpc>
                <a:spcPct val="102000"/>
              </a:lnSpc>
            </a:pPr>
            <a:r>
              <a:rPr lang="en-US" sz="472" dirty="0">
                <a:solidFill>
                  <a:srgbClr val="F0E9FB"/>
                </a:solidFill>
                <a:latin typeface="Arial" pitchFamily="34" charset="0"/>
                <a:ea typeface="Arial" pitchFamily="34" charset="-122"/>
                <a:cs typeface="Arial" pitchFamily="34" charset="-120"/>
              </a:rPr>
              <a:t>to action</a:t>
            </a:r>
            <a:endParaRPr lang="en-US" sz="472" dirty="0"/>
          </a:p>
        </p:txBody>
      </p:sp>
      <p:sp>
        <p:nvSpPr>
          <p:cNvPr id="94" name="Text 80"/>
          <p:cNvSpPr/>
          <p:nvPr/>
        </p:nvSpPr>
        <p:spPr>
          <a:xfrm>
            <a:off x="3590331" y="3985309"/>
            <a:ext cx="864024" cy="237606"/>
          </a:xfrm>
          <a:prstGeom prst="rect">
            <a:avLst/>
          </a:prstGeom>
          <a:noFill/>
          <a:ln/>
        </p:spPr>
        <p:txBody>
          <a:bodyPr wrap="square" lIns="0" tIns="0" rIns="0" bIns="0" rtlCol="0" anchor="ctr"/>
          <a:lstStyle/>
          <a:p>
            <a:pPr algn="ctr">
              <a:lnSpc>
                <a:spcPct val="102000"/>
              </a:lnSpc>
            </a:pPr>
            <a:r>
              <a:rPr lang="en-US" sz="366" i="1" dirty="0">
                <a:solidFill>
                  <a:srgbClr val="E7DFF6"/>
                </a:solidFill>
                <a:latin typeface="Arial" pitchFamily="34" charset="0"/>
                <a:ea typeface="Arial" pitchFamily="34" charset="-122"/>
                <a:cs typeface="Arial" pitchFamily="34" charset="-120"/>
              </a:rPr>
              <a:t>e.g. query PI, recompute Cpk, write back an SAP inspection lot — gated</a:t>
            </a:r>
            <a:endParaRPr lang="en-US" sz="366" dirty="0"/>
          </a:p>
        </p:txBody>
      </p:sp>
      <p:sp>
        <p:nvSpPr>
          <p:cNvPr id="95" name="Shape 81"/>
          <p:cNvSpPr/>
          <p:nvPr/>
        </p:nvSpPr>
        <p:spPr>
          <a:xfrm>
            <a:off x="4497556" y="3175287"/>
            <a:ext cx="4147313" cy="1198833"/>
          </a:xfrm>
          <a:prstGeom prst="roundRect">
            <a:avLst>
              <a:gd name="adj" fmla="val 2703"/>
            </a:avLst>
          </a:prstGeom>
          <a:solidFill>
            <a:srgbClr val="FFFFFF"/>
          </a:solidFill>
          <a:ln w="12700">
            <a:solidFill>
              <a:srgbClr val="2D7DD2"/>
            </a:solidFill>
            <a:prstDash val="solid"/>
          </a:ln>
        </p:spPr>
      </p:sp>
      <p:sp>
        <p:nvSpPr>
          <p:cNvPr id="96" name="Shape 82"/>
          <p:cNvSpPr/>
          <p:nvPr/>
        </p:nvSpPr>
        <p:spPr>
          <a:xfrm>
            <a:off x="4616359" y="3250889"/>
            <a:ext cx="723620" cy="388811"/>
          </a:xfrm>
          <a:prstGeom prst="roundRect">
            <a:avLst>
              <a:gd name="adj" fmla="val 6944"/>
            </a:avLst>
          </a:prstGeom>
          <a:solidFill>
            <a:srgbClr val="EDF3FC"/>
          </a:solidFill>
          <a:ln w="12700">
            <a:solidFill>
              <a:srgbClr val="B4D0EE"/>
            </a:solidFill>
            <a:prstDash val="solid"/>
          </a:ln>
        </p:spPr>
      </p:sp>
      <p:pic>
        <p:nvPicPr>
          <p:cNvPr id="97" name="Image 12" descr="/sessions/zealous-intelligent-mayer/mnt/outputs/icons6/b3_req.png"/>
          <p:cNvPicPr>
            <a:picLocks noChangeAspect="1"/>
          </p:cNvPicPr>
          <p:nvPr/>
        </p:nvPicPr>
        <p:blipFill>
          <a:blip r:embed="rId15"/>
          <a:stretch>
            <a:fillRect/>
          </a:stretch>
        </p:blipFill>
        <p:spPr>
          <a:xfrm>
            <a:off x="4654160" y="3380492"/>
            <a:ext cx="129604" cy="129604"/>
          </a:xfrm>
          <a:prstGeom prst="rect">
            <a:avLst/>
          </a:prstGeom>
        </p:spPr>
      </p:pic>
      <p:sp>
        <p:nvSpPr>
          <p:cNvPr id="98" name="Text 83"/>
          <p:cNvSpPr/>
          <p:nvPr/>
        </p:nvSpPr>
        <p:spPr>
          <a:xfrm>
            <a:off x="4821565" y="3250889"/>
            <a:ext cx="491413" cy="388811"/>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Request +</a:t>
            </a:r>
            <a:endParaRPr lang="en-US" sz="472" dirty="0"/>
          </a:p>
          <a:p>
            <a:r>
              <a:rPr lang="en-US" sz="472" b="1" dirty="0">
                <a:solidFill>
                  <a:srgbClr val="1F2937"/>
                </a:solidFill>
                <a:latin typeface="Arial" pitchFamily="34" charset="0"/>
                <a:ea typeface="Arial" pitchFamily="34" charset="-122"/>
                <a:cs typeface="Arial" pitchFamily="34" charset="-120"/>
              </a:rPr>
              <a:t>Context</a:t>
            </a:r>
            <a:endParaRPr lang="en-US" sz="472" dirty="0"/>
          </a:p>
        </p:txBody>
      </p:sp>
      <p:sp>
        <p:nvSpPr>
          <p:cNvPr id="99" name="Shape 84"/>
          <p:cNvSpPr/>
          <p:nvPr/>
        </p:nvSpPr>
        <p:spPr>
          <a:xfrm>
            <a:off x="5491183" y="3250889"/>
            <a:ext cx="723620" cy="388811"/>
          </a:xfrm>
          <a:prstGeom prst="roundRect">
            <a:avLst>
              <a:gd name="adj" fmla="val 6944"/>
            </a:avLst>
          </a:prstGeom>
          <a:solidFill>
            <a:srgbClr val="EDF3FC"/>
          </a:solidFill>
          <a:ln w="12700">
            <a:solidFill>
              <a:srgbClr val="B4D0EE"/>
            </a:solidFill>
            <a:prstDash val="solid"/>
          </a:ln>
        </p:spPr>
      </p:sp>
      <p:pic>
        <p:nvPicPr>
          <p:cNvPr id="100" name="Image 13" descr="/sessions/zealous-intelligent-mayer/mnt/outputs/icons6/b3_orch.png"/>
          <p:cNvPicPr>
            <a:picLocks noChangeAspect="1"/>
          </p:cNvPicPr>
          <p:nvPr/>
        </p:nvPicPr>
        <p:blipFill>
          <a:blip r:embed="rId16"/>
          <a:stretch>
            <a:fillRect/>
          </a:stretch>
        </p:blipFill>
        <p:spPr>
          <a:xfrm>
            <a:off x="5528984" y="3380492"/>
            <a:ext cx="129604" cy="129604"/>
          </a:xfrm>
          <a:prstGeom prst="rect">
            <a:avLst/>
          </a:prstGeom>
        </p:spPr>
      </p:pic>
      <p:sp>
        <p:nvSpPr>
          <p:cNvPr id="101" name="Text 85"/>
          <p:cNvSpPr/>
          <p:nvPr/>
        </p:nvSpPr>
        <p:spPr>
          <a:xfrm>
            <a:off x="5696389" y="3250889"/>
            <a:ext cx="491413" cy="388811"/>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Orchestrator</a:t>
            </a:r>
            <a:endParaRPr lang="en-US" sz="472" dirty="0"/>
          </a:p>
        </p:txBody>
      </p:sp>
      <p:sp>
        <p:nvSpPr>
          <p:cNvPr id="102" name="Shape 86"/>
          <p:cNvSpPr/>
          <p:nvPr/>
        </p:nvSpPr>
        <p:spPr>
          <a:xfrm>
            <a:off x="6366007" y="3250889"/>
            <a:ext cx="648018" cy="388811"/>
          </a:xfrm>
          <a:prstGeom prst="roundRect">
            <a:avLst>
              <a:gd name="adj" fmla="val 6944"/>
            </a:avLst>
          </a:prstGeom>
          <a:solidFill>
            <a:srgbClr val="EDF3FC"/>
          </a:solidFill>
          <a:ln w="12700">
            <a:solidFill>
              <a:srgbClr val="B4D0EE"/>
            </a:solidFill>
            <a:prstDash val="solid"/>
          </a:ln>
        </p:spPr>
      </p:sp>
      <p:pic>
        <p:nvPicPr>
          <p:cNvPr id="103" name="Image 14" descr="/sessions/zealous-intelligent-mayer/mnt/outputs/icons6/b3_plan.png"/>
          <p:cNvPicPr>
            <a:picLocks noChangeAspect="1"/>
          </p:cNvPicPr>
          <p:nvPr/>
        </p:nvPicPr>
        <p:blipFill>
          <a:blip r:embed="rId17"/>
          <a:stretch>
            <a:fillRect/>
          </a:stretch>
        </p:blipFill>
        <p:spPr>
          <a:xfrm>
            <a:off x="6403808" y="3380492"/>
            <a:ext cx="129604" cy="129604"/>
          </a:xfrm>
          <a:prstGeom prst="rect">
            <a:avLst/>
          </a:prstGeom>
        </p:spPr>
      </p:pic>
      <p:sp>
        <p:nvSpPr>
          <p:cNvPr id="104" name="Text 87"/>
          <p:cNvSpPr/>
          <p:nvPr/>
        </p:nvSpPr>
        <p:spPr>
          <a:xfrm>
            <a:off x="6571213" y="3250889"/>
            <a:ext cx="415811" cy="388811"/>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Planner</a:t>
            </a:r>
            <a:endParaRPr lang="en-US" sz="472" dirty="0"/>
          </a:p>
        </p:txBody>
      </p:sp>
      <p:sp>
        <p:nvSpPr>
          <p:cNvPr id="105" name="Shape 88"/>
          <p:cNvSpPr/>
          <p:nvPr/>
        </p:nvSpPr>
        <p:spPr>
          <a:xfrm>
            <a:off x="7122028" y="3229288"/>
            <a:ext cx="777621" cy="140404"/>
          </a:xfrm>
          <a:prstGeom prst="roundRect">
            <a:avLst>
              <a:gd name="adj" fmla="val 19231"/>
            </a:avLst>
          </a:prstGeom>
          <a:solidFill>
            <a:srgbClr val="EDF3FC"/>
          </a:solidFill>
          <a:ln w="12700">
            <a:solidFill>
              <a:srgbClr val="B4D0EE"/>
            </a:solidFill>
            <a:prstDash val="solid"/>
          </a:ln>
        </p:spPr>
      </p:sp>
      <p:pic>
        <p:nvPicPr>
          <p:cNvPr id="106" name="Image 15" descr="/sessions/zealous-intelligent-mayer/mnt/outputs/icons6/b3_search.png"/>
          <p:cNvPicPr>
            <a:picLocks noChangeAspect="1"/>
          </p:cNvPicPr>
          <p:nvPr/>
        </p:nvPicPr>
        <p:blipFill>
          <a:blip r:embed="rId18"/>
          <a:stretch>
            <a:fillRect/>
          </a:stretch>
        </p:blipFill>
        <p:spPr>
          <a:xfrm>
            <a:off x="7159829" y="3253589"/>
            <a:ext cx="91803" cy="91803"/>
          </a:xfrm>
          <a:prstGeom prst="rect">
            <a:avLst/>
          </a:prstGeom>
        </p:spPr>
      </p:pic>
      <p:sp>
        <p:nvSpPr>
          <p:cNvPr id="107" name="Text 89"/>
          <p:cNvSpPr/>
          <p:nvPr/>
        </p:nvSpPr>
        <p:spPr>
          <a:xfrm>
            <a:off x="7289433" y="3229288"/>
            <a:ext cx="583216" cy="140404"/>
          </a:xfrm>
          <a:prstGeom prst="rect">
            <a:avLst/>
          </a:prstGeom>
          <a:noFill/>
          <a:ln/>
        </p:spPr>
        <p:txBody>
          <a:bodyPr wrap="square" lIns="0" tIns="0" rIns="0" bIns="0" rtlCol="0" anchor="ctr"/>
          <a:lstStyle/>
          <a:p>
            <a:r>
              <a:rPr lang="en-US" sz="402" b="1" dirty="0">
                <a:solidFill>
                  <a:srgbClr val="1F2937"/>
                </a:solidFill>
                <a:latin typeface="Arial" pitchFamily="34" charset="0"/>
                <a:ea typeface="Arial" pitchFamily="34" charset="-122"/>
                <a:cs typeface="Arial" pitchFamily="34" charset="-120"/>
              </a:rPr>
              <a:t>Search</a:t>
            </a:r>
            <a:endParaRPr lang="en-US" sz="402" dirty="0"/>
          </a:p>
        </p:txBody>
      </p:sp>
      <p:sp>
        <p:nvSpPr>
          <p:cNvPr id="108" name="Shape 90"/>
          <p:cNvSpPr/>
          <p:nvPr/>
        </p:nvSpPr>
        <p:spPr>
          <a:xfrm>
            <a:off x="7122028" y="3380492"/>
            <a:ext cx="777621" cy="140404"/>
          </a:xfrm>
          <a:prstGeom prst="roundRect">
            <a:avLst>
              <a:gd name="adj" fmla="val 19231"/>
            </a:avLst>
          </a:prstGeom>
          <a:solidFill>
            <a:srgbClr val="EDF3FC"/>
          </a:solidFill>
          <a:ln w="12700">
            <a:solidFill>
              <a:srgbClr val="B4D0EE"/>
            </a:solidFill>
            <a:prstDash val="solid"/>
          </a:ln>
        </p:spPr>
      </p:sp>
      <p:pic>
        <p:nvPicPr>
          <p:cNvPr id="109" name="Image 16" descr="/sessions/zealous-intelligent-mayer/mnt/outputs/icons6/b3_api.png"/>
          <p:cNvPicPr>
            <a:picLocks noChangeAspect="1"/>
          </p:cNvPicPr>
          <p:nvPr/>
        </p:nvPicPr>
        <p:blipFill>
          <a:blip r:embed="rId19"/>
          <a:stretch>
            <a:fillRect/>
          </a:stretch>
        </p:blipFill>
        <p:spPr>
          <a:xfrm>
            <a:off x="7159829" y="3404793"/>
            <a:ext cx="91803" cy="91803"/>
          </a:xfrm>
          <a:prstGeom prst="rect">
            <a:avLst/>
          </a:prstGeom>
        </p:spPr>
      </p:pic>
      <p:sp>
        <p:nvSpPr>
          <p:cNvPr id="110" name="Text 91"/>
          <p:cNvSpPr/>
          <p:nvPr/>
        </p:nvSpPr>
        <p:spPr>
          <a:xfrm>
            <a:off x="7289433" y="3380492"/>
            <a:ext cx="583216" cy="140404"/>
          </a:xfrm>
          <a:prstGeom prst="rect">
            <a:avLst/>
          </a:prstGeom>
          <a:noFill/>
          <a:ln/>
        </p:spPr>
        <p:txBody>
          <a:bodyPr wrap="square" lIns="0" tIns="0" rIns="0" bIns="0" rtlCol="0" anchor="ctr"/>
          <a:lstStyle/>
          <a:p>
            <a:r>
              <a:rPr lang="en-US" sz="402" b="1" dirty="0">
                <a:solidFill>
                  <a:srgbClr val="1F2937"/>
                </a:solidFill>
                <a:latin typeface="Arial" pitchFamily="34" charset="0"/>
                <a:ea typeface="Arial" pitchFamily="34" charset="-122"/>
                <a:cs typeface="Arial" pitchFamily="34" charset="-120"/>
              </a:rPr>
              <a:t>SAP / PI API</a:t>
            </a:r>
            <a:endParaRPr lang="en-US" sz="402" dirty="0"/>
          </a:p>
        </p:txBody>
      </p:sp>
      <p:sp>
        <p:nvSpPr>
          <p:cNvPr id="111" name="Shape 92"/>
          <p:cNvSpPr/>
          <p:nvPr/>
        </p:nvSpPr>
        <p:spPr>
          <a:xfrm>
            <a:off x="7122028" y="3531697"/>
            <a:ext cx="777621" cy="140404"/>
          </a:xfrm>
          <a:prstGeom prst="roundRect">
            <a:avLst>
              <a:gd name="adj" fmla="val 19231"/>
            </a:avLst>
          </a:prstGeom>
          <a:solidFill>
            <a:srgbClr val="EDF3FC"/>
          </a:solidFill>
          <a:ln w="12700">
            <a:solidFill>
              <a:srgbClr val="B4D0EE"/>
            </a:solidFill>
            <a:prstDash val="solid"/>
          </a:ln>
        </p:spPr>
      </p:sp>
      <p:pic>
        <p:nvPicPr>
          <p:cNvPr id="112" name="Image 17" descr="/sessions/zealous-intelligent-mayer/mnt/outputs/icons6/b3_code.png"/>
          <p:cNvPicPr>
            <a:picLocks noChangeAspect="1"/>
          </p:cNvPicPr>
          <p:nvPr/>
        </p:nvPicPr>
        <p:blipFill>
          <a:blip r:embed="rId20"/>
          <a:stretch>
            <a:fillRect/>
          </a:stretch>
        </p:blipFill>
        <p:spPr>
          <a:xfrm>
            <a:off x="7159829" y="3555997"/>
            <a:ext cx="91803" cy="91803"/>
          </a:xfrm>
          <a:prstGeom prst="rect">
            <a:avLst/>
          </a:prstGeom>
        </p:spPr>
      </p:pic>
      <p:sp>
        <p:nvSpPr>
          <p:cNvPr id="113" name="Text 93"/>
          <p:cNvSpPr/>
          <p:nvPr/>
        </p:nvSpPr>
        <p:spPr>
          <a:xfrm>
            <a:off x="7289433" y="3531697"/>
            <a:ext cx="583216" cy="140404"/>
          </a:xfrm>
          <a:prstGeom prst="rect">
            <a:avLst/>
          </a:prstGeom>
          <a:noFill/>
          <a:ln/>
        </p:spPr>
        <p:txBody>
          <a:bodyPr wrap="square" lIns="0" tIns="0" rIns="0" bIns="0" rtlCol="0" anchor="ctr"/>
          <a:lstStyle/>
          <a:p>
            <a:r>
              <a:rPr lang="en-US" sz="402" b="1" dirty="0">
                <a:solidFill>
                  <a:srgbClr val="1F2937"/>
                </a:solidFill>
                <a:latin typeface="Arial" pitchFamily="34" charset="0"/>
                <a:ea typeface="Arial" pitchFamily="34" charset="-122"/>
                <a:cs typeface="Arial" pitchFamily="34" charset="-120"/>
              </a:rPr>
              <a:t>Code / SPC</a:t>
            </a:r>
            <a:endParaRPr lang="en-US" sz="402" dirty="0"/>
          </a:p>
        </p:txBody>
      </p:sp>
      <p:sp>
        <p:nvSpPr>
          <p:cNvPr id="114" name="Shape 94"/>
          <p:cNvSpPr/>
          <p:nvPr/>
        </p:nvSpPr>
        <p:spPr>
          <a:xfrm>
            <a:off x="7122028" y="3682901"/>
            <a:ext cx="777621" cy="140404"/>
          </a:xfrm>
          <a:prstGeom prst="roundRect">
            <a:avLst>
              <a:gd name="adj" fmla="val 19231"/>
            </a:avLst>
          </a:prstGeom>
          <a:solidFill>
            <a:srgbClr val="EDF3FC"/>
          </a:solidFill>
          <a:ln w="12700">
            <a:solidFill>
              <a:srgbClr val="B4D0EE"/>
            </a:solidFill>
            <a:prstDash val="solid"/>
          </a:ln>
        </p:spPr>
      </p:sp>
      <p:pic>
        <p:nvPicPr>
          <p:cNvPr id="115" name="Image 18" descr="/sessions/zealous-intelligent-mayer/mnt/outputs/icons6/b3_sub.png"/>
          <p:cNvPicPr>
            <a:picLocks noChangeAspect="1"/>
          </p:cNvPicPr>
          <p:nvPr/>
        </p:nvPicPr>
        <p:blipFill>
          <a:blip r:embed="rId21"/>
          <a:stretch>
            <a:fillRect/>
          </a:stretch>
        </p:blipFill>
        <p:spPr>
          <a:xfrm>
            <a:off x="7159829" y="3707201"/>
            <a:ext cx="91803" cy="91803"/>
          </a:xfrm>
          <a:prstGeom prst="rect">
            <a:avLst/>
          </a:prstGeom>
        </p:spPr>
      </p:pic>
      <p:sp>
        <p:nvSpPr>
          <p:cNvPr id="116" name="Text 95"/>
          <p:cNvSpPr/>
          <p:nvPr/>
        </p:nvSpPr>
        <p:spPr>
          <a:xfrm>
            <a:off x="7289433" y="3682901"/>
            <a:ext cx="583216" cy="140404"/>
          </a:xfrm>
          <a:prstGeom prst="rect">
            <a:avLst/>
          </a:prstGeom>
          <a:noFill/>
          <a:ln/>
        </p:spPr>
        <p:txBody>
          <a:bodyPr wrap="square" lIns="0" tIns="0" rIns="0" bIns="0" rtlCol="0" anchor="ctr"/>
          <a:lstStyle/>
          <a:p>
            <a:r>
              <a:rPr lang="en-US" sz="402" b="1" dirty="0">
                <a:solidFill>
                  <a:srgbClr val="1F2937"/>
                </a:solidFill>
                <a:latin typeface="Arial" pitchFamily="34" charset="0"/>
                <a:ea typeface="Arial" pitchFamily="34" charset="-122"/>
                <a:cs typeface="Arial" pitchFamily="34" charset="-120"/>
              </a:rPr>
              <a:t>Sub-agent</a:t>
            </a:r>
            <a:endParaRPr lang="en-US" sz="402" dirty="0"/>
          </a:p>
        </p:txBody>
      </p:sp>
      <p:sp>
        <p:nvSpPr>
          <p:cNvPr id="117" name="Shape 96"/>
          <p:cNvSpPr/>
          <p:nvPr/>
        </p:nvSpPr>
        <p:spPr>
          <a:xfrm>
            <a:off x="7964451" y="3250889"/>
            <a:ext cx="626417" cy="388811"/>
          </a:xfrm>
          <a:prstGeom prst="roundRect">
            <a:avLst>
              <a:gd name="adj" fmla="val 6944"/>
            </a:avLst>
          </a:prstGeom>
          <a:solidFill>
            <a:srgbClr val="EDF3FC"/>
          </a:solidFill>
          <a:ln w="12700">
            <a:solidFill>
              <a:srgbClr val="B4D0EE"/>
            </a:solidFill>
            <a:prstDash val="solid"/>
          </a:ln>
        </p:spPr>
      </p:sp>
      <p:pic>
        <p:nvPicPr>
          <p:cNvPr id="118" name="Image 19" descr="/sessions/zealous-intelligent-mayer/mnt/outputs/icons6/b3_merge.png"/>
          <p:cNvPicPr>
            <a:picLocks noChangeAspect="1"/>
          </p:cNvPicPr>
          <p:nvPr/>
        </p:nvPicPr>
        <p:blipFill>
          <a:blip r:embed="rId22"/>
          <a:stretch>
            <a:fillRect/>
          </a:stretch>
        </p:blipFill>
        <p:spPr>
          <a:xfrm>
            <a:off x="8002252" y="3380492"/>
            <a:ext cx="129604" cy="129604"/>
          </a:xfrm>
          <a:prstGeom prst="rect">
            <a:avLst/>
          </a:prstGeom>
        </p:spPr>
      </p:pic>
      <p:sp>
        <p:nvSpPr>
          <p:cNvPr id="119" name="Text 97"/>
          <p:cNvSpPr/>
          <p:nvPr/>
        </p:nvSpPr>
        <p:spPr>
          <a:xfrm>
            <a:off x="8169657" y="3250889"/>
            <a:ext cx="394211" cy="388811"/>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Evidence</a:t>
            </a:r>
            <a:endParaRPr lang="en-US" sz="472" dirty="0"/>
          </a:p>
          <a:p>
            <a:r>
              <a:rPr lang="en-US" sz="472" b="1" dirty="0">
                <a:solidFill>
                  <a:srgbClr val="1F2937"/>
                </a:solidFill>
                <a:latin typeface="Arial" pitchFamily="34" charset="0"/>
                <a:ea typeface="Arial" pitchFamily="34" charset="-122"/>
                <a:cs typeface="Arial" pitchFamily="34" charset="-120"/>
              </a:rPr>
              <a:t>Merge</a:t>
            </a:r>
            <a:endParaRPr lang="en-US" sz="472" dirty="0"/>
          </a:p>
        </p:txBody>
      </p:sp>
      <p:sp>
        <p:nvSpPr>
          <p:cNvPr id="120" name="Shape 98"/>
          <p:cNvSpPr/>
          <p:nvPr/>
        </p:nvSpPr>
        <p:spPr>
          <a:xfrm>
            <a:off x="6636015" y="3834105"/>
            <a:ext cx="723620" cy="388811"/>
          </a:xfrm>
          <a:prstGeom prst="roundRect">
            <a:avLst>
              <a:gd name="adj" fmla="val 6944"/>
            </a:avLst>
          </a:prstGeom>
          <a:solidFill>
            <a:srgbClr val="EDF3FC"/>
          </a:solidFill>
          <a:ln w="12700">
            <a:solidFill>
              <a:srgbClr val="B4D0EE"/>
            </a:solidFill>
            <a:prstDash val="solid"/>
          </a:ln>
        </p:spPr>
      </p:sp>
      <p:pic>
        <p:nvPicPr>
          <p:cNvPr id="121" name="Image 20" descr="/sessions/zealous-intelligent-mayer/mnt/outputs/icons6/b3_gate.png"/>
          <p:cNvPicPr>
            <a:picLocks noChangeAspect="1"/>
          </p:cNvPicPr>
          <p:nvPr/>
        </p:nvPicPr>
        <p:blipFill>
          <a:blip r:embed="rId23"/>
          <a:stretch>
            <a:fillRect/>
          </a:stretch>
        </p:blipFill>
        <p:spPr>
          <a:xfrm>
            <a:off x="6673816" y="3963708"/>
            <a:ext cx="129604" cy="129604"/>
          </a:xfrm>
          <a:prstGeom prst="rect">
            <a:avLst/>
          </a:prstGeom>
        </p:spPr>
      </p:pic>
      <p:sp>
        <p:nvSpPr>
          <p:cNvPr id="122" name="Text 99"/>
          <p:cNvSpPr/>
          <p:nvPr/>
        </p:nvSpPr>
        <p:spPr>
          <a:xfrm>
            <a:off x="6841221" y="3834105"/>
            <a:ext cx="491413" cy="388811"/>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Policy Gate</a:t>
            </a:r>
            <a:endParaRPr lang="en-US" sz="472" dirty="0"/>
          </a:p>
        </p:txBody>
      </p:sp>
      <p:sp>
        <p:nvSpPr>
          <p:cNvPr id="123" name="Shape 100"/>
          <p:cNvSpPr/>
          <p:nvPr/>
        </p:nvSpPr>
        <p:spPr>
          <a:xfrm>
            <a:off x="5771991" y="3834105"/>
            <a:ext cx="626417" cy="388811"/>
          </a:xfrm>
          <a:prstGeom prst="roundRect">
            <a:avLst>
              <a:gd name="adj" fmla="val 6944"/>
            </a:avLst>
          </a:prstGeom>
          <a:solidFill>
            <a:srgbClr val="EDF3FC"/>
          </a:solidFill>
          <a:ln w="12700">
            <a:solidFill>
              <a:srgbClr val="B4D0EE"/>
            </a:solidFill>
            <a:prstDash val="solid"/>
          </a:ln>
        </p:spPr>
      </p:sp>
      <p:pic>
        <p:nvPicPr>
          <p:cNvPr id="124" name="Image 21" descr="/sessions/zealous-intelligent-mayer/mnt/outputs/icons6/b3_verify.png"/>
          <p:cNvPicPr>
            <a:picLocks noChangeAspect="1"/>
          </p:cNvPicPr>
          <p:nvPr/>
        </p:nvPicPr>
        <p:blipFill>
          <a:blip r:embed="rId13"/>
          <a:stretch>
            <a:fillRect/>
          </a:stretch>
        </p:blipFill>
        <p:spPr>
          <a:xfrm>
            <a:off x="5809792" y="3963708"/>
            <a:ext cx="129604" cy="129604"/>
          </a:xfrm>
          <a:prstGeom prst="rect">
            <a:avLst/>
          </a:prstGeom>
        </p:spPr>
      </p:pic>
      <p:sp>
        <p:nvSpPr>
          <p:cNvPr id="125" name="Text 101"/>
          <p:cNvSpPr/>
          <p:nvPr/>
        </p:nvSpPr>
        <p:spPr>
          <a:xfrm>
            <a:off x="5977197" y="3834105"/>
            <a:ext cx="394211" cy="388811"/>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Verify</a:t>
            </a:r>
            <a:endParaRPr lang="en-US" sz="472" dirty="0"/>
          </a:p>
        </p:txBody>
      </p:sp>
      <p:sp>
        <p:nvSpPr>
          <p:cNvPr id="126" name="Shape 102"/>
          <p:cNvSpPr/>
          <p:nvPr/>
        </p:nvSpPr>
        <p:spPr>
          <a:xfrm>
            <a:off x="4799964" y="3834105"/>
            <a:ext cx="756021" cy="388811"/>
          </a:xfrm>
          <a:prstGeom prst="roundRect">
            <a:avLst>
              <a:gd name="adj" fmla="val 6944"/>
            </a:avLst>
          </a:prstGeom>
          <a:solidFill>
            <a:srgbClr val="EDF3FC"/>
          </a:solidFill>
          <a:ln w="12700">
            <a:solidFill>
              <a:srgbClr val="B4D0EE"/>
            </a:solidFill>
            <a:prstDash val="solid"/>
          </a:ln>
        </p:spPr>
      </p:sp>
      <p:pic>
        <p:nvPicPr>
          <p:cNvPr id="127" name="Image 22" descr="/sessions/zealous-intelligent-mayer/mnt/outputs/icons6/b3_out.png"/>
          <p:cNvPicPr>
            <a:picLocks noChangeAspect="1"/>
          </p:cNvPicPr>
          <p:nvPr/>
        </p:nvPicPr>
        <p:blipFill>
          <a:blip r:embed="rId24"/>
          <a:stretch>
            <a:fillRect/>
          </a:stretch>
        </p:blipFill>
        <p:spPr>
          <a:xfrm>
            <a:off x="4837765" y="3963708"/>
            <a:ext cx="129604" cy="129604"/>
          </a:xfrm>
          <a:prstGeom prst="rect">
            <a:avLst/>
          </a:prstGeom>
        </p:spPr>
      </p:pic>
      <p:sp>
        <p:nvSpPr>
          <p:cNvPr id="128" name="Text 103"/>
          <p:cNvSpPr/>
          <p:nvPr/>
        </p:nvSpPr>
        <p:spPr>
          <a:xfrm>
            <a:off x="5005170" y="3834105"/>
            <a:ext cx="523814" cy="388811"/>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Trusted</a:t>
            </a:r>
            <a:endParaRPr lang="en-US" sz="472" dirty="0"/>
          </a:p>
          <a:p>
            <a:r>
              <a:rPr lang="en-US" sz="472" b="1" dirty="0">
                <a:solidFill>
                  <a:srgbClr val="1F2937"/>
                </a:solidFill>
                <a:latin typeface="Arial" pitchFamily="34" charset="0"/>
                <a:ea typeface="Arial" pitchFamily="34" charset="-122"/>
                <a:cs typeface="Arial" pitchFamily="34" charset="-120"/>
              </a:rPr>
              <a:t>Output</a:t>
            </a:r>
            <a:endParaRPr lang="en-US" sz="472" dirty="0"/>
          </a:p>
        </p:txBody>
      </p:sp>
      <p:sp>
        <p:nvSpPr>
          <p:cNvPr id="129" name="Shape 104"/>
          <p:cNvSpPr/>
          <p:nvPr/>
        </p:nvSpPr>
        <p:spPr>
          <a:xfrm>
            <a:off x="5350779" y="3445294"/>
            <a:ext cx="129604" cy="0"/>
          </a:xfrm>
          <a:prstGeom prst="line">
            <a:avLst/>
          </a:prstGeom>
          <a:noFill/>
          <a:ln w="15875">
            <a:solidFill>
              <a:srgbClr val="1F2937"/>
            </a:solidFill>
            <a:prstDash val="solid"/>
            <a:tailEnd type="triangle"/>
          </a:ln>
        </p:spPr>
      </p:sp>
      <p:sp>
        <p:nvSpPr>
          <p:cNvPr id="130" name="Shape 105"/>
          <p:cNvSpPr/>
          <p:nvPr/>
        </p:nvSpPr>
        <p:spPr>
          <a:xfrm>
            <a:off x="6225603" y="3445294"/>
            <a:ext cx="129604" cy="0"/>
          </a:xfrm>
          <a:prstGeom prst="line">
            <a:avLst/>
          </a:prstGeom>
          <a:noFill/>
          <a:ln w="15875">
            <a:solidFill>
              <a:srgbClr val="1F2937"/>
            </a:solidFill>
            <a:prstDash val="solid"/>
            <a:tailEnd type="triangle"/>
          </a:ln>
        </p:spPr>
      </p:sp>
      <p:sp>
        <p:nvSpPr>
          <p:cNvPr id="131" name="Shape 106"/>
          <p:cNvSpPr/>
          <p:nvPr/>
        </p:nvSpPr>
        <p:spPr>
          <a:xfrm>
            <a:off x="7024826" y="3445294"/>
            <a:ext cx="86402" cy="0"/>
          </a:xfrm>
          <a:prstGeom prst="line">
            <a:avLst/>
          </a:prstGeom>
          <a:noFill/>
          <a:ln w="15875">
            <a:solidFill>
              <a:srgbClr val="1F2937"/>
            </a:solidFill>
            <a:prstDash val="solid"/>
          </a:ln>
        </p:spPr>
      </p:sp>
      <p:sp>
        <p:nvSpPr>
          <p:cNvPr id="132" name="Shape 107"/>
          <p:cNvSpPr/>
          <p:nvPr/>
        </p:nvSpPr>
        <p:spPr>
          <a:xfrm>
            <a:off x="7068027" y="3299491"/>
            <a:ext cx="0" cy="453612"/>
          </a:xfrm>
          <a:prstGeom prst="line">
            <a:avLst/>
          </a:prstGeom>
          <a:noFill/>
          <a:ln w="15875">
            <a:solidFill>
              <a:srgbClr val="1F2937"/>
            </a:solidFill>
            <a:prstDash val="solid"/>
          </a:ln>
        </p:spPr>
      </p:sp>
      <p:sp>
        <p:nvSpPr>
          <p:cNvPr id="133" name="Shape 108"/>
          <p:cNvSpPr/>
          <p:nvPr/>
        </p:nvSpPr>
        <p:spPr>
          <a:xfrm>
            <a:off x="7068027" y="3299490"/>
            <a:ext cx="43201" cy="0"/>
          </a:xfrm>
          <a:prstGeom prst="line">
            <a:avLst/>
          </a:prstGeom>
          <a:noFill/>
          <a:ln w="15875">
            <a:solidFill>
              <a:srgbClr val="1F2937"/>
            </a:solidFill>
            <a:prstDash val="solid"/>
            <a:tailEnd type="triangle"/>
          </a:ln>
        </p:spPr>
      </p:sp>
      <p:sp>
        <p:nvSpPr>
          <p:cNvPr id="134" name="Shape 109"/>
          <p:cNvSpPr/>
          <p:nvPr/>
        </p:nvSpPr>
        <p:spPr>
          <a:xfrm>
            <a:off x="7068027" y="3450694"/>
            <a:ext cx="43201" cy="0"/>
          </a:xfrm>
          <a:prstGeom prst="line">
            <a:avLst/>
          </a:prstGeom>
          <a:noFill/>
          <a:ln w="15875">
            <a:solidFill>
              <a:srgbClr val="1F2937"/>
            </a:solidFill>
            <a:prstDash val="solid"/>
            <a:tailEnd type="triangle"/>
          </a:ln>
        </p:spPr>
      </p:sp>
      <p:sp>
        <p:nvSpPr>
          <p:cNvPr id="135" name="Shape 110"/>
          <p:cNvSpPr/>
          <p:nvPr/>
        </p:nvSpPr>
        <p:spPr>
          <a:xfrm>
            <a:off x="7068027" y="3601899"/>
            <a:ext cx="43201" cy="0"/>
          </a:xfrm>
          <a:prstGeom prst="line">
            <a:avLst/>
          </a:prstGeom>
          <a:noFill/>
          <a:ln w="15875">
            <a:solidFill>
              <a:srgbClr val="1F2937"/>
            </a:solidFill>
            <a:prstDash val="solid"/>
            <a:tailEnd type="triangle"/>
          </a:ln>
        </p:spPr>
      </p:sp>
      <p:sp>
        <p:nvSpPr>
          <p:cNvPr id="136" name="Shape 111"/>
          <p:cNvSpPr/>
          <p:nvPr/>
        </p:nvSpPr>
        <p:spPr>
          <a:xfrm>
            <a:off x="7068027" y="3753103"/>
            <a:ext cx="43201" cy="0"/>
          </a:xfrm>
          <a:prstGeom prst="line">
            <a:avLst/>
          </a:prstGeom>
          <a:noFill/>
          <a:ln w="15875">
            <a:solidFill>
              <a:srgbClr val="1F2937"/>
            </a:solidFill>
            <a:prstDash val="solid"/>
            <a:tailEnd type="triangle"/>
          </a:ln>
        </p:spPr>
      </p:sp>
      <p:sp>
        <p:nvSpPr>
          <p:cNvPr id="137" name="Shape 112"/>
          <p:cNvSpPr/>
          <p:nvPr/>
        </p:nvSpPr>
        <p:spPr>
          <a:xfrm>
            <a:off x="7921250" y="3299491"/>
            <a:ext cx="0" cy="453612"/>
          </a:xfrm>
          <a:prstGeom prst="line">
            <a:avLst/>
          </a:prstGeom>
          <a:noFill/>
          <a:ln w="15875">
            <a:solidFill>
              <a:srgbClr val="1F2937"/>
            </a:solidFill>
            <a:prstDash val="solid"/>
          </a:ln>
        </p:spPr>
      </p:sp>
      <p:sp>
        <p:nvSpPr>
          <p:cNvPr id="138" name="Shape 113"/>
          <p:cNvSpPr/>
          <p:nvPr/>
        </p:nvSpPr>
        <p:spPr>
          <a:xfrm>
            <a:off x="7899649" y="3299490"/>
            <a:ext cx="21601" cy="0"/>
          </a:xfrm>
          <a:prstGeom prst="line">
            <a:avLst/>
          </a:prstGeom>
          <a:noFill/>
          <a:ln w="15875">
            <a:solidFill>
              <a:srgbClr val="1F2937"/>
            </a:solidFill>
            <a:prstDash val="solid"/>
          </a:ln>
        </p:spPr>
      </p:sp>
      <p:sp>
        <p:nvSpPr>
          <p:cNvPr id="139" name="Shape 114"/>
          <p:cNvSpPr/>
          <p:nvPr/>
        </p:nvSpPr>
        <p:spPr>
          <a:xfrm>
            <a:off x="7899649" y="3450694"/>
            <a:ext cx="21601" cy="0"/>
          </a:xfrm>
          <a:prstGeom prst="line">
            <a:avLst/>
          </a:prstGeom>
          <a:noFill/>
          <a:ln w="15875">
            <a:solidFill>
              <a:srgbClr val="1F2937"/>
            </a:solidFill>
            <a:prstDash val="solid"/>
          </a:ln>
        </p:spPr>
      </p:sp>
      <p:sp>
        <p:nvSpPr>
          <p:cNvPr id="140" name="Shape 115"/>
          <p:cNvSpPr/>
          <p:nvPr/>
        </p:nvSpPr>
        <p:spPr>
          <a:xfrm>
            <a:off x="7899649" y="3601899"/>
            <a:ext cx="21601" cy="0"/>
          </a:xfrm>
          <a:prstGeom prst="line">
            <a:avLst/>
          </a:prstGeom>
          <a:noFill/>
          <a:ln w="15875">
            <a:solidFill>
              <a:srgbClr val="1F2937"/>
            </a:solidFill>
            <a:prstDash val="solid"/>
          </a:ln>
        </p:spPr>
      </p:sp>
      <p:sp>
        <p:nvSpPr>
          <p:cNvPr id="141" name="Shape 116"/>
          <p:cNvSpPr/>
          <p:nvPr/>
        </p:nvSpPr>
        <p:spPr>
          <a:xfrm>
            <a:off x="7899649" y="3753103"/>
            <a:ext cx="21601" cy="0"/>
          </a:xfrm>
          <a:prstGeom prst="line">
            <a:avLst/>
          </a:prstGeom>
          <a:noFill/>
          <a:ln w="15875">
            <a:solidFill>
              <a:srgbClr val="1F2937"/>
            </a:solidFill>
            <a:prstDash val="solid"/>
          </a:ln>
        </p:spPr>
      </p:sp>
      <p:sp>
        <p:nvSpPr>
          <p:cNvPr id="142" name="Shape 117"/>
          <p:cNvSpPr/>
          <p:nvPr/>
        </p:nvSpPr>
        <p:spPr>
          <a:xfrm>
            <a:off x="7921250" y="3445294"/>
            <a:ext cx="32401" cy="0"/>
          </a:xfrm>
          <a:prstGeom prst="line">
            <a:avLst/>
          </a:prstGeom>
          <a:noFill/>
          <a:ln w="15875">
            <a:solidFill>
              <a:srgbClr val="1F2937"/>
            </a:solidFill>
            <a:prstDash val="solid"/>
            <a:tailEnd type="triangle"/>
          </a:ln>
        </p:spPr>
      </p:sp>
      <p:sp>
        <p:nvSpPr>
          <p:cNvPr id="143" name="Shape 118"/>
          <p:cNvSpPr/>
          <p:nvPr/>
        </p:nvSpPr>
        <p:spPr>
          <a:xfrm>
            <a:off x="8277660" y="3639699"/>
            <a:ext cx="0" cy="388811"/>
          </a:xfrm>
          <a:prstGeom prst="line">
            <a:avLst/>
          </a:prstGeom>
          <a:noFill/>
          <a:ln w="15875">
            <a:solidFill>
              <a:srgbClr val="1F2937"/>
            </a:solidFill>
            <a:prstDash val="solid"/>
          </a:ln>
        </p:spPr>
      </p:sp>
      <p:sp>
        <p:nvSpPr>
          <p:cNvPr id="144" name="Shape 119"/>
          <p:cNvSpPr/>
          <p:nvPr/>
        </p:nvSpPr>
        <p:spPr>
          <a:xfrm>
            <a:off x="7370435" y="4028510"/>
            <a:ext cx="907225" cy="0"/>
          </a:xfrm>
          <a:prstGeom prst="line">
            <a:avLst/>
          </a:prstGeom>
          <a:noFill/>
          <a:ln w="15875">
            <a:solidFill>
              <a:srgbClr val="1F2937"/>
            </a:solidFill>
            <a:prstDash val="solid"/>
            <a:headEnd type="triangle"/>
          </a:ln>
        </p:spPr>
      </p:sp>
      <p:sp>
        <p:nvSpPr>
          <p:cNvPr id="145" name="Shape 120"/>
          <p:cNvSpPr/>
          <p:nvPr/>
        </p:nvSpPr>
        <p:spPr>
          <a:xfrm>
            <a:off x="6409209" y="4028510"/>
            <a:ext cx="216006" cy="0"/>
          </a:xfrm>
          <a:prstGeom prst="line">
            <a:avLst/>
          </a:prstGeom>
          <a:noFill/>
          <a:ln w="15875">
            <a:solidFill>
              <a:srgbClr val="1F2937"/>
            </a:solidFill>
            <a:prstDash val="solid"/>
            <a:headEnd type="triangle"/>
          </a:ln>
        </p:spPr>
      </p:sp>
      <p:sp>
        <p:nvSpPr>
          <p:cNvPr id="146" name="Shape 121"/>
          <p:cNvSpPr/>
          <p:nvPr/>
        </p:nvSpPr>
        <p:spPr>
          <a:xfrm>
            <a:off x="5566786" y="4028510"/>
            <a:ext cx="194405" cy="0"/>
          </a:xfrm>
          <a:prstGeom prst="line">
            <a:avLst/>
          </a:prstGeom>
          <a:noFill/>
          <a:ln w="15875">
            <a:solidFill>
              <a:srgbClr val="1F2937"/>
            </a:solidFill>
            <a:prstDash val="solid"/>
            <a:headEnd type="triangle"/>
          </a:ln>
        </p:spPr>
      </p:sp>
      <p:sp>
        <p:nvSpPr>
          <p:cNvPr id="147" name="Shape 122"/>
          <p:cNvSpPr/>
          <p:nvPr/>
        </p:nvSpPr>
        <p:spPr>
          <a:xfrm>
            <a:off x="6085200" y="3758503"/>
            <a:ext cx="0" cy="75602"/>
          </a:xfrm>
          <a:prstGeom prst="line">
            <a:avLst/>
          </a:prstGeom>
          <a:noFill/>
          <a:ln w="15875">
            <a:solidFill>
              <a:srgbClr val="2D7DD2"/>
            </a:solidFill>
            <a:prstDash val="dash"/>
          </a:ln>
        </p:spPr>
      </p:sp>
      <p:sp>
        <p:nvSpPr>
          <p:cNvPr id="148" name="Shape 123"/>
          <p:cNvSpPr/>
          <p:nvPr/>
        </p:nvSpPr>
        <p:spPr>
          <a:xfrm>
            <a:off x="6085199" y="3758503"/>
            <a:ext cx="604817" cy="0"/>
          </a:xfrm>
          <a:prstGeom prst="line">
            <a:avLst/>
          </a:prstGeom>
          <a:noFill/>
          <a:ln w="15875">
            <a:solidFill>
              <a:srgbClr val="2D7DD2"/>
            </a:solidFill>
            <a:prstDash val="dash"/>
          </a:ln>
        </p:spPr>
      </p:sp>
      <p:sp>
        <p:nvSpPr>
          <p:cNvPr id="149" name="Shape 124"/>
          <p:cNvSpPr/>
          <p:nvPr/>
        </p:nvSpPr>
        <p:spPr>
          <a:xfrm>
            <a:off x="6690016" y="3650500"/>
            <a:ext cx="0" cy="108003"/>
          </a:xfrm>
          <a:prstGeom prst="line">
            <a:avLst/>
          </a:prstGeom>
          <a:noFill/>
          <a:ln w="15875">
            <a:solidFill>
              <a:srgbClr val="2D7DD2"/>
            </a:solidFill>
            <a:prstDash val="dash"/>
            <a:headEnd type="triangle"/>
          </a:ln>
        </p:spPr>
      </p:sp>
      <p:sp>
        <p:nvSpPr>
          <p:cNvPr id="150" name="Text 125"/>
          <p:cNvSpPr/>
          <p:nvPr/>
        </p:nvSpPr>
        <p:spPr>
          <a:xfrm>
            <a:off x="4616360" y="3682901"/>
            <a:ext cx="1404038" cy="81002"/>
          </a:xfrm>
          <a:prstGeom prst="rect">
            <a:avLst/>
          </a:prstGeom>
          <a:noFill/>
          <a:ln/>
        </p:spPr>
        <p:txBody>
          <a:bodyPr wrap="square" lIns="0" tIns="0" rIns="0" bIns="0" rtlCol="0" anchor="ctr"/>
          <a:lstStyle/>
          <a:p>
            <a:r>
              <a:rPr lang="en-US" sz="425" b="1" dirty="0">
                <a:solidFill>
                  <a:srgbClr val="2D7DD2"/>
                </a:solidFill>
                <a:latin typeface="Arial" pitchFamily="34" charset="0"/>
                <a:ea typeface="Arial" pitchFamily="34" charset="-122"/>
                <a:cs typeface="Arial" pitchFamily="34" charset="-120"/>
              </a:rPr>
              <a:t>Failed verification → revise plan and rerun</a:t>
            </a:r>
            <a:endParaRPr lang="en-US" sz="425" dirty="0"/>
          </a:p>
        </p:txBody>
      </p:sp>
      <p:sp>
        <p:nvSpPr>
          <p:cNvPr id="151" name="Text 126"/>
          <p:cNvSpPr/>
          <p:nvPr/>
        </p:nvSpPr>
        <p:spPr>
          <a:xfrm>
            <a:off x="4497556" y="4266117"/>
            <a:ext cx="4147313" cy="86402"/>
          </a:xfrm>
          <a:prstGeom prst="rect">
            <a:avLst/>
          </a:prstGeom>
          <a:noFill/>
          <a:ln/>
        </p:spPr>
        <p:txBody>
          <a:bodyPr wrap="square" lIns="0" tIns="0" rIns="0" bIns="0" rtlCol="0" anchor="ctr"/>
          <a:lstStyle/>
          <a:p>
            <a:pPr algn="ctr"/>
            <a:r>
              <a:rPr lang="en-US" sz="502" b="1" dirty="0">
                <a:solidFill>
                  <a:srgbClr val="2D7DD2"/>
                </a:solidFill>
                <a:latin typeface="Arial" pitchFamily="34" charset="0"/>
                <a:ea typeface="Arial" pitchFamily="34" charset="-122"/>
                <a:cs typeface="Arial" pitchFamily="34" charset="-120"/>
              </a:rPr>
              <a:t>Unit of work: </a:t>
            </a:r>
            <a:r>
              <a:rPr lang="en-US" sz="502" dirty="0">
                <a:solidFill>
                  <a:srgbClr val="1F2937"/>
                </a:solidFill>
                <a:latin typeface="Arial" pitchFamily="34" charset="0"/>
                <a:ea typeface="Arial" pitchFamily="34" charset="-122"/>
                <a:cs typeface="Arial" pitchFamily="34" charset="-120"/>
              </a:rPr>
              <a:t>one assisted task</a:t>
            </a:r>
            <a:endParaRPr lang="en-US" sz="502" dirty="0"/>
          </a:p>
        </p:txBody>
      </p:sp>
      <p:sp>
        <p:nvSpPr>
          <p:cNvPr id="152" name="Shape 127"/>
          <p:cNvSpPr/>
          <p:nvPr/>
        </p:nvSpPr>
        <p:spPr>
          <a:xfrm>
            <a:off x="3547130" y="4428121"/>
            <a:ext cx="950426" cy="1080030"/>
          </a:xfrm>
          <a:prstGeom prst="roundRect">
            <a:avLst>
              <a:gd name="adj" fmla="val 3409"/>
            </a:avLst>
          </a:prstGeom>
          <a:solidFill>
            <a:srgbClr val="6B3FA0"/>
          </a:solidFill>
          <a:ln w="12700">
            <a:solidFill>
              <a:srgbClr val="6B3FA0"/>
            </a:solidFill>
            <a:prstDash val="solid"/>
          </a:ln>
        </p:spPr>
      </p:sp>
      <p:sp>
        <p:nvSpPr>
          <p:cNvPr id="153" name="Shape 128"/>
          <p:cNvSpPr/>
          <p:nvPr/>
        </p:nvSpPr>
        <p:spPr>
          <a:xfrm>
            <a:off x="3881939" y="4503723"/>
            <a:ext cx="280808" cy="280808"/>
          </a:xfrm>
          <a:prstGeom prst="roundRect">
            <a:avLst>
              <a:gd name="adj" fmla="val 11538"/>
            </a:avLst>
          </a:prstGeom>
          <a:solidFill>
            <a:srgbClr val="FFFFFF"/>
          </a:solidFill>
          <a:ln/>
        </p:spPr>
      </p:sp>
      <p:pic>
        <p:nvPicPr>
          <p:cNvPr id="154" name="Image 23" descr="/sessions/zealous-intelligent-mayer/mnt/outputs/icons6/lp4.png"/>
          <p:cNvPicPr>
            <a:picLocks noChangeAspect="1"/>
          </p:cNvPicPr>
          <p:nvPr/>
        </p:nvPicPr>
        <p:blipFill>
          <a:blip r:embed="rId25"/>
          <a:stretch>
            <a:fillRect/>
          </a:stretch>
        </p:blipFill>
        <p:spPr>
          <a:xfrm>
            <a:off x="3952141" y="4573925"/>
            <a:ext cx="140404" cy="140404"/>
          </a:xfrm>
          <a:prstGeom prst="rect">
            <a:avLst/>
          </a:prstGeom>
        </p:spPr>
      </p:pic>
      <p:sp>
        <p:nvSpPr>
          <p:cNvPr id="155" name="Text 129"/>
          <p:cNvSpPr/>
          <p:nvPr/>
        </p:nvSpPr>
        <p:spPr>
          <a:xfrm>
            <a:off x="3568731" y="4816932"/>
            <a:ext cx="907225" cy="205206"/>
          </a:xfrm>
          <a:prstGeom prst="rect">
            <a:avLst/>
          </a:prstGeom>
          <a:noFill/>
          <a:ln/>
        </p:spPr>
        <p:txBody>
          <a:bodyPr wrap="square" lIns="0" tIns="0" rIns="0" bIns="0" rtlCol="0" anchor="ctr"/>
          <a:lstStyle/>
          <a:p>
            <a:pPr algn="ctr"/>
            <a:r>
              <a:rPr lang="en-US" sz="650" b="1" dirty="0">
                <a:solidFill>
                  <a:srgbClr val="FFFFFF"/>
                </a:solidFill>
                <a:latin typeface="Arial" pitchFamily="34" charset="0"/>
                <a:ea typeface="Arial" pitchFamily="34" charset="-122"/>
                <a:cs typeface="Arial" pitchFamily="34" charset="-120"/>
              </a:rPr>
              <a:t>Loop</a:t>
            </a:r>
            <a:endParaRPr lang="en-US" sz="650" dirty="0"/>
          </a:p>
          <a:p>
            <a:pPr algn="ctr"/>
            <a:r>
              <a:rPr lang="en-US" sz="650" b="1" dirty="0">
                <a:solidFill>
                  <a:srgbClr val="FFFFFF"/>
                </a:solidFill>
                <a:latin typeface="Arial" pitchFamily="34" charset="0"/>
                <a:ea typeface="Arial" pitchFamily="34" charset="-122"/>
                <a:cs typeface="Arial" pitchFamily="34" charset="-120"/>
              </a:rPr>
              <a:t>Engineering</a:t>
            </a:r>
            <a:endParaRPr lang="en-US" sz="650" dirty="0"/>
          </a:p>
        </p:txBody>
      </p:sp>
      <p:sp>
        <p:nvSpPr>
          <p:cNvPr id="156" name="Text 130"/>
          <p:cNvSpPr/>
          <p:nvPr/>
        </p:nvSpPr>
        <p:spPr>
          <a:xfrm>
            <a:off x="3579531" y="5032938"/>
            <a:ext cx="885624" cy="183605"/>
          </a:xfrm>
          <a:prstGeom prst="rect">
            <a:avLst/>
          </a:prstGeom>
          <a:noFill/>
          <a:ln/>
        </p:spPr>
        <p:txBody>
          <a:bodyPr wrap="square" lIns="0" tIns="0" rIns="0" bIns="0" rtlCol="0" anchor="ctr"/>
          <a:lstStyle/>
          <a:p>
            <a:pPr algn="ctr">
              <a:lnSpc>
                <a:spcPct val="102000"/>
              </a:lnSpc>
            </a:pPr>
            <a:r>
              <a:rPr lang="en-US" sz="472" dirty="0">
                <a:solidFill>
                  <a:srgbClr val="F0E9FB"/>
                </a:solidFill>
                <a:latin typeface="Arial" pitchFamily="34" charset="0"/>
                <a:ea typeface="Arial" pitchFamily="34" charset="-122"/>
                <a:cs typeface="Arial" pitchFamily="34" charset="-120"/>
              </a:rPr>
              <a:t>Manage progress</a:t>
            </a:r>
            <a:endParaRPr lang="en-US" sz="472" dirty="0"/>
          </a:p>
          <a:p>
            <a:pPr algn="ctr">
              <a:lnSpc>
                <a:spcPct val="102000"/>
              </a:lnSpc>
            </a:pPr>
            <a:r>
              <a:rPr lang="en-US" sz="472" dirty="0">
                <a:solidFill>
                  <a:srgbClr val="F0E9FB"/>
                </a:solidFill>
                <a:latin typeface="Arial" pitchFamily="34" charset="0"/>
                <a:ea typeface="Arial" pitchFamily="34" charset="-122"/>
                <a:cs typeface="Arial" pitchFamily="34" charset="-120"/>
              </a:rPr>
              <a:t>and retries</a:t>
            </a:r>
            <a:endParaRPr lang="en-US" sz="472" dirty="0"/>
          </a:p>
        </p:txBody>
      </p:sp>
      <p:sp>
        <p:nvSpPr>
          <p:cNvPr id="157" name="Text 131"/>
          <p:cNvSpPr/>
          <p:nvPr/>
        </p:nvSpPr>
        <p:spPr>
          <a:xfrm>
            <a:off x="3590331" y="5238144"/>
            <a:ext cx="864024" cy="237606"/>
          </a:xfrm>
          <a:prstGeom prst="rect">
            <a:avLst/>
          </a:prstGeom>
          <a:noFill/>
          <a:ln/>
        </p:spPr>
        <p:txBody>
          <a:bodyPr wrap="square" lIns="0" tIns="0" rIns="0" bIns="0" rtlCol="0" anchor="ctr"/>
          <a:lstStyle/>
          <a:p>
            <a:pPr algn="ctr">
              <a:lnSpc>
                <a:spcPct val="102000"/>
              </a:lnSpc>
            </a:pPr>
            <a:r>
              <a:rPr lang="en-US" sz="366" i="1" dirty="0">
                <a:solidFill>
                  <a:srgbClr val="E7DFF6"/>
                </a:solidFill>
                <a:latin typeface="Arial" pitchFamily="34" charset="0"/>
                <a:ea typeface="Arial" pitchFamily="34" charset="-122"/>
                <a:cs typeface="Arial" pitchFamily="34" charset="-120"/>
              </a:rPr>
              <a:t>e.g. keep hunting root cause until Cpk explained or step budget hit</a:t>
            </a:r>
            <a:endParaRPr lang="en-US" sz="366" dirty="0"/>
          </a:p>
        </p:txBody>
      </p:sp>
      <p:sp>
        <p:nvSpPr>
          <p:cNvPr id="158" name="Shape 132"/>
          <p:cNvSpPr/>
          <p:nvPr/>
        </p:nvSpPr>
        <p:spPr>
          <a:xfrm>
            <a:off x="4497556" y="4428121"/>
            <a:ext cx="4147313" cy="1080030"/>
          </a:xfrm>
          <a:prstGeom prst="roundRect">
            <a:avLst>
              <a:gd name="adj" fmla="val 3000"/>
            </a:avLst>
          </a:prstGeom>
          <a:solidFill>
            <a:srgbClr val="FFFFFF"/>
          </a:solidFill>
          <a:ln w="12700">
            <a:solidFill>
              <a:srgbClr val="7C3AED"/>
            </a:solidFill>
            <a:prstDash val="solid"/>
          </a:ln>
        </p:spPr>
      </p:sp>
      <p:sp>
        <p:nvSpPr>
          <p:cNvPr id="159" name="Shape 133"/>
          <p:cNvSpPr/>
          <p:nvPr/>
        </p:nvSpPr>
        <p:spPr>
          <a:xfrm>
            <a:off x="7986052" y="4503723"/>
            <a:ext cx="0" cy="896425"/>
          </a:xfrm>
          <a:prstGeom prst="line">
            <a:avLst/>
          </a:prstGeom>
          <a:noFill/>
          <a:ln w="12700">
            <a:solidFill>
              <a:srgbClr val="9AA0A6"/>
            </a:solidFill>
            <a:prstDash val="dash"/>
          </a:ln>
        </p:spPr>
      </p:sp>
      <p:sp>
        <p:nvSpPr>
          <p:cNvPr id="160" name="Shape 134"/>
          <p:cNvSpPr/>
          <p:nvPr/>
        </p:nvSpPr>
        <p:spPr>
          <a:xfrm>
            <a:off x="4616360" y="4514523"/>
            <a:ext cx="734420" cy="313209"/>
          </a:xfrm>
          <a:prstGeom prst="roundRect">
            <a:avLst>
              <a:gd name="adj" fmla="val 8621"/>
            </a:avLst>
          </a:prstGeom>
          <a:solidFill>
            <a:srgbClr val="F6F2FE"/>
          </a:solidFill>
          <a:ln w="12700">
            <a:solidFill>
              <a:srgbClr val="C9B6F2"/>
            </a:solidFill>
            <a:prstDash val="solid"/>
          </a:ln>
        </p:spPr>
      </p:sp>
      <p:pic>
        <p:nvPicPr>
          <p:cNvPr id="161" name="Image 24" descr="/sessions/zealous-intelligent-mayer/mnt/outputs/icons6/b4_obj.png"/>
          <p:cNvPicPr>
            <a:picLocks noChangeAspect="1"/>
          </p:cNvPicPr>
          <p:nvPr/>
        </p:nvPicPr>
        <p:blipFill>
          <a:blip r:embed="rId3"/>
          <a:stretch>
            <a:fillRect/>
          </a:stretch>
        </p:blipFill>
        <p:spPr>
          <a:xfrm>
            <a:off x="4654160" y="4606326"/>
            <a:ext cx="129604" cy="129604"/>
          </a:xfrm>
          <a:prstGeom prst="rect">
            <a:avLst/>
          </a:prstGeom>
        </p:spPr>
      </p:pic>
      <p:sp>
        <p:nvSpPr>
          <p:cNvPr id="162" name="Text 135"/>
          <p:cNvSpPr/>
          <p:nvPr/>
        </p:nvSpPr>
        <p:spPr>
          <a:xfrm>
            <a:off x="4821565" y="4514523"/>
            <a:ext cx="502214" cy="313209"/>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Objective</a:t>
            </a:r>
            <a:endParaRPr lang="en-US" sz="472" dirty="0"/>
          </a:p>
        </p:txBody>
      </p:sp>
      <p:sp>
        <p:nvSpPr>
          <p:cNvPr id="163" name="Shape 136"/>
          <p:cNvSpPr/>
          <p:nvPr/>
        </p:nvSpPr>
        <p:spPr>
          <a:xfrm>
            <a:off x="5555985" y="4514523"/>
            <a:ext cx="594016" cy="313209"/>
          </a:xfrm>
          <a:prstGeom prst="roundRect">
            <a:avLst>
              <a:gd name="adj" fmla="val 8621"/>
            </a:avLst>
          </a:prstGeom>
          <a:solidFill>
            <a:srgbClr val="F6F2FE"/>
          </a:solidFill>
          <a:ln w="12700">
            <a:solidFill>
              <a:srgbClr val="C9B6F2"/>
            </a:solidFill>
            <a:prstDash val="solid"/>
          </a:ln>
        </p:spPr>
      </p:sp>
      <p:pic>
        <p:nvPicPr>
          <p:cNvPr id="164" name="Image 25" descr="/sessions/zealous-intelligent-mayer/mnt/outputs/icons6/b4_plan.png"/>
          <p:cNvPicPr>
            <a:picLocks noChangeAspect="1"/>
          </p:cNvPicPr>
          <p:nvPr/>
        </p:nvPicPr>
        <p:blipFill>
          <a:blip r:embed="rId26"/>
          <a:stretch>
            <a:fillRect/>
          </a:stretch>
        </p:blipFill>
        <p:spPr>
          <a:xfrm>
            <a:off x="5593786" y="4606326"/>
            <a:ext cx="129604" cy="129604"/>
          </a:xfrm>
          <a:prstGeom prst="rect">
            <a:avLst/>
          </a:prstGeom>
        </p:spPr>
      </p:pic>
      <p:sp>
        <p:nvSpPr>
          <p:cNvPr id="165" name="Text 137"/>
          <p:cNvSpPr/>
          <p:nvPr/>
        </p:nvSpPr>
        <p:spPr>
          <a:xfrm>
            <a:off x="5761191" y="4514523"/>
            <a:ext cx="361810" cy="313209"/>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Plan</a:t>
            </a:r>
            <a:endParaRPr lang="en-US" sz="472" dirty="0"/>
          </a:p>
        </p:txBody>
      </p:sp>
      <p:sp>
        <p:nvSpPr>
          <p:cNvPr id="166" name="Shape 138"/>
          <p:cNvSpPr/>
          <p:nvPr/>
        </p:nvSpPr>
        <p:spPr>
          <a:xfrm>
            <a:off x="6333607" y="4514523"/>
            <a:ext cx="550815" cy="313209"/>
          </a:xfrm>
          <a:prstGeom prst="roundRect">
            <a:avLst>
              <a:gd name="adj" fmla="val 8621"/>
            </a:avLst>
          </a:prstGeom>
          <a:solidFill>
            <a:srgbClr val="F6F2FE"/>
          </a:solidFill>
          <a:ln w="12700">
            <a:solidFill>
              <a:srgbClr val="C9B6F2"/>
            </a:solidFill>
            <a:prstDash val="solid"/>
          </a:ln>
        </p:spPr>
      </p:sp>
      <p:pic>
        <p:nvPicPr>
          <p:cNvPr id="167" name="Image 26" descr="/sessions/zealous-intelligent-mayer/mnt/outputs/icons6/b4_act.png"/>
          <p:cNvPicPr>
            <a:picLocks noChangeAspect="1"/>
          </p:cNvPicPr>
          <p:nvPr/>
        </p:nvPicPr>
        <p:blipFill>
          <a:blip r:embed="rId27"/>
          <a:stretch>
            <a:fillRect/>
          </a:stretch>
        </p:blipFill>
        <p:spPr>
          <a:xfrm>
            <a:off x="6371407" y="4606326"/>
            <a:ext cx="129604" cy="129604"/>
          </a:xfrm>
          <a:prstGeom prst="rect">
            <a:avLst/>
          </a:prstGeom>
        </p:spPr>
      </p:pic>
      <p:sp>
        <p:nvSpPr>
          <p:cNvPr id="168" name="Text 139"/>
          <p:cNvSpPr/>
          <p:nvPr/>
        </p:nvSpPr>
        <p:spPr>
          <a:xfrm>
            <a:off x="6538812" y="4514523"/>
            <a:ext cx="318609" cy="313209"/>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Act</a:t>
            </a:r>
            <a:endParaRPr lang="en-US" sz="472" dirty="0"/>
          </a:p>
        </p:txBody>
      </p:sp>
      <p:sp>
        <p:nvSpPr>
          <p:cNvPr id="169" name="Shape 140"/>
          <p:cNvSpPr/>
          <p:nvPr/>
        </p:nvSpPr>
        <p:spPr>
          <a:xfrm>
            <a:off x="7068027" y="4514523"/>
            <a:ext cx="702019" cy="313209"/>
          </a:xfrm>
          <a:prstGeom prst="roundRect">
            <a:avLst>
              <a:gd name="adj" fmla="val 8621"/>
            </a:avLst>
          </a:prstGeom>
          <a:solidFill>
            <a:srgbClr val="F6F2FE"/>
          </a:solidFill>
          <a:ln w="12700">
            <a:solidFill>
              <a:srgbClr val="C9B6F2"/>
            </a:solidFill>
            <a:prstDash val="solid"/>
          </a:ln>
        </p:spPr>
      </p:sp>
      <p:pic>
        <p:nvPicPr>
          <p:cNvPr id="170" name="Image 27" descr="/sessions/zealous-intelligent-mayer/mnt/outputs/icons6/b4_obs.png"/>
          <p:cNvPicPr>
            <a:picLocks noChangeAspect="1"/>
          </p:cNvPicPr>
          <p:nvPr/>
        </p:nvPicPr>
        <p:blipFill>
          <a:blip r:embed="rId28"/>
          <a:stretch>
            <a:fillRect/>
          </a:stretch>
        </p:blipFill>
        <p:spPr>
          <a:xfrm>
            <a:off x="7105827" y="4606326"/>
            <a:ext cx="129604" cy="129604"/>
          </a:xfrm>
          <a:prstGeom prst="rect">
            <a:avLst/>
          </a:prstGeom>
        </p:spPr>
      </p:pic>
      <p:sp>
        <p:nvSpPr>
          <p:cNvPr id="171" name="Text 141"/>
          <p:cNvSpPr/>
          <p:nvPr/>
        </p:nvSpPr>
        <p:spPr>
          <a:xfrm>
            <a:off x="7273232" y="4514523"/>
            <a:ext cx="469813" cy="313209"/>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Observe</a:t>
            </a:r>
            <a:endParaRPr lang="en-US" sz="472" dirty="0"/>
          </a:p>
        </p:txBody>
      </p:sp>
      <p:sp>
        <p:nvSpPr>
          <p:cNvPr id="172" name="Shape 142"/>
          <p:cNvSpPr/>
          <p:nvPr/>
        </p:nvSpPr>
        <p:spPr>
          <a:xfrm>
            <a:off x="7068027" y="5054538"/>
            <a:ext cx="702019" cy="334809"/>
          </a:xfrm>
          <a:prstGeom prst="roundRect">
            <a:avLst>
              <a:gd name="adj" fmla="val 8065"/>
            </a:avLst>
          </a:prstGeom>
          <a:solidFill>
            <a:srgbClr val="F6F2FE"/>
          </a:solidFill>
          <a:ln w="12700">
            <a:solidFill>
              <a:srgbClr val="C9B6F2"/>
            </a:solidFill>
            <a:prstDash val="solid"/>
          </a:ln>
        </p:spPr>
      </p:sp>
      <p:pic>
        <p:nvPicPr>
          <p:cNvPr id="173" name="Image 28" descr="/sessions/zealous-intelligent-mayer/mnt/outputs/icons6/b4_eval.png"/>
          <p:cNvPicPr>
            <a:picLocks noChangeAspect="1"/>
          </p:cNvPicPr>
          <p:nvPr/>
        </p:nvPicPr>
        <p:blipFill>
          <a:blip r:embed="rId29"/>
          <a:stretch>
            <a:fillRect/>
          </a:stretch>
        </p:blipFill>
        <p:spPr>
          <a:xfrm>
            <a:off x="7105827" y="5157141"/>
            <a:ext cx="129604" cy="129604"/>
          </a:xfrm>
          <a:prstGeom prst="rect">
            <a:avLst/>
          </a:prstGeom>
        </p:spPr>
      </p:pic>
      <p:sp>
        <p:nvSpPr>
          <p:cNvPr id="174" name="Text 143"/>
          <p:cNvSpPr/>
          <p:nvPr/>
        </p:nvSpPr>
        <p:spPr>
          <a:xfrm>
            <a:off x="7273232" y="5054538"/>
            <a:ext cx="469813" cy="334809"/>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Evaluate</a:t>
            </a:r>
            <a:endParaRPr lang="en-US" sz="472" dirty="0"/>
          </a:p>
        </p:txBody>
      </p:sp>
      <p:sp>
        <p:nvSpPr>
          <p:cNvPr id="175" name="Shape 144"/>
          <p:cNvSpPr/>
          <p:nvPr/>
        </p:nvSpPr>
        <p:spPr>
          <a:xfrm>
            <a:off x="5642388" y="4849333"/>
            <a:ext cx="637217" cy="248407"/>
          </a:xfrm>
          <a:prstGeom prst="roundRect">
            <a:avLst>
              <a:gd name="adj" fmla="val 10870"/>
            </a:avLst>
          </a:prstGeom>
          <a:solidFill>
            <a:srgbClr val="F6F2FE"/>
          </a:solidFill>
          <a:ln w="12700">
            <a:solidFill>
              <a:srgbClr val="C9B6F2"/>
            </a:solidFill>
            <a:prstDash val="solid"/>
          </a:ln>
        </p:spPr>
      </p:sp>
      <p:pic>
        <p:nvPicPr>
          <p:cNvPr id="176" name="Image 29" descr="/sessions/zealous-intelligent-mayer/mnt/outputs/icons6/b4_final.png"/>
          <p:cNvPicPr>
            <a:picLocks noChangeAspect="1"/>
          </p:cNvPicPr>
          <p:nvPr/>
        </p:nvPicPr>
        <p:blipFill>
          <a:blip r:embed="rId4"/>
          <a:stretch>
            <a:fillRect/>
          </a:stretch>
        </p:blipFill>
        <p:spPr>
          <a:xfrm>
            <a:off x="5680188" y="4927635"/>
            <a:ext cx="91803" cy="91803"/>
          </a:xfrm>
          <a:prstGeom prst="rect">
            <a:avLst/>
          </a:prstGeom>
        </p:spPr>
      </p:pic>
      <p:sp>
        <p:nvSpPr>
          <p:cNvPr id="177" name="Text 145"/>
          <p:cNvSpPr/>
          <p:nvPr/>
        </p:nvSpPr>
        <p:spPr>
          <a:xfrm>
            <a:off x="5809792" y="4849333"/>
            <a:ext cx="442812" cy="248407"/>
          </a:xfrm>
          <a:prstGeom prst="rect">
            <a:avLst/>
          </a:prstGeom>
          <a:noFill/>
          <a:ln/>
        </p:spPr>
        <p:txBody>
          <a:bodyPr wrap="square" lIns="0" tIns="0" rIns="0" bIns="0" rtlCol="0" anchor="ctr"/>
          <a:lstStyle/>
          <a:p>
            <a:r>
              <a:rPr lang="en-US" sz="425" b="1" dirty="0">
                <a:solidFill>
                  <a:srgbClr val="1F2937"/>
                </a:solidFill>
                <a:latin typeface="Arial" pitchFamily="34" charset="0"/>
                <a:ea typeface="Arial" pitchFamily="34" charset="-122"/>
                <a:cs typeface="Arial" pitchFamily="34" charset="-120"/>
              </a:rPr>
              <a:t>Final Output</a:t>
            </a:r>
            <a:endParaRPr lang="en-US" sz="425" dirty="0"/>
          </a:p>
        </p:txBody>
      </p:sp>
      <p:sp>
        <p:nvSpPr>
          <p:cNvPr id="178" name="Shape 146"/>
          <p:cNvSpPr/>
          <p:nvPr/>
        </p:nvSpPr>
        <p:spPr>
          <a:xfrm>
            <a:off x="5642388" y="5130140"/>
            <a:ext cx="637217" cy="248407"/>
          </a:xfrm>
          <a:prstGeom prst="roundRect">
            <a:avLst>
              <a:gd name="adj" fmla="val 10870"/>
            </a:avLst>
          </a:prstGeom>
          <a:solidFill>
            <a:srgbClr val="F6F2FE"/>
          </a:solidFill>
          <a:ln w="12700">
            <a:solidFill>
              <a:srgbClr val="C9B6F2"/>
            </a:solidFill>
            <a:prstDash val="solid"/>
          </a:ln>
        </p:spPr>
      </p:sp>
      <p:pic>
        <p:nvPicPr>
          <p:cNvPr id="179" name="Image 30" descr="/sessions/zealous-intelligent-mayer/mnt/outputs/icons6/b4_retry.png"/>
          <p:cNvPicPr>
            <a:picLocks noChangeAspect="1"/>
          </p:cNvPicPr>
          <p:nvPr/>
        </p:nvPicPr>
        <p:blipFill>
          <a:blip r:embed="rId30"/>
          <a:stretch>
            <a:fillRect/>
          </a:stretch>
        </p:blipFill>
        <p:spPr>
          <a:xfrm>
            <a:off x="5680188" y="5208442"/>
            <a:ext cx="91803" cy="91803"/>
          </a:xfrm>
          <a:prstGeom prst="rect">
            <a:avLst/>
          </a:prstGeom>
        </p:spPr>
      </p:pic>
      <p:sp>
        <p:nvSpPr>
          <p:cNvPr id="180" name="Text 147"/>
          <p:cNvSpPr/>
          <p:nvPr/>
        </p:nvSpPr>
        <p:spPr>
          <a:xfrm>
            <a:off x="5809792" y="5130140"/>
            <a:ext cx="442812" cy="248407"/>
          </a:xfrm>
          <a:prstGeom prst="rect">
            <a:avLst/>
          </a:prstGeom>
          <a:noFill/>
          <a:ln/>
        </p:spPr>
        <p:txBody>
          <a:bodyPr wrap="square" lIns="0" tIns="0" rIns="0" bIns="0" rtlCol="0" anchor="ctr"/>
          <a:lstStyle/>
          <a:p>
            <a:r>
              <a:rPr lang="en-US" sz="413" b="1" dirty="0">
                <a:solidFill>
                  <a:srgbClr val="1F2937"/>
                </a:solidFill>
                <a:latin typeface="Arial" pitchFamily="34" charset="0"/>
                <a:ea typeface="Arial" pitchFamily="34" charset="-122"/>
                <a:cs typeface="Arial" pitchFamily="34" charset="-120"/>
              </a:rPr>
              <a:t>Revise +</a:t>
            </a:r>
            <a:endParaRPr lang="en-US" sz="413" dirty="0"/>
          </a:p>
          <a:p>
            <a:r>
              <a:rPr lang="en-US" sz="413" b="1" dirty="0">
                <a:solidFill>
                  <a:srgbClr val="1F2937"/>
                </a:solidFill>
                <a:latin typeface="Arial" pitchFamily="34" charset="0"/>
                <a:ea typeface="Arial" pitchFamily="34" charset="-122"/>
                <a:cs typeface="Arial" pitchFamily="34" charset="-120"/>
              </a:rPr>
              <a:t>Retry</a:t>
            </a:r>
            <a:endParaRPr lang="en-US" sz="413" dirty="0"/>
          </a:p>
        </p:txBody>
      </p:sp>
      <p:sp>
        <p:nvSpPr>
          <p:cNvPr id="181" name="Shape 148"/>
          <p:cNvSpPr/>
          <p:nvPr/>
        </p:nvSpPr>
        <p:spPr>
          <a:xfrm>
            <a:off x="6463210" y="5054538"/>
            <a:ext cx="540015" cy="334809"/>
          </a:xfrm>
          <a:prstGeom prst="diamond">
            <a:avLst/>
          </a:prstGeom>
          <a:solidFill>
            <a:srgbClr val="6D28D9"/>
          </a:solidFill>
          <a:ln w="12700">
            <a:solidFill>
              <a:srgbClr val="5B21B6"/>
            </a:solidFill>
            <a:prstDash val="solid"/>
          </a:ln>
        </p:spPr>
      </p:sp>
      <p:sp>
        <p:nvSpPr>
          <p:cNvPr id="182" name="Text 149"/>
          <p:cNvSpPr/>
          <p:nvPr/>
        </p:nvSpPr>
        <p:spPr>
          <a:xfrm>
            <a:off x="6474010" y="5054538"/>
            <a:ext cx="518414" cy="334809"/>
          </a:xfrm>
          <a:prstGeom prst="rect">
            <a:avLst/>
          </a:prstGeom>
          <a:noFill/>
          <a:ln/>
        </p:spPr>
        <p:txBody>
          <a:bodyPr wrap="square" lIns="0" tIns="0" rIns="0" bIns="0" rtlCol="0" anchor="ctr"/>
          <a:lstStyle/>
          <a:p>
            <a:pPr algn="ctr"/>
            <a:r>
              <a:rPr lang="en-US" sz="390" b="1" dirty="0">
                <a:solidFill>
                  <a:srgbClr val="FFFFFF"/>
                </a:solidFill>
                <a:latin typeface="Arial" pitchFamily="34" charset="0"/>
                <a:ea typeface="Arial" pitchFamily="34" charset="-122"/>
                <a:cs typeface="Arial" pitchFamily="34" charset="-120"/>
              </a:rPr>
              <a:t>Success?</a:t>
            </a:r>
            <a:endParaRPr lang="en-US" sz="390" dirty="0"/>
          </a:p>
        </p:txBody>
      </p:sp>
      <p:sp>
        <p:nvSpPr>
          <p:cNvPr id="183" name="Shape 150"/>
          <p:cNvSpPr/>
          <p:nvPr/>
        </p:nvSpPr>
        <p:spPr>
          <a:xfrm>
            <a:off x="5350780" y="4671128"/>
            <a:ext cx="194405" cy="0"/>
          </a:xfrm>
          <a:prstGeom prst="line">
            <a:avLst/>
          </a:prstGeom>
          <a:noFill/>
          <a:ln w="15875">
            <a:solidFill>
              <a:srgbClr val="1F2937"/>
            </a:solidFill>
            <a:prstDash val="solid"/>
            <a:tailEnd type="triangle"/>
          </a:ln>
        </p:spPr>
      </p:sp>
      <p:sp>
        <p:nvSpPr>
          <p:cNvPr id="184" name="Shape 151"/>
          <p:cNvSpPr/>
          <p:nvPr/>
        </p:nvSpPr>
        <p:spPr>
          <a:xfrm>
            <a:off x="6160802" y="4671128"/>
            <a:ext cx="162004" cy="0"/>
          </a:xfrm>
          <a:prstGeom prst="line">
            <a:avLst/>
          </a:prstGeom>
          <a:noFill/>
          <a:ln w="15875">
            <a:solidFill>
              <a:srgbClr val="1F2937"/>
            </a:solidFill>
            <a:prstDash val="solid"/>
            <a:tailEnd type="triangle"/>
          </a:ln>
        </p:spPr>
      </p:sp>
      <p:sp>
        <p:nvSpPr>
          <p:cNvPr id="185" name="Shape 152"/>
          <p:cNvSpPr/>
          <p:nvPr/>
        </p:nvSpPr>
        <p:spPr>
          <a:xfrm>
            <a:off x="6895222" y="4671128"/>
            <a:ext cx="162004" cy="0"/>
          </a:xfrm>
          <a:prstGeom prst="line">
            <a:avLst/>
          </a:prstGeom>
          <a:noFill/>
          <a:ln w="15875">
            <a:solidFill>
              <a:srgbClr val="1F2937"/>
            </a:solidFill>
            <a:prstDash val="solid"/>
            <a:tailEnd type="triangle"/>
          </a:ln>
        </p:spPr>
      </p:sp>
      <p:sp>
        <p:nvSpPr>
          <p:cNvPr id="186" name="Shape 153"/>
          <p:cNvSpPr/>
          <p:nvPr/>
        </p:nvSpPr>
        <p:spPr>
          <a:xfrm>
            <a:off x="7419036" y="4827732"/>
            <a:ext cx="0" cy="216006"/>
          </a:xfrm>
          <a:prstGeom prst="line">
            <a:avLst/>
          </a:prstGeom>
          <a:noFill/>
          <a:ln w="15875">
            <a:solidFill>
              <a:srgbClr val="1F2937"/>
            </a:solidFill>
            <a:prstDash val="solid"/>
            <a:tailEnd type="triangle"/>
          </a:ln>
        </p:spPr>
      </p:sp>
      <p:sp>
        <p:nvSpPr>
          <p:cNvPr id="187" name="Shape 154"/>
          <p:cNvSpPr/>
          <p:nvPr/>
        </p:nvSpPr>
        <p:spPr>
          <a:xfrm>
            <a:off x="7014025" y="5221943"/>
            <a:ext cx="43201" cy="0"/>
          </a:xfrm>
          <a:prstGeom prst="line">
            <a:avLst/>
          </a:prstGeom>
          <a:noFill/>
          <a:ln w="15875">
            <a:solidFill>
              <a:srgbClr val="1F2937"/>
            </a:solidFill>
            <a:prstDash val="solid"/>
            <a:headEnd type="triangle"/>
          </a:ln>
        </p:spPr>
      </p:sp>
      <p:sp>
        <p:nvSpPr>
          <p:cNvPr id="188" name="Shape 155"/>
          <p:cNvSpPr/>
          <p:nvPr/>
        </p:nvSpPr>
        <p:spPr>
          <a:xfrm>
            <a:off x="6733217" y="4973536"/>
            <a:ext cx="0" cy="81002"/>
          </a:xfrm>
          <a:prstGeom prst="line">
            <a:avLst/>
          </a:prstGeom>
          <a:noFill/>
          <a:ln w="15875">
            <a:solidFill>
              <a:srgbClr val="1E9E4A"/>
            </a:solidFill>
            <a:prstDash val="solid"/>
          </a:ln>
        </p:spPr>
      </p:sp>
      <p:sp>
        <p:nvSpPr>
          <p:cNvPr id="189" name="Shape 156"/>
          <p:cNvSpPr/>
          <p:nvPr/>
        </p:nvSpPr>
        <p:spPr>
          <a:xfrm>
            <a:off x="6290405" y="4973536"/>
            <a:ext cx="442812" cy="0"/>
          </a:xfrm>
          <a:prstGeom prst="line">
            <a:avLst/>
          </a:prstGeom>
          <a:noFill/>
          <a:ln w="15875">
            <a:solidFill>
              <a:srgbClr val="1E9E4A"/>
            </a:solidFill>
            <a:prstDash val="solid"/>
            <a:headEnd type="triangle"/>
          </a:ln>
        </p:spPr>
      </p:sp>
      <p:sp>
        <p:nvSpPr>
          <p:cNvPr id="190" name="Text 157"/>
          <p:cNvSpPr/>
          <p:nvPr/>
        </p:nvSpPr>
        <p:spPr>
          <a:xfrm>
            <a:off x="6495611" y="4881734"/>
            <a:ext cx="216006" cy="75602"/>
          </a:xfrm>
          <a:prstGeom prst="rect">
            <a:avLst/>
          </a:prstGeom>
          <a:noFill/>
          <a:ln/>
        </p:spPr>
        <p:txBody>
          <a:bodyPr wrap="square" lIns="0" tIns="0" rIns="0" bIns="0" rtlCol="0" anchor="ctr"/>
          <a:lstStyle/>
          <a:p>
            <a:r>
              <a:rPr lang="en-US" sz="413" b="1" dirty="0">
                <a:solidFill>
                  <a:srgbClr val="1E9E4A"/>
                </a:solidFill>
                <a:latin typeface="Arial" pitchFamily="34" charset="0"/>
                <a:ea typeface="Arial" pitchFamily="34" charset="-122"/>
                <a:cs typeface="Arial" pitchFamily="34" charset="-120"/>
              </a:rPr>
              <a:t>Yes</a:t>
            </a:r>
            <a:endParaRPr lang="en-US" sz="413" dirty="0"/>
          </a:p>
        </p:txBody>
      </p:sp>
      <p:sp>
        <p:nvSpPr>
          <p:cNvPr id="191" name="Shape 158"/>
          <p:cNvSpPr/>
          <p:nvPr/>
        </p:nvSpPr>
        <p:spPr>
          <a:xfrm>
            <a:off x="6290406" y="5254344"/>
            <a:ext cx="162004" cy="0"/>
          </a:xfrm>
          <a:prstGeom prst="line">
            <a:avLst/>
          </a:prstGeom>
          <a:noFill/>
          <a:ln w="15875">
            <a:solidFill>
              <a:srgbClr val="DC2626"/>
            </a:solidFill>
            <a:prstDash val="solid"/>
            <a:headEnd type="triangle"/>
          </a:ln>
        </p:spPr>
      </p:sp>
      <p:sp>
        <p:nvSpPr>
          <p:cNvPr id="192" name="Text 159"/>
          <p:cNvSpPr/>
          <p:nvPr/>
        </p:nvSpPr>
        <p:spPr>
          <a:xfrm>
            <a:off x="6463210" y="5281345"/>
            <a:ext cx="183605" cy="75602"/>
          </a:xfrm>
          <a:prstGeom prst="rect">
            <a:avLst/>
          </a:prstGeom>
          <a:noFill/>
          <a:ln/>
        </p:spPr>
        <p:txBody>
          <a:bodyPr wrap="square" lIns="0" tIns="0" rIns="0" bIns="0" rtlCol="0" anchor="ctr"/>
          <a:lstStyle/>
          <a:p>
            <a:r>
              <a:rPr lang="en-US" sz="413" b="1" dirty="0">
                <a:solidFill>
                  <a:srgbClr val="DC2626"/>
                </a:solidFill>
                <a:latin typeface="Arial" pitchFamily="34" charset="0"/>
                <a:ea typeface="Arial" pitchFamily="34" charset="-122"/>
                <a:cs typeface="Arial" pitchFamily="34" charset="-120"/>
              </a:rPr>
              <a:t>No</a:t>
            </a:r>
            <a:endParaRPr lang="en-US" sz="413" dirty="0"/>
          </a:p>
        </p:txBody>
      </p:sp>
      <p:sp>
        <p:nvSpPr>
          <p:cNvPr id="193" name="Shape 160"/>
          <p:cNvSpPr/>
          <p:nvPr/>
        </p:nvSpPr>
        <p:spPr>
          <a:xfrm>
            <a:off x="5447982" y="5254344"/>
            <a:ext cx="194405" cy="0"/>
          </a:xfrm>
          <a:prstGeom prst="line">
            <a:avLst/>
          </a:prstGeom>
          <a:noFill/>
          <a:ln w="15875">
            <a:solidFill>
              <a:srgbClr val="DC2626"/>
            </a:solidFill>
            <a:prstDash val="solid"/>
          </a:ln>
        </p:spPr>
      </p:sp>
      <p:sp>
        <p:nvSpPr>
          <p:cNvPr id="194" name="Shape 161"/>
          <p:cNvSpPr/>
          <p:nvPr/>
        </p:nvSpPr>
        <p:spPr>
          <a:xfrm>
            <a:off x="5447982" y="4671128"/>
            <a:ext cx="0" cy="583216"/>
          </a:xfrm>
          <a:prstGeom prst="line">
            <a:avLst/>
          </a:prstGeom>
          <a:noFill/>
          <a:ln w="15875">
            <a:solidFill>
              <a:srgbClr val="DC2626"/>
            </a:solidFill>
            <a:prstDash val="solid"/>
          </a:ln>
        </p:spPr>
      </p:sp>
      <p:sp>
        <p:nvSpPr>
          <p:cNvPr id="195" name="Shape 162"/>
          <p:cNvSpPr/>
          <p:nvPr/>
        </p:nvSpPr>
        <p:spPr>
          <a:xfrm>
            <a:off x="5447982" y="4671128"/>
            <a:ext cx="86402" cy="0"/>
          </a:xfrm>
          <a:prstGeom prst="line">
            <a:avLst/>
          </a:prstGeom>
          <a:noFill/>
          <a:ln w="15875">
            <a:solidFill>
              <a:srgbClr val="DC2626"/>
            </a:solidFill>
            <a:prstDash val="solid"/>
            <a:tailEnd type="triangle"/>
          </a:ln>
        </p:spPr>
      </p:sp>
      <p:sp>
        <p:nvSpPr>
          <p:cNvPr id="196" name="Shape 163"/>
          <p:cNvSpPr/>
          <p:nvPr/>
        </p:nvSpPr>
        <p:spPr>
          <a:xfrm>
            <a:off x="8050854" y="4557725"/>
            <a:ext cx="561615" cy="237606"/>
          </a:xfrm>
          <a:prstGeom prst="roundRect">
            <a:avLst>
              <a:gd name="adj" fmla="val 11364"/>
            </a:avLst>
          </a:prstGeom>
          <a:solidFill>
            <a:srgbClr val="F6F2FE"/>
          </a:solidFill>
          <a:ln w="12700">
            <a:solidFill>
              <a:srgbClr val="C9B6F2"/>
            </a:solidFill>
            <a:prstDash val="solid"/>
          </a:ln>
        </p:spPr>
      </p:sp>
      <p:pic>
        <p:nvPicPr>
          <p:cNvPr id="197" name="Image 31" descr="/sessions/zealous-intelligent-mayer/mnt/outputs/icons6/b4_budget.png"/>
          <p:cNvPicPr>
            <a:picLocks noChangeAspect="1"/>
          </p:cNvPicPr>
          <p:nvPr/>
        </p:nvPicPr>
        <p:blipFill>
          <a:blip r:embed="rId31"/>
          <a:stretch>
            <a:fillRect/>
          </a:stretch>
        </p:blipFill>
        <p:spPr>
          <a:xfrm>
            <a:off x="8088654" y="4630627"/>
            <a:ext cx="91803" cy="91803"/>
          </a:xfrm>
          <a:prstGeom prst="rect">
            <a:avLst/>
          </a:prstGeom>
        </p:spPr>
      </p:pic>
      <p:sp>
        <p:nvSpPr>
          <p:cNvPr id="198" name="Text 164"/>
          <p:cNvSpPr/>
          <p:nvPr/>
        </p:nvSpPr>
        <p:spPr>
          <a:xfrm>
            <a:off x="8218258" y="4557725"/>
            <a:ext cx="367210" cy="237606"/>
          </a:xfrm>
          <a:prstGeom prst="rect">
            <a:avLst/>
          </a:prstGeom>
          <a:noFill/>
          <a:ln/>
        </p:spPr>
        <p:txBody>
          <a:bodyPr wrap="square" lIns="0" tIns="0" rIns="0" bIns="0" rtlCol="0" anchor="ctr"/>
          <a:lstStyle/>
          <a:p>
            <a:r>
              <a:rPr lang="en-US" sz="437" b="1" dirty="0">
                <a:solidFill>
                  <a:srgbClr val="1F2937"/>
                </a:solidFill>
                <a:latin typeface="Arial" pitchFamily="34" charset="0"/>
                <a:ea typeface="Arial" pitchFamily="34" charset="-122"/>
                <a:cs typeface="Arial" pitchFamily="34" charset="-120"/>
              </a:rPr>
              <a:t>Budget</a:t>
            </a:r>
            <a:endParaRPr lang="en-US" sz="437" dirty="0"/>
          </a:p>
        </p:txBody>
      </p:sp>
      <p:sp>
        <p:nvSpPr>
          <p:cNvPr id="199" name="Shape 165"/>
          <p:cNvSpPr/>
          <p:nvPr/>
        </p:nvSpPr>
        <p:spPr>
          <a:xfrm>
            <a:off x="8050854" y="4838533"/>
            <a:ext cx="561615" cy="237606"/>
          </a:xfrm>
          <a:prstGeom prst="roundRect">
            <a:avLst>
              <a:gd name="adj" fmla="val 11364"/>
            </a:avLst>
          </a:prstGeom>
          <a:solidFill>
            <a:srgbClr val="F6F2FE"/>
          </a:solidFill>
          <a:ln w="12700">
            <a:solidFill>
              <a:srgbClr val="C9B6F2"/>
            </a:solidFill>
            <a:prstDash val="solid"/>
          </a:ln>
        </p:spPr>
      </p:sp>
      <p:pic>
        <p:nvPicPr>
          <p:cNvPr id="200" name="Image 32" descr="/sessions/zealous-intelligent-mayer/mnt/outputs/icons6/b4_steps.png"/>
          <p:cNvPicPr>
            <a:picLocks noChangeAspect="1"/>
          </p:cNvPicPr>
          <p:nvPr/>
        </p:nvPicPr>
        <p:blipFill>
          <a:blip r:embed="rId32"/>
          <a:stretch>
            <a:fillRect/>
          </a:stretch>
        </p:blipFill>
        <p:spPr>
          <a:xfrm>
            <a:off x="8088654" y="4911434"/>
            <a:ext cx="91803" cy="91803"/>
          </a:xfrm>
          <a:prstGeom prst="rect">
            <a:avLst/>
          </a:prstGeom>
        </p:spPr>
      </p:pic>
      <p:sp>
        <p:nvSpPr>
          <p:cNvPr id="201" name="Text 166"/>
          <p:cNvSpPr/>
          <p:nvPr/>
        </p:nvSpPr>
        <p:spPr>
          <a:xfrm>
            <a:off x="8218258" y="4838533"/>
            <a:ext cx="367210" cy="237606"/>
          </a:xfrm>
          <a:prstGeom prst="rect">
            <a:avLst/>
          </a:prstGeom>
          <a:noFill/>
          <a:ln/>
        </p:spPr>
        <p:txBody>
          <a:bodyPr wrap="square" lIns="0" tIns="0" rIns="0" bIns="0" rtlCol="0" anchor="ctr"/>
          <a:lstStyle/>
          <a:p>
            <a:r>
              <a:rPr lang="en-US" sz="437" b="1" dirty="0">
                <a:solidFill>
                  <a:srgbClr val="1F2937"/>
                </a:solidFill>
                <a:latin typeface="Arial" pitchFamily="34" charset="0"/>
                <a:ea typeface="Arial" pitchFamily="34" charset="-122"/>
                <a:cs typeface="Arial" pitchFamily="34" charset="-120"/>
              </a:rPr>
              <a:t>Max Steps</a:t>
            </a:r>
            <a:endParaRPr lang="en-US" sz="437" dirty="0"/>
          </a:p>
        </p:txBody>
      </p:sp>
      <p:sp>
        <p:nvSpPr>
          <p:cNvPr id="202" name="Shape 167"/>
          <p:cNvSpPr/>
          <p:nvPr/>
        </p:nvSpPr>
        <p:spPr>
          <a:xfrm>
            <a:off x="8050854" y="5119340"/>
            <a:ext cx="561615" cy="237606"/>
          </a:xfrm>
          <a:prstGeom prst="roundRect">
            <a:avLst>
              <a:gd name="adj" fmla="val 11364"/>
            </a:avLst>
          </a:prstGeom>
          <a:solidFill>
            <a:srgbClr val="F6F2FE"/>
          </a:solidFill>
          <a:ln w="12700">
            <a:solidFill>
              <a:srgbClr val="C9B6F2"/>
            </a:solidFill>
            <a:prstDash val="solid"/>
          </a:ln>
        </p:spPr>
      </p:sp>
      <p:pic>
        <p:nvPicPr>
          <p:cNvPr id="203" name="Image 33" descr="/sessions/zealous-intelligent-mayer/mnt/outputs/icons6/b4_stop.png"/>
          <p:cNvPicPr>
            <a:picLocks noChangeAspect="1"/>
          </p:cNvPicPr>
          <p:nvPr/>
        </p:nvPicPr>
        <p:blipFill>
          <a:blip r:embed="rId33"/>
          <a:stretch>
            <a:fillRect/>
          </a:stretch>
        </p:blipFill>
        <p:spPr>
          <a:xfrm>
            <a:off x="8088654" y="5192242"/>
            <a:ext cx="91803" cy="91803"/>
          </a:xfrm>
          <a:prstGeom prst="rect">
            <a:avLst/>
          </a:prstGeom>
        </p:spPr>
      </p:pic>
      <p:sp>
        <p:nvSpPr>
          <p:cNvPr id="204" name="Text 168"/>
          <p:cNvSpPr/>
          <p:nvPr/>
        </p:nvSpPr>
        <p:spPr>
          <a:xfrm>
            <a:off x="8218258" y="5119340"/>
            <a:ext cx="367210" cy="237606"/>
          </a:xfrm>
          <a:prstGeom prst="rect">
            <a:avLst/>
          </a:prstGeom>
          <a:noFill/>
          <a:ln/>
        </p:spPr>
        <p:txBody>
          <a:bodyPr wrap="square" lIns="0" tIns="0" rIns="0" bIns="0" rtlCol="0" anchor="ctr"/>
          <a:lstStyle/>
          <a:p>
            <a:r>
              <a:rPr lang="en-US" sz="437" b="1" dirty="0">
                <a:solidFill>
                  <a:srgbClr val="1F2937"/>
                </a:solidFill>
                <a:latin typeface="Arial" pitchFamily="34" charset="0"/>
                <a:ea typeface="Arial" pitchFamily="34" charset="-122"/>
                <a:cs typeface="Arial" pitchFamily="34" charset="-120"/>
              </a:rPr>
              <a:t>Stop Rules</a:t>
            </a:r>
            <a:endParaRPr lang="en-US" sz="437" dirty="0"/>
          </a:p>
        </p:txBody>
      </p:sp>
      <p:sp>
        <p:nvSpPr>
          <p:cNvPr id="205" name="Text 169"/>
          <p:cNvSpPr/>
          <p:nvPr/>
        </p:nvSpPr>
        <p:spPr>
          <a:xfrm>
            <a:off x="4497556" y="5410948"/>
            <a:ext cx="4147313" cy="86402"/>
          </a:xfrm>
          <a:prstGeom prst="rect">
            <a:avLst/>
          </a:prstGeom>
          <a:noFill/>
          <a:ln/>
        </p:spPr>
        <p:txBody>
          <a:bodyPr wrap="square" lIns="0" tIns="0" rIns="0" bIns="0" rtlCol="0" anchor="ctr"/>
          <a:lstStyle/>
          <a:p>
            <a:pPr algn="ctr"/>
            <a:r>
              <a:rPr lang="en-US" sz="502" b="1" dirty="0">
                <a:solidFill>
                  <a:srgbClr val="7C3AED"/>
                </a:solidFill>
                <a:latin typeface="Arial" pitchFamily="34" charset="0"/>
                <a:ea typeface="Arial" pitchFamily="34" charset="-122"/>
                <a:cs typeface="Arial" pitchFamily="34" charset="-120"/>
              </a:rPr>
              <a:t>Unit of work: </a:t>
            </a:r>
            <a:r>
              <a:rPr lang="en-US" sz="502" dirty="0">
                <a:solidFill>
                  <a:srgbClr val="1F2937"/>
                </a:solidFill>
                <a:latin typeface="Arial" pitchFamily="34" charset="0"/>
                <a:ea typeface="Arial" pitchFamily="34" charset="-122"/>
                <a:cs typeface="Arial" pitchFamily="34" charset="-120"/>
              </a:rPr>
              <a:t>the complete run</a:t>
            </a:r>
            <a:endParaRPr lang="en-US" sz="502" dirty="0"/>
          </a:p>
        </p:txBody>
      </p:sp>
      <p:sp>
        <p:nvSpPr>
          <p:cNvPr id="206" name="Shape 170"/>
          <p:cNvSpPr/>
          <p:nvPr/>
        </p:nvSpPr>
        <p:spPr>
          <a:xfrm>
            <a:off x="3547130" y="5562152"/>
            <a:ext cx="950426" cy="1015228"/>
          </a:xfrm>
          <a:prstGeom prst="roundRect">
            <a:avLst>
              <a:gd name="adj" fmla="val 3409"/>
            </a:avLst>
          </a:prstGeom>
          <a:solidFill>
            <a:srgbClr val="2E9E4F"/>
          </a:solidFill>
          <a:ln w="12700">
            <a:solidFill>
              <a:srgbClr val="2E9E4F"/>
            </a:solidFill>
            <a:prstDash val="solid"/>
          </a:ln>
        </p:spPr>
      </p:sp>
      <p:sp>
        <p:nvSpPr>
          <p:cNvPr id="207" name="Shape 171"/>
          <p:cNvSpPr/>
          <p:nvPr/>
        </p:nvSpPr>
        <p:spPr>
          <a:xfrm>
            <a:off x="3881939" y="5637754"/>
            <a:ext cx="280808" cy="280808"/>
          </a:xfrm>
          <a:prstGeom prst="roundRect">
            <a:avLst>
              <a:gd name="adj" fmla="val 11538"/>
            </a:avLst>
          </a:prstGeom>
          <a:solidFill>
            <a:srgbClr val="FFFFFF"/>
          </a:solidFill>
          <a:ln/>
        </p:spPr>
      </p:sp>
      <p:pic>
        <p:nvPicPr>
          <p:cNvPr id="208" name="Image 34" descr="/sessions/zealous-intelligent-mayer/mnt/outputs/icons6/lp5.png"/>
          <p:cNvPicPr>
            <a:picLocks noChangeAspect="1"/>
          </p:cNvPicPr>
          <p:nvPr/>
        </p:nvPicPr>
        <p:blipFill>
          <a:blip r:embed="rId34"/>
          <a:stretch>
            <a:fillRect/>
          </a:stretch>
        </p:blipFill>
        <p:spPr>
          <a:xfrm>
            <a:off x="3952141" y="5707956"/>
            <a:ext cx="140404" cy="140404"/>
          </a:xfrm>
          <a:prstGeom prst="rect">
            <a:avLst/>
          </a:prstGeom>
        </p:spPr>
      </p:pic>
      <p:sp>
        <p:nvSpPr>
          <p:cNvPr id="209" name="Text 172"/>
          <p:cNvSpPr/>
          <p:nvPr/>
        </p:nvSpPr>
        <p:spPr>
          <a:xfrm>
            <a:off x="3568731" y="5950963"/>
            <a:ext cx="907225" cy="205206"/>
          </a:xfrm>
          <a:prstGeom prst="rect">
            <a:avLst/>
          </a:prstGeom>
          <a:noFill/>
          <a:ln/>
        </p:spPr>
        <p:txBody>
          <a:bodyPr wrap="square" lIns="0" tIns="0" rIns="0" bIns="0" rtlCol="0" anchor="ctr"/>
          <a:lstStyle/>
          <a:p>
            <a:pPr algn="ctr"/>
            <a:r>
              <a:rPr lang="en-US" sz="650" b="1" dirty="0">
                <a:solidFill>
                  <a:srgbClr val="FFFFFF"/>
                </a:solidFill>
                <a:latin typeface="Arial" pitchFamily="34" charset="0"/>
                <a:ea typeface="Arial" pitchFamily="34" charset="-122"/>
                <a:cs typeface="Arial" pitchFamily="34" charset="-120"/>
              </a:rPr>
              <a:t>Graph</a:t>
            </a:r>
            <a:endParaRPr lang="en-US" sz="650" dirty="0"/>
          </a:p>
          <a:p>
            <a:pPr algn="ctr"/>
            <a:r>
              <a:rPr lang="en-US" sz="650" b="1" dirty="0">
                <a:solidFill>
                  <a:srgbClr val="FFFFFF"/>
                </a:solidFill>
                <a:latin typeface="Arial" pitchFamily="34" charset="0"/>
                <a:ea typeface="Arial" pitchFamily="34" charset="-122"/>
                <a:cs typeface="Arial" pitchFamily="34" charset="-120"/>
              </a:rPr>
              <a:t>Engineering</a:t>
            </a:r>
            <a:endParaRPr lang="en-US" sz="650" dirty="0"/>
          </a:p>
        </p:txBody>
      </p:sp>
      <p:sp>
        <p:nvSpPr>
          <p:cNvPr id="210" name="Text 173"/>
          <p:cNvSpPr/>
          <p:nvPr/>
        </p:nvSpPr>
        <p:spPr>
          <a:xfrm>
            <a:off x="3579531" y="6166969"/>
            <a:ext cx="885624" cy="183605"/>
          </a:xfrm>
          <a:prstGeom prst="rect">
            <a:avLst/>
          </a:prstGeom>
          <a:noFill/>
          <a:ln/>
        </p:spPr>
        <p:txBody>
          <a:bodyPr wrap="square" lIns="0" tIns="0" rIns="0" bIns="0" rtlCol="0" anchor="ctr"/>
          <a:lstStyle/>
          <a:p>
            <a:pPr algn="ctr">
              <a:lnSpc>
                <a:spcPct val="102000"/>
              </a:lnSpc>
            </a:pPr>
            <a:r>
              <a:rPr lang="en-US" sz="472" dirty="0">
                <a:solidFill>
                  <a:srgbClr val="F0E9FB"/>
                </a:solidFill>
                <a:latin typeface="Arial" pitchFamily="34" charset="0"/>
                <a:ea typeface="Arial" pitchFamily="34" charset="-122"/>
                <a:cs typeface="Arial" pitchFamily="34" charset="-120"/>
              </a:rPr>
              <a:t>Coordinate nodes</a:t>
            </a:r>
            <a:endParaRPr lang="en-US" sz="472" dirty="0"/>
          </a:p>
          <a:p>
            <a:pPr algn="ctr">
              <a:lnSpc>
                <a:spcPct val="102000"/>
              </a:lnSpc>
            </a:pPr>
            <a:r>
              <a:rPr lang="en-US" sz="472" dirty="0">
                <a:solidFill>
                  <a:srgbClr val="F0E9FB"/>
                </a:solidFill>
                <a:latin typeface="Arial" pitchFamily="34" charset="0"/>
                <a:ea typeface="Arial" pitchFamily="34" charset="-122"/>
                <a:cs typeface="Arial" pitchFamily="34" charset="-120"/>
              </a:rPr>
              <a:t>and routes</a:t>
            </a:r>
            <a:endParaRPr lang="en-US" sz="472" dirty="0"/>
          </a:p>
        </p:txBody>
      </p:sp>
      <p:sp>
        <p:nvSpPr>
          <p:cNvPr id="211" name="Text 174"/>
          <p:cNvSpPr/>
          <p:nvPr/>
        </p:nvSpPr>
        <p:spPr>
          <a:xfrm>
            <a:off x="3590331" y="6372175"/>
            <a:ext cx="864024" cy="237606"/>
          </a:xfrm>
          <a:prstGeom prst="rect">
            <a:avLst/>
          </a:prstGeom>
          <a:noFill/>
          <a:ln/>
        </p:spPr>
        <p:txBody>
          <a:bodyPr wrap="square" lIns="0" tIns="0" rIns="0" bIns="0" rtlCol="0" anchor="ctr"/>
          <a:lstStyle/>
          <a:p>
            <a:pPr algn="ctr">
              <a:lnSpc>
                <a:spcPct val="102000"/>
              </a:lnSpc>
            </a:pPr>
            <a:r>
              <a:rPr lang="en-US" sz="366" i="1" dirty="0">
                <a:solidFill>
                  <a:srgbClr val="E7DFF6"/>
                </a:solidFill>
                <a:latin typeface="Arial" pitchFamily="34" charset="0"/>
                <a:ea typeface="Arial" pitchFamily="34" charset="-122"/>
                <a:cs typeface="Arial" pitchFamily="34" charset="-120"/>
              </a:rPr>
              <a:t>e.g. route across quality, planning and sustainability agents with a human gate</a:t>
            </a:r>
            <a:endParaRPr lang="en-US" sz="366" dirty="0"/>
          </a:p>
        </p:txBody>
      </p:sp>
      <p:sp>
        <p:nvSpPr>
          <p:cNvPr id="212" name="Shape 175"/>
          <p:cNvSpPr/>
          <p:nvPr/>
        </p:nvSpPr>
        <p:spPr>
          <a:xfrm>
            <a:off x="4497556" y="5562152"/>
            <a:ext cx="4147313" cy="1015228"/>
          </a:xfrm>
          <a:prstGeom prst="roundRect">
            <a:avLst>
              <a:gd name="adj" fmla="val 3191"/>
            </a:avLst>
          </a:prstGeom>
          <a:solidFill>
            <a:srgbClr val="FFFFFF"/>
          </a:solidFill>
          <a:ln w="12700">
            <a:solidFill>
              <a:srgbClr val="2E9E4F"/>
            </a:solidFill>
            <a:prstDash val="solid"/>
          </a:ln>
        </p:spPr>
      </p:sp>
      <p:sp>
        <p:nvSpPr>
          <p:cNvPr id="213" name="Shape 176"/>
          <p:cNvSpPr/>
          <p:nvPr/>
        </p:nvSpPr>
        <p:spPr>
          <a:xfrm>
            <a:off x="4616359" y="5659355"/>
            <a:ext cx="648018" cy="388811"/>
          </a:xfrm>
          <a:prstGeom prst="roundRect">
            <a:avLst>
              <a:gd name="adj" fmla="val 6944"/>
            </a:avLst>
          </a:prstGeom>
          <a:solidFill>
            <a:srgbClr val="EDF8F0"/>
          </a:solidFill>
          <a:ln w="12700">
            <a:solidFill>
              <a:srgbClr val="AEDCBB"/>
            </a:solidFill>
            <a:prstDash val="solid"/>
          </a:ln>
        </p:spPr>
      </p:sp>
      <p:pic>
        <p:nvPicPr>
          <p:cNvPr id="214" name="Image 35" descr="/sessions/zealous-intelligent-mayer/mnt/outputs/icons6/b5_state.png"/>
          <p:cNvPicPr>
            <a:picLocks noChangeAspect="1"/>
          </p:cNvPicPr>
          <p:nvPr/>
        </p:nvPicPr>
        <p:blipFill>
          <a:blip r:embed="rId35"/>
          <a:stretch>
            <a:fillRect/>
          </a:stretch>
        </p:blipFill>
        <p:spPr>
          <a:xfrm>
            <a:off x="4654160" y="5788958"/>
            <a:ext cx="129604" cy="129604"/>
          </a:xfrm>
          <a:prstGeom prst="rect">
            <a:avLst/>
          </a:prstGeom>
        </p:spPr>
      </p:pic>
      <p:sp>
        <p:nvSpPr>
          <p:cNvPr id="215" name="Text 177"/>
          <p:cNvSpPr/>
          <p:nvPr/>
        </p:nvSpPr>
        <p:spPr>
          <a:xfrm>
            <a:off x="4821565" y="5659355"/>
            <a:ext cx="415811" cy="388811"/>
          </a:xfrm>
          <a:prstGeom prst="rect">
            <a:avLst/>
          </a:prstGeom>
          <a:noFill/>
          <a:ln/>
        </p:spPr>
        <p:txBody>
          <a:bodyPr wrap="square" lIns="0" tIns="0" rIns="0" bIns="0" rtlCol="0" anchor="ctr"/>
          <a:lstStyle/>
          <a:p>
            <a:r>
              <a:rPr lang="en-US" sz="437" b="1" dirty="0">
                <a:solidFill>
                  <a:srgbClr val="1F2937"/>
                </a:solidFill>
                <a:latin typeface="Arial" pitchFamily="34" charset="0"/>
                <a:ea typeface="Arial" pitchFamily="34" charset="-122"/>
                <a:cs typeface="Arial" pitchFamily="34" charset="-120"/>
              </a:rPr>
              <a:t>State +</a:t>
            </a:r>
            <a:endParaRPr lang="en-US" sz="437" dirty="0"/>
          </a:p>
          <a:p>
            <a:r>
              <a:rPr lang="en-US" sz="437" b="1" dirty="0">
                <a:solidFill>
                  <a:srgbClr val="1F2937"/>
                </a:solidFill>
                <a:latin typeface="Arial" pitchFamily="34" charset="0"/>
                <a:ea typeface="Arial" pitchFamily="34" charset="-122"/>
                <a:cs typeface="Arial" pitchFamily="34" charset="-120"/>
              </a:rPr>
              <a:t>Topology</a:t>
            </a:r>
            <a:endParaRPr lang="en-US" sz="437" dirty="0"/>
          </a:p>
        </p:txBody>
      </p:sp>
      <p:sp>
        <p:nvSpPr>
          <p:cNvPr id="216" name="Shape 178"/>
          <p:cNvSpPr/>
          <p:nvPr/>
        </p:nvSpPr>
        <p:spPr>
          <a:xfrm>
            <a:off x="5415581" y="5659355"/>
            <a:ext cx="572416" cy="388811"/>
          </a:xfrm>
          <a:prstGeom prst="roundRect">
            <a:avLst>
              <a:gd name="adj" fmla="val 6944"/>
            </a:avLst>
          </a:prstGeom>
          <a:solidFill>
            <a:srgbClr val="EDF8F0"/>
          </a:solidFill>
          <a:ln w="12700">
            <a:solidFill>
              <a:srgbClr val="AEDCBB"/>
            </a:solidFill>
            <a:prstDash val="solid"/>
          </a:ln>
        </p:spPr>
      </p:sp>
      <p:pic>
        <p:nvPicPr>
          <p:cNvPr id="217" name="Image 36" descr="/sessions/zealous-intelligent-mayer/mnt/outputs/icons6/b5_router.png"/>
          <p:cNvPicPr>
            <a:picLocks noChangeAspect="1"/>
          </p:cNvPicPr>
          <p:nvPr/>
        </p:nvPicPr>
        <p:blipFill>
          <a:blip r:embed="rId36"/>
          <a:stretch>
            <a:fillRect/>
          </a:stretch>
        </p:blipFill>
        <p:spPr>
          <a:xfrm>
            <a:off x="5453382" y="5788958"/>
            <a:ext cx="129604" cy="129604"/>
          </a:xfrm>
          <a:prstGeom prst="rect">
            <a:avLst/>
          </a:prstGeom>
        </p:spPr>
      </p:pic>
      <p:sp>
        <p:nvSpPr>
          <p:cNvPr id="218" name="Text 179"/>
          <p:cNvSpPr/>
          <p:nvPr/>
        </p:nvSpPr>
        <p:spPr>
          <a:xfrm>
            <a:off x="5620787" y="5659355"/>
            <a:ext cx="340209" cy="388811"/>
          </a:xfrm>
          <a:prstGeom prst="rect">
            <a:avLst/>
          </a:prstGeom>
          <a:noFill/>
          <a:ln/>
        </p:spPr>
        <p:txBody>
          <a:bodyPr wrap="square" lIns="0" tIns="0" rIns="0" bIns="0" rtlCol="0" anchor="ctr"/>
          <a:lstStyle/>
          <a:p>
            <a:r>
              <a:rPr lang="en-US" sz="472" b="1" dirty="0">
                <a:solidFill>
                  <a:srgbClr val="1F2937"/>
                </a:solidFill>
                <a:latin typeface="Arial" pitchFamily="34" charset="0"/>
                <a:ea typeface="Arial" pitchFamily="34" charset="-122"/>
                <a:cs typeface="Arial" pitchFamily="34" charset="-120"/>
              </a:rPr>
              <a:t>Router</a:t>
            </a:r>
            <a:endParaRPr lang="en-US" sz="472" dirty="0"/>
          </a:p>
        </p:txBody>
      </p:sp>
      <p:sp>
        <p:nvSpPr>
          <p:cNvPr id="219" name="Shape 180"/>
          <p:cNvSpPr/>
          <p:nvPr/>
        </p:nvSpPr>
        <p:spPr>
          <a:xfrm>
            <a:off x="6074399" y="5605353"/>
            <a:ext cx="907225" cy="172805"/>
          </a:xfrm>
          <a:prstGeom prst="roundRect">
            <a:avLst>
              <a:gd name="adj" fmla="val 15625"/>
            </a:avLst>
          </a:prstGeom>
          <a:solidFill>
            <a:srgbClr val="EDF8F0"/>
          </a:solidFill>
          <a:ln w="12700">
            <a:solidFill>
              <a:srgbClr val="AEDCBB"/>
            </a:solidFill>
            <a:prstDash val="solid"/>
          </a:ln>
        </p:spPr>
      </p:sp>
      <p:pic>
        <p:nvPicPr>
          <p:cNvPr id="220" name="Image 37" descr="/sessions/zealous-intelligent-mayer/mnt/outputs/icons6/b5_agent.png"/>
          <p:cNvPicPr>
            <a:picLocks noChangeAspect="1"/>
          </p:cNvPicPr>
          <p:nvPr/>
        </p:nvPicPr>
        <p:blipFill>
          <a:blip r:embed="rId37"/>
          <a:stretch>
            <a:fillRect/>
          </a:stretch>
        </p:blipFill>
        <p:spPr>
          <a:xfrm>
            <a:off x="6112200" y="5645854"/>
            <a:ext cx="91803" cy="91803"/>
          </a:xfrm>
          <a:prstGeom prst="rect">
            <a:avLst/>
          </a:prstGeom>
        </p:spPr>
      </p:pic>
      <p:sp>
        <p:nvSpPr>
          <p:cNvPr id="221" name="Text 181"/>
          <p:cNvSpPr/>
          <p:nvPr/>
        </p:nvSpPr>
        <p:spPr>
          <a:xfrm>
            <a:off x="6241804" y="5605353"/>
            <a:ext cx="712819" cy="172805"/>
          </a:xfrm>
          <a:prstGeom prst="rect">
            <a:avLst/>
          </a:prstGeom>
          <a:noFill/>
          <a:ln/>
        </p:spPr>
        <p:txBody>
          <a:bodyPr wrap="square" lIns="0" tIns="0" rIns="0" bIns="0" rtlCol="0" anchor="ctr"/>
          <a:lstStyle/>
          <a:p>
            <a:r>
              <a:rPr lang="en-US" sz="402" b="1" dirty="0">
                <a:solidFill>
                  <a:srgbClr val="1F2937"/>
                </a:solidFill>
                <a:latin typeface="Arial" pitchFamily="34" charset="0"/>
                <a:ea typeface="Arial" pitchFamily="34" charset="-122"/>
                <a:cs typeface="Arial" pitchFamily="34" charset="-120"/>
              </a:rPr>
              <a:t>Quality Analyst</a:t>
            </a:r>
            <a:endParaRPr lang="en-US" sz="402" dirty="0"/>
          </a:p>
        </p:txBody>
      </p:sp>
      <p:sp>
        <p:nvSpPr>
          <p:cNvPr id="222" name="Shape 182"/>
          <p:cNvSpPr/>
          <p:nvPr/>
        </p:nvSpPr>
        <p:spPr>
          <a:xfrm>
            <a:off x="6074399" y="5799759"/>
            <a:ext cx="907225" cy="172805"/>
          </a:xfrm>
          <a:prstGeom prst="roundRect">
            <a:avLst>
              <a:gd name="adj" fmla="val 15625"/>
            </a:avLst>
          </a:prstGeom>
          <a:solidFill>
            <a:srgbClr val="EDF8F0"/>
          </a:solidFill>
          <a:ln w="12700">
            <a:solidFill>
              <a:srgbClr val="AEDCBB"/>
            </a:solidFill>
            <a:prstDash val="solid"/>
          </a:ln>
        </p:spPr>
      </p:sp>
      <p:pic>
        <p:nvPicPr>
          <p:cNvPr id="223" name="Image 38" descr="/sessions/zealous-intelligent-mayer/mnt/outputs/icons6/b5_tool.png"/>
          <p:cNvPicPr>
            <a:picLocks noChangeAspect="1"/>
          </p:cNvPicPr>
          <p:nvPr/>
        </p:nvPicPr>
        <p:blipFill>
          <a:blip r:embed="rId38"/>
          <a:stretch>
            <a:fillRect/>
          </a:stretch>
        </p:blipFill>
        <p:spPr>
          <a:xfrm>
            <a:off x="6112200" y="5840260"/>
            <a:ext cx="91803" cy="91803"/>
          </a:xfrm>
          <a:prstGeom prst="rect">
            <a:avLst/>
          </a:prstGeom>
        </p:spPr>
      </p:pic>
      <p:sp>
        <p:nvSpPr>
          <p:cNvPr id="224" name="Text 183"/>
          <p:cNvSpPr/>
          <p:nvPr/>
        </p:nvSpPr>
        <p:spPr>
          <a:xfrm>
            <a:off x="6241804" y="5799759"/>
            <a:ext cx="712819" cy="172805"/>
          </a:xfrm>
          <a:prstGeom prst="rect">
            <a:avLst/>
          </a:prstGeom>
          <a:noFill/>
          <a:ln/>
        </p:spPr>
        <p:txBody>
          <a:bodyPr wrap="square" lIns="0" tIns="0" rIns="0" bIns="0" rtlCol="0" anchor="ctr"/>
          <a:lstStyle/>
          <a:p>
            <a:r>
              <a:rPr lang="en-US" sz="402" b="1" dirty="0">
                <a:solidFill>
                  <a:srgbClr val="1F2937"/>
                </a:solidFill>
                <a:latin typeface="Arial" pitchFamily="34" charset="0"/>
                <a:ea typeface="Arial" pitchFamily="34" charset="-122"/>
                <a:cs typeface="Arial" pitchFamily="34" charset="-120"/>
              </a:rPr>
              <a:t>SAP / PI Node</a:t>
            </a:r>
            <a:endParaRPr lang="en-US" sz="402" dirty="0"/>
          </a:p>
        </p:txBody>
      </p:sp>
      <p:sp>
        <p:nvSpPr>
          <p:cNvPr id="225" name="Shape 184"/>
          <p:cNvSpPr/>
          <p:nvPr/>
        </p:nvSpPr>
        <p:spPr>
          <a:xfrm>
            <a:off x="6074399" y="5994164"/>
            <a:ext cx="907225" cy="172805"/>
          </a:xfrm>
          <a:prstGeom prst="roundRect">
            <a:avLst>
              <a:gd name="adj" fmla="val 15625"/>
            </a:avLst>
          </a:prstGeom>
          <a:solidFill>
            <a:srgbClr val="EDF8F0"/>
          </a:solidFill>
          <a:ln w="12700">
            <a:solidFill>
              <a:srgbClr val="AEDCBB"/>
            </a:solidFill>
            <a:prstDash val="solid"/>
          </a:ln>
        </p:spPr>
      </p:sp>
      <p:pic>
        <p:nvPicPr>
          <p:cNvPr id="226" name="Image 39" descr="/sessions/zealous-intelligent-mayer/mnt/outputs/icons6/b5_human.png"/>
          <p:cNvPicPr>
            <a:picLocks noChangeAspect="1"/>
          </p:cNvPicPr>
          <p:nvPr/>
        </p:nvPicPr>
        <p:blipFill>
          <a:blip r:embed="rId39"/>
          <a:stretch>
            <a:fillRect/>
          </a:stretch>
        </p:blipFill>
        <p:spPr>
          <a:xfrm>
            <a:off x="6112200" y="6034665"/>
            <a:ext cx="91803" cy="91803"/>
          </a:xfrm>
          <a:prstGeom prst="rect">
            <a:avLst/>
          </a:prstGeom>
        </p:spPr>
      </p:pic>
      <p:sp>
        <p:nvSpPr>
          <p:cNvPr id="227" name="Text 185"/>
          <p:cNvSpPr/>
          <p:nvPr/>
        </p:nvSpPr>
        <p:spPr>
          <a:xfrm>
            <a:off x="6241804" y="5994164"/>
            <a:ext cx="712819" cy="172805"/>
          </a:xfrm>
          <a:prstGeom prst="rect">
            <a:avLst/>
          </a:prstGeom>
          <a:noFill/>
          <a:ln/>
        </p:spPr>
        <p:txBody>
          <a:bodyPr wrap="square" lIns="0" tIns="0" rIns="0" bIns="0" rtlCol="0" anchor="ctr"/>
          <a:lstStyle/>
          <a:p>
            <a:r>
              <a:rPr lang="en-US" sz="402" b="1" dirty="0">
                <a:solidFill>
                  <a:srgbClr val="1F2937"/>
                </a:solidFill>
                <a:latin typeface="Arial" pitchFamily="34" charset="0"/>
                <a:ea typeface="Arial" pitchFamily="34" charset="-122"/>
                <a:cs typeface="Arial" pitchFamily="34" charset="-120"/>
              </a:rPr>
              <a:t>QA Manager Approval</a:t>
            </a:r>
            <a:endParaRPr lang="en-US" sz="402" dirty="0"/>
          </a:p>
        </p:txBody>
      </p:sp>
      <p:sp>
        <p:nvSpPr>
          <p:cNvPr id="228" name="Shape 186"/>
          <p:cNvSpPr/>
          <p:nvPr/>
        </p:nvSpPr>
        <p:spPr>
          <a:xfrm>
            <a:off x="7057226" y="5659355"/>
            <a:ext cx="518414" cy="388811"/>
          </a:xfrm>
          <a:prstGeom prst="roundRect">
            <a:avLst>
              <a:gd name="adj" fmla="val 6944"/>
            </a:avLst>
          </a:prstGeom>
          <a:solidFill>
            <a:srgbClr val="EDF8F0"/>
          </a:solidFill>
          <a:ln w="12700">
            <a:solidFill>
              <a:srgbClr val="AEDCBB"/>
            </a:solidFill>
            <a:prstDash val="solid"/>
          </a:ln>
        </p:spPr>
      </p:sp>
      <p:pic>
        <p:nvPicPr>
          <p:cNvPr id="229" name="Image 40" descr="/sessions/zealous-intelligent-mayer/mnt/outputs/icons6/b5_merge.png"/>
          <p:cNvPicPr>
            <a:picLocks noChangeAspect="1"/>
          </p:cNvPicPr>
          <p:nvPr/>
        </p:nvPicPr>
        <p:blipFill>
          <a:blip r:embed="rId40"/>
          <a:stretch>
            <a:fillRect/>
          </a:stretch>
        </p:blipFill>
        <p:spPr>
          <a:xfrm>
            <a:off x="7095027" y="5788958"/>
            <a:ext cx="129604" cy="129604"/>
          </a:xfrm>
          <a:prstGeom prst="rect">
            <a:avLst/>
          </a:prstGeom>
        </p:spPr>
      </p:pic>
      <p:sp>
        <p:nvSpPr>
          <p:cNvPr id="230" name="Text 187"/>
          <p:cNvSpPr/>
          <p:nvPr/>
        </p:nvSpPr>
        <p:spPr>
          <a:xfrm>
            <a:off x="7262432" y="5659355"/>
            <a:ext cx="286208" cy="388811"/>
          </a:xfrm>
          <a:prstGeom prst="rect">
            <a:avLst/>
          </a:prstGeom>
          <a:noFill/>
          <a:ln/>
        </p:spPr>
        <p:txBody>
          <a:bodyPr wrap="square" lIns="0" tIns="0" rIns="0" bIns="0" rtlCol="0" anchor="ctr"/>
          <a:lstStyle/>
          <a:p>
            <a:r>
              <a:rPr lang="en-US" sz="437" b="1" dirty="0">
                <a:solidFill>
                  <a:srgbClr val="1F2937"/>
                </a:solidFill>
                <a:latin typeface="Arial" pitchFamily="34" charset="0"/>
                <a:ea typeface="Arial" pitchFamily="34" charset="-122"/>
                <a:cs typeface="Arial" pitchFamily="34" charset="-120"/>
              </a:rPr>
              <a:t>Merge</a:t>
            </a:r>
            <a:endParaRPr lang="en-US" sz="437" dirty="0"/>
          </a:p>
          <a:p>
            <a:r>
              <a:rPr lang="en-US" sz="437" b="1" dirty="0">
                <a:solidFill>
                  <a:srgbClr val="1F2937"/>
                </a:solidFill>
                <a:latin typeface="Arial" pitchFamily="34" charset="0"/>
                <a:ea typeface="Arial" pitchFamily="34" charset="-122"/>
                <a:cs typeface="Arial" pitchFamily="34" charset="-120"/>
              </a:rPr>
              <a:t>State</a:t>
            </a:r>
            <a:endParaRPr lang="en-US" sz="437" dirty="0"/>
          </a:p>
        </p:txBody>
      </p:sp>
      <p:sp>
        <p:nvSpPr>
          <p:cNvPr id="231" name="Shape 188"/>
          <p:cNvSpPr/>
          <p:nvPr/>
        </p:nvSpPr>
        <p:spPr>
          <a:xfrm>
            <a:off x="7640442" y="5659355"/>
            <a:ext cx="475213" cy="388811"/>
          </a:xfrm>
          <a:prstGeom prst="roundRect">
            <a:avLst>
              <a:gd name="adj" fmla="val 6944"/>
            </a:avLst>
          </a:prstGeom>
          <a:solidFill>
            <a:srgbClr val="EDF8F0"/>
          </a:solidFill>
          <a:ln w="12700">
            <a:solidFill>
              <a:srgbClr val="AEDCBB"/>
            </a:solidFill>
            <a:prstDash val="solid"/>
          </a:ln>
        </p:spPr>
      </p:sp>
      <p:pic>
        <p:nvPicPr>
          <p:cNvPr id="232" name="Image 41" descr="/sessions/zealous-intelligent-mayer/mnt/outputs/icons6/b5_review.png"/>
          <p:cNvPicPr>
            <a:picLocks noChangeAspect="1"/>
          </p:cNvPicPr>
          <p:nvPr/>
        </p:nvPicPr>
        <p:blipFill>
          <a:blip r:embed="rId41"/>
          <a:stretch>
            <a:fillRect/>
          </a:stretch>
        </p:blipFill>
        <p:spPr>
          <a:xfrm>
            <a:off x="7678243" y="5788958"/>
            <a:ext cx="129604" cy="129604"/>
          </a:xfrm>
          <a:prstGeom prst="rect">
            <a:avLst/>
          </a:prstGeom>
        </p:spPr>
      </p:pic>
      <p:sp>
        <p:nvSpPr>
          <p:cNvPr id="233" name="Text 189"/>
          <p:cNvSpPr/>
          <p:nvPr/>
        </p:nvSpPr>
        <p:spPr>
          <a:xfrm>
            <a:off x="7845648" y="5659355"/>
            <a:ext cx="243007" cy="388811"/>
          </a:xfrm>
          <a:prstGeom prst="rect">
            <a:avLst/>
          </a:prstGeom>
          <a:noFill/>
          <a:ln/>
        </p:spPr>
        <p:txBody>
          <a:bodyPr wrap="square" lIns="0" tIns="0" rIns="0" bIns="0" rtlCol="0" anchor="ctr"/>
          <a:lstStyle/>
          <a:p>
            <a:r>
              <a:rPr lang="en-US" sz="425" b="1" dirty="0">
                <a:solidFill>
                  <a:srgbClr val="1F2937"/>
                </a:solidFill>
                <a:latin typeface="Arial" pitchFamily="34" charset="0"/>
                <a:ea typeface="Arial" pitchFamily="34" charset="-122"/>
                <a:cs typeface="Arial" pitchFamily="34" charset="-120"/>
              </a:rPr>
              <a:t>Reviewer</a:t>
            </a:r>
            <a:endParaRPr lang="en-US" sz="425" dirty="0"/>
          </a:p>
        </p:txBody>
      </p:sp>
      <p:sp>
        <p:nvSpPr>
          <p:cNvPr id="234" name="Shape 190"/>
          <p:cNvSpPr/>
          <p:nvPr/>
        </p:nvSpPr>
        <p:spPr>
          <a:xfrm>
            <a:off x="8180457" y="5659355"/>
            <a:ext cx="432012" cy="388811"/>
          </a:xfrm>
          <a:prstGeom prst="roundRect">
            <a:avLst>
              <a:gd name="adj" fmla="val 6944"/>
            </a:avLst>
          </a:prstGeom>
          <a:solidFill>
            <a:srgbClr val="EDF8F0"/>
          </a:solidFill>
          <a:ln w="12700">
            <a:solidFill>
              <a:srgbClr val="AEDCBB"/>
            </a:solidFill>
            <a:prstDash val="solid"/>
          </a:ln>
        </p:spPr>
      </p:sp>
      <p:pic>
        <p:nvPicPr>
          <p:cNvPr id="235" name="Image 42" descr="/sessions/zealous-intelligent-mayer/mnt/outputs/icons6/b5_final.png"/>
          <p:cNvPicPr>
            <a:picLocks noChangeAspect="1"/>
          </p:cNvPicPr>
          <p:nvPr/>
        </p:nvPicPr>
        <p:blipFill>
          <a:blip r:embed="rId42"/>
          <a:stretch>
            <a:fillRect/>
          </a:stretch>
        </p:blipFill>
        <p:spPr>
          <a:xfrm>
            <a:off x="8218258" y="5788958"/>
            <a:ext cx="129604" cy="129604"/>
          </a:xfrm>
          <a:prstGeom prst="rect">
            <a:avLst/>
          </a:prstGeom>
        </p:spPr>
      </p:pic>
      <p:sp>
        <p:nvSpPr>
          <p:cNvPr id="236" name="Text 191"/>
          <p:cNvSpPr/>
          <p:nvPr/>
        </p:nvSpPr>
        <p:spPr>
          <a:xfrm>
            <a:off x="8385663" y="5659355"/>
            <a:ext cx="199805" cy="388811"/>
          </a:xfrm>
          <a:prstGeom prst="rect">
            <a:avLst/>
          </a:prstGeom>
          <a:noFill/>
          <a:ln/>
        </p:spPr>
        <p:txBody>
          <a:bodyPr wrap="square" lIns="0" tIns="0" rIns="0" bIns="0" rtlCol="0" anchor="ctr"/>
          <a:lstStyle/>
          <a:p>
            <a:r>
              <a:rPr lang="en-US" sz="425" b="1" dirty="0">
                <a:solidFill>
                  <a:srgbClr val="1F2937"/>
                </a:solidFill>
                <a:latin typeface="Arial" pitchFamily="34" charset="0"/>
                <a:ea typeface="Arial" pitchFamily="34" charset="-122"/>
                <a:cs typeface="Arial" pitchFamily="34" charset="-120"/>
              </a:rPr>
              <a:t>Final</a:t>
            </a:r>
            <a:endParaRPr lang="en-US" sz="425" dirty="0"/>
          </a:p>
          <a:p>
            <a:r>
              <a:rPr lang="en-US" sz="425" b="1" dirty="0">
                <a:solidFill>
                  <a:srgbClr val="1F2937"/>
                </a:solidFill>
                <a:latin typeface="Arial" pitchFamily="34" charset="0"/>
                <a:ea typeface="Arial" pitchFamily="34" charset="-122"/>
                <a:cs typeface="Arial" pitchFamily="34" charset="-120"/>
              </a:rPr>
              <a:t>Report</a:t>
            </a:r>
            <a:endParaRPr lang="en-US" sz="425" dirty="0"/>
          </a:p>
        </p:txBody>
      </p:sp>
      <p:sp>
        <p:nvSpPr>
          <p:cNvPr id="237" name="Shape 192"/>
          <p:cNvSpPr/>
          <p:nvPr/>
        </p:nvSpPr>
        <p:spPr>
          <a:xfrm>
            <a:off x="5264377" y="5853760"/>
            <a:ext cx="140404" cy="0"/>
          </a:xfrm>
          <a:prstGeom prst="line">
            <a:avLst/>
          </a:prstGeom>
          <a:noFill/>
          <a:ln w="15875">
            <a:solidFill>
              <a:srgbClr val="1F2937"/>
            </a:solidFill>
            <a:prstDash val="solid"/>
            <a:tailEnd type="triangle"/>
          </a:ln>
        </p:spPr>
      </p:sp>
      <p:sp>
        <p:nvSpPr>
          <p:cNvPr id="238" name="Shape 193"/>
          <p:cNvSpPr/>
          <p:nvPr/>
        </p:nvSpPr>
        <p:spPr>
          <a:xfrm>
            <a:off x="5998797" y="5853760"/>
            <a:ext cx="43201" cy="0"/>
          </a:xfrm>
          <a:prstGeom prst="line">
            <a:avLst/>
          </a:prstGeom>
          <a:noFill/>
          <a:ln w="15875">
            <a:solidFill>
              <a:srgbClr val="1F2937"/>
            </a:solidFill>
            <a:prstDash val="solid"/>
          </a:ln>
        </p:spPr>
      </p:sp>
      <p:sp>
        <p:nvSpPr>
          <p:cNvPr id="239" name="Shape 194"/>
          <p:cNvSpPr/>
          <p:nvPr/>
        </p:nvSpPr>
        <p:spPr>
          <a:xfrm>
            <a:off x="6031198" y="5691756"/>
            <a:ext cx="0" cy="388811"/>
          </a:xfrm>
          <a:prstGeom prst="line">
            <a:avLst/>
          </a:prstGeom>
          <a:noFill/>
          <a:ln w="15875">
            <a:solidFill>
              <a:srgbClr val="1F2937"/>
            </a:solidFill>
            <a:prstDash val="solid"/>
          </a:ln>
        </p:spPr>
      </p:sp>
      <p:sp>
        <p:nvSpPr>
          <p:cNvPr id="240" name="Shape 195"/>
          <p:cNvSpPr/>
          <p:nvPr/>
        </p:nvSpPr>
        <p:spPr>
          <a:xfrm>
            <a:off x="6031198" y="5691756"/>
            <a:ext cx="32401" cy="0"/>
          </a:xfrm>
          <a:prstGeom prst="line">
            <a:avLst/>
          </a:prstGeom>
          <a:noFill/>
          <a:ln w="15875">
            <a:solidFill>
              <a:srgbClr val="1F2937"/>
            </a:solidFill>
            <a:prstDash val="solid"/>
            <a:tailEnd type="triangle"/>
          </a:ln>
        </p:spPr>
      </p:sp>
      <p:sp>
        <p:nvSpPr>
          <p:cNvPr id="241" name="Shape 196"/>
          <p:cNvSpPr/>
          <p:nvPr/>
        </p:nvSpPr>
        <p:spPr>
          <a:xfrm>
            <a:off x="6031198" y="5886161"/>
            <a:ext cx="32401" cy="0"/>
          </a:xfrm>
          <a:prstGeom prst="line">
            <a:avLst/>
          </a:prstGeom>
          <a:noFill/>
          <a:ln w="15875">
            <a:solidFill>
              <a:srgbClr val="1F2937"/>
            </a:solidFill>
            <a:prstDash val="solid"/>
            <a:tailEnd type="triangle"/>
          </a:ln>
        </p:spPr>
      </p:sp>
      <p:sp>
        <p:nvSpPr>
          <p:cNvPr id="242" name="Shape 197"/>
          <p:cNvSpPr/>
          <p:nvPr/>
        </p:nvSpPr>
        <p:spPr>
          <a:xfrm>
            <a:off x="6031198" y="6080566"/>
            <a:ext cx="32401" cy="0"/>
          </a:xfrm>
          <a:prstGeom prst="line">
            <a:avLst/>
          </a:prstGeom>
          <a:noFill/>
          <a:ln w="15875">
            <a:solidFill>
              <a:srgbClr val="1F2937"/>
            </a:solidFill>
            <a:prstDash val="solid"/>
            <a:tailEnd type="triangle"/>
          </a:ln>
        </p:spPr>
      </p:sp>
      <p:sp>
        <p:nvSpPr>
          <p:cNvPr id="243" name="Shape 198"/>
          <p:cNvSpPr/>
          <p:nvPr/>
        </p:nvSpPr>
        <p:spPr>
          <a:xfrm>
            <a:off x="7014025" y="5691756"/>
            <a:ext cx="0" cy="388811"/>
          </a:xfrm>
          <a:prstGeom prst="line">
            <a:avLst/>
          </a:prstGeom>
          <a:noFill/>
          <a:ln w="15875">
            <a:solidFill>
              <a:srgbClr val="1F2937"/>
            </a:solidFill>
            <a:prstDash val="solid"/>
          </a:ln>
        </p:spPr>
      </p:sp>
      <p:sp>
        <p:nvSpPr>
          <p:cNvPr id="244" name="Shape 199"/>
          <p:cNvSpPr/>
          <p:nvPr/>
        </p:nvSpPr>
        <p:spPr>
          <a:xfrm>
            <a:off x="6981624" y="5691756"/>
            <a:ext cx="32401" cy="0"/>
          </a:xfrm>
          <a:prstGeom prst="line">
            <a:avLst/>
          </a:prstGeom>
          <a:noFill/>
          <a:ln w="15875">
            <a:solidFill>
              <a:srgbClr val="1F2937"/>
            </a:solidFill>
            <a:prstDash val="solid"/>
          </a:ln>
        </p:spPr>
      </p:sp>
      <p:sp>
        <p:nvSpPr>
          <p:cNvPr id="245" name="Shape 200"/>
          <p:cNvSpPr/>
          <p:nvPr/>
        </p:nvSpPr>
        <p:spPr>
          <a:xfrm>
            <a:off x="6981624" y="5886161"/>
            <a:ext cx="32401" cy="0"/>
          </a:xfrm>
          <a:prstGeom prst="line">
            <a:avLst/>
          </a:prstGeom>
          <a:noFill/>
          <a:ln w="15875">
            <a:solidFill>
              <a:srgbClr val="1F2937"/>
            </a:solidFill>
            <a:prstDash val="solid"/>
          </a:ln>
        </p:spPr>
      </p:sp>
      <p:sp>
        <p:nvSpPr>
          <p:cNvPr id="246" name="Shape 201"/>
          <p:cNvSpPr/>
          <p:nvPr/>
        </p:nvSpPr>
        <p:spPr>
          <a:xfrm>
            <a:off x="6981624" y="6080566"/>
            <a:ext cx="32401" cy="0"/>
          </a:xfrm>
          <a:prstGeom prst="line">
            <a:avLst/>
          </a:prstGeom>
          <a:noFill/>
          <a:ln w="15875">
            <a:solidFill>
              <a:srgbClr val="1F2937"/>
            </a:solidFill>
            <a:prstDash val="solid"/>
          </a:ln>
        </p:spPr>
      </p:sp>
      <p:sp>
        <p:nvSpPr>
          <p:cNvPr id="247" name="Shape 202"/>
          <p:cNvSpPr/>
          <p:nvPr/>
        </p:nvSpPr>
        <p:spPr>
          <a:xfrm>
            <a:off x="7014025" y="5853760"/>
            <a:ext cx="32401" cy="0"/>
          </a:xfrm>
          <a:prstGeom prst="line">
            <a:avLst/>
          </a:prstGeom>
          <a:noFill/>
          <a:ln w="15875">
            <a:solidFill>
              <a:srgbClr val="1F2937"/>
            </a:solidFill>
            <a:prstDash val="solid"/>
            <a:tailEnd type="triangle"/>
          </a:ln>
        </p:spPr>
      </p:sp>
      <p:sp>
        <p:nvSpPr>
          <p:cNvPr id="248" name="Shape 203"/>
          <p:cNvSpPr/>
          <p:nvPr/>
        </p:nvSpPr>
        <p:spPr>
          <a:xfrm>
            <a:off x="7586441" y="5853760"/>
            <a:ext cx="43201" cy="0"/>
          </a:xfrm>
          <a:prstGeom prst="line">
            <a:avLst/>
          </a:prstGeom>
          <a:noFill/>
          <a:ln w="15875">
            <a:solidFill>
              <a:srgbClr val="1F2937"/>
            </a:solidFill>
            <a:prstDash val="solid"/>
            <a:tailEnd type="triangle"/>
          </a:ln>
        </p:spPr>
      </p:sp>
      <p:sp>
        <p:nvSpPr>
          <p:cNvPr id="249" name="Shape 204"/>
          <p:cNvSpPr/>
          <p:nvPr/>
        </p:nvSpPr>
        <p:spPr>
          <a:xfrm>
            <a:off x="8126456" y="5853760"/>
            <a:ext cx="43201" cy="0"/>
          </a:xfrm>
          <a:prstGeom prst="line">
            <a:avLst/>
          </a:prstGeom>
          <a:noFill/>
          <a:ln w="15875">
            <a:solidFill>
              <a:srgbClr val="1F2937"/>
            </a:solidFill>
            <a:prstDash val="solid"/>
            <a:tailEnd type="triangle"/>
          </a:ln>
        </p:spPr>
      </p:sp>
      <p:sp>
        <p:nvSpPr>
          <p:cNvPr id="250" name="Shape 205"/>
          <p:cNvSpPr/>
          <p:nvPr/>
        </p:nvSpPr>
        <p:spPr>
          <a:xfrm>
            <a:off x="7878049" y="6048166"/>
            <a:ext cx="0" cy="226806"/>
          </a:xfrm>
          <a:prstGeom prst="line">
            <a:avLst/>
          </a:prstGeom>
          <a:noFill/>
          <a:ln w="15875">
            <a:solidFill>
              <a:srgbClr val="2E9E4F"/>
            </a:solidFill>
            <a:prstDash val="dash"/>
          </a:ln>
        </p:spPr>
      </p:sp>
      <p:sp>
        <p:nvSpPr>
          <p:cNvPr id="251" name="Shape 206"/>
          <p:cNvSpPr/>
          <p:nvPr/>
        </p:nvSpPr>
        <p:spPr>
          <a:xfrm>
            <a:off x="5701789" y="6274972"/>
            <a:ext cx="2176259" cy="0"/>
          </a:xfrm>
          <a:prstGeom prst="line">
            <a:avLst/>
          </a:prstGeom>
          <a:noFill/>
          <a:ln w="15875">
            <a:solidFill>
              <a:srgbClr val="2E9E4F"/>
            </a:solidFill>
            <a:prstDash val="dash"/>
          </a:ln>
        </p:spPr>
      </p:sp>
      <p:sp>
        <p:nvSpPr>
          <p:cNvPr id="252" name="Shape 207"/>
          <p:cNvSpPr/>
          <p:nvPr/>
        </p:nvSpPr>
        <p:spPr>
          <a:xfrm>
            <a:off x="5701789" y="6048166"/>
            <a:ext cx="0" cy="226806"/>
          </a:xfrm>
          <a:prstGeom prst="line">
            <a:avLst/>
          </a:prstGeom>
          <a:noFill/>
          <a:ln w="15875">
            <a:solidFill>
              <a:srgbClr val="2E9E4F"/>
            </a:solidFill>
            <a:prstDash val="dash"/>
            <a:headEnd type="triangle"/>
          </a:ln>
        </p:spPr>
      </p:sp>
      <p:sp>
        <p:nvSpPr>
          <p:cNvPr id="253" name="Text 208"/>
          <p:cNvSpPr/>
          <p:nvPr/>
        </p:nvSpPr>
        <p:spPr>
          <a:xfrm>
            <a:off x="5739590" y="6177769"/>
            <a:ext cx="2106058" cy="81002"/>
          </a:xfrm>
          <a:prstGeom prst="rect">
            <a:avLst/>
          </a:prstGeom>
          <a:noFill/>
          <a:ln/>
        </p:spPr>
        <p:txBody>
          <a:bodyPr wrap="square" lIns="0" tIns="0" rIns="0" bIns="0" rtlCol="0" anchor="ctr"/>
          <a:lstStyle/>
          <a:p>
            <a:pPr algn="ctr"/>
            <a:r>
              <a:rPr lang="en-US" sz="425" b="1" dirty="0">
                <a:solidFill>
                  <a:srgbClr val="2E9E4F"/>
                </a:solidFill>
                <a:latin typeface="Arial" pitchFamily="34" charset="0"/>
                <a:ea typeface="Arial" pitchFamily="34" charset="-122"/>
                <a:cs typeface="Arial" pitchFamily="34" charset="-120"/>
              </a:rPr>
              <a:t>Review failure → update state and choose a new route</a:t>
            </a:r>
            <a:endParaRPr lang="en-US" sz="425" dirty="0"/>
          </a:p>
        </p:txBody>
      </p:sp>
      <p:sp>
        <p:nvSpPr>
          <p:cNvPr id="254" name="Text 209"/>
          <p:cNvSpPr/>
          <p:nvPr/>
        </p:nvSpPr>
        <p:spPr>
          <a:xfrm>
            <a:off x="4497556" y="6436976"/>
            <a:ext cx="4147313" cy="86402"/>
          </a:xfrm>
          <a:prstGeom prst="rect">
            <a:avLst/>
          </a:prstGeom>
          <a:noFill/>
          <a:ln/>
        </p:spPr>
        <p:txBody>
          <a:bodyPr wrap="square" lIns="0" tIns="0" rIns="0" bIns="0" rtlCol="0" anchor="ctr"/>
          <a:lstStyle/>
          <a:p>
            <a:pPr algn="ctr"/>
            <a:r>
              <a:rPr lang="en-US" sz="502" b="1" dirty="0">
                <a:solidFill>
                  <a:srgbClr val="2E9E4F"/>
                </a:solidFill>
                <a:latin typeface="Arial" pitchFamily="34" charset="0"/>
                <a:ea typeface="Arial" pitchFamily="34" charset="-122"/>
                <a:cs typeface="Arial" pitchFamily="34" charset="-120"/>
              </a:rPr>
              <a:t>Unit of work: </a:t>
            </a:r>
            <a:r>
              <a:rPr lang="en-US" sz="502" dirty="0">
                <a:solidFill>
                  <a:srgbClr val="1F2937"/>
                </a:solidFill>
                <a:latin typeface="Arial" pitchFamily="34" charset="0"/>
                <a:ea typeface="Arial" pitchFamily="34" charset="-122"/>
                <a:cs typeface="Arial" pitchFamily="34" charset="-120"/>
              </a:rPr>
              <a:t>the operating graph</a:t>
            </a:r>
            <a:endParaRPr lang="en-US" sz="502" dirty="0"/>
          </a:p>
        </p:txBody>
      </p:sp>
      <p:sp>
        <p:nvSpPr>
          <p:cNvPr id="255" name="Text 210"/>
          <p:cNvSpPr/>
          <p:nvPr/>
        </p:nvSpPr>
        <p:spPr>
          <a:xfrm>
            <a:off x="3395926" y="6663782"/>
            <a:ext cx="5400148" cy="97203"/>
          </a:xfrm>
          <a:prstGeom prst="rect">
            <a:avLst/>
          </a:prstGeom>
          <a:noFill/>
          <a:ln/>
        </p:spPr>
        <p:txBody>
          <a:bodyPr wrap="square" lIns="0" tIns="0" rIns="0" bIns="0" rtlCol="0" anchor="ctr"/>
          <a:lstStyle/>
          <a:p>
            <a:pPr algn="ctr"/>
            <a:r>
              <a:rPr lang="en-US" sz="443" dirty="0">
                <a:solidFill>
                  <a:srgbClr val="6B7280"/>
                </a:solidFill>
                <a:latin typeface="Arial" pitchFamily="34" charset="0"/>
                <a:ea typeface="Arial" pitchFamily="34" charset="-122"/>
                <a:cs typeface="Arial" pitchFamily="34" charset="-120"/>
              </a:rPr>
              <a:t>Ball Corporation  ·  adapted from a concept by Prashant Rathi (@prashantrathi1)</a:t>
            </a:r>
            <a:endParaRPr lang="en-US" sz="443"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4</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Context engineering: why agents succeed or fail</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548640" y="1481328"/>
            <a:ext cx="5318608" cy="2103120"/>
          </a:xfrm>
          <a:prstGeom prst="roundRect">
            <a:avLst>
              <a:gd name="adj" fmla="val 3478"/>
            </a:avLst>
          </a:prstGeom>
          <a:solidFill>
            <a:srgbClr val="0A2240"/>
          </a:solidFill>
          <a:ln w="12700">
            <a:solidFill>
              <a:srgbClr val="0A2240"/>
            </a:solidFill>
            <a:prstDash val="solid"/>
          </a:ln>
          <a:effectLst>
            <a:outerShdw blurRad="101600" dist="25400" dir="5400000" algn="bl" rotWithShape="0">
              <a:srgbClr val="0A2240">
                <a:alpha val="12000"/>
              </a:srgbClr>
            </a:outerShdw>
          </a:effectLst>
        </p:spPr>
      </p:sp>
      <p:sp>
        <p:nvSpPr>
          <p:cNvPr id="7" name="Text 5"/>
          <p:cNvSpPr/>
          <p:nvPr/>
        </p:nvSpPr>
        <p:spPr>
          <a:xfrm>
            <a:off x="859536" y="1682496"/>
            <a:ext cx="4696816" cy="329184"/>
          </a:xfrm>
          <a:prstGeom prst="rect">
            <a:avLst/>
          </a:prstGeom>
          <a:noFill/>
          <a:ln/>
        </p:spPr>
        <p:txBody>
          <a:bodyPr wrap="square" lIns="0" tIns="0" rIns="0" bIns="0" rtlCol="0" anchor="ctr"/>
          <a:lstStyle/>
          <a:p>
            <a:pPr marL="0" indent="0">
              <a:buNone/>
            </a:pPr>
            <a:r>
              <a:rPr lang="en-US" sz="1300" b="1" kern="0" spc="150" dirty="0">
                <a:solidFill>
                  <a:srgbClr val="00A9E0"/>
                </a:solidFill>
                <a:latin typeface="Calibri" pitchFamily="34" charset="0"/>
                <a:ea typeface="Calibri" pitchFamily="34" charset="-122"/>
                <a:cs typeface="Calibri" pitchFamily="34" charset="-120"/>
              </a:rPr>
              <a:t>Definition</a:t>
            </a:r>
            <a:endParaRPr lang="en-US" sz="1300" dirty="0"/>
          </a:p>
        </p:txBody>
      </p:sp>
      <p:sp>
        <p:nvSpPr>
          <p:cNvPr id="8" name="Text 6"/>
          <p:cNvSpPr/>
          <p:nvPr/>
        </p:nvSpPr>
        <p:spPr>
          <a:xfrm>
            <a:off x="859536" y="2084832"/>
            <a:ext cx="4696816" cy="1316736"/>
          </a:xfrm>
          <a:prstGeom prst="rect">
            <a:avLst/>
          </a:prstGeom>
          <a:noFill/>
          <a:ln/>
        </p:spPr>
        <p:txBody>
          <a:bodyPr wrap="square" lIns="0" tIns="0" rIns="0" bIns="0" rtlCol="0" anchor="t"/>
          <a:lstStyle/>
          <a:p>
            <a:pPr marL="0" indent="0">
              <a:lnSpc>
                <a:spcPts val="1900"/>
              </a:lnSpc>
              <a:buNone/>
            </a:pPr>
            <a:r>
              <a:rPr lang="en-US" sz="1350" dirty="0">
                <a:solidFill>
                  <a:srgbClr val="FFFFFF"/>
                </a:solidFill>
                <a:latin typeface="Calibri" pitchFamily="34" charset="0"/>
                <a:ea typeface="Calibri" pitchFamily="34" charset="-122"/>
                <a:cs typeface="Calibri" pitchFamily="34" charset="-120"/>
              </a:rPr>
              <a:t>The practice of designing systems that dynamically assemble the right information, tools and institutional knowledge into an agent's working context — treating that context window as a scarce, engineered resource rather than a prompt.</a:t>
            </a:r>
            <a:endParaRPr lang="en-US" sz="1350" dirty="0"/>
          </a:p>
        </p:txBody>
      </p:sp>
      <p:sp>
        <p:nvSpPr>
          <p:cNvPr id="9" name="Shape 7"/>
          <p:cNvSpPr/>
          <p:nvPr/>
        </p:nvSpPr>
        <p:spPr>
          <a:xfrm>
            <a:off x="548640" y="3785616"/>
            <a:ext cx="5318608" cy="2176272"/>
          </a:xfrm>
          <a:prstGeom prst="roundRect">
            <a:avLst>
              <a:gd name="adj" fmla="val 3361"/>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0" name="Text 8"/>
          <p:cNvSpPr/>
          <p:nvPr/>
        </p:nvSpPr>
        <p:spPr>
          <a:xfrm>
            <a:off x="859536" y="3986784"/>
            <a:ext cx="4696816" cy="365760"/>
          </a:xfrm>
          <a:prstGeom prst="rect">
            <a:avLst/>
          </a:prstGeom>
          <a:noFill/>
          <a:ln/>
        </p:spPr>
        <p:txBody>
          <a:bodyPr wrap="square" lIns="0" tIns="0" rIns="0" bIns="0" rtlCol="0" anchor="ctr"/>
          <a:lstStyle/>
          <a:p>
            <a:pPr marL="0" indent="0">
              <a:buNone/>
            </a:pPr>
            <a:r>
              <a:rPr lang="en-US" sz="1450" b="1" dirty="0">
                <a:solidFill>
                  <a:srgbClr val="0A2240"/>
                </a:solidFill>
                <a:latin typeface="Calibri" pitchFamily="34" charset="0"/>
                <a:ea typeface="Calibri" pitchFamily="34" charset="-122"/>
                <a:cs typeface="Calibri" pitchFamily="34" charset="-120"/>
              </a:rPr>
              <a:t>Why it matters more than model choice</a:t>
            </a:r>
            <a:endParaRPr lang="en-US" sz="1450" dirty="0"/>
          </a:p>
        </p:txBody>
      </p:sp>
      <p:sp>
        <p:nvSpPr>
          <p:cNvPr id="11" name="Text 9"/>
          <p:cNvSpPr/>
          <p:nvPr/>
        </p:nvSpPr>
        <p:spPr>
          <a:xfrm>
            <a:off x="859536" y="4407408"/>
            <a:ext cx="4696816" cy="1371600"/>
          </a:xfrm>
          <a:prstGeom prst="rect">
            <a:avLst/>
          </a:prstGeom>
          <a:noFill/>
          <a:ln/>
        </p:spPr>
        <p:txBody>
          <a:bodyPr wrap="square" lIns="0" tIns="0" rIns="0" bIns="0" rtlCol="0" anchor="t"/>
          <a:lstStyle/>
          <a:p>
            <a:pPr marL="342900" indent="-342900">
              <a:lnSpc>
                <a:spcPts val="1600"/>
              </a:lnSpc>
              <a:spcAft>
                <a:spcPts val="800"/>
              </a:spcAft>
              <a:buSzPct val="100000"/>
              <a:buChar char="•"/>
            </a:pPr>
            <a:r>
              <a:rPr lang="en-US" sz="1200" dirty="0">
                <a:solidFill>
                  <a:srgbClr val="16222E"/>
                </a:solidFill>
                <a:latin typeface="Calibri" pitchFamily="34" charset="0"/>
                <a:ea typeface="Calibri" pitchFamily="34" charset="-122"/>
                <a:cs typeface="Calibri" pitchFamily="34" charset="-120"/>
              </a:rPr>
              <a:t>Most enterprise AI failures trace to context — missing, stale, conflicting or irrelevant — not to model capability</a:t>
            </a:r>
            <a:endParaRPr lang="en-US" sz="1200" dirty="0"/>
          </a:p>
          <a:p>
            <a:pPr marL="342900" indent="-342900">
              <a:lnSpc>
                <a:spcPts val="1600"/>
              </a:lnSpc>
              <a:spcAft>
                <a:spcPts val="800"/>
              </a:spcAft>
              <a:buSzPct val="100000"/>
              <a:buChar char="•"/>
            </a:pPr>
            <a:r>
              <a:rPr lang="en-US" sz="1200" dirty="0">
                <a:solidFill>
                  <a:srgbClr val="16222E"/>
                </a:solidFill>
                <a:latin typeface="Calibri" pitchFamily="34" charset="0"/>
                <a:ea typeface="Calibri" pitchFamily="34" charset="-122"/>
                <a:cs typeface="Calibri" pitchFamily="34" charset="-120"/>
              </a:rPr>
              <a:t>Prompt engineering does not scale past a handful of use cases; the majority of data leaders now say so explicitly</a:t>
            </a:r>
            <a:endParaRPr lang="en-US" sz="1200" dirty="0"/>
          </a:p>
          <a:p>
            <a:pPr marL="342900" indent="-342900">
              <a:lnSpc>
                <a:spcPts val="1600"/>
              </a:lnSpc>
              <a:spcAft>
                <a:spcPts val="800"/>
              </a:spcAft>
              <a:buSzPct val="100000"/>
              <a:buChar char="•"/>
            </a:pPr>
            <a:r>
              <a:rPr lang="en-US" sz="1200" dirty="0">
                <a:solidFill>
                  <a:srgbClr val="16222E"/>
                </a:solidFill>
                <a:latin typeface="Calibri" pitchFamily="34" charset="0"/>
                <a:ea typeface="Calibri" pitchFamily="34" charset="-122"/>
                <a:cs typeface="Calibri" pitchFamily="34" charset="-120"/>
              </a:rPr>
              <a:t>Context is where Ball's proprietary advantage lives; the model is a commodity anyone can rent</a:t>
            </a:r>
            <a:endParaRPr lang="en-US" sz="1200" dirty="0"/>
          </a:p>
        </p:txBody>
      </p:sp>
      <p:sp>
        <p:nvSpPr>
          <p:cNvPr id="12" name="Shape 10"/>
          <p:cNvSpPr/>
          <p:nvPr/>
        </p:nvSpPr>
        <p:spPr>
          <a:xfrm>
            <a:off x="6324448" y="1481328"/>
            <a:ext cx="5318608" cy="4480560"/>
          </a:xfrm>
          <a:prstGeom prst="roundRect">
            <a:avLst>
              <a:gd name="adj" fmla="val 1633"/>
            </a:avLst>
          </a:prstGeom>
          <a:solidFill>
            <a:srgbClr val="FFFFFF"/>
          </a:solidFill>
          <a:ln w="12700">
            <a:solidFill>
              <a:srgbClr val="E4EBF2"/>
            </a:solidFill>
            <a:prstDash val="solid"/>
          </a:ln>
          <a:effectLst>
            <a:outerShdw blurRad="101600" dist="25400" dir="5400000" algn="bl" rotWithShape="0">
              <a:srgbClr val="0A2240">
                <a:alpha val="12000"/>
              </a:srgbClr>
            </a:outerShdw>
          </a:effectLst>
        </p:spPr>
      </p:sp>
      <p:sp>
        <p:nvSpPr>
          <p:cNvPr id="13" name="Text 11"/>
          <p:cNvSpPr/>
          <p:nvPr/>
        </p:nvSpPr>
        <p:spPr>
          <a:xfrm>
            <a:off x="6635344" y="1700784"/>
            <a:ext cx="4696816" cy="365760"/>
          </a:xfrm>
          <a:prstGeom prst="rect">
            <a:avLst/>
          </a:prstGeom>
          <a:noFill/>
          <a:ln/>
        </p:spPr>
        <p:txBody>
          <a:bodyPr wrap="square" lIns="0" tIns="0" rIns="0" bIns="0" rtlCol="0" anchor="ctr"/>
          <a:lstStyle/>
          <a:p>
            <a:pPr marL="0" indent="0">
              <a:buNone/>
            </a:pPr>
            <a:r>
              <a:rPr lang="en-US" sz="1450" b="1" dirty="0">
                <a:solidFill>
                  <a:srgbClr val="0A2240"/>
                </a:solidFill>
                <a:latin typeface="Calibri" pitchFamily="34" charset="0"/>
                <a:ea typeface="Calibri" pitchFamily="34" charset="-122"/>
                <a:cs typeface="Calibri" pitchFamily="34" charset="-120"/>
              </a:rPr>
              <a:t>What a context engineer actually owns</a:t>
            </a:r>
            <a:endParaRPr lang="en-US" sz="1450" dirty="0"/>
          </a:p>
        </p:txBody>
      </p:sp>
      <p:sp>
        <p:nvSpPr>
          <p:cNvPr id="14" name="Text 12"/>
          <p:cNvSpPr/>
          <p:nvPr/>
        </p:nvSpPr>
        <p:spPr>
          <a:xfrm>
            <a:off x="6635344" y="2194560"/>
            <a:ext cx="1691640" cy="457200"/>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System instructions</a:t>
            </a:r>
            <a:endParaRPr lang="en-US" sz="1150" dirty="0"/>
          </a:p>
        </p:txBody>
      </p:sp>
      <p:sp>
        <p:nvSpPr>
          <p:cNvPr id="15" name="Text 13"/>
          <p:cNvSpPr/>
          <p:nvPr/>
        </p:nvSpPr>
        <p:spPr>
          <a:xfrm>
            <a:off x="8409280" y="2194560"/>
            <a:ext cx="2922880" cy="457200"/>
          </a:xfrm>
          <a:prstGeom prst="rect">
            <a:avLst/>
          </a:prstGeom>
          <a:noFill/>
          <a:ln/>
        </p:spPr>
        <p:txBody>
          <a:bodyPr wrap="square" lIns="0" tIns="0" rIns="0" bIns="0" rtlCol="0" anchor="ctr"/>
          <a:lstStyle/>
          <a:p>
            <a:pPr marL="0" indent="0">
              <a:lnSpc>
                <a:spcPts val="1300"/>
              </a:lnSpc>
              <a:buNone/>
            </a:pPr>
            <a:r>
              <a:rPr lang="en-US" sz="1080" dirty="0">
                <a:solidFill>
                  <a:srgbClr val="5A6B7B"/>
                </a:solidFill>
                <a:latin typeface="Calibri" pitchFamily="34" charset="0"/>
                <a:ea typeface="Calibri" pitchFamily="34" charset="-122"/>
                <a:cs typeface="Calibri" pitchFamily="34" charset="-120"/>
              </a:rPr>
              <a:t>Role, constraints, refusal behaviour, escalation rules</a:t>
            </a:r>
            <a:endParaRPr lang="en-US" sz="1080" dirty="0"/>
          </a:p>
        </p:txBody>
      </p:sp>
      <p:sp>
        <p:nvSpPr>
          <p:cNvPr id="16" name="Text 14"/>
          <p:cNvSpPr/>
          <p:nvPr/>
        </p:nvSpPr>
        <p:spPr>
          <a:xfrm>
            <a:off x="6635344" y="2720340"/>
            <a:ext cx="1691640" cy="457200"/>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Retrieval strategy</a:t>
            </a:r>
            <a:endParaRPr lang="en-US" sz="1150" dirty="0"/>
          </a:p>
        </p:txBody>
      </p:sp>
      <p:sp>
        <p:nvSpPr>
          <p:cNvPr id="17" name="Text 15"/>
          <p:cNvSpPr/>
          <p:nvPr/>
        </p:nvSpPr>
        <p:spPr>
          <a:xfrm>
            <a:off x="8409280" y="2720340"/>
            <a:ext cx="2922880" cy="457200"/>
          </a:xfrm>
          <a:prstGeom prst="rect">
            <a:avLst/>
          </a:prstGeom>
          <a:noFill/>
          <a:ln/>
        </p:spPr>
        <p:txBody>
          <a:bodyPr wrap="square" lIns="0" tIns="0" rIns="0" bIns="0" rtlCol="0" anchor="ctr"/>
          <a:lstStyle/>
          <a:p>
            <a:pPr marL="0" indent="0">
              <a:lnSpc>
                <a:spcPts val="1300"/>
              </a:lnSpc>
              <a:buNone/>
            </a:pPr>
            <a:r>
              <a:rPr lang="en-US" sz="1080" dirty="0">
                <a:solidFill>
                  <a:srgbClr val="5A6B7B"/>
                </a:solidFill>
                <a:latin typeface="Calibri" pitchFamily="34" charset="0"/>
                <a:ea typeface="Calibri" pitchFamily="34" charset="-122"/>
                <a:cs typeface="Calibri" pitchFamily="34" charset="-120"/>
              </a:rPr>
              <a:t>What is fetched, from where, ranked how, filtered by whose permissions</a:t>
            </a:r>
            <a:endParaRPr lang="en-US" sz="1080" dirty="0"/>
          </a:p>
        </p:txBody>
      </p:sp>
      <p:sp>
        <p:nvSpPr>
          <p:cNvPr id="18" name="Text 16"/>
          <p:cNvSpPr/>
          <p:nvPr/>
        </p:nvSpPr>
        <p:spPr>
          <a:xfrm>
            <a:off x="6635344" y="3246120"/>
            <a:ext cx="1691640" cy="457200"/>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Knowledge curation</a:t>
            </a:r>
            <a:endParaRPr lang="en-US" sz="1150" dirty="0"/>
          </a:p>
        </p:txBody>
      </p:sp>
      <p:sp>
        <p:nvSpPr>
          <p:cNvPr id="19" name="Text 17"/>
          <p:cNvSpPr/>
          <p:nvPr/>
        </p:nvSpPr>
        <p:spPr>
          <a:xfrm>
            <a:off x="8409280" y="3246120"/>
            <a:ext cx="2922880" cy="457200"/>
          </a:xfrm>
          <a:prstGeom prst="rect">
            <a:avLst/>
          </a:prstGeom>
          <a:noFill/>
          <a:ln/>
        </p:spPr>
        <p:txBody>
          <a:bodyPr wrap="square" lIns="0" tIns="0" rIns="0" bIns="0" rtlCol="0" anchor="ctr"/>
          <a:lstStyle/>
          <a:p>
            <a:pPr marL="0" indent="0">
              <a:lnSpc>
                <a:spcPts val="1300"/>
              </a:lnSpc>
              <a:buNone/>
            </a:pPr>
            <a:r>
              <a:rPr lang="en-US" sz="1080" dirty="0">
                <a:solidFill>
                  <a:srgbClr val="5A6B7B"/>
                </a:solidFill>
                <a:latin typeface="Calibri" pitchFamily="34" charset="0"/>
                <a:ea typeface="Calibri" pitchFamily="34" charset="-122"/>
                <a:cs typeface="Calibri" pitchFamily="34" charset="-120"/>
              </a:rPr>
              <a:t>Which SOPs, specs and precedents are canonical — and which are deprecated</a:t>
            </a:r>
            <a:endParaRPr lang="en-US" sz="1080" dirty="0"/>
          </a:p>
        </p:txBody>
      </p:sp>
      <p:sp>
        <p:nvSpPr>
          <p:cNvPr id="20" name="Text 18"/>
          <p:cNvSpPr/>
          <p:nvPr/>
        </p:nvSpPr>
        <p:spPr>
          <a:xfrm>
            <a:off x="6635344" y="3771900"/>
            <a:ext cx="1691640" cy="457200"/>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Tool surface</a:t>
            </a:r>
            <a:endParaRPr lang="en-US" sz="1150" dirty="0"/>
          </a:p>
        </p:txBody>
      </p:sp>
      <p:sp>
        <p:nvSpPr>
          <p:cNvPr id="21" name="Text 19"/>
          <p:cNvSpPr/>
          <p:nvPr/>
        </p:nvSpPr>
        <p:spPr>
          <a:xfrm>
            <a:off x="8409280" y="3771900"/>
            <a:ext cx="2922880" cy="457200"/>
          </a:xfrm>
          <a:prstGeom prst="rect">
            <a:avLst/>
          </a:prstGeom>
          <a:noFill/>
          <a:ln/>
        </p:spPr>
        <p:txBody>
          <a:bodyPr wrap="square" lIns="0" tIns="0" rIns="0" bIns="0" rtlCol="0" anchor="ctr"/>
          <a:lstStyle/>
          <a:p>
            <a:pPr marL="0" indent="0">
              <a:lnSpc>
                <a:spcPts val="1300"/>
              </a:lnSpc>
              <a:buNone/>
            </a:pPr>
            <a:r>
              <a:rPr lang="en-US" sz="1080" dirty="0">
                <a:solidFill>
                  <a:srgbClr val="5A6B7B"/>
                </a:solidFill>
                <a:latin typeface="Calibri" pitchFamily="34" charset="0"/>
                <a:ea typeface="Calibri" pitchFamily="34" charset="-122"/>
                <a:cs typeface="Calibri" pitchFamily="34" charset="-120"/>
              </a:rPr>
              <a:t>Which MCP tools an agent may see, and how their schemas are described</a:t>
            </a:r>
            <a:endParaRPr lang="en-US" sz="1080" dirty="0"/>
          </a:p>
        </p:txBody>
      </p:sp>
      <p:sp>
        <p:nvSpPr>
          <p:cNvPr id="22" name="Text 20"/>
          <p:cNvSpPr/>
          <p:nvPr/>
        </p:nvSpPr>
        <p:spPr>
          <a:xfrm>
            <a:off x="6635344" y="4297680"/>
            <a:ext cx="1691640" cy="457200"/>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Memory policy</a:t>
            </a:r>
            <a:endParaRPr lang="en-US" sz="1150" dirty="0"/>
          </a:p>
        </p:txBody>
      </p:sp>
      <p:sp>
        <p:nvSpPr>
          <p:cNvPr id="23" name="Text 21"/>
          <p:cNvSpPr/>
          <p:nvPr/>
        </p:nvSpPr>
        <p:spPr>
          <a:xfrm>
            <a:off x="8409280" y="4297680"/>
            <a:ext cx="2922880" cy="457200"/>
          </a:xfrm>
          <a:prstGeom prst="rect">
            <a:avLst/>
          </a:prstGeom>
          <a:noFill/>
          <a:ln/>
        </p:spPr>
        <p:txBody>
          <a:bodyPr wrap="square" lIns="0" tIns="0" rIns="0" bIns="0" rtlCol="0" anchor="ctr"/>
          <a:lstStyle/>
          <a:p>
            <a:pPr marL="0" indent="0">
              <a:lnSpc>
                <a:spcPts val="1300"/>
              </a:lnSpc>
              <a:buNone/>
            </a:pPr>
            <a:r>
              <a:rPr lang="en-US" sz="1080" dirty="0">
                <a:solidFill>
                  <a:srgbClr val="5A6B7B"/>
                </a:solidFill>
                <a:latin typeface="Calibri" pitchFamily="34" charset="0"/>
                <a:ea typeface="Calibri" pitchFamily="34" charset="-122"/>
                <a:cs typeface="Calibri" pitchFamily="34" charset="-120"/>
              </a:rPr>
              <a:t>What persists between sessions, what expires, what must never persist</a:t>
            </a:r>
            <a:endParaRPr lang="en-US" sz="1080" dirty="0"/>
          </a:p>
        </p:txBody>
      </p:sp>
      <p:sp>
        <p:nvSpPr>
          <p:cNvPr id="24" name="Text 22"/>
          <p:cNvSpPr/>
          <p:nvPr/>
        </p:nvSpPr>
        <p:spPr>
          <a:xfrm>
            <a:off x="6635344" y="4823460"/>
            <a:ext cx="1691640" cy="457200"/>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Token budget</a:t>
            </a:r>
            <a:endParaRPr lang="en-US" sz="1150" dirty="0"/>
          </a:p>
        </p:txBody>
      </p:sp>
      <p:sp>
        <p:nvSpPr>
          <p:cNvPr id="25" name="Text 23"/>
          <p:cNvSpPr/>
          <p:nvPr/>
        </p:nvSpPr>
        <p:spPr>
          <a:xfrm>
            <a:off x="8409280" y="4823460"/>
            <a:ext cx="2922880" cy="457200"/>
          </a:xfrm>
          <a:prstGeom prst="rect">
            <a:avLst/>
          </a:prstGeom>
          <a:noFill/>
          <a:ln/>
        </p:spPr>
        <p:txBody>
          <a:bodyPr wrap="square" lIns="0" tIns="0" rIns="0" bIns="0" rtlCol="0" anchor="ctr"/>
          <a:lstStyle/>
          <a:p>
            <a:pPr marL="0" indent="0">
              <a:lnSpc>
                <a:spcPts val="1300"/>
              </a:lnSpc>
              <a:buNone/>
            </a:pPr>
            <a:r>
              <a:rPr lang="en-US" sz="1080" dirty="0">
                <a:solidFill>
                  <a:srgbClr val="5A6B7B"/>
                </a:solidFill>
                <a:latin typeface="Calibri" pitchFamily="34" charset="0"/>
                <a:ea typeface="Calibri" pitchFamily="34" charset="-122"/>
                <a:cs typeface="Calibri" pitchFamily="34" charset="-120"/>
              </a:rPr>
              <a:t>Compression, summarisation and eviction under a fixed context window</a:t>
            </a:r>
            <a:endParaRPr lang="en-US" sz="1080" dirty="0"/>
          </a:p>
        </p:txBody>
      </p:sp>
      <p:sp>
        <p:nvSpPr>
          <p:cNvPr id="26" name="Text 24"/>
          <p:cNvSpPr/>
          <p:nvPr/>
        </p:nvSpPr>
        <p:spPr>
          <a:xfrm>
            <a:off x="6635344" y="5349240"/>
            <a:ext cx="1691640" cy="457200"/>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Evaluation</a:t>
            </a:r>
            <a:endParaRPr lang="en-US" sz="1150" dirty="0"/>
          </a:p>
        </p:txBody>
      </p:sp>
      <p:sp>
        <p:nvSpPr>
          <p:cNvPr id="27" name="Text 25"/>
          <p:cNvSpPr/>
          <p:nvPr/>
        </p:nvSpPr>
        <p:spPr>
          <a:xfrm>
            <a:off x="8409280" y="5349240"/>
            <a:ext cx="2922880" cy="457200"/>
          </a:xfrm>
          <a:prstGeom prst="rect">
            <a:avLst/>
          </a:prstGeom>
          <a:noFill/>
          <a:ln/>
        </p:spPr>
        <p:txBody>
          <a:bodyPr wrap="square" lIns="0" tIns="0" rIns="0" bIns="0" rtlCol="0" anchor="ctr"/>
          <a:lstStyle/>
          <a:p>
            <a:pPr marL="0" indent="0">
              <a:lnSpc>
                <a:spcPts val="1300"/>
              </a:lnSpc>
              <a:buNone/>
            </a:pPr>
            <a:r>
              <a:rPr lang="en-US" sz="1080" dirty="0">
                <a:solidFill>
                  <a:srgbClr val="5A6B7B"/>
                </a:solidFill>
                <a:latin typeface="Calibri" pitchFamily="34" charset="0"/>
                <a:ea typeface="Calibri" pitchFamily="34" charset="-122"/>
                <a:cs typeface="Calibri" pitchFamily="34" charset="-120"/>
              </a:rPr>
              <a:t>The gold sets that prove a context change improved rather than regressed behaviour</a:t>
            </a:r>
            <a:endParaRPr lang="en-US" sz="10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4</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Onboarding context engineering at Ball</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2683764"/>
        </p:xfrm>
        <a:graphic>
          <a:graphicData uri="http://schemas.openxmlformats.org/drawingml/2006/table">
            <a:tbl>
              <a:tblPr/>
              <a:tblGrid>
                <a:gridCol w="2148840">
                  <a:extLst>
                    <a:ext uri="{9D8B030D-6E8A-4147-A177-3AD203B41FA5}">
                      <a16:colId xmlns:a16="http://schemas.microsoft.com/office/drawing/2014/main" val="20000"/>
                    </a:ext>
                  </a:extLst>
                </a:gridCol>
                <a:gridCol w="46177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Phase</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What happens</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Who is involved</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Done when</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extLst>
                  <a:ext uri="{0D108BD9-81ED-4DB2-BD59-A6C34878D82A}">
                    <a16:rowId xmlns:a16="http://schemas.microsoft.com/office/drawing/2014/main" val="10000"/>
                  </a:ext>
                </a:extLst>
              </a:tr>
              <a:tr h="0">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Phase 1 — Establish the practice</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Publish the context engineering standard: how prompts, retrieval, memory and tools are specified and versioned. Choose the repository and review process. Define the evaluation format.</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AI Division · Enterprise Architecture</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Any team can find, read and follow one written standard</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Phase 2 — Build the semantic spine</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Agree canonical definitions for the top business entities — plant, line, SKU, customer, order, defect, spec. Register them in Unity Catalog with named stewards.</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Data governance · domain SMEs · AI Division</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Entity definitions exist once, are owned, and are queryable by agents</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0">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Phase 3 — Package domain context</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For each spoke, build a context pack: curated documents, retrieval configuration, entity mappings, refusal rules and a gold question set.</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FDE pods · domain SMEs · CE team</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Two domains have production context packs with passing evaluations</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Phase 4 — Instrument and iterate</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Capture retrieval traces from live agents. Score context relevance. Feed failures back into the packs on a fixed review cadence.</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CE team · AI observability</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Context changes are made from evidence, not intuition</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0">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Phase 5 — Federate</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Domain teams maintain their own packs against the standard; the CE team reviews, tools and audits rather than authors.</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All spokes · CE team as reviewer</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60" dirty="0">
                          <a:solidFill>
                            <a:srgbClr val="16222E"/>
                          </a:solidFill>
                          <a:latin typeface="Calibri" pitchFamily="34" charset="0"/>
                          <a:ea typeface="Calibri" pitchFamily="34" charset="-122"/>
                          <a:cs typeface="Calibri" pitchFamily="34" charset="-120"/>
                        </a:rPr>
                        <a:t>Context throughput no longer depends on the central team</a:t>
                      </a:r>
                      <a:endParaRPr lang="en-US" sz="9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6</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Building the context engineering team</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548640" y="1481328"/>
            <a:ext cx="2581580" cy="3017520"/>
          </a:xfrm>
          <a:prstGeom prst="roundRect">
            <a:avLst>
              <a:gd name="adj" fmla="val 2834"/>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7" name="Text 5"/>
          <p:cNvSpPr/>
          <p:nvPr/>
        </p:nvSpPr>
        <p:spPr>
          <a:xfrm>
            <a:off x="804672" y="1664208"/>
            <a:ext cx="2069516" cy="566928"/>
          </a:xfrm>
          <a:prstGeom prst="rect">
            <a:avLst/>
          </a:prstGeom>
          <a:noFill/>
          <a:ln/>
        </p:spPr>
        <p:txBody>
          <a:bodyPr wrap="square" lIns="0" tIns="0" rIns="0" bIns="0" rtlCol="0" anchor="t"/>
          <a:lstStyle/>
          <a:p>
            <a:pPr marL="0" indent="0">
              <a:lnSpc>
                <a:spcPts val="1700"/>
              </a:lnSpc>
              <a:buNone/>
            </a:pPr>
            <a:r>
              <a:rPr lang="en-US" sz="1400" b="1" dirty="0">
                <a:solidFill>
                  <a:srgbClr val="0A2240"/>
                </a:solidFill>
                <a:latin typeface="Calibri" pitchFamily="34" charset="0"/>
                <a:ea typeface="Calibri" pitchFamily="34" charset="-122"/>
                <a:cs typeface="Calibri" pitchFamily="34" charset="-120"/>
              </a:rPr>
              <a:t>Context Engineering Lead</a:t>
            </a:r>
            <a:endParaRPr lang="en-US" sz="1400" dirty="0"/>
          </a:p>
        </p:txBody>
      </p:sp>
      <p:sp>
        <p:nvSpPr>
          <p:cNvPr id="8" name="Text 6"/>
          <p:cNvSpPr/>
          <p:nvPr/>
        </p:nvSpPr>
        <p:spPr>
          <a:xfrm>
            <a:off x="804672" y="2267712"/>
            <a:ext cx="2069516" cy="932688"/>
          </a:xfrm>
          <a:prstGeom prst="rect">
            <a:avLst/>
          </a:prstGeom>
          <a:noFill/>
          <a:ln/>
        </p:spPr>
        <p:txBody>
          <a:bodyPr wrap="square" lIns="0" tIns="0" rIns="0" bIns="0" rtlCol="0" anchor="t"/>
          <a:lstStyle/>
          <a:p>
            <a:pPr marL="0" indent="0">
              <a:lnSpc>
                <a:spcPts val="1400"/>
              </a:lnSpc>
              <a:buNone/>
            </a:pPr>
            <a:r>
              <a:rPr lang="en-US" sz="1080" dirty="0">
                <a:solidFill>
                  <a:srgbClr val="5A6B7B"/>
                </a:solidFill>
                <a:latin typeface="Calibri" pitchFamily="34" charset="0"/>
                <a:ea typeface="Calibri" pitchFamily="34" charset="-122"/>
                <a:cs typeface="Calibri" pitchFamily="34" charset="-120"/>
              </a:rPr>
              <a:t>Owns the standard, the review process and the quality bar. Accountable for context as a product.</a:t>
            </a:r>
            <a:endParaRPr lang="en-US" sz="1080" dirty="0"/>
          </a:p>
        </p:txBody>
      </p:sp>
      <p:sp>
        <p:nvSpPr>
          <p:cNvPr id="9" name="Text 7"/>
          <p:cNvSpPr/>
          <p:nvPr/>
        </p:nvSpPr>
        <p:spPr>
          <a:xfrm>
            <a:off x="804672" y="3255264"/>
            <a:ext cx="2069516" cy="1097280"/>
          </a:xfrm>
          <a:prstGeom prst="rect">
            <a:avLst/>
          </a:prstGeom>
          <a:noFill/>
          <a:ln/>
        </p:spPr>
        <p:txBody>
          <a:bodyPr wrap="square" lIns="0" tIns="0" rIns="0" bIns="0" rtlCol="0" anchor="t"/>
          <a:lstStyle/>
          <a:p>
            <a:pPr marL="342900" indent="-342900">
              <a:lnSpc>
                <a:spcPts val="130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Sets the specification format</a:t>
            </a:r>
            <a:endParaRPr lang="en-US" sz="1050" dirty="0"/>
          </a:p>
          <a:p>
            <a:pPr marL="342900" indent="-342900">
              <a:lnSpc>
                <a:spcPts val="130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Chairs context review</a:t>
            </a:r>
            <a:endParaRPr lang="en-US" sz="1050" dirty="0"/>
          </a:p>
          <a:p>
            <a:pPr marL="342900" indent="-342900">
              <a:lnSpc>
                <a:spcPts val="130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Owns the evaluation policy</a:t>
            </a:r>
            <a:endParaRPr lang="en-US" sz="1050" dirty="0"/>
          </a:p>
        </p:txBody>
      </p:sp>
      <p:sp>
        <p:nvSpPr>
          <p:cNvPr id="10" name="Shape 8"/>
          <p:cNvSpPr/>
          <p:nvPr/>
        </p:nvSpPr>
        <p:spPr>
          <a:xfrm>
            <a:off x="3386252" y="1481328"/>
            <a:ext cx="2581580" cy="3017520"/>
          </a:xfrm>
          <a:prstGeom prst="roundRect">
            <a:avLst>
              <a:gd name="adj" fmla="val 2834"/>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1" name="Text 9"/>
          <p:cNvSpPr/>
          <p:nvPr/>
        </p:nvSpPr>
        <p:spPr>
          <a:xfrm>
            <a:off x="3642284" y="1664208"/>
            <a:ext cx="2069516" cy="566928"/>
          </a:xfrm>
          <a:prstGeom prst="rect">
            <a:avLst/>
          </a:prstGeom>
          <a:noFill/>
          <a:ln/>
        </p:spPr>
        <p:txBody>
          <a:bodyPr wrap="square" lIns="0" tIns="0" rIns="0" bIns="0" rtlCol="0" anchor="t"/>
          <a:lstStyle/>
          <a:p>
            <a:pPr marL="0" indent="0">
              <a:lnSpc>
                <a:spcPts val="1700"/>
              </a:lnSpc>
              <a:buNone/>
            </a:pPr>
            <a:r>
              <a:rPr lang="en-US" sz="1400" b="1" dirty="0">
                <a:solidFill>
                  <a:srgbClr val="0A2240"/>
                </a:solidFill>
                <a:latin typeface="Calibri" pitchFamily="34" charset="0"/>
                <a:ea typeface="Calibri" pitchFamily="34" charset="-122"/>
                <a:cs typeface="Calibri" pitchFamily="34" charset="-120"/>
              </a:rPr>
              <a:t>Context Engineer</a:t>
            </a:r>
            <a:endParaRPr lang="en-US" sz="1400" dirty="0"/>
          </a:p>
        </p:txBody>
      </p:sp>
      <p:sp>
        <p:nvSpPr>
          <p:cNvPr id="12" name="Text 10"/>
          <p:cNvSpPr/>
          <p:nvPr/>
        </p:nvSpPr>
        <p:spPr>
          <a:xfrm>
            <a:off x="3642284" y="2267712"/>
            <a:ext cx="2069516" cy="932688"/>
          </a:xfrm>
          <a:prstGeom prst="rect">
            <a:avLst/>
          </a:prstGeom>
          <a:noFill/>
          <a:ln/>
        </p:spPr>
        <p:txBody>
          <a:bodyPr wrap="square" lIns="0" tIns="0" rIns="0" bIns="0" rtlCol="0" anchor="t"/>
          <a:lstStyle/>
          <a:p>
            <a:pPr marL="0" indent="0">
              <a:lnSpc>
                <a:spcPts val="1400"/>
              </a:lnSpc>
              <a:buNone/>
            </a:pPr>
            <a:r>
              <a:rPr lang="en-US" sz="1080" dirty="0">
                <a:solidFill>
                  <a:srgbClr val="5A6B7B"/>
                </a:solidFill>
                <a:latin typeface="Calibri" pitchFamily="34" charset="0"/>
                <a:ea typeface="Calibri" pitchFamily="34" charset="-122"/>
                <a:cs typeface="Calibri" pitchFamily="34" charset="-120"/>
              </a:rPr>
              <a:t>Builds and tunes context packs for a domain: retrieval, memory, instructions, tool descriptions.</a:t>
            </a:r>
            <a:endParaRPr lang="en-US" sz="1080" dirty="0"/>
          </a:p>
        </p:txBody>
      </p:sp>
      <p:sp>
        <p:nvSpPr>
          <p:cNvPr id="13" name="Text 11"/>
          <p:cNvSpPr/>
          <p:nvPr/>
        </p:nvSpPr>
        <p:spPr>
          <a:xfrm>
            <a:off x="3642284" y="3255264"/>
            <a:ext cx="2069516" cy="1097280"/>
          </a:xfrm>
          <a:prstGeom prst="rect">
            <a:avLst/>
          </a:prstGeom>
          <a:noFill/>
          <a:ln/>
        </p:spPr>
        <p:txBody>
          <a:bodyPr wrap="square" lIns="0" tIns="0" rIns="0" bIns="0" rtlCol="0" anchor="t"/>
          <a:lstStyle/>
          <a:p>
            <a:pPr marL="342900" indent="-342900">
              <a:lnSpc>
                <a:spcPts val="130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Retrieval and reranking design</a:t>
            </a:r>
            <a:endParaRPr lang="en-US" sz="1050" dirty="0"/>
          </a:p>
          <a:p>
            <a:pPr marL="342900" indent="-342900">
              <a:lnSpc>
                <a:spcPts val="130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Prompt and instruction authoring</a:t>
            </a:r>
            <a:endParaRPr lang="en-US" sz="1050" dirty="0"/>
          </a:p>
          <a:p>
            <a:pPr marL="342900" indent="-342900">
              <a:lnSpc>
                <a:spcPts val="130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Gold-set construction</a:t>
            </a:r>
            <a:endParaRPr lang="en-US" sz="1050" dirty="0"/>
          </a:p>
        </p:txBody>
      </p:sp>
      <p:sp>
        <p:nvSpPr>
          <p:cNvPr id="14" name="Shape 12"/>
          <p:cNvSpPr/>
          <p:nvPr/>
        </p:nvSpPr>
        <p:spPr>
          <a:xfrm>
            <a:off x="6223864" y="1481328"/>
            <a:ext cx="2581580" cy="3017520"/>
          </a:xfrm>
          <a:prstGeom prst="roundRect">
            <a:avLst>
              <a:gd name="adj" fmla="val 2834"/>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5" name="Text 13"/>
          <p:cNvSpPr/>
          <p:nvPr/>
        </p:nvSpPr>
        <p:spPr>
          <a:xfrm>
            <a:off x="6479896" y="1664208"/>
            <a:ext cx="2069516" cy="566928"/>
          </a:xfrm>
          <a:prstGeom prst="rect">
            <a:avLst/>
          </a:prstGeom>
          <a:noFill/>
          <a:ln/>
        </p:spPr>
        <p:txBody>
          <a:bodyPr wrap="square" lIns="0" tIns="0" rIns="0" bIns="0" rtlCol="0" anchor="t"/>
          <a:lstStyle/>
          <a:p>
            <a:pPr marL="0" indent="0">
              <a:lnSpc>
                <a:spcPts val="1700"/>
              </a:lnSpc>
              <a:buNone/>
            </a:pPr>
            <a:r>
              <a:rPr lang="en-US" sz="1400" b="1" dirty="0">
                <a:solidFill>
                  <a:srgbClr val="0A2240"/>
                </a:solidFill>
                <a:latin typeface="Calibri" pitchFamily="34" charset="0"/>
                <a:ea typeface="Calibri" pitchFamily="34" charset="-122"/>
                <a:cs typeface="Calibri" pitchFamily="34" charset="-120"/>
              </a:rPr>
              <a:t>Knowledge Steward (domain)</a:t>
            </a:r>
            <a:endParaRPr lang="en-US" sz="1400" dirty="0"/>
          </a:p>
        </p:txBody>
      </p:sp>
      <p:sp>
        <p:nvSpPr>
          <p:cNvPr id="16" name="Text 14"/>
          <p:cNvSpPr/>
          <p:nvPr/>
        </p:nvSpPr>
        <p:spPr>
          <a:xfrm>
            <a:off x="6479896" y="2267712"/>
            <a:ext cx="2069516" cy="932688"/>
          </a:xfrm>
          <a:prstGeom prst="rect">
            <a:avLst/>
          </a:prstGeom>
          <a:noFill/>
          <a:ln/>
        </p:spPr>
        <p:txBody>
          <a:bodyPr wrap="square" lIns="0" tIns="0" rIns="0" bIns="0" rtlCol="0" anchor="t"/>
          <a:lstStyle/>
          <a:p>
            <a:pPr marL="0" indent="0">
              <a:lnSpc>
                <a:spcPts val="1400"/>
              </a:lnSpc>
              <a:buNone/>
            </a:pPr>
            <a:r>
              <a:rPr lang="en-US" sz="1080" dirty="0">
                <a:solidFill>
                  <a:srgbClr val="5A6B7B"/>
                </a:solidFill>
                <a:latin typeface="Calibri" pitchFamily="34" charset="0"/>
                <a:ea typeface="Calibri" pitchFamily="34" charset="-122"/>
                <a:cs typeface="Calibri" pitchFamily="34" charset="-120"/>
              </a:rPr>
              <a:t>The SME who decides what is canonical. Part-time, drawn from the business — not an IT role.</a:t>
            </a:r>
            <a:endParaRPr lang="en-US" sz="1080" dirty="0"/>
          </a:p>
        </p:txBody>
      </p:sp>
      <p:sp>
        <p:nvSpPr>
          <p:cNvPr id="17" name="Text 15"/>
          <p:cNvSpPr/>
          <p:nvPr/>
        </p:nvSpPr>
        <p:spPr>
          <a:xfrm>
            <a:off x="6479896" y="3255264"/>
            <a:ext cx="2069516" cy="1097280"/>
          </a:xfrm>
          <a:prstGeom prst="rect">
            <a:avLst/>
          </a:prstGeom>
          <a:noFill/>
          <a:ln/>
        </p:spPr>
        <p:txBody>
          <a:bodyPr wrap="square" lIns="0" tIns="0" rIns="0" bIns="0" rtlCol="0" anchor="t"/>
          <a:lstStyle/>
          <a:p>
            <a:pPr marL="342900" indent="-342900">
              <a:lnSpc>
                <a:spcPts val="130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Approves source documents</a:t>
            </a:r>
            <a:endParaRPr lang="en-US" sz="1050" dirty="0"/>
          </a:p>
          <a:p>
            <a:pPr marL="342900" indent="-342900">
              <a:lnSpc>
                <a:spcPts val="130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Deprecates stale knowledge</a:t>
            </a:r>
            <a:endParaRPr lang="en-US" sz="1050" dirty="0"/>
          </a:p>
          <a:p>
            <a:pPr marL="342900" indent="-342900">
              <a:lnSpc>
                <a:spcPts val="130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Adjudicates disputed definitions</a:t>
            </a:r>
            <a:endParaRPr lang="en-US" sz="1050" dirty="0"/>
          </a:p>
        </p:txBody>
      </p:sp>
      <p:sp>
        <p:nvSpPr>
          <p:cNvPr id="18" name="Shape 16"/>
          <p:cNvSpPr/>
          <p:nvPr/>
        </p:nvSpPr>
        <p:spPr>
          <a:xfrm>
            <a:off x="9061475" y="1481328"/>
            <a:ext cx="2581580" cy="3017520"/>
          </a:xfrm>
          <a:prstGeom prst="roundRect">
            <a:avLst>
              <a:gd name="adj" fmla="val 2834"/>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9" name="Text 17"/>
          <p:cNvSpPr/>
          <p:nvPr/>
        </p:nvSpPr>
        <p:spPr>
          <a:xfrm>
            <a:off x="9317507" y="1664208"/>
            <a:ext cx="2069516" cy="566928"/>
          </a:xfrm>
          <a:prstGeom prst="rect">
            <a:avLst/>
          </a:prstGeom>
          <a:noFill/>
          <a:ln/>
        </p:spPr>
        <p:txBody>
          <a:bodyPr wrap="square" lIns="0" tIns="0" rIns="0" bIns="0" rtlCol="0" anchor="t"/>
          <a:lstStyle/>
          <a:p>
            <a:pPr marL="0" indent="0">
              <a:lnSpc>
                <a:spcPts val="1700"/>
              </a:lnSpc>
              <a:buNone/>
            </a:pPr>
            <a:r>
              <a:rPr lang="en-US" sz="1400" b="1" dirty="0">
                <a:solidFill>
                  <a:srgbClr val="0A2240"/>
                </a:solidFill>
                <a:latin typeface="Calibri" pitchFamily="34" charset="0"/>
                <a:ea typeface="Calibri" pitchFamily="34" charset="-122"/>
                <a:cs typeface="Calibri" pitchFamily="34" charset="-120"/>
              </a:rPr>
              <a:t>Evaluation Engineer</a:t>
            </a:r>
            <a:endParaRPr lang="en-US" sz="1400" dirty="0"/>
          </a:p>
        </p:txBody>
      </p:sp>
      <p:sp>
        <p:nvSpPr>
          <p:cNvPr id="20" name="Text 18"/>
          <p:cNvSpPr/>
          <p:nvPr/>
        </p:nvSpPr>
        <p:spPr>
          <a:xfrm>
            <a:off x="9317507" y="2267712"/>
            <a:ext cx="2069516" cy="932688"/>
          </a:xfrm>
          <a:prstGeom prst="rect">
            <a:avLst/>
          </a:prstGeom>
          <a:noFill/>
          <a:ln/>
        </p:spPr>
        <p:txBody>
          <a:bodyPr wrap="square" lIns="0" tIns="0" rIns="0" bIns="0" rtlCol="0" anchor="t"/>
          <a:lstStyle/>
          <a:p>
            <a:pPr marL="0" indent="0">
              <a:lnSpc>
                <a:spcPts val="1400"/>
              </a:lnSpc>
              <a:buNone/>
            </a:pPr>
            <a:r>
              <a:rPr lang="en-US" sz="1080" dirty="0">
                <a:solidFill>
                  <a:srgbClr val="5A6B7B"/>
                </a:solidFill>
                <a:latin typeface="Calibri" pitchFamily="34" charset="0"/>
                <a:ea typeface="Calibri" pitchFamily="34" charset="-122"/>
                <a:cs typeface="Calibri" pitchFamily="34" charset="-120"/>
              </a:rPr>
              <a:t>Proves that a change helped. Owns the harness, the regression suites and the scoring.</a:t>
            </a:r>
            <a:endParaRPr lang="en-US" sz="1080" dirty="0"/>
          </a:p>
        </p:txBody>
      </p:sp>
      <p:sp>
        <p:nvSpPr>
          <p:cNvPr id="21" name="Text 19"/>
          <p:cNvSpPr/>
          <p:nvPr/>
        </p:nvSpPr>
        <p:spPr>
          <a:xfrm>
            <a:off x="9317507" y="3255264"/>
            <a:ext cx="2069516" cy="1097280"/>
          </a:xfrm>
          <a:prstGeom prst="rect">
            <a:avLst/>
          </a:prstGeom>
          <a:noFill/>
          <a:ln/>
        </p:spPr>
        <p:txBody>
          <a:bodyPr wrap="square" lIns="0" tIns="0" rIns="0" bIns="0" rtlCol="0" anchor="t"/>
          <a:lstStyle/>
          <a:p>
            <a:pPr marL="342900" indent="-342900">
              <a:lnSpc>
                <a:spcPts val="130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Automated eval pipelines</a:t>
            </a:r>
            <a:endParaRPr lang="en-US" sz="1050" dirty="0"/>
          </a:p>
          <a:p>
            <a:pPr marL="342900" indent="-342900">
              <a:lnSpc>
                <a:spcPts val="130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Drift and regression alerts</a:t>
            </a:r>
            <a:endParaRPr lang="en-US" sz="1050" dirty="0"/>
          </a:p>
          <a:p>
            <a:pPr marL="342900" indent="-342900">
              <a:lnSpc>
                <a:spcPts val="130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Human review triage</a:t>
            </a:r>
            <a:endParaRPr lang="en-US" sz="1050" dirty="0"/>
          </a:p>
        </p:txBody>
      </p:sp>
      <p:sp>
        <p:nvSpPr>
          <p:cNvPr id="22" name="Shape 20"/>
          <p:cNvSpPr/>
          <p:nvPr/>
        </p:nvSpPr>
        <p:spPr>
          <a:xfrm>
            <a:off x="548640" y="4663440"/>
            <a:ext cx="3503066" cy="1572768"/>
          </a:xfrm>
          <a:prstGeom prst="roundRect">
            <a:avLst>
              <a:gd name="adj" fmla="val 4651"/>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3" name="Shape 21"/>
          <p:cNvSpPr/>
          <p:nvPr/>
        </p:nvSpPr>
        <p:spPr>
          <a:xfrm>
            <a:off x="768096" y="4791456"/>
            <a:ext cx="347472" cy="347472"/>
          </a:xfrm>
          <a:prstGeom prst="ellipse">
            <a:avLst/>
          </a:prstGeom>
          <a:solidFill>
            <a:srgbClr val="0A2240"/>
          </a:solidFill>
          <a:ln w="12700">
            <a:solidFill>
              <a:srgbClr val="0A2240"/>
            </a:solidFill>
            <a:prstDash val="solid"/>
          </a:ln>
        </p:spPr>
      </p:sp>
      <p:sp>
        <p:nvSpPr>
          <p:cNvPr id="24" name="Text 22"/>
          <p:cNvSpPr/>
          <p:nvPr/>
        </p:nvSpPr>
        <p:spPr>
          <a:xfrm>
            <a:off x="768096" y="4791456"/>
            <a:ext cx="34747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25" name="Text 23"/>
          <p:cNvSpPr/>
          <p:nvPr/>
        </p:nvSpPr>
        <p:spPr>
          <a:xfrm>
            <a:off x="1207008" y="4791456"/>
            <a:ext cx="2625242" cy="347472"/>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Source it from inside first</a:t>
            </a:r>
            <a:endParaRPr lang="en-US" sz="1300" dirty="0"/>
          </a:p>
        </p:txBody>
      </p:sp>
      <p:sp>
        <p:nvSpPr>
          <p:cNvPr id="26" name="Text 24"/>
          <p:cNvSpPr/>
          <p:nvPr/>
        </p:nvSpPr>
        <p:spPr>
          <a:xfrm>
            <a:off x="786384" y="5175504"/>
            <a:ext cx="3027578" cy="950976"/>
          </a:xfrm>
          <a:prstGeom prst="rect">
            <a:avLst/>
          </a:prstGeom>
          <a:noFill/>
          <a:ln/>
        </p:spPr>
        <p:txBody>
          <a:bodyPr wrap="square" lIns="0" tIns="0" rIns="0" bIns="0" rtlCol="0" anchor="t"/>
          <a:lstStyle/>
          <a:p>
            <a:pPr marL="0" indent="0">
              <a:lnSpc>
                <a:spcPts val="1300"/>
              </a:lnSpc>
              <a:buNone/>
            </a:pPr>
            <a:r>
              <a:rPr lang="en-US" sz="1020" dirty="0">
                <a:solidFill>
                  <a:srgbClr val="5A6B7B"/>
                </a:solidFill>
                <a:latin typeface="Calibri" pitchFamily="34" charset="0"/>
                <a:ea typeface="Calibri" pitchFamily="34" charset="-122"/>
                <a:cs typeface="Calibri" pitchFamily="34" charset="-120"/>
              </a:rPr>
              <a:t>The scarce skill is Ball knowledge, not model knowledge. Analytics engineers, senior BAs, technical writers and QA leads retrain into this faster than external hires ramp on Ball.</a:t>
            </a:r>
            <a:endParaRPr lang="en-US" sz="1020" dirty="0"/>
          </a:p>
        </p:txBody>
      </p:sp>
      <p:sp>
        <p:nvSpPr>
          <p:cNvPr id="27" name="Shape 25"/>
          <p:cNvSpPr/>
          <p:nvPr/>
        </p:nvSpPr>
        <p:spPr>
          <a:xfrm>
            <a:off x="4344314" y="4663440"/>
            <a:ext cx="3503066" cy="1572768"/>
          </a:xfrm>
          <a:prstGeom prst="roundRect">
            <a:avLst>
              <a:gd name="adj" fmla="val 4651"/>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8" name="Shape 26"/>
          <p:cNvSpPr/>
          <p:nvPr/>
        </p:nvSpPr>
        <p:spPr>
          <a:xfrm>
            <a:off x="4563770" y="4791456"/>
            <a:ext cx="347472" cy="347472"/>
          </a:xfrm>
          <a:prstGeom prst="ellipse">
            <a:avLst/>
          </a:prstGeom>
          <a:solidFill>
            <a:srgbClr val="0A2240"/>
          </a:solidFill>
          <a:ln w="12700">
            <a:solidFill>
              <a:srgbClr val="0A2240"/>
            </a:solidFill>
            <a:prstDash val="solid"/>
          </a:ln>
        </p:spPr>
      </p:sp>
      <p:sp>
        <p:nvSpPr>
          <p:cNvPr id="29" name="Text 27"/>
          <p:cNvSpPr/>
          <p:nvPr/>
        </p:nvSpPr>
        <p:spPr>
          <a:xfrm>
            <a:off x="4563770" y="4791456"/>
            <a:ext cx="34747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30" name="Text 28"/>
          <p:cNvSpPr/>
          <p:nvPr/>
        </p:nvSpPr>
        <p:spPr>
          <a:xfrm>
            <a:off x="5002682" y="4791456"/>
            <a:ext cx="2625242" cy="347472"/>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Attach, don't centralise</a:t>
            </a:r>
            <a:endParaRPr lang="en-US" sz="1300" dirty="0"/>
          </a:p>
        </p:txBody>
      </p:sp>
      <p:sp>
        <p:nvSpPr>
          <p:cNvPr id="31" name="Text 29"/>
          <p:cNvSpPr/>
          <p:nvPr/>
        </p:nvSpPr>
        <p:spPr>
          <a:xfrm>
            <a:off x="4582058" y="5175504"/>
            <a:ext cx="3027578" cy="950976"/>
          </a:xfrm>
          <a:prstGeom prst="rect">
            <a:avLst/>
          </a:prstGeom>
          <a:noFill/>
          <a:ln/>
        </p:spPr>
        <p:txBody>
          <a:bodyPr wrap="square" lIns="0" tIns="0" rIns="0" bIns="0" rtlCol="0" anchor="t"/>
          <a:lstStyle/>
          <a:p>
            <a:pPr marL="0" indent="0">
              <a:lnSpc>
                <a:spcPts val="1300"/>
              </a:lnSpc>
              <a:buNone/>
            </a:pPr>
            <a:r>
              <a:rPr lang="en-US" sz="1020" dirty="0">
                <a:solidFill>
                  <a:srgbClr val="5A6B7B"/>
                </a:solidFill>
                <a:latin typeface="Calibri" pitchFamily="34" charset="0"/>
                <a:ea typeface="Calibri" pitchFamily="34" charset="-122"/>
                <a:cs typeface="Calibri" pitchFamily="34" charset="-120"/>
              </a:rPr>
              <a:t>Context engineers sit with the FDE pod in the domain. A central team writing context for a plant it has never visited produces confident, wrong answers.</a:t>
            </a:r>
            <a:endParaRPr lang="en-US" sz="1020" dirty="0"/>
          </a:p>
        </p:txBody>
      </p:sp>
      <p:sp>
        <p:nvSpPr>
          <p:cNvPr id="32" name="Shape 30"/>
          <p:cNvSpPr/>
          <p:nvPr/>
        </p:nvSpPr>
        <p:spPr>
          <a:xfrm>
            <a:off x="8139989" y="4663440"/>
            <a:ext cx="3503066" cy="1572768"/>
          </a:xfrm>
          <a:prstGeom prst="roundRect">
            <a:avLst>
              <a:gd name="adj" fmla="val 4651"/>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33" name="Shape 31"/>
          <p:cNvSpPr/>
          <p:nvPr/>
        </p:nvSpPr>
        <p:spPr>
          <a:xfrm>
            <a:off x="8359445" y="4791456"/>
            <a:ext cx="347472" cy="347472"/>
          </a:xfrm>
          <a:prstGeom prst="ellipse">
            <a:avLst/>
          </a:prstGeom>
          <a:solidFill>
            <a:srgbClr val="0A2240"/>
          </a:solidFill>
          <a:ln w="12700">
            <a:solidFill>
              <a:srgbClr val="0A2240"/>
            </a:solidFill>
            <a:prstDash val="solid"/>
          </a:ln>
        </p:spPr>
      </p:sp>
      <p:sp>
        <p:nvSpPr>
          <p:cNvPr id="34" name="Text 32"/>
          <p:cNvSpPr/>
          <p:nvPr/>
        </p:nvSpPr>
        <p:spPr>
          <a:xfrm>
            <a:off x="8359445" y="4791456"/>
            <a:ext cx="34747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35" name="Text 33"/>
          <p:cNvSpPr/>
          <p:nvPr/>
        </p:nvSpPr>
        <p:spPr>
          <a:xfrm>
            <a:off x="8798357" y="4791456"/>
            <a:ext cx="2625242" cy="347472"/>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Treat context as code</a:t>
            </a:r>
            <a:endParaRPr lang="en-US" sz="1300" dirty="0"/>
          </a:p>
        </p:txBody>
      </p:sp>
      <p:sp>
        <p:nvSpPr>
          <p:cNvPr id="36" name="Text 34"/>
          <p:cNvSpPr/>
          <p:nvPr/>
        </p:nvSpPr>
        <p:spPr>
          <a:xfrm>
            <a:off x="8377733" y="5175504"/>
            <a:ext cx="3027578" cy="950976"/>
          </a:xfrm>
          <a:prstGeom prst="rect">
            <a:avLst/>
          </a:prstGeom>
          <a:noFill/>
          <a:ln/>
        </p:spPr>
        <p:txBody>
          <a:bodyPr wrap="square" lIns="0" tIns="0" rIns="0" bIns="0" rtlCol="0" anchor="t"/>
          <a:lstStyle/>
          <a:p>
            <a:pPr marL="0" indent="0">
              <a:lnSpc>
                <a:spcPts val="1300"/>
              </a:lnSpc>
              <a:buNone/>
            </a:pPr>
            <a:r>
              <a:rPr lang="en-US" sz="1020" dirty="0">
                <a:solidFill>
                  <a:srgbClr val="5A6B7B"/>
                </a:solidFill>
                <a:latin typeface="Calibri" pitchFamily="34" charset="0"/>
                <a:ea typeface="Calibri" pitchFamily="34" charset="-122"/>
                <a:cs typeface="Calibri" pitchFamily="34" charset="-120"/>
              </a:rPr>
              <a:t>Version-controlled, peer-reviewed, tested in CI and released through the ADLC. No context change reaches production by editing a live prompt.</a:t>
            </a:r>
            <a:endParaRPr lang="en-US" sz="102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5</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Harness engineering — shipping AI-made change</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22</a:t>
            </a:r>
            <a:endParaRPr lang="en-US" sz="900" dirty="0"/>
          </a:p>
        </p:txBody>
      </p:sp>
      <p:sp>
        <p:nvSpPr>
          <p:cNvPr id="6" name="Shape 4"/>
          <p:cNvSpPr/>
          <p:nvPr/>
        </p:nvSpPr>
        <p:spPr>
          <a:xfrm>
            <a:off x="548640" y="1481328"/>
            <a:ext cx="5318608" cy="1883664"/>
          </a:xfrm>
          <a:prstGeom prst="roundRect">
            <a:avLst>
              <a:gd name="adj" fmla="val 3883"/>
            </a:avLst>
          </a:prstGeom>
          <a:solidFill>
            <a:srgbClr val="0A2240"/>
          </a:solidFill>
          <a:ln w="12700">
            <a:solidFill>
              <a:srgbClr val="0A2240"/>
            </a:solidFill>
            <a:prstDash val="solid"/>
          </a:ln>
          <a:effectLst>
            <a:outerShdw blurRad="101600" dist="25400" dir="5400000" algn="bl" rotWithShape="0">
              <a:srgbClr val="0A2240">
                <a:alpha val="12000"/>
              </a:srgbClr>
            </a:outerShdw>
          </a:effectLst>
        </p:spPr>
      </p:sp>
      <p:sp>
        <p:nvSpPr>
          <p:cNvPr id="7" name="Text 5"/>
          <p:cNvSpPr/>
          <p:nvPr/>
        </p:nvSpPr>
        <p:spPr>
          <a:xfrm>
            <a:off x="859536" y="1664208"/>
            <a:ext cx="4696816" cy="310896"/>
          </a:xfrm>
          <a:prstGeom prst="rect">
            <a:avLst/>
          </a:prstGeom>
          <a:noFill/>
          <a:ln/>
        </p:spPr>
        <p:txBody>
          <a:bodyPr wrap="square" lIns="0" tIns="0" rIns="0" bIns="0" rtlCol="0" anchor="ctr"/>
          <a:lstStyle/>
          <a:p>
            <a:pPr marL="0" indent="0">
              <a:buNone/>
            </a:pPr>
            <a:r>
              <a:rPr lang="en-US" sz="1300" b="1" kern="0" spc="150" dirty="0">
                <a:solidFill>
                  <a:srgbClr val="00A9E0"/>
                </a:solidFill>
                <a:latin typeface="Calibri" pitchFamily="34" charset="0"/>
                <a:ea typeface="Calibri" pitchFamily="34" charset="-122"/>
                <a:cs typeface="Calibri" pitchFamily="34" charset="-120"/>
              </a:rPr>
              <a:t>The problem it solves</a:t>
            </a:r>
            <a:endParaRPr lang="en-US" sz="1300" dirty="0"/>
          </a:p>
        </p:txBody>
      </p:sp>
      <p:sp>
        <p:nvSpPr>
          <p:cNvPr id="8" name="Text 6"/>
          <p:cNvSpPr/>
          <p:nvPr/>
        </p:nvSpPr>
        <p:spPr>
          <a:xfrm>
            <a:off x="859536" y="2029968"/>
            <a:ext cx="4696816" cy="1207008"/>
          </a:xfrm>
          <a:prstGeom prst="rect">
            <a:avLst/>
          </a:prstGeom>
          <a:noFill/>
          <a:ln/>
        </p:spPr>
        <p:txBody>
          <a:bodyPr wrap="square" lIns="0" tIns="0" rIns="0" bIns="0" rtlCol="0" anchor="t"/>
          <a:lstStyle/>
          <a:p>
            <a:pPr marL="0" indent="0">
              <a:lnSpc>
                <a:spcPts val="1600"/>
              </a:lnSpc>
              <a:buNone/>
            </a:pPr>
            <a:r>
              <a:rPr lang="en-US" sz="1200" dirty="0">
                <a:solidFill>
                  <a:srgbClr val="FFFFFF"/>
                </a:solidFill>
                <a:latin typeface="Calibri" pitchFamily="34" charset="0"/>
                <a:ea typeface="Calibri" pitchFamily="34" charset="-122"/>
                <a:cs typeface="Calibri" pitchFamily="34" charset="-120"/>
              </a:rPr>
              <a:t>Coding agents and worker agents produce non-deterministic output at a volume human review cannot absorb. Harness engineering builds the pipelines, gates and evidence that let that output ship safely — treating the delivery system, not the reviewer, as the control.</a:t>
            </a:r>
            <a:endParaRPr lang="en-US" sz="1200" dirty="0"/>
          </a:p>
        </p:txBody>
      </p:sp>
      <p:sp>
        <p:nvSpPr>
          <p:cNvPr id="9" name="Shape 7"/>
          <p:cNvSpPr/>
          <p:nvPr/>
        </p:nvSpPr>
        <p:spPr>
          <a:xfrm>
            <a:off x="548640" y="3529584"/>
            <a:ext cx="5318608" cy="2432304"/>
          </a:xfrm>
          <a:prstGeom prst="roundRect">
            <a:avLst>
              <a:gd name="adj" fmla="val 3008"/>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0" name="Text 8"/>
          <p:cNvSpPr/>
          <p:nvPr/>
        </p:nvSpPr>
        <p:spPr>
          <a:xfrm>
            <a:off x="859536" y="3694176"/>
            <a:ext cx="4696816" cy="347472"/>
          </a:xfrm>
          <a:prstGeom prst="rect">
            <a:avLst/>
          </a:prstGeom>
          <a:noFill/>
          <a:ln/>
        </p:spPr>
        <p:txBody>
          <a:bodyPr wrap="square" lIns="0" tIns="0" rIns="0" bIns="0" rtlCol="0" anchor="ctr"/>
          <a:lstStyle/>
          <a:p>
            <a:pPr marL="0" indent="0">
              <a:buNone/>
            </a:pPr>
            <a:r>
              <a:rPr lang="en-US" sz="1450" b="1" dirty="0">
                <a:solidFill>
                  <a:srgbClr val="0A2240"/>
                </a:solidFill>
                <a:latin typeface="Calibri" pitchFamily="34" charset="0"/>
                <a:ea typeface="Calibri" pitchFamily="34" charset="-122"/>
                <a:cs typeface="Calibri" pitchFamily="34" charset="-120"/>
              </a:rPr>
              <a:t>What it covers at Ball</a:t>
            </a:r>
            <a:endParaRPr lang="en-US" sz="1450" dirty="0"/>
          </a:p>
        </p:txBody>
      </p:sp>
      <p:sp>
        <p:nvSpPr>
          <p:cNvPr id="11" name="Text 9"/>
          <p:cNvSpPr/>
          <p:nvPr/>
        </p:nvSpPr>
        <p:spPr>
          <a:xfrm>
            <a:off x="859536" y="4059936"/>
            <a:ext cx="4696816" cy="1810512"/>
          </a:xfrm>
          <a:prstGeom prst="rect">
            <a:avLst/>
          </a:prstGeom>
          <a:noFill/>
          <a:ln/>
        </p:spPr>
        <p:txBody>
          <a:bodyPr wrap="square" lIns="0" tIns="0" rIns="0" bIns="0" rtlCol="0" anchor="t"/>
          <a:lstStyle/>
          <a:p>
            <a:pPr marL="342900" indent="-342900">
              <a:lnSpc>
                <a:spcPts val="135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CI/CD pipelines that treat AI-authored change as a first-class, traceable change type</a:t>
            </a:r>
            <a:endParaRPr lang="en-US" sz="1050" dirty="0"/>
          </a:p>
          <a:p>
            <a:pPr marL="342900" indent="-342900">
              <a:lnSpc>
                <a:spcPts val="135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Automated gates: tests, security scanning, policy checks, deployment verification</a:t>
            </a:r>
            <a:endParaRPr lang="en-US" sz="1050" dirty="0"/>
          </a:p>
          <a:p>
            <a:pPr marL="342900" indent="-342900">
              <a:lnSpc>
                <a:spcPts val="135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The agent development lifecycle — building, testing, releasing and rolling back agents</a:t>
            </a:r>
            <a:endParaRPr lang="en-US" sz="1050" dirty="0"/>
          </a:p>
          <a:p>
            <a:pPr marL="342900" indent="-342900">
              <a:lnSpc>
                <a:spcPts val="135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Autonomous worker agents for the work between writing code and shipping it</a:t>
            </a:r>
            <a:endParaRPr lang="en-US" sz="1050" dirty="0"/>
          </a:p>
          <a:p>
            <a:pPr marL="342900" indent="-342900">
              <a:lnSpc>
                <a:spcPts val="1350"/>
              </a:lnSpc>
              <a:spcAft>
                <a:spcPts val="500"/>
              </a:spcAft>
              <a:buSzPct val="100000"/>
              <a:buChar char="•"/>
            </a:pPr>
            <a:r>
              <a:rPr lang="en-US" sz="1050" dirty="0">
                <a:solidFill>
                  <a:srgbClr val="16222E"/>
                </a:solidFill>
                <a:latin typeface="Calibri" pitchFamily="34" charset="0"/>
                <a:ea typeface="Calibri" pitchFamily="34" charset="-122"/>
                <a:cs typeface="Calibri" pitchFamily="34" charset="-120"/>
              </a:rPr>
              <a:t>DORA and quality telemetry to prove whether AI-assisted delivery is improving</a:t>
            </a:r>
            <a:endParaRPr lang="en-US" sz="1050" dirty="0"/>
          </a:p>
        </p:txBody>
      </p:sp>
      <p:sp>
        <p:nvSpPr>
          <p:cNvPr id="12" name="Shape 10"/>
          <p:cNvSpPr/>
          <p:nvPr/>
        </p:nvSpPr>
        <p:spPr>
          <a:xfrm>
            <a:off x="6324448" y="1481328"/>
            <a:ext cx="5318608" cy="4480560"/>
          </a:xfrm>
          <a:prstGeom prst="roundRect">
            <a:avLst>
              <a:gd name="adj" fmla="val 1633"/>
            </a:avLst>
          </a:prstGeom>
          <a:solidFill>
            <a:srgbClr val="FFFFFF"/>
          </a:solidFill>
          <a:ln w="12700">
            <a:solidFill>
              <a:srgbClr val="E4EBF2"/>
            </a:solidFill>
            <a:prstDash val="solid"/>
          </a:ln>
          <a:effectLst>
            <a:outerShdw blurRad="101600" dist="25400" dir="5400000" algn="bl" rotWithShape="0">
              <a:srgbClr val="0A2240">
                <a:alpha val="12000"/>
              </a:srgbClr>
            </a:outerShdw>
          </a:effectLst>
        </p:spPr>
      </p:sp>
      <p:sp>
        <p:nvSpPr>
          <p:cNvPr id="13" name="Text 11"/>
          <p:cNvSpPr/>
          <p:nvPr/>
        </p:nvSpPr>
        <p:spPr>
          <a:xfrm>
            <a:off x="6635344" y="1700784"/>
            <a:ext cx="4696816" cy="365760"/>
          </a:xfrm>
          <a:prstGeom prst="rect">
            <a:avLst/>
          </a:prstGeom>
          <a:noFill/>
          <a:ln/>
        </p:spPr>
        <p:txBody>
          <a:bodyPr wrap="square" lIns="0" tIns="0" rIns="0" bIns="0" rtlCol="0" anchor="ctr"/>
          <a:lstStyle/>
          <a:p>
            <a:pPr marL="0" indent="0">
              <a:buNone/>
            </a:pPr>
            <a:r>
              <a:rPr lang="en-US" sz="1450" b="1" dirty="0">
                <a:solidFill>
                  <a:srgbClr val="0A2240"/>
                </a:solidFill>
                <a:latin typeface="Calibri" pitchFamily="34" charset="0"/>
                <a:ea typeface="Calibri" pitchFamily="34" charset="-122"/>
                <a:cs typeface="Calibri" pitchFamily="34" charset="-120"/>
              </a:rPr>
              <a:t>Without it vs. with it</a:t>
            </a:r>
            <a:endParaRPr lang="en-US" sz="1450" dirty="0"/>
          </a:p>
        </p:txBody>
      </p:sp>
      <p:sp>
        <p:nvSpPr>
          <p:cNvPr id="14" name="Text 12"/>
          <p:cNvSpPr/>
          <p:nvPr/>
        </p:nvSpPr>
        <p:spPr>
          <a:xfrm>
            <a:off x="6598768" y="2176272"/>
            <a:ext cx="1325880" cy="274320"/>
          </a:xfrm>
          <a:prstGeom prst="rect">
            <a:avLst/>
          </a:prstGeom>
          <a:noFill/>
          <a:ln/>
        </p:spPr>
        <p:txBody>
          <a:bodyPr wrap="square" lIns="0" tIns="0" rIns="0" bIns="0" rtlCol="0" anchor="ctr"/>
          <a:lstStyle/>
          <a:p>
            <a:pPr marL="0" indent="0">
              <a:buNone/>
            </a:pPr>
            <a:r>
              <a:rPr lang="en-US" sz="1000" b="1" dirty="0">
                <a:solidFill>
                  <a:srgbClr val="5A6B7B"/>
                </a:solidFill>
                <a:latin typeface="Calibri" pitchFamily="34" charset="0"/>
                <a:ea typeface="Calibri" pitchFamily="34" charset="-122"/>
                <a:cs typeface="Calibri" pitchFamily="34" charset="-120"/>
              </a:rPr>
              <a:t>Dimension</a:t>
            </a:r>
            <a:endParaRPr lang="en-US" sz="1000" dirty="0"/>
          </a:p>
        </p:txBody>
      </p:sp>
      <p:sp>
        <p:nvSpPr>
          <p:cNvPr id="15" name="Text 13"/>
          <p:cNvSpPr/>
          <p:nvPr/>
        </p:nvSpPr>
        <p:spPr>
          <a:xfrm>
            <a:off x="7970368" y="2176272"/>
            <a:ext cx="1737360" cy="274320"/>
          </a:xfrm>
          <a:prstGeom prst="rect">
            <a:avLst/>
          </a:prstGeom>
          <a:noFill/>
          <a:ln/>
        </p:spPr>
        <p:txBody>
          <a:bodyPr wrap="square" lIns="0" tIns="0" rIns="0" bIns="0" rtlCol="0" anchor="ctr"/>
          <a:lstStyle/>
          <a:p>
            <a:pPr marL="0" indent="0">
              <a:buNone/>
            </a:pPr>
            <a:r>
              <a:rPr lang="en-US" sz="1000" b="1" dirty="0">
                <a:solidFill>
                  <a:srgbClr val="5A6B7B"/>
                </a:solidFill>
                <a:latin typeface="Calibri" pitchFamily="34" charset="0"/>
                <a:ea typeface="Calibri" pitchFamily="34" charset="-122"/>
                <a:cs typeface="Calibri" pitchFamily="34" charset="-120"/>
              </a:rPr>
              <a:t>Today</a:t>
            </a:r>
            <a:endParaRPr lang="en-US" sz="1000" dirty="0"/>
          </a:p>
        </p:txBody>
      </p:sp>
      <p:sp>
        <p:nvSpPr>
          <p:cNvPr id="16" name="Text 14"/>
          <p:cNvSpPr/>
          <p:nvPr/>
        </p:nvSpPr>
        <p:spPr>
          <a:xfrm>
            <a:off x="9780880" y="2176272"/>
            <a:ext cx="1737360" cy="274320"/>
          </a:xfrm>
          <a:prstGeom prst="rect">
            <a:avLst/>
          </a:prstGeom>
          <a:noFill/>
          <a:ln/>
        </p:spPr>
        <p:txBody>
          <a:bodyPr wrap="square" lIns="0" tIns="0" rIns="0" bIns="0" rtlCol="0" anchor="ctr"/>
          <a:lstStyle/>
          <a:p>
            <a:pPr marL="0" indent="0">
              <a:buNone/>
            </a:pPr>
            <a:r>
              <a:rPr lang="en-US" sz="1000" b="1" dirty="0">
                <a:solidFill>
                  <a:srgbClr val="1B6CA8"/>
                </a:solidFill>
                <a:latin typeface="Calibri" pitchFamily="34" charset="0"/>
                <a:ea typeface="Calibri" pitchFamily="34" charset="-122"/>
                <a:cs typeface="Calibri" pitchFamily="34" charset="-120"/>
              </a:rPr>
              <a:t>With harness engineering</a:t>
            </a:r>
            <a:endParaRPr lang="en-US" sz="1000" dirty="0"/>
          </a:p>
        </p:txBody>
      </p:sp>
      <p:sp>
        <p:nvSpPr>
          <p:cNvPr id="17" name="Shape 15"/>
          <p:cNvSpPr/>
          <p:nvPr/>
        </p:nvSpPr>
        <p:spPr>
          <a:xfrm>
            <a:off x="6543904" y="2523744"/>
            <a:ext cx="4879696" cy="603504"/>
          </a:xfrm>
          <a:prstGeom prst="rect">
            <a:avLst/>
          </a:prstGeom>
          <a:solidFill>
            <a:srgbClr val="FFFFFF"/>
          </a:solidFill>
          <a:ln w="12700">
            <a:solidFill>
              <a:srgbClr val="333333"/>
            </a:solidFill>
            <a:prstDash val="solid"/>
          </a:ln>
        </p:spPr>
      </p:sp>
      <p:sp>
        <p:nvSpPr>
          <p:cNvPr id="18" name="Text 16"/>
          <p:cNvSpPr/>
          <p:nvPr/>
        </p:nvSpPr>
        <p:spPr>
          <a:xfrm>
            <a:off x="6598768" y="2523744"/>
            <a:ext cx="1325880" cy="603504"/>
          </a:xfrm>
          <a:prstGeom prst="rect">
            <a:avLst/>
          </a:prstGeom>
          <a:noFill/>
          <a:ln/>
        </p:spPr>
        <p:txBody>
          <a:bodyPr wrap="square" lIns="0" tIns="0" rIns="0" bIns="0" rtlCol="0" anchor="ctr"/>
          <a:lstStyle/>
          <a:p>
            <a:pPr marL="0" indent="0">
              <a:buNone/>
            </a:pPr>
            <a:r>
              <a:rPr lang="en-US" sz="1050" b="1" dirty="0">
                <a:solidFill>
                  <a:srgbClr val="0A2240"/>
                </a:solidFill>
                <a:latin typeface="Calibri" pitchFamily="34" charset="0"/>
                <a:ea typeface="Calibri" pitchFamily="34" charset="-122"/>
                <a:cs typeface="Calibri" pitchFamily="34" charset="-120"/>
              </a:rPr>
              <a:t>Review load</a:t>
            </a:r>
            <a:endParaRPr lang="en-US" sz="1050" dirty="0"/>
          </a:p>
        </p:txBody>
      </p:sp>
      <p:sp>
        <p:nvSpPr>
          <p:cNvPr id="19" name="Text 17"/>
          <p:cNvSpPr/>
          <p:nvPr/>
        </p:nvSpPr>
        <p:spPr>
          <a:xfrm>
            <a:off x="7970368" y="2523744"/>
            <a:ext cx="1737360" cy="603504"/>
          </a:xfrm>
          <a:prstGeom prst="rect">
            <a:avLst/>
          </a:prstGeom>
          <a:noFill/>
          <a:ln/>
        </p:spPr>
        <p:txBody>
          <a:bodyPr wrap="square" lIns="0" tIns="0" rIns="0" bIns="0" rtlCol="0" anchor="ctr"/>
          <a:lstStyle/>
          <a:p>
            <a:pPr marL="0" indent="0">
              <a:lnSpc>
                <a:spcPts val="1200"/>
              </a:lnSpc>
              <a:buNone/>
            </a:pPr>
            <a:r>
              <a:rPr lang="en-US" sz="1000" dirty="0">
                <a:solidFill>
                  <a:srgbClr val="5A6B7B"/>
                </a:solidFill>
                <a:latin typeface="Calibri" pitchFamily="34" charset="0"/>
                <a:ea typeface="Calibri" pitchFamily="34" charset="-122"/>
                <a:cs typeface="Calibri" pitchFamily="34" charset="-120"/>
              </a:rPr>
              <a:t>Humans read every AI diff</a:t>
            </a:r>
            <a:endParaRPr lang="en-US" sz="1000" dirty="0"/>
          </a:p>
        </p:txBody>
      </p:sp>
      <p:sp>
        <p:nvSpPr>
          <p:cNvPr id="20" name="Text 18"/>
          <p:cNvSpPr/>
          <p:nvPr/>
        </p:nvSpPr>
        <p:spPr>
          <a:xfrm>
            <a:off x="9780880" y="2523744"/>
            <a:ext cx="1691640" cy="603504"/>
          </a:xfrm>
          <a:prstGeom prst="rect">
            <a:avLst/>
          </a:prstGeom>
          <a:noFill/>
          <a:ln/>
        </p:spPr>
        <p:txBody>
          <a:bodyPr wrap="square" lIns="0" tIns="0" rIns="0" bIns="0" rtlCol="0" anchor="ctr"/>
          <a:lstStyle/>
          <a:p>
            <a:pPr marL="0" indent="0">
              <a:lnSpc>
                <a:spcPts val="1200"/>
              </a:lnSpc>
              <a:buNone/>
            </a:pPr>
            <a:r>
              <a:rPr lang="en-US" sz="1000" dirty="0">
                <a:solidFill>
                  <a:srgbClr val="1B6CA8"/>
                </a:solidFill>
                <a:latin typeface="Calibri" pitchFamily="34" charset="0"/>
                <a:ea typeface="Calibri" pitchFamily="34" charset="-122"/>
                <a:cs typeface="Calibri" pitchFamily="34" charset="-120"/>
              </a:rPr>
              <a:t>Gates screen; humans read exceptions</a:t>
            </a:r>
            <a:endParaRPr lang="en-US" sz="1000" dirty="0"/>
          </a:p>
        </p:txBody>
      </p:sp>
      <p:sp>
        <p:nvSpPr>
          <p:cNvPr id="21" name="Shape 19"/>
          <p:cNvSpPr/>
          <p:nvPr/>
        </p:nvSpPr>
        <p:spPr>
          <a:xfrm>
            <a:off x="6543904" y="3182112"/>
            <a:ext cx="4879696" cy="603504"/>
          </a:xfrm>
          <a:prstGeom prst="rect">
            <a:avLst/>
          </a:prstGeom>
          <a:solidFill>
            <a:srgbClr val="F1F5F9"/>
          </a:solidFill>
          <a:ln w="12700">
            <a:solidFill>
              <a:srgbClr val="333333"/>
            </a:solidFill>
            <a:prstDash val="solid"/>
          </a:ln>
        </p:spPr>
      </p:sp>
      <p:sp>
        <p:nvSpPr>
          <p:cNvPr id="22" name="Text 20"/>
          <p:cNvSpPr/>
          <p:nvPr/>
        </p:nvSpPr>
        <p:spPr>
          <a:xfrm>
            <a:off x="6598768" y="3182112"/>
            <a:ext cx="1325880" cy="603504"/>
          </a:xfrm>
          <a:prstGeom prst="rect">
            <a:avLst/>
          </a:prstGeom>
          <a:noFill/>
          <a:ln/>
        </p:spPr>
        <p:txBody>
          <a:bodyPr wrap="square" lIns="0" tIns="0" rIns="0" bIns="0" rtlCol="0" anchor="ctr"/>
          <a:lstStyle/>
          <a:p>
            <a:pPr marL="0" indent="0">
              <a:buNone/>
            </a:pPr>
            <a:r>
              <a:rPr lang="en-US" sz="1050" b="1" dirty="0">
                <a:solidFill>
                  <a:srgbClr val="0A2240"/>
                </a:solidFill>
                <a:latin typeface="Calibri" pitchFamily="34" charset="0"/>
                <a:ea typeface="Calibri" pitchFamily="34" charset="-122"/>
                <a:cs typeface="Calibri" pitchFamily="34" charset="-120"/>
              </a:rPr>
              <a:t>Provenance</a:t>
            </a:r>
            <a:endParaRPr lang="en-US" sz="1050" dirty="0"/>
          </a:p>
        </p:txBody>
      </p:sp>
      <p:sp>
        <p:nvSpPr>
          <p:cNvPr id="23" name="Text 21"/>
          <p:cNvSpPr/>
          <p:nvPr/>
        </p:nvSpPr>
        <p:spPr>
          <a:xfrm>
            <a:off x="7970368" y="3182112"/>
            <a:ext cx="1737360" cy="603504"/>
          </a:xfrm>
          <a:prstGeom prst="rect">
            <a:avLst/>
          </a:prstGeom>
          <a:noFill/>
          <a:ln/>
        </p:spPr>
        <p:txBody>
          <a:bodyPr wrap="square" lIns="0" tIns="0" rIns="0" bIns="0" rtlCol="0" anchor="ctr"/>
          <a:lstStyle/>
          <a:p>
            <a:pPr marL="0" indent="0">
              <a:lnSpc>
                <a:spcPts val="1200"/>
              </a:lnSpc>
              <a:buNone/>
            </a:pPr>
            <a:r>
              <a:rPr lang="en-US" sz="1000" dirty="0">
                <a:solidFill>
                  <a:srgbClr val="5A6B7B"/>
                </a:solidFill>
                <a:latin typeface="Calibri" pitchFamily="34" charset="0"/>
                <a:ea typeface="Calibri" pitchFamily="34" charset="-122"/>
                <a:cs typeface="Calibri" pitchFamily="34" charset="-120"/>
              </a:rPr>
              <a:t>Unknown what was AI-authored</a:t>
            </a:r>
            <a:endParaRPr lang="en-US" sz="1000" dirty="0"/>
          </a:p>
        </p:txBody>
      </p:sp>
      <p:sp>
        <p:nvSpPr>
          <p:cNvPr id="24" name="Text 22"/>
          <p:cNvSpPr/>
          <p:nvPr/>
        </p:nvSpPr>
        <p:spPr>
          <a:xfrm>
            <a:off x="9780880" y="3182112"/>
            <a:ext cx="1691640" cy="603504"/>
          </a:xfrm>
          <a:prstGeom prst="rect">
            <a:avLst/>
          </a:prstGeom>
          <a:noFill/>
          <a:ln/>
        </p:spPr>
        <p:txBody>
          <a:bodyPr wrap="square" lIns="0" tIns="0" rIns="0" bIns="0" rtlCol="0" anchor="ctr"/>
          <a:lstStyle/>
          <a:p>
            <a:pPr marL="0" indent="0">
              <a:lnSpc>
                <a:spcPts val="1200"/>
              </a:lnSpc>
              <a:buNone/>
            </a:pPr>
            <a:r>
              <a:rPr lang="en-US" sz="1000" dirty="0">
                <a:solidFill>
                  <a:srgbClr val="1B6CA8"/>
                </a:solidFill>
                <a:latin typeface="Calibri" pitchFamily="34" charset="0"/>
                <a:ea typeface="Calibri" pitchFamily="34" charset="-122"/>
                <a:cs typeface="Calibri" pitchFamily="34" charset="-120"/>
              </a:rPr>
              <a:t>Every change tagged and attributable</a:t>
            </a:r>
            <a:endParaRPr lang="en-US" sz="1000" dirty="0"/>
          </a:p>
        </p:txBody>
      </p:sp>
      <p:sp>
        <p:nvSpPr>
          <p:cNvPr id="25" name="Shape 23"/>
          <p:cNvSpPr/>
          <p:nvPr/>
        </p:nvSpPr>
        <p:spPr>
          <a:xfrm>
            <a:off x="6543904" y="3840480"/>
            <a:ext cx="4879696" cy="603504"/>
          </a:xfrm>
          <a:prstGeom prst="rect">
            <a:avLst/>
          </a:prstGeom>
          <a:solidFill>
            <a:srgbClr val="FFFFFF"/>
          </a:solidFill>
          <a:ln w="12700">
            <a:solidFill>
              <a:srgbClr val="333333"/>
            </a:solidFill>
            <a:prstDash val="solid"/>
          </a:ln>
        </p:spPr>
      </p:sp>
      <p:sp>
        <p:nvSpPr>
          <p:cNvPr id="26" name="Text 24"/>
          <p:cNvSpPr/>
          <p:nvPr/>
        </p:nvSpPr>
        <p:spPr>
          <a:xfrm>
            <a:off x="6598768" y="3840480"/>
            <a:ext cx="1325880" cy="603504"/>
          </a:xfrm>
          <a:prstGeom prst="rect">
            <a:avLst/>
          </a:prstGeom>
          <a:noFill/>
          <a:ln/>
        </p:spPr>
        <p:txBody>
          <a:bodyPr wrap="square" lIns="0" tIns="0" rIns="0" bIns="0" rtlCol="0" anchor="ctr"/>
          <a:lstStyle/>
          <a:p>
            <a:pPr marL="0" indent="0">
              <a:buNone/>
            </a:pPr>
            <a:r>
              <a:rPr lang="en-US" sz="1050" b="1" dirty="0">
                <a:solidFill>
                  <a:srgbClr val="0A2240"/>
                </a:solidFill>
                <a:latin typeface="Calibri" pitchFamily="34" charset="0"/>
                <a:ea typeface="Calibri" pitchFamily="34" charset="-122"/>
                <a:cs typeface="Calibri" pitchFamily="34" charset="-120"/>
              </a:rPr>
              <a:t>Agent releases</a:t>
            </a:r>
            <a:endParaRPr lang="en-US" sz="1050" dirty="0"/>
          </a:p>
        </p:txBody>
      </p:sp>
      <p:sp>
        <p:nvSpPr>
          <p:cNvPr id="27" name="Text 25"/>
          <p:cNvSpPr/>
          <p:nvPr/>
        </p:nvSpPr>
        <p:spPr>
          <a:xfrm>
            <a:off x="7970368" y="3840480"/>
            <a:ext cx="1737360" cy="603504"/>
          </a:xfrm>
          <a:prstGeom prst="rect">
            <a:avLst/>
          </a:prstGeom>
          <a:noFill/>
          <a:ln/>
        </p:spPr>
        <p:txBody>
          <a:bodyPr wrap="square" lIns="0" tIns="0" rIns="0" bIns="0" rtlCol="0" anchor="ctr"/>
          <a:lstStyle/>
          <a:p>
            <a:pPr marL="0" indent="0">
              <a:lnSpc>
                <a:spcPts val="1200"/>
              </a:lnSpc>
              <a:buNone/>
            </a:pPr>
            <a:r>
              <a:rPr lang="en-US" sz="1000" dirty="0">
                <a:solidFill>
                  <a:srgbClr val="5A6B7B"/>
                </a:solidFill>
                <a:latin typeface="Calibri" pitchFamily="34" charset="0"/>
                <a:ea typeface="Calibri" pitchFamily="34" charset="-122"/>
                <a:cs typeface="Calibri" pitchFamily="34" charset="-120"/>
              </a:rPr>
              <a:t>Prompts edited in production</a:t>
            </a:r>
            <a:endParaRPr lang="en-US" sz="1000" dirty="0"/>
          </a:p>
        </p:txBody>
      </p:sp>
      <p:sp>
        <p:nvSpPr>
          <p:cNvPr id="28" name="Text 26"/>
          <p:cNvSpPr/>
          <p:nvPr/>
        </p:nvSpPr>
        <p:spPr>
          <a:xfrm>
            <a:off x="9780880" y="3840480"/>
            <a:ext cx="1691640" cy="603504"/>
          </a:xfrm>
          <a:prstGeom prst="rect">
            <a:avLst/>
          </a:prstGeom>
          <a:noFill/>
          <a:ln/>
        </p:spPr>
        <p:txBody>
          <a:bodyPr wrap="square" lIns="0" tIns="0" rIns="0" bIns="0" rtlCol="0" anchor="ctr"/>
          <a:lstStyle/>
          <a:p>
            <a:pPr marL="0" indent="0">
              <a:lnSpc>
                <a:spcPts val="1200"/>
              </a:lnSpc>
              <a:buNone/>
            </a:pPr>
            <a:r>
              <a:rPr lang="en-US" sz="1000" dirty="0">
                <a:solidFill>
                  <a:srgbClr val="1B6CA8"/>
                </a:solidFill>
                <a:latin typeface="Calibri" pitchFamily="34" charset="0"/>
                <a:ea typeface="Calibri" pitchFamily="34" charset="-122"/>
                <a:cs typeface="Calibri" pitchFamily="34" charset="-120"/>
              </a:rPr>
              <a:t>Agents versioned, tested, rolled back</a:t>
            </a:r>
            <a:endParaRPr lang="en-US" sz="1000" dirty="0"/>
          </a:p>
        </p:txBody>
      </p:sp>
      <p:sp>
        <p:nvSpPr>
          <p:cNvPr id="29" name="Shape 27"/>
          <p:cNvSpPr/>
          <p:nvPr/>
        </p:nvSpPr>
        <p:spPr>
          <a:xfrm>
            <a:off x="6543904" y="4498848"/>
            <a:ext cx="4879696" cy="603504"/>
          </a:xfrm>
          <a:prstGeom prst="rect">
            <a:avLst/>
          </a:prstGeom>
          <a:solidFill>
            <a:srgbClr val="F1F5F9"/>
          </a:solidFill>
          <a:ln w="12700">
            <a:solidFill>
              <a:srgbClr val="333333"/>
            </a:solidFill>
            <a:prstDash val="solid"/>
          </a:ln>
        </p:spPr>
      </p:sp>
      <p:sp>
        <p:nvSpPr>
          <p:cNvPr id="30" name="Text 28"/>
          <p:cNvSpPr/>
          <p:nvPr/>
        </p:nvSpPr>
        <p:spPr>
          <a:xfrm>
            <a:off x="6598768" y="4498848"/>
            <a:ext cx="1325880" cy="603504"/>
          </a:xfrm>
          <a:prstGeom prst="rect">
            <a:avLst/>
          </a:prstGeom>
          <a:noFill/>
          <a:ln/>
        </p:spPr>
        <p:txBody>
          <a:bodyPr wrap="square" lIns="0" tIns="0" rIns="0" bIns="0" rtlCol="0" anchor="ctr"/>
          <a:lstStyle/>
          <a:p>
            <a:pPr marL="0" indent="0">
              <a:buNone/>
            </a:pPr>
            <a:r>
              <a:rPr lang="en-US" sz="1050" b="1" dirty="0">
                <a:solidFill>
                  <a:srgbClr val="0A2240"/>
                </a:solidFill>
                <a:latin typeface="Calibri" pitchFamily="34" charset="0"/>
                <a:ea typeface="Calibri" pitchFamily="34" charset="-122"/>
                <a:cs typeface="Calibri" pitchFamily="34" charset="-120"/>
              </a:rPr>
              <a:t>Security</a:t>
            </a:r>
            <a:endParaRPr lang="en-US" sz="1050" dirty="0"/>
          </a:p>
        </p:txBody>
      </p:sp>
      <p:sp>
        <p:nvSpPr>
          <p:cNvPr id="31" name="Text 29"/>
          <p:cNvSpPr/>
          <p:nvPr/>
        </p:nvSpPr>
        <p:spPr>
          <a:xfrm>
            <a:off x="7970368" y="4498848"/>
            <a:ext cx="1737360" cy="603504"/>
          </a:xfrm>
          <a:prstGeom prst="rect">
            <a:avLst/>
          </a:prstGeom>
          <a:noFill/>
          <a:ln/>
        </p:spPr>
        <p:txBody>
          <a:bodyPr wrap="square" lIns="0" tIns="0" rIns="0" bIns="0" rtlCol="0" anchor="ctr"/>
          <a:lstStyle/>
          <a:p>
            <a:pPr marL="0" indent="0">
              <a:lnSpc>
                <a:spcPts val="1200"/>
              </a:lnSpc>
              <a:buNone/>
            </a:pPr>
            <a:r>
              <a:rPr lang="en-US" sz="1000" dirty="0">
                <a:solidFill>
                  <a:srgbClr val="5A6B7B"/>
                </a:solidFill>
                <a:latin typeface="Calibri" pitchFamily="34" charset="0"/>
                <a:ea typeface="Calibri" pitchFamily="34" charset="-122"/>
                <a:cs typeface="Calibri" pitchFamily="34" charset="-120"/>
              </a:rPr>
              <a:t>Scanning after the fact</a:t>
            </a:r>
            <a:endParaRPr lang="en-US" sz="1000" dirty="0"/>
          </a:p>
        </p:txBody>
      </p:sp>
      <p:sp>
        <p:nvSpPr>
          <p:cNvPr id="32" name="Text 30"/>
          <p:cNvSpPr/>
          <p:nvPr/>
        </p:nvSpPr>
        <p:spPr>
          <a:xfrm>
            <a:off x="9780880" y="4498848"/>
            <a:ext cx="1691640" cy="603504"/>
          </a:xfrm>
          <a:prstGeom prst="rect">
            <a:avLst/>
          </a:prstGeom>
          <a:noFill/>
          <a:ln/>
        </p:spPr>
        <p:txBody>
          <a:bodyPr wrap="square" lIns="0" tIns="0" rIns="0" bIns="0" rtlCol="0" anchor="ctr"/>
          <a:lstStyle/>
          <a:p>
            <a:pPr marL="0" indent="0">
              <a:lnSpc>
                <a:spcPts val="1200"/>
              </a:lnSpc>
              <a:buNone/>
            </a:pPr>
            <a:r>
              <a:rPr lang="en-US" sz="1000" dirty="0">
                <a:solidFill>
                  <a:srgbClr val="1B6CA8"/>
                </a:solidFill>
                <a:latin typeface="Calibri" pitchFamily="34" charset="0"/>
                <a:ea typeface="Calibri" pitchFamily="34" charset="-122"/>
                <a:cs typeface="Calibri" pitchFamily="34" charset="-120"/>
              </a:rPr>
              <a:t>Policy enforced in the pipeline</a:t>
            </a:r>
            <a:endParaRPr lang="en-US" sz="1000" dirty="0"/>
          </a:p>
        </p:txBody>
      </p:sp>
      <p:sp>
        <p:nvSpPr>
          <p:cNvPr id="33" name="Shape 31"/>
          <p:cNvSpPr/>
          <p:nvPr/>
        </p:nvSpPr>
        <p:spPr>
          <a:xfrm>
            <a:off x="6543904" y="5157216"/>
            <a:ext cx="4879696" cy="603504"/>
          </a:xfrm>
          <a:prstGeom prst="rect">
            <a:avLst/>
          </a:prstGeom>
          <a:solidFill>
            <a:srgbClr val="FFFFFF"/>
          </a:solidFill>
          <a:ln w="12700">
            <a:solidFill>
              <a:srgbClr val="333333"/>
            </a:solidFill>
            <a:prstDash val="solid"/>
          </a:ln>
        </p:spPr>
      </p:sp>
      <p:sp>
        <p:nvSpPr>
          <p:cNvPr id="34" name="Text 32"/>
          <p:cNvSpPr/>
          <p:nvPr/>
        </p:nvSpPr>
        <p:spPr>
          <a:xfrm>
            <a:off x="6598768" y="5157216"/>
            <a:ext cx="1325880" cy="603504"/>
          </a:xfrm>
          <a:prstGeom prst="rect">
            <a:avLst/>
          </a:prstGeom>
          <a:noFill/>
          <a:ln/>
        </p:spPr>
        <p:txBody>
          <a:bodyPr wrap="square" lIns="0" tIns="0" rIns="0" bIns="0" rtlCol="0" anchor="ctr"/>
          <a:lstStyle/>
          <a:p>
            <a:pPr marL="0" indent="0">
              <a:buNone/>
            </a:pPr>
            <a:r>
              <a:rPr lang="en-US" sz="1050" b="1" dirty="0">
                <a:solidFill>
                  <a:srgbClr val="0A2240"/>
                </a:solidFill>
                <a:latin typeface="Calibri" pitchFamily="34" charset="0"/>
                <a:ea typeface="Calibri" pitchFamily="34" charset="-122"/>
                <a:cs typeface="Calibri" pitchFamily="34" charset="-120"/>
              </a:rPr>
              <a:t>Measurement</a:t>
            </a:r>
            <a:endParaRPr lang="en-US" sz="1050" dirty="0"/>
          </a:p>
        </p:txBody>
      </p:sp>
      <p:sp>
        <p:nvSpPr>
          <p:cNvPr id="35" name="Text 33"/>
          <p:cNvSpPr/>
          <p:nvPr/>
        </p:nvSpPr>
        <p:spPr>
          <a:xfrm>
            <a:off x="7970368" y="5157216"/>
            <a:ext cx="1737360" cy="603504"/>
          </a:xfrm>
          <a:prstGeom prst="rect">
            <a:avLst/>
          </a:prstGeom>
          <a:noFill/>
          <a:ln/>
        </p:spPr>
        <p:txBody>
          <a:bodyPr wrap="square" lIns="0" tIns="0" rIns="0" bIns="0" rtlCol="0" anchor="ctr"/>
          <a:lstStyle/>
          <a:p>
            <a:pPr marL="0" indent="0">
              <a:lnSpc>
                <a:spcPts val="1200"/>
              </a:lnSpc>
              <a:buNone/>
            </a:pPr>
            <a:r>
              <a:rPr lang="en-US" sz="1000" dirty="0">
                <a:solidFill>
                  <a:srgbClr val="5A6B7B"/>
                </a:solidFill>
                <a:latin typeface="Calibri" pitchFamily="34" charset="0"/>
                <a:ea typeface="Calibri" pitchFamily="34" charset="-122"/>
                <a:cs typeface="Calibri" pitchFamily="34" charset="-120"/>
              </a:rPr>
              <a:t>Anecdotes about productivity</a:t>
            </a:r>
            <a:endParaRPr lang="en-US" sz="1000" dirty="0"/>
          </a:p>
        </p:txBody>
      </p:sp>
      <p:sp>
        <p:nvSpPr>
          <p:cNvPr id="36" name="Text 34"/>
          <p:cNvSpPr/>
          <p:nvPr/>
        </p:nvSpPr>
        <p:spPr>
          <a:xfrm>
            <a:off x="9780880" y="5157216"/>
            <a:ext cx="1691640" cy="603504"/>
          </a:xfrm>
          <a:prstGeom prst="rect">
            <a:avLst/>
          </a:prstGeom>
          <a:noFill/>
          <a:ln/>
        </p:spPr>
        <p:txBody>
          <a:bodyPr wrap="square" lIns="0" tIns="0" rIns="0" bIns="0" rtlCol="0" anchor="ctr"/>
          <a:lstStyle/>
          <a:p>
            <a:pPr marL="0" indent="0">
              <a:lnSpc>
                <a:spcPts val="1200"/>
              </a:lnSpc>
              <a:buNone/>
            </a:pPr>
            <a:r>
              <a:rPr lang="en-US" sz="1000" dirty="0">
                <a:solidFill>
                  <a:srgbClr val="1B6CA8"/>
                </a:solidFill>
                <a:latin typeface="Calibri" pitchFamily="34" charset="0"/>
                <a:ea typeface="Calibri" pitchFamily="34" charset="-122"/>
                <a:cs typeface="Calibri" pitchFamily="34" charset="-120"/>
              </a:rPr>
              <a:t>DORA and defect data per change type</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5</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Onboarding harness engineering at Ball</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23</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2506980"/>
        </p:xfrm>
        <a:graphic>
          <a:graphicData uri="http://schemas.openxmlformats.org/drawingml/2006/table">
            <a:tbl>
              <a:tblPr/>
              <a:tblGrid>
                <a:gridCol w="187452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gridCol w="2816352">
                  <a:extLst>
                    <a:ext uri="{9D8B030D-6E8A-4147-A177-3AD203B41FA5}">
                      <a16:colId xmlns:a16="http://schemas.microsoft.com/office/drawing/2014/main" val="20002"/>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Phase</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Task-level activities</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Exit criteria</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extLst>
                  <a:ext uri="{0D108BD9-81ED-4DB2-BD59-A6C34878D82A}">
                    <a16:rowId xmlns:a16="http://schemas.microsoft.com/office/drawing/2014/main" val="10000"/>
                  </a:ext>
                </a:extLst>
              </a:tr>
              <a:tr h="0">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Phase 1 — Baseline</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Inventory current pipelines across JDE CNC, SAP, integration and application teams · capture DORA baseline · survey which teams already use coding assistants and on what code · classify repositories by risk tier</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A single, current picture of how change reaches production today</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Phase 2 — Standardise the pipeline</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Define the golden pipeline template · mandate build, unit, SAST, dependency, IaC and policy stages · introduce provenance tagging so AI-assisted change is identifiable · enforce branch protection</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Every tier-1 repository builds through the golden template</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0">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Phase 3 — Admit agents to the SDLC</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Approve the assistant and coding-agent tool set · route agent model traffic through the AI gateway · define what an agent may and may not do unattended · require human approval on merge to protected branches</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Agent-authored change is governed identically to human change</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Phase 4 — Agent DLC</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Treat each agent as a deployable artefact: versioned prompt, context pack, tool manifest and eval suite · promote agents through dev, test and production · automated rollback on evaluation regression</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An agent can be released and rolled back without a human editing production</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0">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Phase 5 — Autonomous workers</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Introduce worker agents for the gap between commit and production: test generation and repair, dependency upgrades, release notes, deployment verification, incident triage</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Measurable reduction in delivery toil with no regression in change-failure rate</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7</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The Forward Deployed Engineer model</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548640" y="1481328"/>
            <a:ext cx="5318608" cy="1828800"/>
          </a:xfrm>
          <a:prstGeom prst="roundRect">
            <a:avLst>
              <a:gd name="adj" fmla="val 4000"/>
            </a:avLst>
          </a:prstGeom>
          <a:solidFill>
            <a:srgbClr val="0A2240"/>
          </a:solidFill>
          <a:ln w="12700">
            <a:solidFill>
              <a:srgbClr val="0A2240"/>
            </a:solidFill>
            <a:prstDash val="solid"/>
          </a:ln>
          <a:effectLst>
            <a:outerShdw blurRad="101600" dist="25400" dir="5400000" algn="bl" rotWithShape="0">
              <a:srgbClr val="0A2240">
                <a:alpha val="12000"/>
              </a:srgbClr>
            </a:outerShdw>
          </a:effectLst>
        </p:spPr>
      </p:sp>
      <p:sp>
        <p:nvSpPr>
          <p:cNvPr id="7" name="Text 5"/>
          <p:cNvSpPr/>
          <p:nvPr/>
        </p:nvSpPr>
        <p:spPr>
          <a:xfrm>
            <a:off x="859536" y="1664208"/>
            <a:ext cx="4696816" cy="329184"/>
          </a:xfrm>
          <a:prstGeom prst="rect">
            <a:avLst/>
          </a:prstGeom>
          <a:noFill/>
          <a:ln/>
        </p:spPr>
        <p:txBody>
          <a:bodyPr wrap="square" lIns="0" tIns="0" rIns="0" bIns="0" rtlCol="0" anchor="ctr"/>
          <a:lstStyle/>
          <a:p>
            <a:pPr marL="0" indent="0">
              <a:buNone/>
            </a:pPr>
            <a:r>
              <a:rPr lang="en-US" sz="1300" b="1" kern="0" spc="150" dirty="0">
                <a:solidFill>
                  <a:srgbClr val="00A9E0"/>
                </a:solidFill>
                <a:latin typeface="Calibri" pitchFamily="34" charset="0"/>
                <a:ea typeface="Calibri" pitchFamily="34" charset="-122"/>
                <a:cs typeface="Calibri" pitchFamily="34" charset="-120"/>
              </a:rPr>
              <a:t>What an FDE is</a:t>
            </a:r>
            <a:endParaRPr lang="en-US" sz="1300" dirty="0"/>
          </a:p>
        </p:txBody>
      </p:sp>
      <p:sp>
        <p:nvSpPr>
          <p:cNvPr id="8" name="Text 6"/>
          <p:cNvSpPr/>
          <p:nvPr/>
        </p:nvSpPr>
        <p:spPr>
          <a:xfrm>
            <a:off x="859536" y="2029968"/>
            <a:ext cx="4696816" cy="1152144"/>
          </a:xfrm>
          <a:prstGeom prst="rect">
            <a:avLst/>
          </a:prstGeom>
          <a:noFill/>
          <a:ln/>
        </p:spPr>
        <p:txBody>
          <a:bodyPr wrap="square" lIns="0" tIns="0" rIns="0" bIns="0" rtlCol="0" anchor="t"/>
          <a:lstStyle/>
          <a:p>
            <a:pPr marL="0" indent="0">
              <a:lnSpc>
                <a:spcPts val="1700"/>
              </a:lnSpc>
              <a:buNone/>
            </a:pPr>
            <a:r>
              <a:rPr lang="en-US" sz="1250" dirty="0">
                <a:solidFill>
                  <a:srgbClr val="FFFFFF"/>
                </a:solidFill>
                <a:latin typeface="Calibri" pitchFamily="34" charset="0"/>
                <a:ea typeface="Calibri" pitchFamily="34" charset="-122"/>
                <a:cs typeface="Calibri" pitchFamily="34" charset="-120"/>
              </a:rPr>
              <a:t>A senior engineer who embeds inside a business or system domain for the life of a solution and is accountable for the outcome — not for the code. The model was proven at Palantir and has since been adopted at scale across the enterprise AI industry.</a:t>
            </a:r>
            <a:endParaRPr lang="en-US" sz="1250" dirty="0"/>
          </a:p>
        </p:txBody>
      </p:sp>
      <p:sp>
        <p:nvSpPr>
          <p:cNvPr id="9" name="Shape 7"/>
          <p:cNvSpPr/>
          <p:nvPr/>
        </p:nvSpPr>
        <p:spPr>
          <a:xfrm>
            <a:off x="548640" y="3456432"/>
            <a:ext cx="5318608" cy="2505456"/>
          </a:xfrm>
          <a:prstGeom prst="roundRect">
            <a:avLst>
              <a:gd name="adj" fmla="val 292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0" name="Text 8"/>
          <p:cNvSpPr/>
          <p:nvPr/>
        </p:nvSpPr>
        <p:spPr>
          <a:xfrm>
            <a:off x="859536" y="3621024"/>
            <a:ext cx="4696816" cy="347472"/>
          </a:xfrm>
          <a:prstGeom prst="rect">
            <a:avLst/>
          </a:prstGeom>
          <a:noFill/>
          <a:ln/>
        </p:spPr>
        <p:txBody>
          <a:bodyPr wrap="square" lIns="0" tIns="0" rIns="0" bIns="0" rtlCol="0" anchor="ctr"/>
          <a:lstStyle/>
          <a:p>
            <a:pPr marL="0" indent="0">
              <a:buNone/>
            </a:pPr>
            <a:r>
              <a:rPr lang="en-US" sz="1450" b="1" dirty="0">
                <a:solidFill>
                  <a:srgbClr val="0A2240"/>
                </a:solidFill>
                <a:latin typeface="Calibri" pitchFamily="34" charset="0"/>
                <a:ea typeface="Calibri" pitchFamily="34" charset="-122"/>
                <a:cs typeface="Calibri" pitchFamily="34" charset="-120"/>
              </a:rPr>
              <a:t>Why Ball needs the role</a:t>
            </a:r>
            <a:endParaRPr lang="en-US" sz="1450" dirty="0"/>
          </a:p>
        </p:txBody>
      </p:sp>
      <p:sp>
        <p:nvSpPr>
          <p:cNvPr id="11" name="Text 9"/>
          <p:cNvSpPr/>
          <p:nvPr/>
        </p:nvSpPr>
        <p:spPr>
          <a:xfrm>
            <a:off x="859536" y="4005072"/>
            <a:ext cx="4696816" cy="1865376"/>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1100" dirty="0">
                <a:solidFill>
                  <a:srgbClr val="16222E"/>
                </a:solidFill>
                <a:latin typeface="Calibri" pitchFamily="34" charset="0"/>
                <a:ea typeface="Calibri" pitchFamily="34" charset="-122"/>
                <a:cs typeface="Calibri" pitchFamily="34" charset="-120"/>
              </a:rPr>
              <a:t>The distance between a working demo and a governed production system is an integration problem, and nobody owns it</a:t>
            </a:r>
            <a:endParaRPr lang="en-US" sz="1100" dirty="0"/>
          </a:p>
          <a:p>
            <a:pPr marL="342900" indent="-342900">
              <a:lnSpc>
                <a:spcPts val="1400"/>
              </a:lnSpc>
              <a:spcAft>
                <a:spcPts val="600"/>
              </a:spcAft>
              <a:buSzPct val="100000"/>
              <a:buChar char="•"/>
            </a:pPr>
            <a:r>
              <a:rPr lang="en-US" sz="1100" dirty="0">
                <a:solidFill>
                  <a:srgbClr val="16222E"/>
                </a:solidFill>
                <a:latin typeface="Calibri" pitchFamily="34" charset="0"/>
                <a:ea typeface="Calibri" pitchFamily="34" charset="-122"/>
                <a:cs typeface="Calibri" pitchFamily="34" charset="-120"/>
              </a:rPr>
              <a:t>Ball's value is locked in domain specifics — plant practice, quality regimes, ERP configuration — that no requirements document captures</a:t>
            </a:r>
            <a:endParaRPr lang="en-US" sz="1100" dirty="0"/>
          </a:p>
          <a:p>
            <a:pPr marL="342900" indent="-342900">
              <a:lnSpc>
                <a:spcPts val="1400"/>
              </a:lnSpc>
              <a:spcAft>
                <a:spcPts val="600"/>
              </a:spcAft>
              <a:buSzPct val="100000"/>
              <a:buChar char="•"/>
            </a:pPr>
            <a:r>
              <a:rPr lang="en-US" sz="1100" dirty="0">
                <a:solidFill>
                  <a:srgbClr val="16222E"/>
                </a:solidFill>
                <a:latin typeface="Calibri" pitchFamily="34" charset="0"/>
                <a:ea typeface="Calibri" pitchFamily="34" charset="-122"/>
                <a:cs typeface="Calibri" pitchFamily="34" charset="-120"/>
              </a:rPr>
              <a:t>A central request queue turns every AI idea into a prioritisation argument; an embedded engineer turns it into a shipped system</a:t>
            </a:r>
            <a:endParaRPr lang="en-US" sz="1100" dirty="0"/>
          </a:p>
          <a:p>
            <a:pPr marL="342900" indent="-342900">
              <a:lnSpc>
                <a:spcPts val="1400"/>
              </a:lnSpc>
              <a:spcAft>
                <a:spcPts val="600"/>
              </a:spcAft>
              <a:buSzPct val="100000"/>
              <a:buChar char="•"/>
            </a:pPr>
            <a:r>
              <a:rPr lang="en-US" sz="1100" dirty="0">
                <a:solidFill>
                  <a:srgbClr val="16222E"/>
                </a:solidFill>
                <a:latin typeface="Calibri" pitchFamily="34" charset="0"/>
                <a:ea typeface="Calibri" pitchFamily="34" charset="-122"/>
                <a:cs typeface="Calibri" pitchFamily="34" charset="-120"/>
              </a:rPr>
              <a:t>FDEs carry standards outward: they are how the hub's platform actually gets adopted</a:t>
            </a:r>
            <a:endParaRPr lang="en-US" sz="1100" dirty="0"/>
          </a:p>
        </p:txBody>
      </p:sp>
      <p:sp>
        <p:nvSpPr>
          <p:cNvPr id="12" name="Shape 10"/>
          <p:cNvSpPr/>
          <p:nvPr/>
        </p:nvSpPr>
        <p:spPr>
          <a:xfrm>
            <a:off x="6324448" y="1481328"/>
            <a:ext cx="5318608" cy="4480560"/>
          </a:xfrm>
          <a:prstGeom prst="roundRect">
            <a:avLst>
              <a:gd name="adj" fmla="val 1633"/>
            </a:avLst>
          </a:prstGeom>
          <a:solidFill>
            <a:srgbClr val="FFFFFF"/>
          </a:solidFill>
          <a:ln w="12700">
            <a:solidFill>
              <a:srgbClr val="E4EBF2"/>
            </a:solidFill>
            <a:prstDash val="solid"/>
          </a:ln>
          <a:effectLst>
            <a:outerShdw blurRad="101600" dist="25400" dir="5400000" algn="bl" rotWithShape="0">
              <a:srgbClr val="0A2240">
                <a:alpha val="12000"/>
              </a:srgbClr>
            </a:outerShdw>
          </a:effectLst>
        </p:spPr>
      </p:sp>
      <p:sp>
        <p:nvSpPr>
          <p:cNvPr id="13" name="Text 11"/>
          <p:cNvSpPr/>
          <p:nvPr/>
        </p:nvSpPr>
        <p:spPr>
          <a:xfrm>
            <a:off x="6635344" y="1700784"/>
            <a:ext cx="4696816" cy="365760"/>
          </a:xfrm>
          <a:prstGeom prst="rect">
            <a:avLst/>
          </a:prstGeom>
          <a:noFill/>
          <a:ln/>
        </p:spPr>
        <p:txBody>
          <a:bodyPr wrap="square" lIns="0" tIns="0" rIns="0" bIns="0" rtlCol="0" anchor="ctr"/>
          <a:lstStyle/>
          <a:p>
            <a:pPr marL="0" indent="0">
              <a:buNone/>
            </a:pPr>
            <a:r>
              <a:rPr lang="en-US" sz="1450" b="1" dirty="0">
                <a:solidFill>
                  <a:srgbClr val="0A2240"/>
                </a:solidFill>
                <a:latin typeface="Calibri" pitchFamily="34" charset="0"/>
                <a:ea typeface="Calibri" pitchFamily="34" charset="-122"/>
                <a:cs typeface="Calibri" pitchFamily="34" charset="-120"/>
              </a:rPr>
              <a:t>The FDE skill profile</a:t>
            </a:r>
            <a:endParaRPr lang="en-US" sz="1450" dirty="0"/>
          </a:p>
        </p:txBody>
      </p:sp>
      <p:sp>
        <p:nvSpPr>
          <p:cNvPr id="14" name="Shape 12"/>
          <p:cNvSpPr/>
          <p:nvPr/>
        </p:nvSpPr>
        <p:spPr>
          <a:xfrm>
            <a:off x="6635344" y="2304288"/>
            <a:ext cx="329184" cy="329184"/>
          </a:xfrm>
          <a:prstGeom prst="ellipse">
            <a:avLst/>
          </a:prstGeom>
          <a:solidFill>
            <a:srgbClr val="00A9E0"/>
          </a:solidFill>
          <a:ln w="12700">
            <a:solidFill>
              <a:srgbClr val="00A9E0"/>
            </a:solidFill>
            <a:prstDash val="solid"/>
          </a:ln>
        </p:spPr>
      </p:sp>
      <p:sp>
        <p:nvSpPr>
          <p:cNvPr id="15" name="Text 13"/>
          <p:cNvSpPr/>
          <p:nvPr/>
        </p:nvSpPr>
        <p:spPr>
          <a:xfrm>
            <a:off x="6635344" y="2304288"/>
            <a:ext cx="329184" cy="329184"/>
          </a:xfrm>
          <a:prstGeom prst="rect">
            <a:avLst/>
          </a:prstGeom>
          <a:noFill/>
          <a:ln/>
        </p:spPr>
        <p:txBody>
          <a:bodyPr wrap="square" lIns="0" tIns="0" rIns="0" bIns="0" rtlCol="0" anchor="ctr"/>
          <a:lstStyle/>
          <a:p>
            <a:pPr marL="0" indent="0" algn="ctr">
              <a:buNone/>
            </a:pPr>
            <a:r>
              <a:rPr lang="en-US" sz="1200" b="1" dirty="0">
                <a:solidFill>
                  <a:srgbClr val="0A2240"/>
                </a:solidFill>
                <a:latin typeface="Calibri" pitchFamily="34" charset="0"/>
                <a:ea typeface="Calibri" pitchFamily="34" charset="-122"/>
                <a:cs typeface="Calibri" pitchFamily="34" charset="-120"/>
              </a:rPr>
              <a:t>✓</a:t>
            </a:r>
            <a:endParaRPr lang="en-US" sz="1200" dirty="0"/>
          </a:p>
        </p:txBody>
      </p:sp>
      <p:sp>
        <p:nvSpPr>
          <p:cNvPr id="16" name="Text 14"/>
          <p:cNvSpPr/>
          <p:nvPr/>
        </p:nvSpPr>
        <p:spPr>
          <a:xfrm>
            <a:off x="7074256" y="2231136"/>
            <a:ext cx="1600200" cy="502920"/>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Systems fluency</a:t>
            </a:r>
            <a:endParaRPr lang="en-US" sz="1150" dirty="0"/>
          </a:p>
        </p:txBody>
      </p:sp>
      <p:sp>
        <p:nvSpPr>
          <p:cNvPr id="17" name="Text 15"/>
          <p:cNvSpPr/>
          <p:nvPr/>
        </p:nvSpPr>
        <p:spPr>
          <a:xfrm>
            <a:off x="8720176" y="2231136"/>
            <a:ext cx="2611984" cy="502920"/>
          </a:xfrm>
          <a:prstGeom prst="rect">
            <a:avLst/>
          </a:prstGeom>
          <a:noFill/>
          <a:ln/>
        </p:spPr>
        <p:txBody>
          <a:bodyPr wrap="square" lIns="0" tIns="0" rIns="0" bIns="0" rtlCol="0" anchor="ctr"/>
          <a:lstStyle/>
          <a:p>
            <a:pPr marL="0" indent="0">
              <a:lnSpc>
                <a:spcPts val="1300"/>
              </a:lnSpc>
              <a:buNone/>
            </a:pPr>
            <a:r>
              <a:rPr lang="en-US" sz="1080" dirty="0">
                <a:solidFill>
                  <a:srgbClr val="5A6B7B"/>
                </a:solidFill>
                <a:latin typeface="Calibri" pitchFamily="34" charset="0"/>
                <a:ea typeface="Calibri" pitchFamily="34" charset="-122"/>
                <a:cs typeface="Calibri" pitchFamily="34" charset="-120"/>
              </a:rPr>
              <a:t>Reads a JDE orchestration, a Spark job and a Terraform plan with equal comfort</a:t>
            </a:r>
            <a:endParaRPr lang="en-US" sz="1080" dirty="0"/>
          </a:p>
        </p:txBody>
      </p:sp>
      <p:sp>
        <p:nvSpPr>
          <p:cNvPr id="18" name="Shape 16"/>
          <p:cNvSpPr/>
          <p:nvPr/>
        </p:nvSpPr>
        <p:spPr>
          <a:xfrm>
            <a:off x="6635344" y="2907792"/>
            <a:ext cx="329184" cy="329184"/>
          </a:xfrm>
          <a:prstGeom prst="ellipse">
            <a:avLst/>
          </a:prstGeom>
          <a:solidFill>
            <a:srgbClr val="00A9E0"/>
          </a:solidFill>
          <a:ln w="12700">
            <a:solidFill>
              <a:srgbClr val="00A9E0"/>
            </a:solidFill>
            <a:prstDash val="solid"/>
          </a:ln>
        </p:spPr>
      </p:sp>
      <p:sp>
        <p:nvSpPr>
          <p:cNvPr id="19" name="Text 17"/>
          <p:cNvSpPr/>
          <p:nvPr/>
        </p:nvSpPr>
        <p:spPr>
          <a:xfrm>
            <a:off x="6635344" y="2907792"/>
            <a:ext cx="329184" cy="329184"/>
          </a:xfrm>
          <a:prstGeom prst="rect">
            <a:avLst/>
          </a:prstGeom>
          <a:noFill/>
          <a:ln/>
        </p:spPr>
        <p:txBody>
          <a:bodyPr wrap="square" lIns="0" tIns="0" rIns="0" bIns="0" rtlCol="0" anchor="ctr"/>
          <a:lstStyle/>
          <a:p>
            <a:pPr marL="0" indent="0" algn="ctr">
              <a:buNone/>
            </a:pPr>
            <a:r>
              <a:rPr lang="en-US" sz="1200" b="1" dirty="0">
                <a:solidFill>
                  <a:srgbClr val="0A2240"/>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7074256" y="2834640"/>
            <a:ext cx="1600200" cy="502920"/>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Agent craft</a:t>
            </a:r>
            <a:endParaRPr lang="en-US" sz="1150" dirty="0"/>
          </a:p>
        </p:txBody>
      </p:sp>
      <p:sp>
        <p:nvSpPr>
          <p:cNvPr id="21" name="Text 19"/>
          <p:cNvSpPr/>
          <p:nvPr/>
        </p:nvSpPr>
        <p:spPr>
          <a:xfrm>
            <a:off x="8720176" y="2834640"/>
            <a:ext cx="2611984" cy="502920"/>
          </a:xfrm>
          <a:prstGeom prst="rect">
            <a:avLst/>
          </a:prstGeom>
          <a:noFill/>
          <a:ln/>
        </p:spPr>
        <p:txBody>
          <a:bodyPr wrap="square" lIns="0" tIns="0" rIns="0" bIns="0" rtlCol="0" anchor="ctr"/>
          <a:lstStyle/>
          <a:p>
            <a:pPr marL="0" indent="0">
              <a:lnSpc>
                <a:spcPts val="1300"/>
              </a:lnSpc>
              <a:buNone/>
            </a:pPr>
            <a:r>
              <a:rPr lang="en-US" sz="1080" dirty="0">
                <a:solidFill>
                  <a:srgbClr val="5A6B7B"/>
                </a:solidFill>
                <a:latin typeface="Calibri" pitchFamily="34" charset="0"/>
                <a:ea typeface="Calibri" pitchFamily="34" charset="-122"/>
                <a:cs typeface="Calibri" pitchFamily="34" charset="-120"/>
              </a:rPr>
              <a:t>Tool design, context assembly, evaluation, failure analysis</a:t>
            </a:r>
            <a:endParaRPr lang="en-US" sz="1080" dirty="0"/>
          </a:p>
        </p:txBody>
      </p:sp>
      <p:sp>
        <p:nvSpPr>
          <p:cNvPr id="22" name="Shape 20"/>
          <p:cNvSpPr/>
          <p:nvPr/>
        </p:nvSpPr>
        <p:spPr>
          <a:xfrm>
            <a:off x="6635344" y="3511296"/>
            <a:ext cx="329184" cy="329184"/>
          </a:xfrm>
          <a:prstGeom prst="ellipse">
            <a:avLst/>
          </a:prstGeom>
          <a:solidFill>
            <a:srgbClr val="00A9E0"/>
          </a:solidFill>
          <a:ln w="12700">
            <a:solidFill>
              <a:srgbClr val="00A9E0"/>
            </a:solidFill>
            <a:prstDash val="solid"/>
          </a:ln>
        </p:spPr>
      </p:sp>
      <p:sp>
        <p:nvSpPr>
          <p:cNvPr id="23" name="Text 21"/>
          <p:cNvSpPr/>
          <p:nvPr/>
        </p:nvSpPr>
        <p:spPr>
          <a:xfrm>
            <a:off x="6635344" y="3511296"/>
            <a:ext cx="329184" cy="329184"/>
          </a:xfrm>
          <a:prstGeom prst="rect">
            <a:avLst/>
          </a:prstGeom>
          <a:noFill/>
          <a:ln/>
        </p:spPr>
        <p:txBody>
          <a:bodyPr wrap="square" lIns="0" tIns="0" rIns="0" bIns="0" rtlCol="0" anchor="ctr"/>
          <a:lstStyle/>
          <a:p>
            <a:pPr marL="0" indent="0" algn="ctr">
              <a:buNone/>
            </a:pPr>
            <a:r>
              <a:rPr lang="en-US" sz="1200" b="1" dirty="0">
                <a:solidFill>
                  <a:srgbClr val="0A2240"/>
                </a:solidFill>
                <a:latin typeface="Calibri" pitchFamily="34" charset="0"/>
                <a:ea typeface="Calibri" pitchFamily="34" charset="-122"/>
                <a:cs typeface="Calibri" pitchFamily="34" charset="-120"/>
              </a:rPr>
              <a:t>✓</a:t>
            </a:r>
            <a:endParaRPr lang="en-US" sz="1200" dirty="0"/>
          </a:p>
        </p:txBody>
      </p:sp>
      <p:sp>
        <p:nvSpPr>
          <p:cNvPr id="24" name="Text 22"/>
          <p:cNvSpPr/>
          <p:nvPr/>
        </p:nvSpPr>
        <p:spPr>
          <a:xfrm>
            <a:off x="7074256" y="3438144"/>
            <a:ext cx="1600200" cy="502920"/>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Domain immersion</a:t>
            </a:r>
            <a:endParaRPr lang="en-US" sz="1150" dirty="0"/>
          </a:p>
        </p:txBody>
      </p:sp>
      <p:sp>
        <p:nvSpPr>
          <p:cNvPr id="25" name="Text 23"/>
          <p:cNvSpPr/>
          <p:nvPr/>
        </p:nvSpPr>
        <p:spPr>
          <a:xfrm>
            <a:off x="8720176" y="3438144"/>
            <a:ext cx="2611984" cy="502920"/>
          </a:xfrm>
          <a:prstGeom prst="rect">
            <a:avLst/>
          </a:prstGeom>
          <a:noFill/>
          <a:ln/>
        </p:spPr>
        <p:txBody>
          <a:bodyPr wrap="square" lIns="0" tIns="0" rIns="0" bIns="0" rtlCol="0" anchor="ctr"/>
          <a:lstStyle/>
          <a:p>
            <a:pPr marL="0" indent="0">
              <a:lnSpc>
                <a:spcPts val="1300"/>
              </a:lnSpc>
              <a:buNone/>
            </a:pPr>
            <a:r>
              <a:rPr lang="en-US" sz="1080" dirty="0">
                <a:solidFill>
                  <a:srgbClr val="5A6B7B"/>
                </a:solidFill>
                <a:latin typeface="Calibri" pitchFamily="34" charset="0"/>
                <a:ea typeface="Calibri" pitchFamily="34" charset="-122"/>
                <a:cs typeface="Calibri" pitchFamily="34" charset="-120"/>
              </a:rPr>
              <a:t>Spends time on the floor and in the process, not only in the backlog</a:t>
            </a:r>
            <a:endParaRPr lang="en-US" sz="1080" dirty="0"/>
          </a:p>
        </p:txBody>
      </p:sp>
      <p:sp>
        <p:nvSpPr>
          <p:cNvPr id="26" name="Shape 24"/>
          <p:cNvSpPr/>
          <p:nvPr/>
        </p:nvSpPr>
        <p:spPr>
          <a:xfrm>
            <a:off x="6635344" y="4114800"/>
            <a:ext cx="329184" cy="329184"/>
          </a:xfrm>
          <a:prstGeom prst="ellipse">
            <a:avLst/>
          </a:prstGeom>
          <a:solidFill>
            <a:srgbClr val="00A9E0"/>
          </a:solidFill>
          <a:ln w="12700">
            <a:solidFill>
              <a:srgbClr val="00A9E0"/>
            </a:solidFill>
            <a:prstDash val="solid"/>
          </a:ln>
        </p:spPr>
      </p:sp>
      <p:sp>
        <p:nvSpPr>
          <p:cNvPr id="27" name="Text 25"/>
          <p:cNvSpPr/>
          <p:nvPr/>
        </p:nvSpPr>
        <p:spPr>
          <a:xfrm>
            <a:off x="6635344" y="4114800"/>
            <a:ext cx="329184" cy="329184"/>
          </a:xfrm>
          <a:prstGeom prst="rect">
            <a:avLst/>
          </a:prstGeom>
          <a:noFill/>
          <a:ln/>
        </p:spPr>
        <p:txBody>
          <a:bodyPr wrap="square" lIns="0" tIns="0" rIns="0" bIns="0" rtlCol="0" anchor="ctr"/>
          <a:lstStyle/>
          <a:p>
            <a:pPr marL="0" indent="0" algn="ctr">
              <a:buNone/>
            </a:pPr>
            <a:r>
              <a:rPr lang="en-US" sz="1200" b="1" dirty="0">
                <a:solidFill>
                  <a:srgbClr val="0A2240"/>
                </a:solidFill>
                <a:latin typeface="Calibri" pitchFamily="34" charset="0"/>
                <a:ea typeface="Calibri" pitchFamily="34" charset="-122"/>
                <a:cs typeface="Calibri" pitchFamily="34" charset="-120"/>
              </a:rPr>
              <a:t>✓</a:t>
            </a:r>
            <a:endParaRPr lang="en-US" sz="1200" dirty="0"/>
          </a:p>
        </p:txBody>
      </p:sp>
      <p:sp>
        <p:nvSpPr>
          <p:cNvPr id="28" name="Text 26"/>
          <p:cNvSpPr/>
          <p:nvPr/>
        </p:nvSpPr>
        <p:spPr>
          <a:xfrm>
            <a:off x="7074256" y="4041648"/>
            <a:ext cx="1600200" cy="502920"/>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Production discipline</a:t>
            </a:r>
            <a:endParaRPr lang="en-US" sz="1150" dirty="0"/>
          </a:p>
        </p:txBody>
      </p:sp>
      <p:sp>
        <p:nvSpPr>
          <p:cNvPr id="29" name="Text 27"/>
          <p:cNvSpPr/>
          <p:nvPr/>
        </p:nvSpPr>
        <p:spPr>
          <a:xfrm>
            <a:off x="8720176" y="4041648"/>
            <a:ext cx="2611984" cy="502920"/>
          </a:xfrm>
          <a:prstGeom prst="rect">
            <a:avLst/>
          </a:prstGeom>
          <a:noFill/>
          <a:ln/>
        </p:spPr>
        <p:txBody>
          <a:bodyPr wrap="square" lIns="0" tIns="0" rIns="0" bIns="0" rtlCol="0" anchor="ctr"/>
          <a:lstStyle/>
          <a:p>
            <a:pPr marL="0" indent="0">
              <a:lnSpc>
                <a:spcPts val="1300"/>
              </a:lnSpc>
              <a:buNone/>
            </a:pPr>
            <a:r>
              <a:rPr lang="en-US" sz="1080" dirty="0">
                <a:solidFill>
                  <a:srgbClr val="5A6B7B"/>
                </a:solidFill>
                <a:latin typeface="Calibri" pitchFamily="34" charset="0"/>
                <a:ea typeface="Calibri" pitchFamily="34" charset="-122"/>
                <a:cs typeface="Calibri" pitchFamily="34" charset="-120"/>
              </a:rPr>
              <a:t>Access control, audit trails, logging, privacy, rollback — from day one, not day ninety</a:t>
            </a:r>
            <a:endParaRPr lang="en-US" sz="1080" dirty="0"/>
          </a:p>
        </p:txBody>
      </p:sp>
      <p:sp>
        <p:nvSpPr>
          <p:cNvPr id="30" name="Shape 28"/>
          <p:cNvSpPr/>
          <p:nvPr/>
        </p:nvSpPr>
        <p:spPr>
          <a:xfrm>
            <a:off x="6635344" y="4718304"/>
            <a:ext cx="329184" cy="329184"/>
          </a:xfrm>
          <a:prstGeom prst="ellipse">
            <a:avLst/>
          </a:prstGeom>
          <a:solidFill>
            <a:srgbClr val="00A9E0"/>
          </a:solidFill>
          <a:ln w="12700">
            <a:solidFill>
              <a:srgbClr val="00A9E0"/>
            </a:solidFill>
            <a:prstDash val="solid"/>
          </a:ln>
        </p:spPr>
      </p:sp>
      <p:sp>
        <p:nvSpPr>
          <p:cNvPr id="31" name="Text 29"/>
          <p:cNvSpPr/>
          <p:nvPr/>
        </p:nvSpPr>
        <p:spPr>
          <a:xfrm>
            <a:off x="6635344" y="4718304"/>
            <a:ext cx="329184" cy="329184"/>
          </a:xfrm>
          <a:prstGeom prst="rect">
            <a:avLst/>
          </a:prstGeom>
          <a:noFill/>
          <a:ln/>
        </p:spPr>
        <p:txBody>
          <a:bodyPr wrap="square" lIns="0" tIns="0" rIns="0" bIns="0" rtlCol="0" anchor="ctr"/>
          <a:lstStyle/>
          <a:p>
            <a:pPr marL="0" indent="0" algn="ctr">
              <a:buNone/>
            </a:pPr>
            <a:r>
              <a:rPr lang="en-US" sz="1200" b="1" dirty="0">
                <a:solidFill>
                  <a:srgbClr val="0A2240"/>
                </a:solidFill>
                <a:latin typeface="Calibri" pitchFamily="34" charset="0"/>
                <a:ea typeface="Calibri" pitchFamily="34" charset="-122"/>
                <a:cs typeface="Calibri" pitchFamily="34" charset="-120"/>
              </a:rPr>
              <a:t>✓</a:t>
            </a:r>
            <a:endParaRPr lang="en-US" sz="1200" dirty="0"/>
          </a:p>
        </p:txBody>
      </p:sp>
      <p:sp>
        <p:nvSpPr>
          <p:cNvPr id="32" name="Text 30"/>
          <p:cNvSpPr/>
          <p:nvPr/>
        </p:nvSpPr>
        <p:spPr>
          <a:xfrm>
            <a:off x="7074256" y="4645152"/>
            <a:ext cx="1600200" cy="502920"/>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Facilitation</a:t>
            </a:r>
            <a:endParaRPr lang="en-US" sz="1150" dirty="0"/>
          </a:p>
        </p:txBody>
      </p:sp>
      <p:sp>
        <p:nvSpPr>
          <p:cNvPr id="33" name="Text 31"/>
          <p:cNvSpPr/>
          <p:nvPr/>
        </p:nvSpPr>
        <p:spPr>
          <a:xfrm>
            <a:off x="8720176" y="4645152"/>
            <a:ext cx="2611984" cy="502920"/>
          </a:xfrm>
          <a:prstGeom prst="rect">
            <a:avLst/>
          </a:prstGeom>
          <a:noFill/>
          <a:ln/>
        </p:spPr>
        <p:txBody>
          <a:bodyPr wrap="square" lIns="0" tIns="0" rIns="0" bIns="0" rtlCol="0" anchor="ctr"/>
          <a:lstStyle/>
          <a:p>
            <a:pPr marL="0" indent="0">
              <a:lnSpc>
                <a:spcPts val="1300"/>
              </a:lnSpc>
              <a:buNone/>
            </a:pPr>
            <a:r>
              <a:rPr lang="en-US" sz="1080" dirty="0">
                <a:solidFill>
                  <a:srgbClr val="5A6B7B"/>
                </a:solidFill>
                <a:latin typeface="Calibri" pitchFamily="34" charset="0"/>
                <a:ea typeface="Calibri" pitchFamily="34" charset="-122"/>
                <a:cs typeface="Calibri" pitchFamily="34" charset="-120"/>
              </a:rPr>
              <a:t>Runs workshops, elicits requirements, translates business language into technical delivery</a:t>
            </a:r>
            <a:endParaRPr lang="en-US" sz="1080" dirty="0"/>
          </a:p>
        </p:txBody>
      </p:sp>
      <p:sp>
        <p:nvSpPr>
          <p:cNvPr id="34" name="Shape 32"/>
          <p:cNvSpPr/>
          <p:nvPr/>
        </p:nvSpPr>
        <p:spPr>
          <a:xfrm>
            <a:off x="6635344" y="5321808"/>
            <a:ext cx="329184" cy="329184"/>
          </a:xfrm>
          <a:prstGeom prst="ellipse">
            <a:avLst/>
          </a:prstGeom>
          <a:solidFill>
            <a:srgbClr val="00A9E0"/>
          </a:solidFill>
          <a:ln w="12700">
            <a:solidFill>
              <a:srgbClr val="00A9E0"/>
            </a:solidFill>
            <a:prstDash val="solid"/>
          </a:ln>
        </p:spPr>
      </p:sp>
      <p:sp>
        <p:nvSpPr>
          <p:cNvPr id="35" name="Text 33"/>
          <p:cNvSpPr/>
          <p:nvPr/>
        </p:nvSpPr>
        <p:spPr>
          <a:xfrm>
            <a:off x="6635344" y="5321808"/>
            <a:ext cx="329184" cy="329184"/>
          </a:xfrm>
          <a:prstGeom prst="rect">
            <a:avLst/>
          </a:prstGeom>
          <a:noFill/>
          <a:ln/>
        </p:spPr>
        <p:txBody>
          <a:bodyPr wrap="square" lIns="0" tIns="0" rIns="0" bIns="0" rtlCol="0" anchor="ctr"/>
          <a:lstStyle/>
          <a:p>
            <a:pPr marL="0" indent="0" algn="ctr">
              <a:buNone/>
            </a:pPr>
            <a:r>
              <a:rPr lang="en-US" sz="1200" b="1" dirty="0">
                <a:solidFill>
                  <a:srgbClr val="0A2240"/>
                </a:solidFill>
                <a:latin typeface="Calibri" pitchFamily="34" charset="0"/>
                <a:ea typeface="Calibri" pitchFamily="34" charset="-122"/>
                <a:cs typeface="Calibri" pitchFamily="34" charset="-120"/>
              </a:rPr>
              <a:t>✓</a:t>
            </a:r>
            <a:endParaRPr lang="en-US" sz="1200" dirty="0"/>
          </a:p>
        </p:txBody>
      </p:sp>
      <p:sp>
        <p:nvSpPr>
          <p:cNvPr id="36" name="Text 34"/>
          <p:cNvSpPr/>
          <p:nvPr/>
        </p:nvSpPr>
        <p:spPr>
          <a:xfrm>
            <a:off x="7074256" y="5248656"/>
            <a:ext cx="1600200" cy="502920"/>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Ownership</a:t>
            </a:r>
            <a:endParaRPr lang="en-US" sz="1150" dirty="0"/>
          </a:p>
        </p:txBody>
      </p:sp>
      <p:sp>
        <p:nvSpPr>
          <p:cNvPr id="37" name="Text 35"/>
          <p:cNvSpPr/>
          <p:nvPr/>
        </p:nvSpPr>
        <p:spPr>
          <a:xfrm>
            <a:off x="8720176" y="5248656"/>
            <a:ext cx="2611984" cy="502920"/>
          </a:xfrm>
          <a:prstGeom prst="rect">
            <a:avLst/>
          </a:prstGeom>
          <a:noFill/>
          <a:ln/>
        </p:spPr>
        <p:txBody>
          <a:bodyPr wrap="square" lIns="0" tIns="0" rIns="0" bIns="0" rtlCol="0" anchor="ctr"/>
          <a:lstStyle/>
          <a:p>
            <a:pPr marL="0" indent="0">
              <a:lnSpc>
                <a:spcPts val="1300"/>
              </a:lnSpc>
              <a:buNone/>
            </a:pPr>
            <a:r>
              <a:rPr lang="en-US" sz="1080" dirty="0">
                <a:solidFill>
                  <a:srgbClr val="5A6B7B"/>
                </a:solidFill>
                <a:latin typeface="Calibri" pitchFamily="34" charset="0"/>
                <a:ea typeface="Calibri" pitchFamily="34" charset="-122"/>
                <a:cs typeface="Calibri" pitchFamily="34" charset="-120"/>
              </a:rPr>
              <a:t>Accountable for the outcome after go-live, including the pager</a:t>
            </a:r>
            <a:endParaRPr lang="en-US" sz="10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7</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Bringing FDE roles into Ball</a:t>
            </a:r>
            <a:endParaRPr lang="en-US" sz="3400" dirty="0"/>
          </a:p>
        </p:txBody>
      </p:sp>
      <p:sp>
        <p:nvSpPr>
          <p:cNvPr id="4" name="Text 2"/>
          <p:cNvSpPr/>
          <p:nvPr/>
        </p:nvSpPr>
        <p:spPr>
          <a:xfrm>
            <a:off x="548640" y="1280160"/>
            <a:ext cx="11094415" cy="292608"/>
          </a:xfrm>
          <a:prstGeom prst="rect">
            <a:avLst/>
          </a:prstGeom>
          <a:noFill/>
          <a:ln/>
        </p:spPr>
        <p:txBody>
          <a:bodyPr wrap="square" lIns="0" tIns="0" rIns="0" bIns="0" rtlCol="0" anchor="ctr"/>
          <a:lstStyle/>
          <a:p>
            <a:pPr marL="0" indent="0">
              <a:buNone/>
            </a:pPr>
            <a:r>
              <a:rPr lang="en-US" sz="1250" i="1" dirty="0">
                <a:solidFill>
                  <a:srgbClr val="5A6B7B"/>
                </a:solidFill>
                <a:latin typeface="Calibri" pitchFamily="34" charset="0"/>
                <a:ea typeface="Calibri" pitchFamily="34" charset="-122"/>
                <a:cs typeface="Calibri" pitchFamily="34" charset="-120"/>
              </a:rPr>
              <a:t>The role is scarce in the market — so build it internally and hire selectively at the senior end.</a:t>
            </a:r>
            <a:endParaRPr lang="en-US" sz="1250" dirty="0"/>
          </a:p>
        </p:txBody>
      </p:sp>
      <p:sp>
        <p:nvSpPr>
          <p:cNvPr id="5" name="Text 3"/>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6" name="Text 4"/>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25</a:t>
            </a:r>
            <a:endParaRPr lang="en-US" sz="900" dirty="0"/>
          </a:p>
        </p:txBody>
      </p:sp>
      <p:graphicFrame>
        <p:nvGraphicFramePr>
          <p:cNvPr id="7" name="Chart 0"/>
          <p:cNvGraphicFramePr/>
          <p:nvPr/>
        </p:nvGraphicFramePr>
        <p:xfrm>
          <a:off x="548640" y="1737360"/>
          <a:ext cx="374904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548640" y="4864608"/>
            <a:ext cx="3749040" cy="640080"/>
          </a:xfrm>
          <a:prstGeom prst="rect">
            <a:avLst/>
          </a:prstGeom>
          <a:noFill/>
          <a:ln/>
        </p:spPr>
        <p:txBody>
          <a:bodyPr wrap="square" lIns="0" tIns="0" rIns="0" bIns="0" rtlCol="0" anchor="t"/>
          <a:lstStyle/>
          <a:p>
            <a:pPr marL="0" indent="0">
              <a:lnSpc>
                <a:spcPts val="1300"/>
              </a:lnSpc>
              <a:buNone/>
            </a:pPr>
            <a:r>
              <a:rPr lang="en-US" sz="1000" i="1" dirty="0">
                <a:solidFill>
                  <a:srgbClr val="5A6B7B"/>
                </a:solidFill>
                <a:latin typeface="Calibri" pitchFamily="34" charset="0"/>
                <a:ea typeface="Calibri" pitchFamily="34" charset="-122"/>
                <a:cs typeface="Calibri" pitchFamily="34" charset="-120"/>
              </a:rPr>
              <a:t>Indeed postings, US. A ~729% year-on-year increase — competing for this talent on the open market is the slowest available path.</a:t>
            </a:r>
            <a:endParaRPr lang="en-US" sz="1000" dirty="0"/>
          </a:p>
        </p:txBody>
      </p:sp>
      <p:sp>
        <p:nvSpPr>
          <p:cNvPr id="9" name="Shape 6"/>
          <p:cNvSpPr/>
          <p:nvPr/>
        </p:nvSpPr>
        <p:spPr>
          <a:xfrm>
            <a:off x="4572000" y="1737360"/>
            <a:ext cx="3389224" cy="1371600"/>
          </a:xfrm>
          <a:prstGeom prst="roundRect">
            <a:avLst>
              <a:gd name="adj" fmla="val 5333"/>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0" name="Shape 7"/>
          <p:cNvSpPr/>
          <p:nvPr/>
        </p:nvSpPr>
        <p:spPr>
          <a:xfrm>
            <a:off x="4791456" y="1865376"/>
            <a:ext cx="347472" cy="347472"/>
          </a:xfrm>
          <a:prstGeom prst="ellipse">
            <a:avLst/>
          </a:prstGeom>
          <a:solidFill>
            <a:srgbClr val="00A9E0"/>
          </a:solidFill>
          <a:ln w="12700">
            <a:solidFill>
              <a:srgbClr val="00A9E0"/>
            </a:solidFill>
            <a:prstDash val="solid"/>
          </a:ln>
        </p:spPr>
      </p:sp>
      <p:sp>
        <p:nvSpPr>
          <p:cNvPr id="11" name="Text 8"/>
          <p:cNvSpPr/>
          <p:nvPr/>
        </p:nvSpPr>
        <p:spPr>
          <a:xfrm>
            <a:off x="4791456" y="1865376"/>
            <a:ext cx="347472" cy="347472"/>
          </a:xfrm>
          <a:prstGeom prst="rect">
            <a:avLst/>
          </a:prstGeom>
          <a:noFill/>
          <a:ln/>
        </p:spPr>
        <p:txBody>
          <a:bodyPr wrap="square" lIns="0" tIns="0" rIns="0" bIns="0" rtlCol="0" anchor="ctr"/>
          <a:lstStyle/>
          <a:p>
            <a:pPr marL="0" indent="0" algn="ctr">
              <a:buNone/>
            </a:pPr>
            <a:r>
              <a:rPr lang="en-US" sz="1150" b="1" dirty="0">
                <a:solidFill>
                  <a:srgbClr val="0A2240"/>
                </a:solidFill>
                <a:latin typeface="Calibri" pitchFamily="34" charset="0"/>
                <a:ea typeface="Calibri" pitchFamily="34" charset="-122"/>
                <a:cs typeface="Calibri" pitchFamily="34" charset="-120"/>
              </a:rPr>
              <a:t>1</a:t>
            </a:r>
            <a:endParaRPr lang="en-US" sz="1150" dirty="0"/>
          </a:p>
        </p:txBody>
      </p:sp>
      <p:sp>
        <p:nvSpPr>
          <p:cNvPr id="12" name="Text 9"/>
          <p:cNvSpPr/>
          <p:nvPr/>
        </p:nvSpPr>
        <p:spPr>
          <a:xfrm>
            <a:off x="5230368" y="1865376"/>
            <a:ext cx="2511400" cy="347472"/>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Define the role formally</a:t>
            </a:r>
            <a:endParaRPr lang="en-US" sz="1300" dirty="0"/>
          </a:p>
        </p:txBody>
      </p:sp>
      <p:sp>
        <p:nvSpPr>
          <p:cNvPr id="13" name="Text 10"/>
          <p:cNvSpPr/>
          <p:nvPr/>
        </p:nvSpPr>
        <p:spPr>
          <a:xfrm>
            <a:off x="4809744" y="2249424"/>
            <a:ext cx="2913736" cy="749808"/>
          </a:xfrm>
          <a:prstGeom prst="rect">
            <a:avLst/>
          </a:prstGeom>
          <a:noFill/>
          <a:ln/>
        </p:spPr>
        <p:txBody>
          <a:bodyPr wrap="square" lIns="0" tIns="0" rIns="0" bIns="0" rtlCol="0" anchor="t"/>
          <a:lstStyle/>
          <a:p>
            <a:pPr marL="0" indent="0">
              <a:lnSpc>
                <a:spcPts val="1300"/>
              </a:lnSpc>
              <a:buNone/>
            </a:pPr>
            <a:r>
              <a:rPr lang="en-US" sz="1020" dirty="0">
                <a:solidFill>
                  <a:srgbClr val="5A6B7B"/>
                </a:solidFill>
                <a:latin typeface="Calibri" pitchFamily="34" charset="0"/>
                <a:ea typeface="Calibri" pitchFamily="34" charset="-122"/>
                <a:cs typeface="Calibri" pitchFamily="34" charset="-120"/>
              </a:rPr>
              <a:t>Job family, levelling, compensation band and career path agreed with HR before anyone is recruited. Without a defined path the role decays into 'senior developer on loan'.</a:t>
            </a:r>
            <a:endParaRPr lang="en-US" sz="1020" dirty="0"/>
          </a:p>
        </p:txBody>
      </p:sp>
      <p:sp>
        <p:nvSpPr>
          <p:cNvPr id="14" name="Shape 11"/>
          <p:cNvSpPr/>
          <p:nvPr/>
        </p:nvSpPr>
        <p:spPr>
          <a:xfrm>
            <a:off x="8253832" y="1737360"/>
            <a:ext cx="3389224" cy="1371600"/>
          </a:xfrm>
          <a:prstGeom prst="roundRect">
            <a:avLst>
              <a:gd name="adj" fmla="val 5333"/>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5" name="Shape 12"/>
          <p:cNvSpPr/>
          <p:nvPr/>
        </p:nvSpPr>
        <p:spPr>
          <a:xfrm>
            <a:off x="8473288" y="1865376"/>
            <a:ext cx="347472" cy="347472"/>
          </a:xfrm>
          <a:prstGeom prst="ellipse">
            <a:avLst/>
          </a:prstGeom>
          <a:solidFill>
            <a:srgbClr val="00A9E0"/>
          </a:solidFill>
          <a:ln w="12700">
            <a:solidFill>
              <a:srgbClr val="00A9E0"/>
            </a:solidFill>
            <a:prstDash val="solid"/>
          </a:ln>
        </p:spPr>
      </p:sp>
      <p:sp>
        <p:nvSpPr>
          <p:cNvPr id="16" name="Text 13"/>
          <p:cNvSpPr/>
          <p:nvPr/>
        </p:nvSpPr>
        <p:spPr>
          <a:xfrm>
            <a:off x="8473288" y="1865376"/>
            <a:ext cx="347472" cy="347472"/>
          </a:xfrm>
          <a:prstGeom prst="rect">
            <a:avLst/>
          </a:prstGeom>
          <a:noFill/>
          <a:ln/>
        </p:spPr>
        <p:txBody>
          <a:bodyPr wrap="square" lIns="0" tIns="0" rIns="0" bIns="0" rtlCol="0" anchor="ctr"/>
          <a:lstStyle/>
          <a:p>
            <a:pPr marL="0" indent="0" algn="ctr">
              <a:buNone/>
            </a:pPr>
            <a:r>
              <a:rPr lang="en-US" sz="1150" b="1" dirty="0">
                <a:solidFill>
                  <a:srgbClr val="0A2240"/>
                </a:solidFill>
                <a:latin typeface="Calibri" pitchFamily="34" charset="0"/>
                <a:ea typeface="Calibri" pitchFamily="34" charset="-122"/>
                <a:cs typeface="Calibri" pitchFamily="34" charset="-120"/>
              </a:rPr>
              <a:t>2</a:t>
            </a:r>
            <a:endParaRPr lang="en-US" sz="1150" dirty="0"/>
          </a:p>
        </p:txBody>
      </p:sp>
      <p:sp>
        <p:nvSpPr>
          <p:cNvPr id="17" name="Text 14"/>
          <p:cNvSpPr/>
          <p:nvPr/>
        </p:nvSpPr>
        <p:spPr>
          <a:xfrm>
            <a:off x="8912200" y="1865376"/>
            <a:ext cx="2511400" cy="347472"/>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Seed with two senior hires</a:t>
            </a:r>
            <a:endParaRPr lang="en-US" sz="1300" dirty="0"/>
          </a:p>
        </p:txBody>
      </p:sp>
      <p:sp>
        <p:nvSpPr>
          <p:cNvPr id="18" name="Text 15"/>
          <p:cNvSpPr/>
          <p:nvPr/>
        </p:nvSpPr>
        <p:spPr>
          <a:xfrm>
            <a:off x="8491576" y="2249424"/>
            <a:ext cx="2913736" cy="749808"/>
          </a:xfrm>
          <a:prstGeom prst="rect">
            <a:avLst/>
          </a:prstGeom>
          <a:noFill/>
          <a:ln/>
        </p:spPr>
        <p:txBody>
          <a:bodyPr wrap="square" lIns="0" tIns="0" rIns="0" bIns="0" rtlCol="0" anchor="t"/>
          <a:lstStyle/>
          <a:p>
            <a:pPr marL="0" indent="0">
              <a:lnSpc>
                <a:spcPts val="1300"/>
              </a:lnSpc>
              <a:buNone/>
            </a:pPr>
            <a:r>
              <a:rPr lang="en-US" sz="1020" dirty="0">
                <a:solidFill>
                  <a:srgbClr val="5A6B7B"/>
                </a:solidFill>
                <a:latin typeface="Calibri" pitchFamily="34" charset="0"/>
                <a:ea typeface="Calibri" pitchFamily="34" charset="-122"/>
                <a:cs typeface="Calibri" pitchFamily="34" charset="-120"/>
              </a:rPr>
              <a:t>Hire externally only at the top of the range, for people who have shipped agentic systems in a regulated or industrial setting. They set the bar and mentor.</a:t>
            </a:r>
            <a:endParaRPr lang="en-US" sz="1020" dirty="0"/>
          </a:p>
        </p:txBody>
      </p:sp>
      <p:sp>
        <p:nvSpPr>
          <p:cNvPr id="19" name="Shape 16"/>
          <p:cNvSpPr/>
          <p:nvPr/>
        </p:nvSpPr>
        <p:spPr>
          <a:xfrm>
            <a:off x="4572000" y="3218688"/>
            <a:ext cx="3389224" cy="1371600"/>
          </a:xfrm>
          <a:prstGeom prst="roundRect">
            <a:avLst>
              <a:gd name="adj" fmla="val 5333"/>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0" name="Shape 17"/>
          <p:cNvSpPr/>
          <p:nvPr/>
        </p:nvSpPr>
        <p:spPr>
          <a:xfrm>
            <a:off x="4791456" y="3346704"/>
            <a:ext cx="347472" cy="347472"/>
          </a:xfrm>
          <a:prstGeom prst="ellipse">
            <a:avLst/>
          </a:prstGeom>
          <a:solidFill>
            <a:srgbClr val="00A9E0"/>
          </a:solidFill>
          <a:ln w="12700">
            <a:solidFill>
              <a:srgbClr val="00A9E0"/>
            </a:solidFill>
            <a:prstDash val="solid"/>
          </a:ln>
        </p:spPr>
      </p:sp>
      <p:sp>
        <p:nvSpPr>
          <p:cNvPr id="21" name="Text 18"/>
          <p:cNvSpPr/>
          <p:nvPr/>
        </p:nvSpPr>
        <p:spPr>
          <a:xfrm>
            <a:off x="4791456" y="3346704"/>
            <a:ext cx="347472" cy="347472"/>
          </a:xfrm>
          <a:prstGeom prst="rect">
            <a:avLst/>
          </a:prstGeom>
          <a:noFill/>
          <a:ln/>
        </p:spPr>
        <p:txBody>
          <a:bodyPr wrap="square" lIns="0" tIns="0" rIns="0" bIns="0" rtlCol="0" anchor="ctr"/>
          <a:lstStyle/>
          <a:p>
            <a:pPr marL="0" indent="0" algn="ctr">
              <a:buNone/>
            </a:pPr>
            <a:r>
              <a:rPr lang="en-US" sz="1150" b="1" dirty="0">
                <a:solidFill>
                  <a:srgbClr val="0A2240"/>
                </a:solidFill>
                <a:latin typeface="Calibri" pitchFamily="34" charset="0"/>
                <a:ea typeface="Calibri" pitchFamily="34" charset="-122"/>
                <a:cs typeface="Calibri" pitchFamily="34" charset="-120"/>
              </a:rPr>
              <a:t>3</a:t>
            </a:r>
            <a:endParaRPr lang="en-US" sz="1150" dirty="0"/>
          </a:p>
        </p:txBody>
      </p:sp>
      <p:sp>
        <p:nvSpPr>
          <p:cNvPr id="22" name="Text 19"/>
          <p:cNvSpPr/>
          <p:nvPr/>
        </p:nvSpPr>
        <p:spPr>
          <a:xfrm>
            <a:off x="5230368" y="3346704"/>
            <a:ext cx="2511400" cy="347472"/>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Convert from within</a:t>
            </a:r>
            <a:endParaRPr lang="en-US" sz="1300" dirty="0"/>
          </a:p>
        </p:txBody>
      </p:sp>
      <p:sp>
        <p:nvSpPr>
          <p:cNvPr id="23" name="Text 20"/>
          <p:cNvSpPr/>
          <p:nvPr/>
        </p:nvSpPr>
        <p:spPr>
          <a:xfrm>
            <a:off x="4809744" y="3730752"/>
            <a:ext cx="2913736" cy="749808"/>
          </a:xfrm>
          <a:prstGeom prst="rect">
            <a:avLst/>
          </a:prstGeom>
          <a:noFill/>
          <a:ln/>
        </p:spPr>
        <p:txBody>
          <a:bodyPr wrap="square" lIns="0" tIns="0" rIns="0" bIns="0" rtlCol="0" anchor="t"/>
          <a:lstStyle/>
          <a:p>
            <a:pPr marL="0" indent="0">
              <a:lnSpc>
                <a:spcPts val="1300"/>
              </a:lnSpc>
              <a:buNone/>
            </a:pPr>
            <a:r>
              <a:rPr lang="en-US" sz="1020" dirty="0">
                <a:solidFill>
                  <a:srgbClr val="5A6B7B"/>
                </a:solidFill>
                <a:latin typeface="Calibri" pitchFamily="34" charset="0"/>
                <a:ea typeface="Calibri" pitchFamily="34" charset="-122"/>
                <a:cs typeface="Calibri" pitchFamily="34" charset="-120"/>
              </a:rPr>
              <a:t>Identify internal engineers with deep JDE, Databricks, MES or QA knowledge and put them through a structured FDE enablement track. Ball knowledge is the harder half of the job.</a:t>
            </a:r>
            <a:endParaRPr lang="en-US" sz="1020" dirty="0"/>
          </a:p>
        </p:txBody>
      </p:sp>
      <p:sp>
        <p:nvSpPr>
          <p:cNvPr id="24" name="Shape 21"/>
          <p:cNvSpPr/>
          <p:nvPr/>
        </p:nvSpPr>
        <p:spPr>
          <a:xfrm>
            <a:off x="8253832" y="3218688"/>
            <a:ext cx="3389224" cy="1371600"/>
          </a:xfrm>
          <a:prstGeom prst="roundRect">
            <a:avLst>
              <a:gd name="adj" fmla="val 5333"/>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5" name="Shape 22"/>
          <p:cNvSpPr/>
          <p:nvPr/>
        </p:nvSpPr>
        <p:spPr>
          <a:xfrm>
            <a:off x="8473288" y="3346704"/>
            <a:ext cx="347472" cy="347472"/>
          </a:xfrm>
          <a:prstGeom prst="ellipse">
            <a:avLst/>
          </a:prstGeom>
          <a:solidFill>
            <a:srgbClr val="00A9E0"/>
          </a:solidFill>
          <a:ln w="12700">
            <a:solidFill>
              <a:srgbClr val="00A9E0"/>
            </a:solidFill>
            <a:prstDash val="solid"/>
          </a:ln>
        </p:spPr>
      </p:sp>
      <p:sp>
        <p:nvSpPr>
          <p:cNvPr id="26" name="Text 23"/>
          <p:cNvSpPr/>
          <p:nvPr/>
        </p:nvSpPr>
        <p:spPr>
          <a:xfrm>
            <a:off x="8473288" y="3346704"/>
            <a:ext cx="347472" cy="347472"/>
          </a:xfrm>
          <a:prstGeom prst="rect">
            <a:avLst/>
          </a:prstGeom>
          <a:noFill/>
          <a:ln/>
        </p:spPr>
        <p:txBody>
          <a:bodyPr wrap="square" lIns="0" tIns="0" rIns="0" bIns="0" rtlCol="0" anchor="ctr"/>
          <a:lstStyle/>
          <a:p>
            <a:pPr marL="0" indent="0" algn="ctr">
              <a:buNone/>
            </a:pPr>
            <a:r>
              <a:rPr lang="en-US" sz="1150" b="1" dirty="0">
                <a:solidFill>
                  <a:srgbClr val="0A2240"/>
                </a:solidFill>
                <a:latin typeface="Calibri" pitchFamily="34" charset="0"/>
                <a:ea typeface="Calibri" pitchFamily="34" charset="-122"/>
                <a:cs typeface="Calibri" pitchFamily="34" charset="-120"/>
              </a:rPr>
              <a:t>4</a:t>
            </a:r>
            <a:endParaRPr lang="en-US" sz="1150" dirty="0"/>
          </a:p>
        </p:txBody>
      </p:sp>
      <p:sp>
        <p:nvSpPr>
          <p:cNvPr id="27" name="Text 24"/>
          <p:cNvSpPr/>
          <p:nvPr/>
        </p:nvSpPr>
        <p:spPr>
          <a:xfrm>
            <a:off x="8912200" y="3346704"/>
            <a:ext cx="2511400" cy="347472"/>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Deploy as pods, not individuals</a:t>
            </a:r>
            <a:endParaRPr lang="en-US" sz="1300" dirty="0"/>
          </a:p>
        </p:txBody>
      </p:sp>
      <p:sp>
        <p:nvSpPr>
          <p:cNvPr id="28" name="Text 25"/>
          <p:cNvSpPr/>
          <p:nvPr/>
        </p:nvSpPr>
        <p:spPr>
          <a:xfrm>
            <a:off x="8491576" y="3730752"/>
            <a:ext cx="2913736" cy="749808"/>
          </a:xfrm>
          <a:prstGeom prst="rect">
            <a:avLst/>
          </a:prstGeom>
          <a:noFill/>
          <a:ln/>
        </p:spPr>
        <p:txBody>
          <a:bodyPr wrap="square" lIns="0" tIns="0" rIns="0" bIns="0" rtlCol="0" anchor="t"/>
          <a:lstStyle/>
          <a:p>
            <a:pPr marL="0" indent="0">
              <a:lnSpc>
                <a:spcPts val="1300"/>
              </a:lnSpc>
              <a:buNone/>
            </a:pPr>
            <a:r>
              <a:rPr lang="en-US" sz="1020" dirty="0">
                <a:solidFill>
                  <a:srgbClr val="5A6B7B"/>
                </a:solidFill>
                <a:latin typeface="Calibri" pitchFamily="34" charset="0"/>
                <a:ea typeface="Calibri" pitchFamily="34" charset="-122"/>
                <a:cs typeface="Calibri" pitchFamily="34" charset="-120"/>
              </a:rPr>
              <a:t>Two FDEs plus a context engineer, embedded with a domain product owner. Never a single engineer alone in a business unit.</a:t>
            </a:r>
            <a:endParaRPr lang="en-US" sz="1020" dirty="0"/>
          </a:p>
        </p:txBody>
      </p:sp>
      <p:sp>
        <p:nvSpPr>
          <p:cNvPr id="29" name="Shape 26"/>
          <p:cNvSpPr/>
          <p:nvPr/>
        </p:nvSpPr>
        <p:spPr>
          <a:xfrm>
            <a:off x="4572000" y="4700016"/>
            <a:ext cx="3389224" cy="1371600"/>
          </a:xfrm>
          <a:prstGeom prst="roundRect">
            <a:avLst>
              <a:gd name="adj" fmla="val 5333"/>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30" name="Shape 27"/>
          <p:cNvSpPr/>
          <p:nvPr/>
        </p:nvSpPr>
        <p:spPr>
          <a:xfrm>
            <a:off x="4791456" y="4828032"/>
            <a:ext cx="347472" cy="347472"/>
          </a:xfrm>
          <a:prstGeom prst="ellipse">
            <a:avLst/>
          </a:prstGeom>
          <a:solidFill>
            <a:srgbClr val="00A9E0"/>
          </a:solidFill>
          <a:ln w="12700">
            <a:solidFill>
              <a:srgbClr val="00A9E0"/>
            </a:solidFill>
            <a:prstDash val="solid"/>
          </a:ln>
        </p:spPr>
      </p:sp>
      <p:sp>
        <p:nvSpPr>
          <p:cNvPr id="31" name="Text 28"/>
          <p:cNvSpPr/>
          <p:nvPr/>
        </p:nvSpPr>
        <p:spPr>
          <a:xfrm>
            <a:off x="4791456" y="4828032"/>
            <a:ext cx="347472" cy="347472"/>
          </a:xfrm>
          <a:prstGeom prst="rect">
            <a:avLst/>
          </a:prstGeom>
          <a:noFill/>
          <a:ln/>
        </p:spPr>
        <p:txBody>
          <a:bodyPr wrap="square" lIns="0" tIns="0" rIns="0" bIns="0" rtlCol="0" anchor="ctr"/>
          <a:lstStyle/>
          <a:p>
            <a:pPr marL="0" indent="0" algn="ctr">
              <a:buNone/>
            </a:pPr>
            <a:r>
              <a:rPr lang="en-US" sz="1150" b="1" dirty="0">
                <a:solidFill>
                  <a:srgbClr val="0A2240"/>
                </a:solidFill>
                <a:latin typeface="Calibri" pitchFamily="34" charset="0"/>
                <a:ea typeface="Calibri" pitchFamily="34" charset="-122"/>
                <a:cs typeface="Calibri" pitchFamily="34" charset="-120"/>
              </a:rPr>
              <a:t>5</a:t>
            </a:r>
            <a:endParaRPr lang="en-US" sz="1150" dirty="0"/>
          </a:p>
        </p:txBody>
      </p:sp>
      <p:sp>
        <p:nvSpPr>
          <p:cNvPr id="32" name="Text 29"/>
          <p:cNvSpPr/>
          <p:nvPr/>
        </p:nvSpPr>
        <p:spPr>
          <a:xfrm>
            <a:off x="5230368" y="4828032"/>
            <a:ext cx="2511400" cy="347472"/>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Rotate deliberately</a:t>
            </a:r>
            <a:endParaRPr lang="en-US" sz="1300" dirty="0"/>
          </a:p>
        </p:txBody>
      </p:sp>
      <p:sp>
        <p:nvSpPr>
          <p:cNvPr id="33" name="Text 30"/>
          <p:cNvSpPr/>
          <p:nvPr/>
        </p:nvSpPr>
        <p:spPr>
          <a:xfrm>
            <a:off x="4809744" y="5212080"/>
            <a:ext cx="2913736" cy="749808"/>
          </a:xfrm>
          <a:prstGeom prst="rect">
            <a:avLst/>
          </a:prstGeom>
          <a:noFill/>
          <a:ln/>
        </p:spPr>
        <p:txBody>
          <a:bodyPr wrap="square" lIns="0" tIns="0" rIns="0" bIns="0" rtlCol="0" anchor="t"/>
          <a:lstStyle/>
          <a:p>
            <a:pPr marL="0" indent="0">
              <a:lnSpc>
                <a:spcPts val="1300"/>
              </a:lnSpc>
              <a:buNone/>
            </a:pPr>
            <a:r>
              <a:rPr lang="en-US" sz="1020" dirty="0">
                <a:solidFill>
                  <a:srgbClr val="5A6B7B"/>
                </a:solidFill>
                <a:latin typeface="Calibri" pitchFamily="34" charset="0"/>
                <a:ea typeface="Calibri" pitchFamily="34" charset="-122"/>
                <a:cs typeface="Calibri" pitchFamily="34" charset="-120"/>
              </a:rPr>
              <a:t>Time-boxed placements with a hand-back to a named domain owner. Rotation prevents dependency and spreads platform standards.</a:t>
            </a:r>
            <a:endParaRPr lang="en-US" sz="1020" dirty="0"/>
          </a:p>
        </p:txBody>
      </p:sp>
      <p:sp>
        <p:nvSpPr>
          <p:cNvPr id="34" name="Shape 31"/>
          <p:cNvSpPr/>
          <p:nvPr/>
        </p:nvSpPr>
        <p:spPr>
          <a:xfrm>
            <a:off x="8253832" y="4700016"/>
            <a:ext cx="3389224" cy="1371600"/>
          </a:xfrm>
          <a:prstGeom prst="roundRect">
            <a:avLst>
              <a:gd name="adj" fmla="val 5333"/>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35" name="Shape 32"/>
          <p:cNvSpPr/>
          <p:nvPr/>
        </p:nvSpPr>
        <p:spPr>
          <a:xfrm>
            <a:off x="8473288" y="4828032"/>
            <a:ext cx="347472" cy="347472"/>
          </a:xfrm>
          <a:prstGeom prst="ellipse">
            <a:avLst/>
          </a:prstGeom>
          <a:solidFill>
            <a:srgbClr val="00A9E0"/>
          </a:solidFill>
          <a:ln w="12700">
            <a:solidFill>
              <a:srgbClr val="00A9E0"/>
            </a:solidFill>
            <a:prstDash val="solid"/>
          </a:ln>
        </p:spPr>
      </p:sp>
      <p:sp>
        <p:nvSpPr>
          <p:cNvPr id="36" name="Text 33"/>
          <p:cNvSpPr/>
          <p:nvPr/>
        </p:nvSpPr>
        <p:spPr>
          <a:xfrm>
            <a:off x="8473288" y="4828032"/>
            <a:ext cx="347472" cy="347472"/>
          </a:xfrm>
          <a:prstGeom prst="rect">
            <a:avLst/>
          </a:prstGeom>
          <a:noFill/>
          <a:ln/>
        </p:spPr>
        <p:txBody>
          <a:bodyPr wrap="square" lIns="0" tIns="0" rIns="0" bIns="0" rtlCol="0" anchor="ctr"/>
          <a:lstStyle/>
          <a:p>
            <a:pPr marL="0" indent="0" algn="ctr">
              <a:buNone/>
            </a:pPr>
            <a:r>
              <a:rPr lang="en-US" sz="1150" b="1" dirty="0">
                <a:solidFill>
                  <a:srgbClr val="0A2240"/>
                </a:solidFill>
                <a:latin typeface="Calibri" pitchFamily="34" charset="0"/>
                <a:ea typeface="Calibri" pitchFamily="34" charset="-122"/>
                <a:cs typeface="Calibri" pitchFamily="34" charset="-120"/>
              </a:rPr>
              <a:t>6</a:t>
            </a:r>
            <a:endParaRPr lang="en-US" sz="1150" dirty="0"/>
          </a:p>
        </p:txBody>
      </p:sp>
      <p:sp>
        <p:nvSpPr>
          <p:cNvPr id="37" name="Text 34"/>
          <p:cNvSpPr/>
          <p:nvPr/>
        </p:nvSpPr>
        <p:spPr>
          <a:xfrm>
            <a:off x="8912200" y="4828032"/>
            <a:ext cx="2511400" cy="347472"/>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Measure outcomes, not activity</a:t>
            </a:r>
            <a:endParaRPr lang="en-US" sz="1300" dirty="0"/>
          </a:p>
        </p:txBody>
      </p:sp>
      <p:sp>
        <p:nvSpPr>
          <p:cNvPr id="38" name="Text 35"/>
          <p:cNvSpPr/>
          <p:nvPr/>
        </p:nvSpPr>
        <p:spPr>
          <a:xfrm>
            <a:off x="8491576" y="5212080"/>
            <a:ext cx="2913736" cy="749808"/>
          </a:xfrm>
          <a:prstGeom prst="rect">
            <a:avLst/>
          </a:prstGeom>
          <a:noFill/>
          <a:ln/>
        </p:spPr>
        <p:txBody>
          <a:bodyPr wrap="square" lIns="0" tIns="0" rIns="0" bIns="0" rtlCol="0" anchor="t"/>
          <a:lstStyle/>
          <a:p>
            <a:pPr marL="0" indent="0">
              <a:lnSpc>
                <a:spcPts val="1300"/>
              </a:lnSpc>
              <a:buNone/>
            </a:pPr>
            <a:r>
              <a:rPr lang="en-US" sz="1020" dirty="0">
                <a:solidFill>
                  <a:srgbClr val="5A6B7B"/>
                </a:solidFill>
                <a:latin typeface="Calibri" pitchFamily="34" charset="0"/>
                <a:ea typeface="Calibri" pitchFamily="34" charset="-122"/>
                <a:cs typeface="Calibri" pitchFamily="34" charset="-120"/>
              </a:rPr>
              <a:t>Pods are assessed on process metrics moved and systems in production — never on tickets closed or models deployed.</a:t>
            </a:r>
            <a:endParaRPr lang="en-US" sz="102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8</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Building the agentic mesh</a:t>
            </a:r>
            <a:endParaRPr lang="en-US" sz="3400" dirty="0"/>
          </a:p>
        </p:txBody>
      </p:sp>
      <p:sp>
        <p:nvSpPr>
          <p:cNvPr id="4" name="Text 2"/>
          <p:cNvSpPr/>
          <p:nvPr/>
        </p:nvSpPr>
        <p:spPr>
          <a:xfrm>
            <a:off x="548640" y="1280160"/>
            <a:ext cx="11094415" cy="292608"/>
          </a:xfrm>
          <a:prstGeom prst="rect">
            <a:avLst/>
          </a:prstGeom>
          <a:noFill/>
          <a:ln/>
        </p:spPr>
        <p:txBody>
          <a:bodyPr wrap="square" lIns="0" tIns="0" rIns="0" bIns="0" rtlCol="0" anchor="ctr"/>
          <a:lstStyle/>
          <a:p>
            <a:pPr marL="0" indent="0">
              <a:buNone/>
            </a:pPr>
            <a:r>
              <a:rPr lang="en-US" sz="1250" i="1" dirty="0">
                <a:solidFill>
                  <a:srgbClr val="5A6B7B"/>
                </a:solidFill>
                <a:latin typeface="Calibri" pitchFamily="34" charset="0"/>
                <a:ea typeface="Calibri" pitchFamily="34" charset="-122"/>
                <a:cs typeface="Calibri" pitchFamily="34" charset="-120"/>
              </a:rPr>
              <a:t>A unified runtime, control plane and trust framework for agents — the equivalent of what a service mesh did for microservices.</a:t>
            </a:r>
            <a:endParaRPr lang="en-US" sz="1250" dirty="0"/>
          </a:p>
        </p:txBody>
      </p:sp>
      <p:sp>
        <p:nvSpPr>
          <p:cNvPr id="5" name="Text 3"/>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6" name="Text 4"/>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26</a:t>
            </a:r>
            <a:endParaRPr lang="en-US" sz="900" dirty="0"/>
          </a:p>
        </p:txBody>
      </p:sp>
      <p:sp>
        <p:nvSpPr>
          <p:cNvPr id="7" name="Shape 5"/>
          <p:cNvSpPr/>
          <p:nvPr/>
        </p:nvSpPr>
        <p:spPr>
          <a:xfrm>
            <a:off x="548640" y="1700784"/>
            <a:ext cx="2834640" cy="603504"/>
          </a:xfrm>
          <a:prstGeom prst="roundRect">
            <a:avLst>
              <a:gd name="adj" fmla="val 9091"/>
            </a:avLst>
          </a:prstGeom>
          <a:solidFill>
            <a:srgbClr val="1B6CA8"/>
          </a:solidFill>
          <a:ln w="12700">
            <a:solidFill>
              <a:srgbClr val="333333"/>
            </a:solidFill>
            <a:prstDash val="solid"/>
          </a:ln>
        </p:spPr>
      </p:sp>
      <p:sp>
        <p:nvSpPr>
          <p:cNvPr id="8" name="Text 6"/>
          <p:cNvSpPr/>
          <p:nvPr/>
        </p:nvSpPr>
        <p:spPr>
          <a:xfrm>
            <a:off x="640080" y="1700784"/>
            <a:ext cx="2651760" cy="60350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Business workflows</a:t>
            </a:r>
            <a:endParaRPr lang="en-US" sz="1250" dirty="0"/>
          </a:p>
        </p:txBody>
      </p:sp>
      <p:sp>
        <p:nvSpPr>
          <p:cNvPr id="9" name="Shape 7"/>
          <p:cNvSpPr/>
          <p:nvPr/>
        </p:nvSpPr>
        <p:spPr>
          <a:xfrm>
            <a:off x="3529584" y="1700784"/>
            <a:ext cx="8113471" cy="603504"/>
          </a:xfrm>
          <a:prstGeom prst="roundRect">
            <a:avLst>
              <a:gd name="adj" fmla="val 9091"/>
            </a:avLst>
          </a:prstGeom>
          <a:solidFill>
            <a:srgbClr val="FFFFFF"/>
          </a:solidFill>
          <a:ln w="12700">
            <a:solidFill>
              <a:srgbClr val="E4EBF2"/>
            </a:solidFill>
            <a:prstDash val="solid"/>
          </a:ln>
        </p:spPr>
      </p:sp>
      <p:sp>
        <p:nvSpPr>
          <p:cNvPr id="10" name="Text 8"/>
          <p:cNvSpPr/>
          <p:nvPr/>
        </p:nvSpPr>
        <p:spPr>
          <a:xfrm>
            <a:off x="3712464" y="1700784"/>
            <a:ext cx="7711135" cy="603504"/>
          </a:xfrm>
          <a:prstGeom prst="rect">
            <a:avLst/>
          </a:prstGeom>
          <a:noFill/>
          <a:ln/>
        </p:spPr>
        <p:txBody>
          <a:bodyPr wrap="square" lIns="0" tIns="0" rIns="0" bIns="0" rtlCol="0" anchor="ctr"/>
          <a:lstStyle/>
          <a:p>
            <a:pPr marL="0" indent="0">
              <a:lnSpc>
                <a:spcPts val="1400"/>
              </a:lnSpc>
              <a:buNone/>
            </a:pPr>
            <a:r>
              <a:rPr lang="en-US" sz="1100" dirty="0">
                <a:solidFill>
                  <a:srgbClr val="16222E"/>
                </a:solidFill>
                <a:latin typeface="Calibri" pitchFamily="34" charset="0"/>
                <a:ea typeface="Calibri" pitchFamily="34" charset="-122"/>
                <a:cs typeface="Calibri" pitchFamily="34" charset="-120"/>
              </a:rPr>
              <a:t>Order-to-cash · plan-to-produce · quality management · maintenance · procurement · financial close</a:t>
            </a:r>
            <a:endParaRPr lang="en-US" sz="1100" dirty="0"/>
          </a:p>
        </p:txBody>
      </p:sp>
      <p:sp>
        <p:nvSpPr>
          <p:cNvPr id="11" name="Shape 9"/>
          <p:cNvSpPr/>
          <p:nvPr/>
        </p:nvSpPr>
        <p:spPr>
          <a:xfrm>
            <a:off x="548640" y="2391156"/>
            <a:ext cx="2834640" cy="603504"/>
          </a:xfrm>
          <a:prstGeom prst="roundRect">
            <a:avLst>
              <a:gd name="adj" fmla="val 9091"/>
            </a:avLst>
          </a:prstGeom>
          <a:solidFill>
            <a:srgbClr val="13355F"/>
          </a:solidFill>
          <a:ln w="12700">
            <a:solidFill>
              <a:srgbClr val="333333"/>
            </a:solidFill>
            <a:prstDash val="solid"/>
          </a:ln>
        </p:spPr>
      </p:sp>
      <p:sp>
        <p:nvSpPr>
          <p:cNvPr id="12" name="Text 10"/>
          <p:cNvSpPr/>
          <p:nvPr/>
        </p:nvSpPr>
        <p:spPr>
          <a:xfrm>
            <a:off x="640080" y="2391156"/>
            <a:ext cx="2651760" cy="60350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Agent registry &amp; discovery</a:t>
            </a:r>
            <a:endParaRPr lang="en-US" sz="1250" dirty="0"/>
          </a:p>
        </p:txBody>
      </p:sp>
      <p:sp>
        <p:nvSpPr>
          <p:cNvPr id="13" name="Shape 11"/>
          <p:cNvSpPr/>
          <p:nvPr/>
        </p:nvSpPr>
        <p:spPr>
          <a:xfrm>
            <a:off x="3529584" y="2391156"/>
            <a:ext cx="8113471" cy="603504"/>
          </a:xfrm>
          <a:prstGeom prst="roundRect">
            <a:avLst>
              <a:gd name="adj" fmla="val 9091"/>
            </a:avLst>
          </a:prstGeom>
          <a:solidFill>
            <a:srgbClr val="F1F5F9"/>
          </a:solidFill>
          <a:ln w="12700">
            <a:solidFill>
              <a:srgbClr val="E4EBF2"/>
            </a:solidFill>
            <a:prstDash val="solid"/>
          </a:ln>
        </p:spPr>
      </p:sp>
      <p:sp>
        <p:nvSpPr>
          <p:cNvPr id="14" name="Text 12"/>
          <p:cNvSpPr/>
          <p:nvPr/>
        </p:nvSpPr>
        <p:spPr>
          <a:xfrm>
            <a:off x="3712464" y="2391156"/>
            <a:ext cx="7711135" cy="603504"/>
          </a:xfrm>
          <a:prstGeom prst="rect">
            <a:avLst/>
          </a:prstGeom>
          <a:noFill/>
          <a:ln/>
        </p:spPr>
        <p:txBody>
          <a:bodyPr wrap="square" lIns="0" tIns="0" rIns="0" bIns="0" rtlCol="0" anchor="ctr"/>
          <a:lstStyle/>
          <a:p>
            <a:pPr marL="0" indent="0">
              <a:lnSpc>
                <a:spcPts val="1400"/>
              </a:lnSpc>
              <a:buNone/>
            </a:pPr>
            <a:r>
              <a:rPr lang="en-US" sz="1100" dirty="0">
                <a:solidFill>
                  <a:srgbClr val="16222E"/>
                </a:solidFill>
                <a:latin typeface="Calibri" pitchFamily="34" charset="0"/>
                <a:ea typeface="Calibri" pitchFamily="34" charset="-122"/>
                <a:cs typeface="Calibri" pitchFamily="34" charset="-120"/>
              </a:rPr>
              <a:t>Every agent declared with an owner, purpose, tool manifest, data scope, evaluation record and lifecycle state</a:t>
            </a:r>
            <a:endParaRPr lang="en-US" sz="1100" dirty="0"/>
          </a:p>
        </p:txBody>
      </p:sp>
      <p:sp>
        <p:nvSpPr>
          <p:cNvPr id="15" name="Shape 13"/>
          <p:cNvSpPr/>
          <p:nvPr/>
        </p:nvSpPr>
        <p:spPr>
          <a:xfrm>
            <a:off x="548640" y="3081528"/>
            <a:ext cx="2834640" cy="603504"/>
          </a:xfrm>
          <a:prstGeom prst="roundRect">
            <a:avLst>
              <a:gd name="adj" fmla="val 9091"/>
            </a:avLst>
          </a:prstGeom>
          <a:solidFill>
            <a:srgbClr val="0A2240"/>
          </a:solidFill>
          <a:ln w="12700">
            <a:solidFill>
              <a:srgbClr val="333333"/>
            </a:solidFill>
            <a:prstDash val="solid"/>
          </a:ln>
        </p:spPr>
      </p:sp>
      <p:sp>
        <p:nvSpPr>
          <p:cNvPr id="16" name="Text 14"/>
          <p:cNvSpPr/>
          <p:nvPr/>
        </p:nvSpPr>
        <p:spPr>
          <a:xfrm>
            <a:off x="640080" y="3081528"/>
            <a:ext cx="2651760" cy="60350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Orchestration &amp; delegation</a:t>
            </a:r>
            <a:endParaRPr lang="en-US" sz="1250" dirty="0"/>
          </a:p>
        </p:txBody>
      </p:sp>
      <p:sp>
        <p:nvSpPr>
          <p:cNvPr id="17" name="Shape 15"/>
          <p:cNvSpPr/>
          <p:nvPr/>
        </p:nvSpPr>
        <p:spPr>
          <a:xfrm>
            <a:off x="3529584" y="3081528"/>
            <a:ext cx="8113471" cy="603504"/>
          </a:xfrm>
          <a:prstGeom prst="roundRect">
            <a:avLst>
              <a:gd name="adj" fmla="val 9091"/>
            </a:avLst>
          </a:prstGeom>
          <a:solidFill>
            <a:srgbClr val="FFFFFF"/>
          </a:solidFill>
          <a:ln w="12700">
            <a:solidFill>
              <a:srgbClr val="E4EBF2"/>
            </a:solidFill>
            <a:prstDash val="solid"/>
          </a:ln>
        </p:spPr>
      </p:sp>
      <p:sp>
        <p:nvSpPr>
          <p:cNvPr id="18" name="Text 16"/>
          <p:cNvSpPr/>
          <p:nvPr/>
        </p:nvSpPr>
        <p:spPr>
          <a:xfrm>
            <a:off x="3712464" y="3081528"/>
            <a:ext cx="7711135" cy="603504"/>
          </a:xfrm>
          <a:prstGeom prst="rect">
            <a:avLst/>
          </a:prstGeom>
          <a:noFill/>
          <a:ln/>
        </p:spPr>
        <p:txBody>
          <a:bodyPr wrap="square" lIns="0" tIns="0" rIns="0" bIns="0" rtlCol="0" anchor="ctr"/>
          <a:lstStyle/>
          <a:p>
            <a:pPr marL="0" indent="0">
              <a:lnSpc>
                <a:spcPts val="1400"/>
              </a:lnSpc>
              <a:buNone/>
            </a:pPr>
            <a:r>
              <a:rPr lang="en-US" sz="1100" dirty="0">
                <a:solidFill>
                  <a:srgbClr val="16222E"/>
                </a:solidFill>
                <a:latin typeface="Calibri" pitchFamily="34" charset="0"/>
                <a:ea typeface="Calibri" pitchFamily="34" charset="-122"/>
                <a:cs typeface="Calibri" pitchFamily="34" charset="-120"/>
              </a:rPr>
              <a:t>Supervisor patterns, task decomposition, agent-to-agent hand-off, retries, timeouts, escalation to humans</a:t>
            </a:r>
            <a:endParaRPr lang="en-US" sz="1100" dirty="0"/>
          </a:p>
        </p:txBody>
      </p:sp>
      <p:sp>
        <p:nvSpPr>
          <p:cNvPr id="19" name="Shape 17"/>
          <p:cNvSpPr/>
          <p:nvPr/>
        </p:nvSpPr>
        <p:spPr>
          <a:xfrm>
            <a:off x="548640" y="3771900"/>
            <a:ext cx="2834640" cy="603504"/>
          </a:xfrm>
          <a:prstGeom prst="roundRect">
            <a:avLst>
              <a:gd name="adj" fmla="val 9091"/>
            </a:avLst>
          </a:prstGeom>
          <a:solidFill>
            <a:srgbClr val="E8A33D"/>
          </a:solidFill>
          <a:ln w="12700">
            <a:solidFill>
              <a:srgbClr val="333333"/>
            </a:solidFill>
            <a:prstDash val="solid"/>
          </a:ln>
        </p:spPr>
      </p:sp>
      <p:sp>
        <p:nvSpPr>
          <p:cNvPr id="20" name="Text 18"/>
          <p:cNvSpPr/>
          <p:nvPr/>
        </p:nvSpPr>
        <p:spPr>
          <a:xfrm>
            <a:off x="640080" y="3771900"/>
            <a:ext cx="2651760" cy="603504"/>
          </a:xfrm>
          <a:prstGeom prst="rect">
            <a:avLst/>
          </a:prstGeom>
          <a:noFill/>
          <a:ln/>
        </p:spPr>
        <p:txBody>
          <a:bodyPr wrap="square" lIns="0" tIns="0" rIns="0" bIns="0" rtlCol="0" anchor="ctr"/>
          <a:lstStyle/>
          <a:p>
            <a:pPr marL="0" indent="0" algn="ctr">
              <a:buNone/>
            </a:pPr>
            <a:r>
              <a:rPr lang="en-US" sz="1250" b="1" dirty="0">
                <a:solidFill>
                  <a:srgbClr val="0A2240"/>
                </a:solidFill>
                <a:latin typeface="Calibri" pitchFamily="34" charset="0"/>
                <a:ea typeface="Calibri" pitchFamily="34" charset="-122"/>
                <a:cs typeface="Calibri" pitchFamily="34" charset="-120"/>
              </a:rPr>
              <a:t>Trust &amp; policy plane</a:t>
            </a:r>
            <a:endParaRPr lang="en-US" sz="1250" dirty="0"/>
          </a:p>
        </p:txBody>
      </p:sp>
      <p:sp>
        <p:nvSpPr>
          <p:cNvPr id="21" name="Shape 19"/>
          <p:cNvSpPr/>
          <p:nvPr/>
        </p:nvSpPr>
        <p:spPr>
          <a:xfrm>
            <a:off x="3529584" y="3771900"/>
            <a:ext cx="8113471" cy="603504"/>
          </a:xfrm>
          <a:prstGeom prst="roundRect">
            <a:avLst>
              <a:gd name="adj" fmla="val 9091"/>
            </a:avLst>
          </a:prstGeom>
          <a:solidFill>
            <a:srgbClr val="F1F5F9"/>
          </a:solidFill>
          <a:ln w="12700">
            <a:solidFill>
              <a:srgbClr val="E4EBF2"/>
            </a:solidFill>
            <a:prstDash val="solid"/>
          </a:ln>
        </p:spPr>
      </p:sp>
      <p:sp>
        <p:nvSpPr>
          <p:cNvPr id="22" name="Text 20"/>
          <p:cNvSpPr/>
          <p:nvPr/>
        </p:nvSpPr>
        <p:spPr>
          <a:xfrm>
            <a:off x="3712464" y="3771900"/>
            <a:ext cx="7711135" cy="603504"/>
          </a:xfrm>
          <a:prstGeom prst="rect">
            <a:avLst/>
          </a:prstGeom>
          <a:noFill/>
          <a:ln/>
        </p:spPr>
        <p:txBody>
          <a:bodyPr wrap="square" lIns="0" tIns="0" rIns="0" bIns="0" rtlCol="0" anchor="ctr"/>
          <a:lstStyle/>
          <a:p>
            <a:pPr marL="0" indent="0">
              <a:lnSpc>
                <a:spcPts val="1400"/>
              </a:lnSpc>
              <a:buNone/>
            </a:pPr>
            <a:r>
              <a:rPr lang="en-US" sz="1100" dirty="0">
                <a:solidFill>
                  <a:srgbClr val="16222E"/>
                </a:solidFill>
                <a:latin typeface="Calibri" pitchFamily="34" charset="0"/>
                <a:ea typeface="Calibri" pitchFamily="34" charset="-122"/>
                <a:cs typeface="Calibri" pitchFamily="34" charset="-120"/>
              </a:rPr>
              <a:t>Identity propagation · entitlement checks · spend and rate limits · residency · guardrails · immutable audit</a:t>
            </a:r>
            <a:endParaRPr lang="en-US" sz="1100" dirty="0"/>
          </a:p>
        </p:txBody>
      </p:sp>
      <p:sp>
        <p:nvSpPr>
          <p:cNvPr id="23" name="Shape 21"/>
          <p:cNvSpPr/>
          <p:nvPr/>
        </p:nvSpPr>
        <p:spPr>
          <a:xfrm>
            <a:off x="548640" y="4462272"/>
            <a:ext cx="2834640" cy="603504"/>
          </a:xfrm>
          <a:prstGeom prst="roundRect">
            <a:avLst>
              <a:gd name="adj" fmla="val 9091"/>
            </a:avLst>
          </a:prstGeom>
          <a:solidFill>
            <a:srgbClr val="13355F"/>
          </a:solidFill>
          <a:ln w="12700">
            <a:solidFill>
              <a:srgbClr val="333333"/>
            </a:solidFill>
            <a:prstDash val="solid"/>
          </a:ln>
        </p:spPr>
      </p:sp>
      <p:sp>
        <p:nvSpPr>
          <p:cNvPr id="24" name="Text 22"/>
          <p:cNvSpPr/>
          <p:nvPr/>
        </p:nvSpPr>
        <p:spPr>
          <a:xfrm>
            <a:off x="640080" y="4462272"/>
            <a:ext cx="2651760" cy="60350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Tool plane (MCP)</a:t>
            </a:r>
            <a:endParaRPr lang="en-US" sz="1250" dirty="0"/>
          </a:p>
        </p:txBody>
      </p:sp>
      <p:sp>
        <p:nvSpPr>
          <p:cNvPr id="25" name="Shape 23"/>
          <p:cNvSpPr/>
          <p:nvPr/>
        </p:nvSpPr>
        <p:spPr>
          <a:xfrm>
            <a:off x="3529584" y="4462272"/>
            <a:ext cx="8113471" cy="603504"/>
          </a:xfrm>
          <a:prstGeom prst="roundRect">
            <a:avLst>
              <a:gd name="adj" fmla="val 9091"/>
            </a:avLst>
          </a:prstGeom>
          <a:solidFill>
            <a:srgbClr val="FFFFFF"/>
          </a:solidFill>
          <a:ln w="12700">
            <a:solidFill>
              <a:srgbClr val="E4EBF2"/>
            </a:solidFill>
            <a:prstDash val="solid"/>
          </a:ln>
        </p:spPr>
      </p:sp>
      <p:sp>
        <p:nvSpPr>
          <p:cNvPr id="26" name="Text 24"/>
          <p:cNvSpPr/>
          <p:nvPr/>
        </p:nvSpPr>
        <p:spPr>
          <a:xfrm>
            <a:off x="3712464" y="4462272"/>
            <a:ext cx="7711135" cy="603504"/>
          </a:xfrm>
          <a:prstGeom prst="rect">
            <a:avLst/>
          </a:prstGeom>
          <a:noFill/>
          <a:ln/>
        </p:spPr>
        <p:txBody>
          <a:bodyPr wrap="square" lIns="0" tIns="0" rIns="0" bIns="0" rtlCol="0" anchor="ctr"/>
          <a:lstStyle/>
          <a:p>
            <a:pPr marL="0" indent="0">
              <a:lnSpc>
                <a:spcPts val="1400"/>
              </a:lnSpc>
              <a:buNone/>
            </a:pPr>
            <a:r>
              <a:rPr lang="en-US" sz="1100" dirty="0">
                <a:solidFill>
                  <a:srgbClr val="16222E"/>
                </a:solidFill>
                <a:latin typeface="Calibri" pitchFamily="34" charset="0"/>
                <a:ea typeface="Calibri" pitchFamily="34" charset="-122"/>
                <a:cs typeface="Calibri" pitchFamily="34" charset="-120"/>
              </a:rPr>
              <a:t>The six MCP servers, versioned and permission-scoped · deterministic orchestrations exposed as callable tools</a:t>
            </a:r>
            <a:endParaRPr lang="en-US" sz="1100" dirty="0"/>
          </a:p>
        </p:txBody>
      </p:sp>
      <p:sp>
        <p:nvSpPr>
          <p:cNvPr id="27" name="Shape 25"/>
          <p:cNvSpPr/>
          <p:nvPr/>
        </p:nvSpPr>
        <p:spPr>
          <a:xfrm>
            <a:off x="548640" y="5152644"/>
            <a:ext cx="2834640" cy="603504"/>
          </a:xfrm>
          <a:prstGeom prst="roundRect">
            <a:avLst>
              <a:gd name="adj" fmla="val 9091"/>
            </a:avLst>
          </a:prstGeom>
          <a:solidFill>
            <a:srgbClr val="1B6CA8"/>
          </a:solidFill>
          <a:ln w="12700">
            <a:solidFill>
              <a:srgbClr val="333333"/>
            </a:solidFill>
            <a:prstDash val="solid"/>
          </a:ln>
        </p:spPr>
      </p:sp>
      <p:sp>
        <p:nvSpPr>
          <p:cNvPr id="28" name="Text 26"/>
          <p:cNvSpPr/>
          <p:nvPr/>
        </p:nvSpPr>
        <p:spPr>
          <a:xfrm>
            <a:off x="640080" y="5152644"/>
            <a:ext cx="2651760" cy="603504"/>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Runtime &amp; observability</a:t>
            </a:r>
            <a:endParaRPr lang="en-US" sz="1250" dirty="0"/>
          </a:p>
        </p:txBody>
      </p:sp>
      <p:sp>
        <p:nvSpPr>
          <p:cNvPr id="29" name="Shape 27"/>
          <p:cNvSpPr/>
          <p:nvPr/>
        </p:nvSpPr>
        <p:spPr>
          <a:xfrm>
            <a:off x="3529584" y="5152644"/>
            <a:ext cx="8113471" cy="603504"/>
          </a:xfrm>
          <a:prstGeom prst="roundRect">
            <a:avLst>
              <a:gd name="adj" fmla="val 9091"/>
            </a:avLst>
          </a:prstGeom>
          <a:solidFill>
            <a:srgbClr val="F1F5F9"/>
          </a:solidFill>
          <a:ln w="12700">
            <a:solidFill>
              <a:srgbClr val="E4EBF2"/>
            </a:solidFill>
            <a:prstDash val="solid"/>
          </a:ln>
        </p:spPr>
      </p:sp>
      <p:sp>
        <p:nvSpPr>
          <p:cNvPr id="30" name="Text 28"/>
          <p:cNvSpPr/>
          <p:nvPr/>
        </p:nvSpPr>
        <p:spPr>
          <a:xfrm>
            <a:off x="3712464" y="5152644"/>
            <a:ext cx="7711135" cy="603504"/>
          </a:xfrm>
          <a:prstGeom prst="rect">
            <a:avLst/>
          </a:prstGeom>
          <a:noFill/>
          <a:ln/>
        </p:spPr>
        <p:txBody>
          <a:bodyPr wrap="square" lIns="0" tIns="0" rIns="0" bIns="0" rtlCol="0" anchor="ctr"/>
          <a:lstStyle/>
          <a:p>
            <a:pPr marL="0" indent="0">
              <a:lnSpc>
                <a:spcPts val="1400"/>
              </a:lnSpc>
              <a:buNone/>
            </a:pPr>
            <a:r>
              <a:rPr lang="en-US" sz="1100" dirty="0">
                <a:solidFill>
                  <a:srgbClr val="16222E"/>
                </a:solidFill>
                <a:latin typeface="Calibri" pitchFamily="34" charset="0"/>
                <a:ea typeface="Calibri" pitchFamily="34" charset="-122"/>
                <a:cs typeface="Calibri" pitchFamily="34" charset="-120"/>
              </a:rPr>
              <a:t>Execution environment · OpenTelemetry tracing across multi-agent runs · cost, token and latency attribution</a:t>
            </a:r>
            <a:endParaRPr lang="en-US" sz="1100" dirty="0"/>
          </a:p>
        </p:txBody>
      </p:sp>
      <p:sp>
        <p:nvSpPr>
          <p:cNvPr id="31" name="Text 29"/>
          <p:cNvSpPr/>
          <p:nvPr/>
        </p:nvSpPr>
        <p:spPr>
          <a:xfrm>
            <a:off x="548640" y="5870448"/>
            <a:ext cx="11094415" cy="420624"/>
          </a:xfrm>
          <a:prstGeom prst="rect">
            <a:avLst/>
          </a:prstGeom>
          <a:noFill/>
          <a:ln/>
        </p:spPr>
        <p:txBody>
          <a:bodyPr wrap="square" lIns="0" tIns="0" rIns="0" bIns="0" rtlCol="0" anchor="ctr"/>
          <a:lstStyle/>
          <a:p>
            <a:pPr marL="0" indent="0">
              <a:lnSpc>
                <a:spcPts val="1400"/>
              </a:lnSpc>
              <a:buNone/>
            </a:pPr>
            <a:r>
              <a:rPr lang="en-US" sz="1100" b="1" i="1" dirty="0">
                <a:solidFill>
                  <a:srgbClr val="1B6CA8"/>
                </a:solidFill>
                <a:latin typeface="Calibri" pitchFamily="34" charset="0"/>
                <a:ea typeface="Calibri" pitchFamily="34" charset="-122"/>
                <a:cs typeface="Calibri" pitchFamily="34" charset="-120"/>
              </a:rPr>
              <a:t>Why a mesh and not microservices: microservices assume deterministic A-to-B calls. Agents negotiate goals probabilistically, so the runtime has to supply discovery, policy, supervision and trace as first-class services rather than leaving them to each caller.</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4041648"/>
          </a:xfrm>
          <a:prstGeom prst="rect">
            <a:avLst/>
          </a:prstGeom>
          <a:solidFill>
            <a:srgbClr val="0A1729"/>
          </a:solidFill>
          <a:ln w="12700">
            <a:solidFill>
              <a:srgbClr val="0A1729"/>
            </a:solidFill>
            <a:prstDash val="solid"/>
          </a:ln>
        </p:spPr>
      </p:sp>
      <p:sp>
        <p:nvSpPr>
          <p:cNvPr id="3" name="Shape 1"/>
          <p:cNvSpPr/>
          <p:nvPr/>
        </p:nvSpPr>
        <p:spPr>
          <a:xfrm>
            <a:off x="3931920" y="-2331720"/>
            <a:ext cx="7406640" cy="7406640"/>
          </a:xfrm>
          <a:prstGeom prst="ellipse">
            <a:avLst/>
          </a:prstGeom>
          <a:solidFill>
            <a:srgbClr val="12243D"/>
          </a:solidFill>
          <a:ln w="12700">
            <a:solidFill>
              <a:srgbClr val="1A3350"/>
            </a:solidFill>
            <a:prstDash val="solid"/>
          </a:ln>
        </p:spPr>
      </p:sp>
      <p:sp>
        <p:nvSpPr>
          <p:cNvPr id="4" name="Shape 2"/>
          <p:cNvSpPr/>
          <p:nvPr/>
        </p:nvSpPr>
        <p:spPr>
          <a:xfrm>
            <a:off x="5120640" y="-1188720"/>
            <a:ext cx="5120640" cy="5120640"/>
          </a:xfrm>
          <a:prstGeom prst="ellipse">
            <a:avLst/>
          </a:prstGeom>
          <a:solidFill>
            <a:srgbClr val="16293F"/>
          </a:solidFill>
          <a:ln/>
        </p:spPr>
      </p:sp>
      <p:sp>
        <p:nvSpPr>
          <p:cNvPr id="5" name="Shape 3"/>
          <p:cNvSpPr/>
          <p:nvPr/>
        </p:nvSpPr>
        <p:spPr>
          <a:xfrm>
            <a:off x="0" y="0"/>
            <a:ext cx="4892040" cy="4041648"/>
          </a:xfrm>
          <a:prstGeom prst="rect">
            <a:avLst/>
          </a:prstGeom>
          <a:solidFill>
            <a:srgbClr val="F3F0EA"/>
          </a:solidFill>
          <a:ln w="12700">
            <a:solidFill>
              <a:srgbClr val="F3F0EA"/>
            </a:solidFill>
            <a:prstDash val="solid"/>
          </a:ln>
        </p:spPr>
      </p:sp>
      <p:sp>
        <p:nvSpPr>
          <p:cNvPr id="6" name="Shape 4"/>
          <p:cNvSpPr/>
          <p:nvPr/>
        </p:nvSpPr>
        <p:spPr>
          <a:xfrm>
            <a:off x="5577840" y="384048"/>
            <a:ext cx="45720" cy="45720"/>
          </a:xfrm>
          <a:prstGeom prst="ellipse">
            <a:avLst/>
          </a:prstGeom>
          <a:solidFill>
            <a:srgbClr val="FFFFFF">
              <a:alpha val="55000"/>
            </a:srgbClr>
          </a:solidFill>
          <a:ln/>
        </p:spPr>
      </p:sp>
      <p:sp>
        <p:nvSpPr>
          <p:cNvPr id="7" name="Shape 5"/>
          <p:cNvSpPr/>
          <p:nvPr/>
        </p:nvSpPr>
        <p:spPr>
          <a:xfrm>
            <a:off x="6309360" y="1051560"/>
            <a:ext cx="36576" cy="36576"/>
          </a:xfrm>
          <a:prstGeom prst="ellipse">
            <a:avLst/>
          </a:prstGeom>
          <a:solidFill>
            <a:srgbClr val="FFFFFF">
              <a:alpha val="55000"/>
            </a:srgbClr>
          </a:solidFill>
          <a:ln/>
        </p:spPr>
      </p:sp>
      <p:sp>
        <p:nvSpPr>
          <p:cNvPr id="8" name="Shape 6"/>
          <p:cNvSpPr/>
          <p:nvPr/>
        </p:nvSpPr>
        <p:spPr>
          <a:xfrm>
            <a:off x="6949440" y="274320"/>
            <a:ext cx="54864" cy="54864"/>
          </a:xfrm>
          <a:prstGeom prst="ellipse">
            <a:avLst/>
          </a:prstGeom>
          <a:solidFill>
            <a:srgbClr val="FFFFFF">
              <a:alpha val="55000"/>
            </a:srgbClr>
          </a:solidFill>
          <a:ln/>
        </p:spPr>
      </p:sp>
      <p:sp>
        <p:nvSpPr>
          <p:cNvPr id="9" name="Shape 7"/>
          <p:cNvSpPr/>
          <p:nvPr/>
        </p:nvSpPr>
        <p:spPr>
          <a:xfrm>
            <a:off x="7680960" y="685800"/>
            <a:ext cx="36576" cy="36576"/>
          </a:xfrm>
          <a:prstGeom prst="ellipse">
            <a:avLst/>
          </a:prstGeom>
          <a:solidFill>
            <a:srgbClr val="FFFFFF">
              <a:alpha val="55000"/>
            </a:srgbClr>
          </a:solidFill>
          <a:ln/>
        </p:spPr>
      </p:sp>
      <p:sp>
        <p:nvSpPr>
          <p:cNvPr id="10" name="Shape 8"/>
          <p:cNvSpPr/>
          <p:nvPr/>
        </p:nvSpPr>
        <p:spPr>
          <a:xfrm>
            <a:off x="9052560" y="320040"/>
            <a:ext cx="45720" cy="45720"/>
          </a:xfrm>
          <a:prstGeom prst="ellipse">
            <a:avLst/>
          </a:prstGeom>
          <a:solidFill>
            <a:srgbClr val="FFFFFF">
              <a:alpha val="55000"/>
            </a:srgbClr>
          </a:solidFill>
          <a:ln/>
        </p:spPr>
      </p:sp>
      <p:sp>
        <p:nvSpPr>
          <p:cNvPr id="11" name="Shape 9"/>
          <p:cNvSpPr/>
          <p:nvPr/>
        </p:nvSpPr>
        <p:spPr>
          <a:xfrm>
            <a:off x="9875520" y="960120"/>
            <a:ext cx="36576" cy="36576"/>
          </a:xfrm>
          <a:prstGeom prst="ellipse">
            <a:avLst/>
          </a:prstGeom>
          <a:solidFill>
            <a:srgbClr val="FFFFFF">
              <a:alpha val="55000"/>
            </a:srgbClr>
          </a:solidFill>
          <a:ln/>
        </p:spPr>
      </p:sp>
      <p:sp>
        <p:nvSpPr>
          <p:cNvPr id="12" name="Shape 10"/>
          <p:cNvSpPr/>
          <p:nvPr/>
        </p:nvSpPr>
        <p:spPr>
          <a:xfrm>
            <a:off x="10424160" y="256032"/>
            <a:ext cx="54864" cy="54864"/>
          </a:xfrm>
          <a:prstGeom prst="ellipse">
            <a:avLst/>
          </a:prstGeom>
          <a:solidFill>
            <a:srgbClr val="FFFFFF">
              <a:alpha val="55000"/>
            </a:srgbClr>
          </a:solidFill>
          <a:ln/>
        </p:spPr>
      </p:sp>
      <p:sp>
        <p:nvSpPr>
          <p:cNvPr id="13" name="Shape 11"/>
          <p:cNvSpPr/>
          <p:nvPr/>
        </p:nvSpPr>
        <p:spPr>
          <a:xfrm>
            <a:off x="11247120" y="566928"/>
            <a:ext cx="36576" cy="36576"/>
          </a:xfrm>
          <a:prstGeom prst="ellipse">
            <a:avLst/>
          </a:prstGeom>
          <a:solidFill>
            <a:srgbClr val="FFFFFF">
              <a:alpha val="55000"/>
            </a:srgbClr>
          </a:solidFill>
          <a:ln/>
        </p:spPr>
      </p:sp>
      <p:sp>
        <p:nvSpPr>
          <p:cNvPr id="14" name="Shape 12"/>
          <p:cNvSpPr/>
          <p:nvPr/>
        </p:nvSpPr>
        <p:spPr>
          <a:xfrm>
            <a:off x="11795760" y="1234440"/>
            <a:ext cx="45720" cy="45720"/>
          </a:xfrm>
          <a:prstGeom prst="ellipse">
            <a:avLst/>
          </a:prstGeom>
          <a:solidFill>
            <a:srgbClr val="FFFFFF">
              <a:alpha val="55000"/>
            </a:srgbClr>
          </a:solidFill>
          <a:ln/>
        </p:spPr>
      </p:sp>
      <p:sp>
        <p:nvSpPr>
          <p:cNvPr id="15" name="Shape 13"/>
          <p:cNvSpPr/>
          <p:nvPr/>
        </p:nvSpPr>
        <p:spPr>
          <a:xfrm>
            <a:off x="5303520" y="1874520"/>
            <a:ext cx="36576" cy="36576"/>
          </a:xfrm>
          <a:prstGeom prst="ellipse">
            <a:avLst/>
          </a:prstGeom>
          <a:solidFill>
            <a:srgbClr val="FFFFFF">
              <a:alpha val="55000"/>
            </a:srgbClr>
          </a:solidFill>
          <a:ln/>
        </p:spPr>
      </p:sp>
      <p:sp>
        <p:nvSpPr>
          <p:cNvPr id="16" name="Shape 14"/>
          <p:cNvSpPr/>
          <p:nvPr/>
        </p:nvSpPr>
        <p:spPr>
          <a:xfrm>
            <a:off x="5943600" y="2971800"/>
            <a:ext cx="45720" cy="45720"/>
          </a:xfrm>
          <a:prstGeom prst="ellipse">
            <a:avLst/>
          </a:prstGeom>
          <a:solidFill>
            <a:srgbClr val="FFFFFF">
              <a:alpha val="55000"/>
            </a:srgbClr>
          </a:solidFill>
          <a:ln/>
        </p:spPr>
      </p:sp>
      <p:sp>
        <p:nvSpPr>
          <p:cNvPr id="17" name="Shape 15"/>
          <p:cNvSpPr/>
          <p:nvPr/>
        </p:nvSpPr>
        <p:spPr>
          <a:xfrm>
            <a:off x="6583680" y="3520440"/>
            <a:ext cx="36576" cy="36576"/>
          </a:xfrm>
          <a:prstGeom prst="ellipse">
            <a:avLst/>
          </a:prstGeom>
          <a:solidFill>
            <a:srgbClr val="FFFFFF">
              <a:alpha val="55000"/>
            </a:srgbClr>
          </a:solidFill>
          <a:ln/>
        </p:spPr>
      </p:sp>
      <p:sp>
        <p:nvSpPr>
          <p:cNvPr id="18" name="Shape 16"/>
          <p:cNvSpPr/>
          <p:nvPr/>
        </p:nvSpPr>
        <p:spPr>
          <a:xfrm>
            <a:off x="7863840" y="3749040"/>
            <a:ext cx="45720" cy="45720"/>
          </a:xfrm>
          <a:prstGeom prst="ellipse">
            <a:avLst/>
          </a:prstGeom>
          <a:solidFill>
            <a:srgbClr val="FFFFFF">
              <a:alpha val="55000"/>
            </a:srgbClr>
          </a:solidFill>
          <a:ln/>
        </p:spPr>
      </p:sp>
      <p:sp>
        <p:nvSpPr>
          <p:cNvPr id="19" name="Shape 17"/>
          <p:cNvSpPr/>
          <p:nvPr/>
        </p:nvSpPr>
        <p:spPr>
          <a:xfrm>
            <a:off x="9326880" y="3675888"/>
            <a:ext cx="36576" cy="36576"/>
          </a:xfrm>
          <a:prstGeom prst="ellipse">
            <a:avLst/>
          </a:prstGeom>
          <a:solidFill>
            <a:srgbClr val="FFFFFF">
              <a:alpha val="55000"/>
            </a:srgbClr>
          </a:solidFill>
          <a:ln/>
        </p:spPr>
      </p:sp>
      <p:sp>
        <p:nvSpPr>
          <p:cNvPr id="20" name="Shape 18"/>
          <p:cNvSpPr/>
          <p:nvPr/>
        </p:nvSpPr>
        <p:spPr>
          <a:xfrm>
            <a:off x="10698480" y="3246120"/>
            <a:ext cx="45720" cy="45720"/>
          </a:xfrm>
          <a:prstGeom prst="ellipse">
            <a:avLst/>
          </a:prstGeom>
          <a:solidFill>
            <a:srgbClr val="FFFFFF">
              <a:alpha val="55000"/>
            </a:srgbClr>
          </a:solidFill>
          <a:ln/>
        </p:spPr>
      </p:sp>
      <p:sp>
        <p:nvSpPr>
          <p:cNvPr id="21" name="Shape 19"/>
          <p:cNvSpPr/>
          <p:nvPr/>
        </p:nvSpPr>
        <p:spPr>
          <a:xfrm>
            <a:off x="11521440" y="2606040"/>
            <a:ext cx="36576" cy="36576"/>
          </a:xfrm>
          <a:prstGeom prst="ellipse">
            <a:avLst/>
          </a:prstGeom>
          <a:solidFill>
            <a:srgbClr val="FFFFFF">
              <a:alpha val="55000"/>
            </a:srgbClr>
          </a:solidFill>
          <a:ln/>
        </p:spPr>
      </p:sp>
      <p:sp>
        <p:nvSpPr>
          <p:cNvPr id="22" name="Shape 20"/>
          <p:cNvSpPr/>
          <p:nvPr/>
        </p:nvSpPr>
        <p:spPr>
          <a:xfrm>
            <a:off x="11887200" y="3611880"/>
            <a:ext cx="45720" cy="45720"/>
          </a:xfrm>
          <a:prstGeom prst="ellipse">
            <a:avLst/>
          </a:prstGeom>
          <a:solidFill>
            <a:srgbClr val="FFFFFF">
              <a:alpha val="55000"/>
            </a:srgbClr>
          </a:solidFill>
          <a:ln/>
        </p:spPr>
      </p:sp>
      <p:sp>
        <p:nvSpPr>
          <p:cNvPr id="23" name="Shape 21"/>
          <p:cNvSpPr/>
          <p:nvPr/>
        </p:nvSpPr>
        <p:spPr>
          <a:xfrm>
            <a:off x="5669280" y="2468880"/>
            <a:ext cx="36576" cy="36576"/>
          </a:xfrm>
          <a:prstGeom prst="ellipse">
            <a:avLst/>
          </a:prstGeom>
          <a:solidFill>
            <a:srgbClr val="FFFFFF">
              <a:alpha val="55000"/>
            </a:srgbClr>
          </a:solidFill>
          <a:ln/>
        </p:spPr>
      </p:sp>
      <p:sp>
        <p:nvSpPr>
          <p:cNvPr id="24" name="Shape 22"/>
          <p:cNvSpPr/>
          <p:nvPr/>
        </p:nvSpPr>
        <p:spPr>
          <a:xfrm>
            <a:off x="10058400" y="1874520"/>
            <a:ext cx="36576" cy="36576"/>
          </a:xfrm>
          <a:prstGeom prst="ellipse">
            <a:avLst/>
          </a:prstGeom>
          <a:solidFill>
            <a:srgbClr val="FFFFFF">
              <a:alpha val="55000"/>
            </a:srgbClr>
          </a:solidFill>
          <a:ln/>
        </p:spPr>
      </p:sp>
      <p:sp>
        <p:nvSpPr>
          <p:cNvPr id="25" name="Shape 23"/>
          <p:cNvSpPr/>
          <p:nvPr/>
        </p:nvSpPr>
        <p:spPr>
          <a:xfrm>
            <a:off x="11155680" y="1691640"/>
            <a:ext cx="45720" cy="45720"/>
          </a:xfrm>
          <a:prstGeom prst="ellipse">
            <a:avLst/>
          </a:prstGeom>
          <a:solidFill>
            <a:srgbClr val="FFFFFF">
              <a:alpha val="55000"/>
            </a:srgbClr>
          </a:solidFill>
          <a:ln/>
        </p:spPr>
      </p:sp>
      <p:sp>
        <p:nvSpPr>
          <p:cNvPr id="26" name="Shape 24"/>
          <p:cNvSpPr/>
          <p:nvPr/>
        </p:nvSpPr>
        <p:spPr>
          <a:xfrm>
            <a:off x="7223760" y="868680"/>
            <a:ext cx="36576" cy="36576"/>
          </a:xfrm>
          <a:prstGeom prst="ellipse">
            <a:avLst/>
          </a:prstGeom>
          <a:solidFill>
            <a:srgbClr val="FFFFFF">
              <a:alpha val="55000"/>
            </a:srgbClr>
          </a:solidFill>
          <a:ln/>
        </p:spPr>
      </p:sp>
      <p:sp>
        <p:nvSpPr>
          <p:cNvPr id="27" name="Shape 25"/>
          <p:cNvSpPr/>
          <p:nvPr/>
        </p:nvSpPr>
        <p:spPr>
          <a:xfrm>
            <a:off x="9601200" y="3017520"/>
            <a:ext cx="36576" cy="36576"/>
          </a:xfrm>
          <a:prstGeom prst="ellipse">
            <a:avLst/>
          </a:prstGeom>
          <a:solidFill>
            <a:srgbClr val="FFFFFF">
              <a:alpha val="55000"/>
            </a:srgbClr>
          </a:solidFill>
          <a:ln/>
        </p:spPr>
      </p:sp>
      <p:sp>
        <p:nvSpPr>
          <p:cNvPr id="28" name="Shape 26"/>
          <p:cNvSpPr/>
          <p:nvPr/>
        </p:nvSpPr>
        <p:spPr>
          <a:xfrm>
            <a:off x="5212080" y="1417320"/>
            <a:ext cx="45720" cy="45720"/>
          </a:xfrm>
          <a:prstGeom prst="ellipse">
            <a:avLst/>
          </a:prstGeom>
          <a:solidFill>
            <a:srgbClr val="FFFFFF">
              <a:alpha val="55000"/>
            </a:srgbClr>
          </a:solidFill>
          <a:ln/>
        </p:spPr>
      </p:sp>
      <p:sp>
        <p:nvSpPr>
          <p:cNvPr id="29" name="Shape 27"/>
          <p:cNvSpPr/>
          <p:nvPr/>
        </p:nvSpPr>
        <p:spPr>
          <a:xfrm>
            <a:off x="11932920" y="868680"/>
            <a:ext cx="36576" cy="36576"/>
          </a:xfrm>
          <a:prstGeom prst="ellipse">
            <a:avLst/>
          </a:prstGeom>
          <a:solidFill>
            <a:srgbClr val="FFFFFF">
              <a:alpha val="55000"/>
            </a:srgbClr>
          </a:solidFill>
          <a:ln/>
        </p:spPr>
      </p:sp>
      <p:sp>
        <p:nvSpPr>
          <p:cNvPr id="30" name="Text 28"/>
          <p:cNvSpPr/>
          <p:nvPr/>
        </p:nvSpPr>
        <p:spPr>
          <a:xfrm>
            <a:off x="347472" y="182880"/>
            <a:ext cx="4389120" cy="420624"/>
          </a:xfrm>
          <a:prstGeom prst="rect">
            <a:avLst/>
          </a:prstGeom>
          <a:noFill/>
          <a:ln/>
        </p:spPr>
        <p:txBody>
          <a:bodyPr wrap="square" lIns="0" tIns="0" rIns="0" bIns="0" rtlCol="0" anchor="ctr"/>
          <a:lstStyle/>
          <a:p>
            <a:pPr marL="0" indent="0">
              <a:buNone/>
            </a:pPr>
            <a:r>
              <a:rPr lang="en-US" sz="2700" b="1" kern="0" spc="-30" dirty="0">
                <a:solidFill>
                  <a:srgbClr val="132A4C"/>
                </a:solidFill>
                <a:latin typeface="Arial" pitchFamily="34" charset="0"/>
                <a:ea typeface="Arial" pitchFamily="34" charset="-122"/>
                <a:cs typeface="Arial" pitchFamily="34" charset="-120"/>
              </a:rPr>
              <a:t>FROM AGENTIC RAG</a:t>
            </a:r>
            <a:endParaRPr lang="en-US" sz="2700" dirty="0"/>
          </a:p>
        </p:txBody>
      </p:sp>
      <p:sp>
        <p:nvSpPr>
          <p:cNvPr id="31" name="Text 29"/>
          <p:cNvSpPr/>
          <p:nvPr/>
        </p:nvSpPr>
        <p:spPr>
          <a:xfrm>
            <a:off x="347472" y="585216"/>
            <a:ext cx="4389120" cy="420624"/>
          </a:xfrm>
          <a:prstGeom prst="rect">
            <a:avLst/>
          </a:prstGeom>
          <a:noFill/>
          <a:ln/>
        </p:spPr>
        <p:txBody>
          <a:bodyPr wrap="square" lIns="0" tIns="0" rIns="0" bIns="0" rtlCol="0" anchor="ctr"/>
          <a:lstStyle/>
          <a:p>
            <a:pPr marL="0" indent="0">
              <a:buNone/>
            </a:pPr>
            <a:r>
              <a:rPr lang="en-US" sz="2700" b="1" kern="0" spc="-30" dirty="0">
                <a:solidFill>
                  <a:srgbClr val="E8552F"/>
                </a:solidFill>
                <a:latin typeface="Arial" pitchFamily="34" charset="0"/>
                <a:ea typeface="Arial" pitchFamily="34" charset="-122"/>
                <a:cs typeface="Arial" pitchFamily="34" charset="-120"/>
              </a:rPr>
              <a:t>TO AGENT MESH</a:t>
            </a:r>
            <a:endParaRPr lang="en-US" sz="2700" dirty="0"/>
          </a:p>
        </p:txBody>
      </p:sp>
      <p:sp>
        <p:nvSpPr>
          <p:cNvPr id="32" name="Text 30"/>
          <p:cNvSpPr/>
          <p:nvPr/>
        </p:nvSpPr>
        <p:spPr>
          <a:xfrm>
            <a:off x="347472" y="1060704"/>
            <a:ext cx="4389120" cy="182880"/>
          </a:xfrm>
          <a:prstGeom prst="rect">
            <a:avLst/>
          </a:prstGeom>
          <a:noFill/>
          <a:ln/>
        </p:spPr>
        <p:txBody>
          <a:bodyPr wrap="square" lIns="0" tIns="0" rIns="0" bIns="0" rtlCol="0" anchor="ctr"/>
          <a:lstStyle/>
          <a:p>
            <a:pPr marL="0" indent="0">
              <a:buNone/>
            </a:pPr>
            <a:r>
              <a:rPr lang="en-US" sz="750" b="1" kern="0" spc="30" dirty="0">
                <a:solidFill>
                  <a:srgbClr val="132A4C"/>
                </a:solidFill>
                <a:latin typeface="Arial" pitchFamily="34" charset="0"/>
                <a:ea typeface="Arial" pitchFamily="34" charset="-122"/>
                <a:cs typeface="Arial" pitchFamily="34" charset="-120"/>
              </a:rPr>
              <a:t>BEYOND ONE AGENT. TOWARD COOPERATING INTELLIGENCE.</a:t>
            </a:r>
            <a:endParaRPr lang="en-US" sz="750" dirty="0"/>
          </a:p>
        </p:txBody>
      </p:sp>
      <p:sp>
        <p:nvSpPr>
          <p:cNvPr id="33" name="Text 31"/>
          <p:cNvSpPr/>
          <p:nvPr/>
        </p:nvSpPr>
        <p:spPr>
          <a:xfrm>
            <a:off x="347472" y="1371600"/>
            <a:ext cx="4206240" cy="182880"/>
          </a:xfrm>
          <a:prstGeom prst="rect">
            <a:avLst/>
          </a:prstGeom>
          <a:noFill/>
          <a:ln/>
        </p:spPr>
        <p:txBody>
          <a:bodyPr wrap="square" lIns="0" tIns="0" rIns="0" bIns="0" rtlCol="0" anchor="ctr"/>
          <a:lstStyle/>
          <a:p>
            <a:pPr marL="0" indent="0">
              <a:buNone/>
            </a:pPr>
            <a:r>
              <a:rPr lang="en-US" sz="900" b="1" dirty="0">
                <a:solidFill>
                  <a:srgbClr val="4A5B72"/>
                </a:solidFill>
                <a:latin typeface="Arial" pitchFamily="34" charset="0"/>
                <a:ea typeface="Arial" pitchFamily="34" charset="-122"/>
                <a:cs typeface="Arial" pitchFamily="34" charset="-120"/>
              </a:rPr>
              <a:t>From retrieval to orchestrated action.</a:t>
            </a:r>
            <a:endParaRPr lang="en-US" sz="900" dirty="0"/>
          </a:p>
        </p:txBody>
      </p:sp>
      <p:sp>
        <p:nvSpPr>
          <p:cNvPr id="34" name="Text 32"/>
          <p:cNvSpPr/>
          <p:nvPr/>
        </p:nvSpPr>
        <p:spPr>
          <a:xfrm>
            <a:off x="347472" y="1572768"/>
            <a:ext cx="4206240" cy="384048"/>
          </a:xfrm>
          <a:prstGeom prst="rect">
            <a:avLst/>
          </a:prstGeom>
          <a:noFill/>
          <a:ln/>
        </p:spPr>
        <p:txBody>
          <a:bodyPr wrap="square" lIns="0" tIns="0" rIns="0" bIns="0" rtlCol="0" anchor="ctr"/>
          <a:lstStyle/>
          <a:p>
            <a:pPr marL="0" indent="0">
              <a:lnSpc>
                <a:spcPct val="115000"/>
              </a:lnSpc>
              <a:buNone/>
            </a:pPr>
            <a:r>
              <a:rPr lang="en-US" sz="900" dirty="0">
                <a:solidFill>
                  <a:srgbClr val="4A5B72"/>
                </a:solidFill>
                <a:latin typeface="Arial" pitchFamily="34" charset="0"/>
                <a:ea typeface="Arial" pitchFamily="34" charset="-122"/>
                <a:cs typeface="Arial" pitchFamily="34" charset="-120"/>
              </a:rPr>
              <a:t>From one agent to a network of specialists,</a:t>
            </a:r>
            <a:endParaRPr lang="en-US" sz="900" dirty="0"/>
          </a:p>
          <a:p>
            <a:pPr marL="0" indent="0">
              <a:lnSpc>
                <a:spcPct val="115000"/>
              </a:lnSpc>
              <a:buNone/>
            </a:pPr>
            <a:r>
              <a:rPr lang="en-US" sz="900" dirty="0">
                <a:solidFill>
                  <a:srgbClr val="4A5B72"/>
                </a:solidFill>
                <a:latin typeface="Arial" pitchFamily="34" charset="0"/>
                <a:ea typeface="Arial" pitchFamily="34" charset="-122"/>
                <a:cs typeface="Arial" pitchFamily="34" charset="-120"/>
              </a:rPr>
              <a:t>governed at every hop.</a:t>
            </a:r>
            <a:endParaRPr lang="en-US" sz="900" dirty="0"/>
          </a:p>
        </p:txBody>
      </p:sp>
      <p:sp>
        <p:nvSpPr>
          <p:cNvPr id="35" name="Text 33"/>
          <p:cNvSpPr/>
          <p:nvPr/>
        </p:nvSpPr>
        <p:spPr>
          <a:xfrm>
            <a:off x="347472" y="2066544"/>
            <a:ext cx="4206240" cy="256032"/>
          </a:xfrm>
          <a:prstGeom prst="rect">
            <a:avLst/>
          </a:prstGeom>
          <a:noFill/>
          <a:ln/>
        </p:spPr>
        <p:txBody>
          <a:bodyPr wrap="square" lIns="0" tIns="0" rIns="0" bIns="0" rtlCol="0" anchor="ctr"/>
          <a:lstStyle/>
          <a:p>
            <a:pPr marL="0" indent="0" algn="ctr">
              <a:buNone/>
            </a:pPr>
            <a:r>
              <a:rPr lang="en-US" sz="1400" b="1" kern="0" spc="60" dirty="0">
                <a:solidFill>
                  <a:srgbClr val="132A4C"/>
                </a:solidFill>
                <a:latin typeface="Arial" pitchFamily="34" charset="0"/>
                <a:ea typeface="Arial" pitchFamily="34" charset="-122"/>
                <a:cs typeface="Arial" pitchFamily="34" charset="-120"/>
              </a:rPr>
              <a:t>AGENTIC RAG</a:t>
            </a:r>
            <a:endParaRPr lang="en-US" sz="1400" dirty="0"/>
          </a:p>
        </p:txBody>
      </p:sp>
      <p:sp>
        <p:nvSpPr>
          <p:cNvPr id="36" name="Text 34"/>
          <p:cNvSpPr/>
          <p:nvPr/>
        </p:nvSpPr>
        <p:spPr>
          <a:xfrm>
            <a:off x="347472" y="2331720"/>
            <a:ext cx="4206240" cy="182880"/>
          </a:xfrm>
          <a:prstGeom prst="rect">
            <a:avLst/>
          </a:prstGeom>
          <a:noFill/>
          <a:ln/>
        </p:spPr>
        <p:txBody>
          <a:bodyPr wrap="square" lIns="0" tIns="0" rIns="0" bIns="0" rtlCol="0" anchor="ctr"/>
          <a:lstStyle/>
          <a:p>
            <a:pPr marL="0" indent="0" algn="ctr">
              <a:buNone/>
            </a:pPr>
            <a:r>
              <a:rPr lang="en-US" sz="850" dirty="0">
                <a:solidFill>
                  <a:srgbClr val="6B7A90"/>
                </a:solidFill>
                <a:latin typeface="Arial" pitchFamily="34" charset="0"/>
                <a:ea typeface="Arial" pitchFamily="34" charset="-122"/>
                <a:cs typeface="Arial" pitchFamily="34" charset="-120"/>
              </a:rPr>
              <a:t>One agent. One context window. One chain.</a:t>
            </a:r>
            <a:endParaRPr lang="en-US" sz="850" dirty="0"/>
          </a:p>
        </p:txBody>
      </p:sp>
      <p:sp>
        <p:nvSpPr>
          <p:cNvPr id="37" name="Shape 35"/>
          <p:cNvSpPr/>
          <p:nvPr/>
        </p:nvSpPr>
        <p:spPr>
          <a:xfrm>
            <a:off x="384048" y="2633472"/>
            <a:ext cx="868680" cy="804672"/>
          </a:xfrm>
          <a:prstGeom prst="roundRect">
            <a:avLst>
              <a:gd name="adj" fmla="val 5682"/>
            </a:avLst>
          </a:prstGeom>
          <a:solidFill>
            <a:srgbClr val="FFFFFF"/>
          </a:solidFill>
          <a:ln w="12700">
            <a:solidFill>
              <a:srgbClr val="DCD6CB"/>
            </a:solidFill>
            <a:prstDash val="solid"/>
          </a:ln>
        </p:spPr>
      </p:sp>
      <p:pic>
        <p:nvPicPr>
          <p:cNvPr id="38" name="Image 0" descr="/sessions/zealous-intelligent-mayer/mnt/outputs/icons/query.png"/>
          <p:cNvPicPr>
            <a:picLocks noChangeAspect="1"/>
          </p:cNvPicPr>
          <p:nvPr/>
        </p:nvPicPr>
        <p:blipFill>
          <a:blip r:embed="rId3"/>
          <a:stretch>
            <a:fillRect/>
          </a:stretch>
        </p:blipFill>
        <p:spPr>
          <a:xfrm>
            <a:off x="681228" y="2761488"/>
            <a:ext cx="274320" cy="274320"/>
          </a:xfrm>
          <a:prstGeom prst="rect">
            <a:avLst/>
          </a:prstGeom>
        </p:spPr>
      </p:pic>
      <p:sp>
        <p:nvSpPr>
          <p:cNvPr id="39" name="Text 36"/>
          <p:cNvSpPr/>
          <p:nvPr/>
        </p:nvSpPr>
        <p:spPr>
          <a:xfrm>
            <a:off x="384048" y="3108960"/>
            <a:ext cx="868680" cy="201168"/>
          </a:xfrm>
          <a:prstGeom prst="rect">
            <a:avLst/>
          </a:prstGeom>
          <a:noFill/>
          <a:ln/>
        </p:spPr>
        <p:txBody>
          <a:bodyPr wrap="square" lIns="0" tIns="0" rIns="0" bIns="0" rtlCol="0" anchor="ctr"/>
          <a:lstStyle/>
          <a:p>
            <a:pPr marL="0" indent="0" algn="ctr">
              <a:buNone/>
            </a:pPr>
            <a:r>
              <a:rPr lang="en-US" sz="800" b="1" dirty="0">
                <a:solidFill>
                  <a:srgbClr val="132A4C"/>
                </a:solidFill>
                <a:latin typeface="Arial" pitchFamily="34" charset="0"/>
                <a:ea typeface="Arial" pitchFamily="34" charset="-122"/>
                <a:cs typeface="Arial" pitchFamily="34" charset="-120"/>
              </a:rPr>
              <a:t>Query</a:t>
            </a:r>
            <a:endParaRPr lang="en-US" sz="800" dirty="0"/>
          </a:p>
        </p:txBody>
      </p:sp>
      <p:sp>
        <p:nvSpPr>
          <p:cNvPr id="40" name="Shape 37"/>
          <p:cNvSpPr/>
          <p:nvPr/>
        </p:nvSpPr>
        <p:spPr>
          <a:xfrm>
            <a:off x="1289304" y="3035808"/>
            <a:ext cx="155448" cy="0"/>
          </a:xfrm>
          <a:prstGeom prst="line">
            <a:avLst/>
          </a:prstGeom>
          <a:noFill/>
          <a:ln w="15875">
            <a:solidFill>
              <a:srgbClr val="132A4C"/>
            </a:solidFill>
            <a:prstDash val="solid"/>
            <a:tailEnd type="triangle"/>
          </a:ln>
        </p:spPr>
      </p:sp>
      <p:sp>
        <p:nvSpPr>
          <p:cNvPr id="41" name="Shape 38"/>
          <p:cNvSpPr/>
          <p:nvPr/>
        </p:nvSpPr>
        <p:spPr>
          <a:xfrm>
            <a:off x="1481328" y="2633472"/>
            <a:ext cx="868680" cy="804672"/>
          </a:xfrm>
          <a:prstGeom prst="roundRect">
            <a:avLst>
              <a:gd name="adj" fmla="val 5682"/>
            </a:avLst>
          </a:prstGeom>
          <a:solidFill>
            <a:srgbClr val="FFFFFF"/>
          </a:solidFill>
          <a:ln w="12700">
            <a:solidFill>
              <a:srgbClr val="DCD6CB"/>
            </a:solidFill>
            <a:prstDash val="solid"/>
          </a:ln>
        </p:spPr>
      </p:sp>
      <p:pic>
        <p:nvPicPr>
          <p:cNvPr id="42" name="Image 1" descr="/sessions/zealous-intelligent-mayer/mnt/outputs/icons/retrieve.png"/>
          <p:cNvPicPr>
            <a:picLocks noChangeAspect="1"/>
          </p:cNvPicPr>
          <p:nvPr/>
        </p:nvPicPr>
        <p:blipFill>
          <a:blip r:embed="rId4"/>
          <a:stretch>
            <a:fillRect/>
          </a:stretch>
        </p:blipFill>
        <p:spPr>
          <a:xfrm>
            <a:off x="1778508" y="2761488"/>
            <a:ext cx="274320" cy="274320"/>
          </a:xfrm>
          <a:prstGeom prst="rect">
            <a:avLst/>
          </a:prstGeom>
        </p:spPr>
      </p:pic>
      <p:sp>
        <p:nvSpPr>
          <p:cNvPr id="43" name="Text 39"/>
          <p:cNvSpPr/>
          <p:nvPr/>
        </p:nvSpPr>
        <p:spPr>
          <a:xfrm>
            <a:off x="1481328" y="3108960"/>
            <a:ext cx="868680" cy="201168"/>
          </a:xfrm>
          <a:prstGeom prst="rect">
            <a:avLst/>
          </a:prstGeom>
          <a:noFill/>
          <a:ln/>
        </p:spPr>
        <p:txBody>
          <a:bodyPr wrap="square" lIns="0" tIns="0" rIns="0" bIns="0" rtlCol="0" anchor="ctr"/>
          <a:lstStyle/>
          <a:p>
            <a:pPr marL="0" indent="0" algn="ctr">
              <a:buNone/>
            </a:pPr>
            <a:r>
              <a:rPr lang="en-US" sz="800" b="1" dirty="0">
                <a:solidFill>
                  <a:srgbClr val="132A4C"/>
                </a:solidFill>
                <a:latin typeface="Arial" pitchFamily="34" charset="0"/>
                <a:ea typeface="Arial" pitchFamily="34" charset="-122"/>
                <a:cs typeface="Arial" pitchFamily="34" charset="-120"/>
              </a:rPr>
              <a:t>Retrieve</a:t>
            </a:r>
            <a:endParaRPr lang="en-US" sz="800" dirty="0"/>
          </a:p>
        </p:txBody>
      </p:sp>
      <p:sp>
        <p:nvSpPr>
          <p:cNvPr id="44" name="Shape 40"/>
          <p:cNvSpPr/>
          <p:nvPr/>
        </p:nvSpPr>
        <p:spPr>
          <a:xfrm>
            <a:off x="2386584" y="3035808"/>
            <a:ext cx="155448" cy="0"/>
          </a:xfrm>
          <a:prstGeom prst="line">
            <a:avLst/>
          </a:prstGeom>
          <a:noFill/>
          <a:ln w="15875">
            <a:solidFill>
              <a:srgbClr val="132A4C"/>
            </a:solidFill>
            <a:prstDash val="solid"/>
            <a:tailEnd type="triangle"/>
          </a:ln>
        </p:spPr>
      </p:sp>
      <p:sp>
        <p:nvSpPr>
          <p:cNvPr id="45" name="Shape 41"/>
          <p:cNvSpPr/>
          <p:nvPr/>
        </p:nvSpPr>
        <p:spPr>
          <a:xfrm>
            <a:off x="2578608" y="2633472"/>
            <a:ext cx="868680" cy="804672"/>
          </a:xfrm>
          <a:prstGeom prst="roundRect">
            <a:avLst>
              <a:gd name="adj" fmla="val 5682"/>
            </a:avLst>
          </a:prstGeom>
          <a:solidFill>
            <a:srgbClr val="FFFFFF"/>
          </a:solidFill>
          <a:ln w="12700">
            <a:solidFill>
              <a:srgbClr val="DCD6CB"/>
            </a:solidFill>
            <a:prstDash val="solid"/>
          </a:ln>
        </p:spPr>
      </p:sp>
      <p:pic>
        <p:nvPicPr>
          <p:cNvPr id="46" name="Image 2" descr="/sessions/zealous-intelligent-mayer/mnt/outputs/icons/reason.png"/>
          <p:cNvPicPr>
            <a:picLocks noChangeAspect="1"/>
          </p:cNvPicPr>
          <p:nvPr/>
        </p:nvPicPr>
        <p:blipFill>
          <a:blip r:embed="rId5"/>
          <a:stretch>
            <a:fillRect/>
          </a:stretch>
        </p:blipFill>
        <p:spPr>
          <a:xfrm>
            <a:off x="2875788" y="2761488"/>
            <a:ext cx="274320" cy="274320"/>
          </a:xfrm>
          <a:prstGeom prst="rect">
            <a:avLst/>
          </a:prstGeom>
        </p:spPr>
      </p:pic>
      <p:sp>
        <p:nvSpPr>
          <p:cNvPr id="47" name="Text 42"/>
          <p:cNvSpPr/>
          <p:nvPr/>
        </p:nvSpPr>
        <p:spPr>
          <a:xfrm>
            <a:off x="2578608" y="3108960"/>
            <a:ext cx="868680" cy="201168"/>
          </a:xfrm>
          <a:prstGeom prst="rect">
            <a:avLst/>
          </a:prstGeom>
          <a:noFill/>
          <a:ln/>
        </p:spPr>
        <p:txBody>
          <a:bodyPr wrap="square" lIns="0" tIns="0" rIns="0" bIns="0" rtlCol="0" anchor="ctr"/>
          <a:lstStyle/>
          <a:p>
            <a:pPr marL="0" indent="0" algn="ctr">
              <a:buNone/>
            </a:pPr>
            <a:r>
              <a:rPr lang="en-US" sz="800" b="1" dirty="0">
                <a:solidFill>
                  <a:srgbClr val="132A4C"/>
                </a:solidFill>
                <a:latin typeface="Arial" pitchFamily="34" charset="0"/>
                <a:ea typeface="Arial" pitchFamily="34" charset="-122"/>
                <a:cs typeface="Arial" pitchFamily="34" charset="-120"/>
              </a:rPr>
              <a:t>Reason</a:t>
            </a:r>
            <a:endParaRPr lang="en-US" sz="800" dirty="0"/>
          </a:p>
        </p:txBody>
      </p:sp>
      <p:sp>
        <p:nvSpPr>
          <p:cNvPr id="48" name="Shape 43"/>
          <p:cNvSpPr/>
          <p:nvPr/>
        </p:nvSpPr>
        <p:spPr>
          <a:xfrm>
            <a:off x="3483864" y="3035808"/>
            <a:ext cx="155448" cy="0"/>
          </a:xfrm>
          <a:prstGeom prst="line">
            <a:avLst/>
          </a:prstGeom>
          <a:noFill/>
          <a:ln w="15875">
            <a:solidFill>
              <a:srgbClr val="132A4C"/>
            </a:solidFill>
            <a:prstDash val="solid"/>
            <a:tailEnd type="triangle"/>
          </a:ln>
        </p:spPr>
      </p:sp>
      <p:sp>
        <p:nvSpPr>
          <p:cNvPr id="49" name="Shape 44"/>
          <p:cNvSpPr/>
          <p:nvPr/>
        </p:nvSpPr>
        <p:spPr>
          <a:xfrm>
            <a:off x="3675888" y="2633472"/>
            <a:ext cx="868680" cy="804672"/>
          </a:xfrm>
          <a:prstGeom prst="roundRect">
            <a:avLst>
              <a:gd name="adj" fmla="val 5682"/>
            </a:avLst>
          </a:prstGeom>
          <a:solidFill>
            <a:srgbClr val="0F2440"/>
          </a:solidFill>
          <a:ln w="12700">
            <a:solidFill>
              <a:srgbClr val="0F2440"/>
            </a:solidFill>
            <a:prstDash val="solid"/>
          </a:ln>
        </p:spPr>
      </p:sp>
      <p:pic>
        <p:nvPicPr>
          <p:cNvPr id="50" name="Image 3" descr="/sessions/zealous-intelligent-mayer/mnt/outputs/icons/act.png"/>
          <p:cNvPicPr>
            <a:picLocks noChangeAspect="1"/>
          </p:cNvPicPr>
          <p:nvPr/>
        </p:nvPicPr>
        <p:blipFill>
          <a:blip r:embed="rId6"/>
          <a:stretch>
            <a:fillRect/>
          </a:stretch>
        </p:blipFill>
        <p:spPr>
          <a:xfrm>
            <a:off x="3973068" y="2761488"/>
            <a:ext cx="274320" cy="274320"/>
          </a:xfrm>
          <a:prstGeom prst="rect">
            <a:avLst/>
          </a:prstGeom>
        </p:spPr>
      </p:pic>
      <p:sp>
        <p:nvSpPr>
          <p:cNvPr id="51" name="Text 45"/>
          <p:cNvSpPr/>
          <p:nvPr/>
        </p:nvSpPr>
        <p:spPr>
          <a:xfrm>
            <a:off x="3675888" y="3108960"/>
            <a:ext cx="86868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Act</a:t>
            </a:r>
            <a:endParaRPr lang="en-US" sz="800" dirty="0"/>
          </a:p>
        </p:txBody>
      </p:sp>
      <p:sp>
        <p:nvSpPr>
          <p:cNvPr id="52" name="Shape 46"/>
          <p:cNvSpPr/>
          <p:nvPr/>
        </p:nvSpPr>
        <p:spPr>
          <a:xfrm>
            <a:off x="384048" y="3593592"/>
            <a:ext cx="219456" cy="219456"/>
          </a:xfrm>
          <a:prstGeom prst="ellipse">
            <a:avLst/>
          </a:prstGeom>
          <a:solidFill>
            <a:srgbClr val="E8552F"/>
          </a:solidFill>
          <a:ln/>
        </p:spPr>
      </p:sp>
      <p:pic>
        <p:nvPicPr>
          <p:cNvPr id="53" name="Image 4" descr="/sessions/zealous-intelligent-mayer/mnt/outputs/icons/warn.png"/>
          <p:cNvPicPr>
            <a:picLocks noChangeAspect="1"/>
          </p:cNvPicPr>
          <p:nvPr/>
        </p:nvPicPr>
        <p:blipFill>
          <a:blip r:embed="rId7"/>
          <a:stretch>
            <a:fillRect/>
          </a:stretch>
        </p:blipFill>
        <p:spPr>
          <a:xfrm>
            <a:off x="461772" y="3634740"/>
            <a:ext cx="68580" cy="123444"/>
          </a:xfrm>
          <a:prstGeom prst="rect">
            <a:avLst/>
          </a:prstGeom>
        </p:spPr>
      </p:pic>
      <p:sp>
        <p:nvSpPr>
          <p:cNvPr id="54" name="Text 47"/>
          <p:cNvSpPr/>
          <p:nvPr/>
        </p:nvSpPr>
        <p:spPr>
          <a:xfrm>
            <a:off x="694944" y="3602736"/>
            <a:ext cx="3931920" cy="201168"/>
          </a:xfrm>
          <a:prstGeom prst="rect">
            <a:avLst/>
          </a:prstGeom>
          <a:noFill/>
          <a:ln/>
        </p:spPr>
        <p:txBody>
          <a:bodyPr wrap="square" lIns="0" tIns="0" rIns="0" bIns="0" rtlCol="0" anchor="ctr"/>
          <a:lstStyle/>
          <a:p>
            <a:pPr marL="0" indent="0">
              <a:buNone/>
            </a:pPr>
            <a:r>
              <a:rPr lang="en-US" sz="800" dirty="0">
                <a:solidFill>
                  <a:srgbClr val="4A5B72"/>
                </a:solidFill>
                <a:latin typeface="Arial" pitchFamily="34" charset="0"/>
                <a:ea typeface="Arial" pitchFamily="34" charset="-122"/>
                <a:cs typeface="Arial" pitchFamily="34" charset="-120"/>
              </a:rPr>
              <a:t>Breaks the moment a workflow needs more than one specialist.</a:t>
            </a:r>
            <a:endParaRPr lang="en-US" sz="800" dirty="0"/>
          </a:p>
        </p:txBody>
      </p:sp>
      <p:sp>
        <p:nvSpPr>
          <p:cNvPr id="55" name="Text 48"/>
          <p:cNvSpPr/>
          <p:nvPr/>
        </p:nvSpPr>
        <p:spPr>
          <a:xfrm>
            <a:off x="4983480" y="100584"/>
            <a:ext cx="7132320" cy="329184"/>
          </a:xfrm>
          <a:prstGeom prst="rect">
            <a:avLst/>
          </a:prstGeom>
          <a:noFill/>
          <a:ln/>
        </p:spPr>
        <p:txBody>
          <a:bodyPr wrap="square" lIns="0" tIns="0" rIns="0" bIns="0" rtlCol="0" anchor="ctr"/>
          <a:lstStyle/>
          <a:p>
            <a:pPr marL="0" indent="0" algn="ctr">
              <a:buNone/>
            </a:pPr>
            <a:r>
              <a:rPr lang="en-US" sz="2000" b="1" kern="0" spc="50" dirty="0">
                <a:solidFill>
                  <a:srgbClr val="FFFFFF"/>
                </a:solidFill>
                <a:latin typeface="Arial" pitchFamily="34" charset="0"/>
                <a:ea typeface="Arial" pitchFamily="34" charset="-122"/>
                <a:cs typeface="Arial" pitchFamily="34" charset="-120"/>
              </a:rPr>
              <a:t>AGENT MESH</a:t>
            </a:r>
            <a:endParaRPr lang="en-US" sz="2000" dirty="0"/>
          </a:p>
        </p:txBody>
      </p:sp>
      <p:sp>
        <p:nvSpPr>
          <p:cNvPr id="56" name="Text 49"/>
          <p:cNvSpPr/>
          <p:nvPr/>
        </p:nvSpPr>
        <p:spPr>
          <a:xfrm>
            <a:off x="4983480" y="429768"/>
            <a:ext cx="7132320" cy="201168"/>
          </a:xfrm>
          <a:prstGeom prst="rect">
            <a:avLst/>
          </a:prstGeom>
          <a:noFill/>
          <a:ln/>
        </p:spPr>
        <p:txBody>
          <a:bodyPr wrap="square" lIns="0" tIns="0" rIns="0" bIns="0" rtlCol="0" anchor="ctr"/>
          <a:lstStyle/>
          <a:p>
            <a:pPr marL="0" indent="0" algn="ctr">
              <a:buNone/>
            </a:pPr>
            <a:r>
              <a:rPr lang="en-US" sz="950" dirty="0">
                <a:solidFill>
                  <a:srgbClr val="A9BBD4"/>
                </a:solidFill>
                <a:latin typeface="Arial" pitchFamily="34" charset="0"/>
                <a:ea typeface="Arial" pitchFamily="34" charset="-122"/>
                <a:cs typeface="Arial" pitchFamily="34" charset="-120"/>
              </a:rPr>
              <a:t>Specialist agents. Shared context. Governed handoffs.</a:t>
            </a:r>
            <a:endParaRPr lang="en-US" sz="950" dirty="0"/>
          </a:p>
        </p:txBody>
      </p:sp>
      <p:sp>
        <p:nvSpPr>
          <p:cNvPr id="57" name="Shape 50"/>
          <p:cNvSpPr/>
          <p:nvPr/>
        </p:nvSpPr>
        <p:spPr>
          <a:xfrm>
            <a:off x="7086600" y="1069848"/>
            <a:ext cx="3017520" cy="2432304"/>
          </a:xfrm>
          <a:prstGeom prst="ellipse">
            <a:avLst/>
          </a:prstGeom>
          <a:solidFill>
            <a:srgbClr val="FFFFFF">
              <a:alpha val="0"/>
            </a:srgbClr>
          </a:solidFill>
          <a:ln w="12700">
            <a:solidFill>
              <a:srgbClr val="3E6288"/>
            </a:solidFill>
            <a:prstDash val="sysDash"/>
          </a:ln>
        </p:spPr>
      </p:sp>
      <p:sp>
        <p:nvSpPr>
          <p:cNvPr id="58" name="Shape 51"/>
          <p:cNvSpPr/>
          <p:nvPr/>
        </p:nvSpPr>
        <p:spPr>
          <a:xfrm>
            <a:off x="7973568" y="1901952"/>
            <a:ext cx="1243584" cy="768096"/>
          </a:xfrm>
          <a:prstGeom prst="roundRect">
            <a:avLst>
              <a:gd name="adj" fmla="val 8333"/>
            </a:avLst>
          </a:prstGeom>
          <a:solidFill>
            <a:srgbClr val="0C2038"/>
          </a:solidFill>
          <a:ln w="15875">
            <a:solidFill>
              <a:srgbClr val="22A6D8"/>
            </a:solidFill>
            <a:prstDash val="solid"/>
          </a:ln>
        </p:spPr>
      </p:sp>
      <p:pic>
        <p:nvPicPr>
          <p:cNvPr id="59" name="Image 5" descr="/sessions/zealous-intelligent-mayer/mnt/outputs/icons/hub.png"/>
          <p:cNvPicPr>
            <a:picLocks noChangeAspect="1"/>
          </p:cNvPicPr>
          <p:nvPr/>
        </p:nvPicPr>
        <p:blipFill>
          <a:blip r:embed="rId8"/>
          <a:stretch>
            <a:fillRect/>
          </a:stretch>
        </p:blipFill>
        <p:spPr>
          <a:xfrm>
            <a:off x="8476488" y="1984248"/>
            <a:ext cx="237744" cy="237744"/>
          </a:xfrm>
          <a:prstGeom prst="rect">
            <a:avLst/>
          </a:prstGeom>
        </p:spPr>
      </p:pic>
      <p:sp>
        <p:nvSpPr>
          <p:cNvPr id="60" name="Text 52"/>
          <p:cNvSpPr/>
          <p:nvPr/>
        </p:nvSpPr>
        <p:spPr>
          <a:xfrm>
            <a:off x="7973568" y="2267712"/>
            <a:ext cx="1243584" cy="310896"/>
          </a:xfrm>
          <a:prstGeom prst="rect">
            <a:avLst/>
          </a:prstGeom>
          <a:noFill/>
          <a:ln/>
        </p:spPr>
        <p:txBody>
          <a:bodyPr wrap="square" lIns="0" tIns="0" rIns="0" bIns="0" rtlCol="0" anchor="ctr"/>
          <a:lstStyle/>
          <a:p>
            <a:pPr marL="0" indent="0" algn="ctr">
              <a:lnSpc>
                <a:spcPct val="110000"/>
              </a:lnSpc>
              <a:buNone/>
            </a:pPr>
            <a:r>
              <a:rPr lang="en-US" sz="650" b="1" dirty="0">
                <a:solidFill>
                  <a:srgbClr val="FFFFFF"/>
                </a:solidFill>
                <a:latin typeface="Arial" pitchFamily="34" charset="0"/>
                <a:ea typeface="Arial" pitchFamily="34" charset="-122"/>
                <a:cs typeface="Arial" pitchFamily="34" charset="-120"/>
              </a:rPr>
              <a:t>SHARED CONTEXT</a:t>
            </a:r>
            <a:endParaRPr lang="en-US" sz="650" dirty="0"/>
          </a:p>
          <a:p>
            <a:pPr marL="0" indent="0" algn="ctr">
              <a:lnSpc>
                <a:spcPct val="110000"/>
              </a:lnSpc>
              <a:buNone/>
            </a:pPr>
            <a:r>
              <a:rPr lang="en-US" sz="650" b="1" dirty="0">
                <a:solidFill>
                  <a:srgbClr val="FFFFFF"/>
                </a:solidFill>
                <a:latin typeface="Arial" pitchFamily="34" charset="0"/>
                <a:ea typeface="Arial" pitchFamily="34" charset="-122"/>
                <a:cs typeface="Arial" pitchFamily="34" charset="-120"/>
              </a:rPr>
              <a:t>&amp; MEMORY</a:t>
            </a:r>
            <a:endParaRPr lang="en-US" sz="650" dirty="0"/>
          </a:p>
        </p:txBody>
      </p:sp>
      <p:sp>
        <p:nvSpPr>
          <p:cNvPr id="61" name="Shape 53"/>
          <p:cNvSpPr/>
          <p:nvPr/>
        </p:nvSpPr>
        <p:spPr>
          <a:xfrm>
            <a:off x="8321040" y="777240"/>
            <a:ext cx="548640" cy="548640"/>
          </a:xfrm>
          <a:prstGeom prst="ellipse">
            <a:avLst/>
          </a:prstGeom>
          <a:solidFill>
            <a:srgbClr val="0B1E34"/>
          </a:solidFill>
          <a:ln w="22225">
            <a:solidFill>
              <a:srgbClr val="3DDC91"/>
            </a:solidFill>
            <a:prstDash val="solid"/>
          </a:ln>
        </p:spPr>
      </p:sp>
      <p:pic>
        <p:nvPicPr>
          <p:cNvPr id="62" name="Image 6" descr="/sessions/zealous-intelligent-mayer/mnt/outputs/icons/sap.png"/>
          <p:cNvPicPr>
            <a:picLocks noChangeAspect="1"/>
          </p:cNvPicPr>
          <p:nvPr/>
        </p:nvPicPr>
        <p:blipFill>
          <a:blip r:embed="rId9"/>
          <a:stretch>
            <a:fillRect/>
          </a:stretch>
        </p:blipFill>
        <p:spPr>
          <a:xfrm>
            <a:off x="8467344" y="923544"/>
            <a:ext cx="256032" cy="256032"/>
          </a:xfrm>
          <a:prstGeom prst="rect">
            <a:avLst/>
          </a:prstGeom>
        </p:spPr>
      </p:pic>
      <p:sp>
        <p:nvSpPr>
          <p:cNvPr id="63" name="Text 54"/>
          <p:cNvSpPr/>
          <p:nvPr/>
        </p:nvSpPr>
        <p:spPr>
          <a:xfrm>
            <a:off x="9015984" y="731520"/>
            <a:ext cx="1481328" cy="164592"/>
          </a:xfrm>
          <a:prstGeom prst="rect">
            <a:avLst/>
          </a:prstGeom>
          <a:noFill/>
          <a:ln/>
        </p:spPr>
        <p:txBody>
          <a:bodyPr wrap="square" lIns="0" tIns="0" rIns="0" bIns="0" rtlCol="0" anchor="ctr"/>
          <a:lstStyle/>
          <a:p>
            <a:pPr marL="0" indent="0" algn="l">
              <a:buNone/>
            </a:pPr>
            <a:r>
              <a:rPr lang="en-US" sz="800" b="1" dirty="0">
                <a:solidFill>
                  <a:srgbClr val="3DDC91"/>
                </a:solidFill>
                <a:latin typeface="Arial" pitchFamily="34" charset="0"/>
                <a:ea typeface="Arial" pitchFamily="34" charset="-122"/>
                <a:cs typeface="Arial" pitchFamily="34" charset="-120"/>
              </a:rPr>
              <a:t>SAP AGENT</a:t>
            </a:r>
            <a:endParaRPr lang="en-US" sz="800" dirty="0"/>
          </a:p>
        </p:txBody>
      </p:sp>
      <p:sp>
        <p:nvSpPr>
          <p:cNvPr id="64" name="Text 55"/>
          <p:cNvSpPr/>
          <p:nvPr/>
        </p:nvSpPr>
        <p:spPr>
          <a:xfrm>
            <a:off x="9015984" y="905256"/>
            <a:ext cx="1481328" cy="310896"/>
          </a:xfrm>
          <a:prstGeom prst="rect">
            <a:avLst/>
          </a:prstGeom>
          <a:noFill/>
          <a:ln/>
        </p:spPr>
        <p:txBody>
          <a:bodyPr wrap="square" lIns="0" tIns="0" rIns="0" bIns="0" rtlCol="0" anchor="ctr"/>
          <a:lstStyle/>
          <a:p>
            <a:pPr marL="0" indent="0" algn="l">
              <a:lnSpc>
                <a:spcPct val="110000"/>
              </a:lnSpc>
              <a:buNone/>
            </a:pPr>
            <a:r>
              <a:rPr lang="en-US" sz="680" dirty="0">
                <a:solidFill>
                  <a:srgbClr val="A9BBD4"/>
                </a:solidFill>
                <a:latin typeface="Arial" pitchFamily="34" charset="0"/>
                <a:ea typeface="Arial" pitchFamily="34" charset="-122"/>
                <a:cs typeface="Arial" pitchFamily="34" charset="-120"/>
              </a:rPr>
              <a:t>Core ERP and finance.</a:t>
            </a:r>
            <a:endParaRPr lang="en-US" sz="680" dirty="0"/>
          </a:p>
          <a:p>
            <a:pPr marL="0" indent="0" algn="l">
              <a:lnSpc>
                <a:spcPct val="110000"/>
              </a:lnSpc>
              <a:buNone/>
            </a:pPr>
            <a:r>
              <a:rPr lang="en-US" sz="680" dirty="0">
                <a:solidFill>
                  <a:srgbClr val="A9BBD4"/>
                </a:solidFill>
                <a:latin typeface="Arial" pitchFamily="34" charset="0"/>
                <a:ea typeface="Arial" pitchFamily="34" charset="-122"/>
                <a:cs typeface="Arial" pitchFamily="34" charset="-120"/>
              </a:rPr>
              <a:t>Postings, master data.</a:t>
            </a:r>
            <a:endParaRPr lang="en-US" sz="680" dirty="0"/>
          </a:p>
        </p:txBody>
      </p:sp>
      <p:sp>
        <p:nvSpPr>
          <p:cNvPr id="65" name="Shape 56"/>
          <p:cNvSpPr/>
          <p:nvPr/>
        </p:nvSpPr>
        <p:spPr>
          <a:xfrm>
            <a:off x="7059168" y="2011680"/>
            <a:ext cx="548640" cy="548640"/>
          </a:xfrm>
          <a:prstGeom prst="ellipse">
            <a:avLst/>
          </a:prstGeom>
          <a:solidFill>
            <a:srgbClr val="0B1E34"/>
          </a:solidFill>
          <a:ln w="22225">
            <a:solidFill>
              <a:srgbClr val="C084FC"/>
            </a:solidFill>
            <a:prstDash val="solid"/>
          </a:ln>
        </p:spPr>
      </p:sp>
      <p:pic>
        <p:nvPicPr>
          <p:cNvPr id="66" name="Image 7" descr="/sessions/zealous-intelligent-mayer/mnt/outputs/icons/jde.png"/>
          <p:cNvPicPr>
            <a:picLocks noChangeAspect="1"/>
          </p:cNvPicPr>
          <p:nvPr/>
        </p:nvPicPr>
        <p:blipFill>
          <a:blip r:embed="rId10"/>
          <a:stretch>
            <a:fillRect/>
          </a:stretch>
        </p:blipFill>
        <p:spPr>
          <a:xfrm>
            <a:off x="7205472" y="2157984"/>
            <a:ext cx="256032" cy="256032"/>
          </a:xfrm>
          <a:prstGeom prst="rect">
            <a:avLst/>
          </a:prstGeom>
        </p:spPr>
      </p:pic>
      <p:sp>
        <p:nvSpPr>
          <p:cNvPr id="67" name="Text 57"/>
          <p:cNvSpPr/>
          <p:nvPr/>
        </p:nvSpPr>
        <p:spPr>
          <a:xfrm>
            <a:off x="5541264" y="1956816"/>
            <a:ext cx="1426464" cy="164592"/>
          </a:xfrm>
          <a:prstGeom prst="rect">
            <a:avLst/>
          </a:prstGeom>
          <a:noFill/>
          <a:ln/>
        </p:spPr>
        <p:txBody>
          <a:bodyPr wrap="square" lIns="0" tIns="0" rIns="0" bIns="0" rtlCol="0" anchor="ctr"/>
          <a:lstStyle/>
          <a:p>
            <a:pPr marL="0" indent="0" algn="r">
              <a:buNone/>
            </a:pPr>
            <a:r>
              <a:rPr lang="en-US" sz="800" b="1" dirty="0">
                <a:solidFill>
                  <a:srgbClr val="C084FC"/>
                </a:solidFill>
                <a:latin typeface="Arial" pitchFamily="34" charset="0"/>
                <a:ea typeface="Arial" pitchFamily="34" charset="-122"/>
                <a:cs typeface="Arial" pitchFamily="34" charset="-120"/>
              </a:rPr>
              <a:t>JDE AGENT</a:t>
            </a:r>
            <a:endParaRPr lang="en-US" sz="800" dirty="0"/>
          </a:p>
        </p:txBody>
      </p:sp>
      <p:sp>
        <p:nvSpPr>
          <p:cNvPr id="68" name="Text 58"/>
          <p:cNvSpPr/>
          <p:nvPr/>
        </p:nvSpPr>
        <p:spPr>
          <a:xfrm>
            <a:off x="5541264" y="2130552"/>
            <a:ext cx="1426464" cy="310896"/>
          </a:xfrm>
          <a:prstGeom prst="rect">
            <a:avLst/>
          </a:prstGeom>
          <a:noFill/>
          <a:ln/>
        </p:spPr>
        <p:txBody>
          <a:bodyPr wrap="square" lIns="0" tIns="0" rIns="0" bIns="0" rtlCol="0" anchor="ctr"/>
          <a:lstStyle/>
          <a:p>
            <a:pPr marL="0" indent="0" algn="r">
              <a:lnSpc>
                <a:spcPct val="110000"/>
              </a:lnSpc>
              <a:buNone/>
            </a:pPr>
            <a:r>
              <a:rPr lang="en-US" sz="680" dirty="0">
                <a:solidFill>
                  <a:srgbClr val="A9BBD4"/>
                </a:solidFill>
                <a:latin typeface="Arial" pitchFamily="34" charset="0"/>
                <a:ea typeface="Arial" pitchFamily="34" charset="-122"/>
                <a:cs typeface="Arial" pitchFamily="34" charset="-120"/>
              </a:rPr>
              <a:t>Manufacturing and supply.</a:t>
            </a:r>
            <a:endParaRPr lang="en-US" sz="680" dirty="0"/>
          </a:p>
          <a:p>
            <a:pPr marL="0" indent="0" algn="r">
              <a:lnSpc>
                <a:spcPct val="110000"/>
              </a:lnSpc>
              <a:buNone/>
            </a:pPr>
            <a:r>
              <a:rPr lang="en-US" sz="680" dirty="0">
                <a:solidFill>
                  <a:srgbClr val="A9BBD4"/>
                </a:solidFill>
                <a:latin typeface="Arial" pitchFamily="34" charset="0"/>
                <a:ea typeface="Arial" pitchFamily="34" charset="-122"/>
                <a:cs typeface="Arial" pitchFamily="34" charset="-120"/>
              </a:rPr>
              <a:t>Inventory, work orders.</a:t>
            </a:r>
            <a:endParaRPr lang="en-US" sz="680" dirty="0"/>
          </a:p>
        </p:txBody>
      </p:sp>
      <p:sp>
        <p:nvSpPr>
          <p:cNvPr id="69" name="Shape 59"/>
          <p:cNvSpPr/>
          <p:nvPr/>
        </p:nvSpPr>
        <p:spPr>
          <a:xfrm>
            <a:off x="9582912" y="2011680"/>
            <a:ext cx="548640" cy="548640"/>
          </a:xfrm>
          <a:prstGeom prst="ellipse">
            <a:avLst/>
          </a:prstGeom>
          <a:solidFill>
            <a:srgbClr val="0B1E34"/>
          </a:solidFill>
          <a:ln w="22225">
            <a:solidFill>
              <a:srgbClr val="60A5FA"/>
            </a:solidFill>
            <a:prstDash val="solid"/>
          </a:ln>
        </p:spPr>
      </p:sp>
      <p:pic>
        <p:nvPicPr>
          <p:cNvPr id="70" name="Image 8" descr="/sessions/zealous-intelligent-mayer/mnt/outputs/icons/databricks.png"/>
          <p:cNvPicPr>
            <a:picLocks noChangeAspect="1"/>
          </p:cNvPicPr>
          <p:nvPr/>
        </p:nvPicPr>
        <p:blipFill>
          <a:blip r:embed="rId11"/>
          <a:stretch>
            <a:fillRect/>
          </a:stretch>
        </p:blipFill>
        <p:spPr>
          <a:xfrm>
            <a:off x="9729216" y="2157984"/>
            <a:ext cx="256032" cy="256032"/>
          </a:xfrm>
          <a:prstGeom prst="rect">
            <a:avLst/>
          </a:prstGeom>
        </p:spPr>
      </p:pic>
      <p:sp>
        <p:nvSpPr>
          <p:cNvPr id="71" name="Text 60"/>
          <p:cNvSpPr/>
          <p:nvPr/>
        </p:nvSpPr>
        <p:spPr>
          <a:xfrm>
            <a:off x="10241280" y="1956816"/>
            <a:ext cx="1463040" cy="164592"/>
          </a:xfrm>
          <a:prstGeom prst="rect">
            <a:avLst/>
          </a:prstGeom>
          <a:noFill/>
          <a:ln/>
        </p:spPr>
        <p:txBody>
          <a:bodyPr wrap="square" lIns="0" tIns="0" rIns="0" bIns="0" rtlCol="0" anchor="ctr"/>
          <a:lstStyle/>
          <a:p>
            <a:pPr marL="0" indent="0" algn="l">
              <a:buNone/>
            </a:pPr>
            <a:r>
              <a:rPr lang="en-US" sz="800" b="1" dirty="0">
                <a:solidFill>
                  <a:srgbClr val="60A5FA"/>
                </a:solidFill>
                <a:latin typeface="Arial" pitchFamily="34" charset="0"/>
                <a:ea typeface="Arial" pitchFamily="34" charset="-122"/>
                <a:cs typeface="Arial" pitchFamily="34" charset="-120"/>
              </a:rPr>
              <a:t>DATABRICKS AGENT</a:t>
            </a:r>
            <a:endParaRPr lang="en-US" sz="800" dirty="0"/>
          </a:p>
        </p:txBody>
      </p:sp>
      <p:sp>
        <p:nvSpPr>
          <p:cNvPr id="72" name="Text 61"/>
          <p:cNvSpPr/>
          <p:nvPr/>
        </p:nvSpPr>
        <p:spPr>
          <a:xfrm>
            <a:off x="10241280" y="2130552"/>
            <a:ext cx="1463040" cy="310896"/>
          </a:xfrm>
          <a:prstGeom prst="rect">
            <a:avLst/>
          </a:prstGeom>
          <a:noFill/>
          <a:ln/>
        </p:spPr>
        <p:txBody>
          <a:bodyPr wrap="square" lIns="0" tIns="0" rIns="0" bIns="0" rtlCol="0" anchor="ctr"/>
          <a:lstStyle/>
          <a:p>
            <a:pPr marL="0" indent="0" algn="l">
              <a:lnSpc>
                <a:spcPct val="110000"/>
              </a:lnSpc>
              <a:buNone/>
            </a:pPr>
            <a:r>
              <a:rPr lang="en-US" sz="680" dirty="0">
                <a:solidFill>
                  <a:srgbClr val="A9BBD4"/>
                </a:solidFill>
                <a:latin typeface="Arial" pitchFamily="34" charset="0"/>
                <a:ea typeface="Arial" pitchFamily="34" charset="-122"/>
                <a:cs typeface="Arial" pitchFamily="34" charset="-120"/>
              </a:rPr>
              <a:t>Lakehouse analytics.</a:t>
            </a:r>
            <a:endParaRPr lang="en-US" sz="680" dirty="0"/>
          </a:p>
          <a:p>
            <a:pPr marL="0" indent="0" algn="l">
              <a:lnSpc>
                <a:spcPct val="110000"/>
              </a:lnSpc>
              <a:buNone/>
            </a:pPr>
            <a:r>
              <a:rPr lang="en-US" sz="680" dirty="0">
                <a:solidFill>
                  <a:srgbClr val="A9BBD4"/>
                </a:solidFill>
                <a:latin typeface="Arial" pitchFamily="34" charset="0"/>
                <a:ea typeface="Arial" pitchFamily="34" charset="-122"/>
                <a:cs typeface="Arial" pitchFamily="34" charset="-120"/>
              </a:rPr>
              <a:t>Features, models, history.</a:t>
            </a:r>
            <a:endParaRPr lang="en-US" sz="680" dirty="0"/>
          </a:p>
        </p:txBody>
      </p:sp>
      <p:sp>
        <p:nvSpPr>
          <p:cNvPr id="73" name="Shape 62"/>
          <p:cNvSpPr/>
          <p:nvPr/>
        </p:nvSpPr>
        <p:spPr>
          <a:xfrm>
            <a:off x="8321040" y="3246120"/>
            <a:ext cx="548640" cy="548640"/>
          </a:xfrm>
          <a:prstGeom prst="ellipse">
            <a:avLst/>
          </a:prstGeom>
          <a:solidFill>
            <a:srgbClr val="0B1E34"/>
          </a:solidFill>
          <a:ln w="22225">
            <a:solidFill>
              <a:srgbClr val="FBBF24"/>
            </a:solidFill>
            <a:prstDash val="solid"/>
          </a:ln>
        </p:spPr>
      </p:sp>
      <p:pic>
        <p:nvPicPr>
          <p:cNvPr id="74" name="Image 9" descr="/sessions/zealous-intelligent-mayer/mnt/outputs/icons/factorytalk.png"/>
          <p:cNvPicPr>
            <a:picLocks noChangeAspect="1"/>
          </p:cNvPicPr>
          <p:nvPr/>
        </p:nvPicPr>
        <p:blipFill>
          <a:blip r:embed="rId12"/>
          <a:stretch>
            <a:fillRect/>
          </a:stretch>
        </p:blipFill>
        <p:spPr>
          <a:xfrm>
            <a:off x="8467344" y="3392424"/>
            <a:ext cx="256032" cy="256032"/>
          </a:xfrm>
          <a:prstGeom prst="rect">
            <a:avLst/>
          </a:prstGeom>
        </p:spPr>
      </p:pic>
      <p:sp>
        <p:nvSpPr>
          <p:cNvPr id="75" name="Text 63"/>
          <p:cNvSpPr/>
          <p:nvPr/>
        </p:nvSpPr>
        <p:spPr>
          <a:xfrm>
            <a:off x="9015984" y="3182112"/>
            <a:ext cx="1444752" cy="164592"/>
          </a:xfrm>
          <a:prstGeom prst="rect">
            <a:avLst/>
          </a:prstGeom>
          <a:noFill/>
          <a:ln/>
        </p:spPr>
        <p:txBody>
          <a:bodyPr wrap="square" lIns="0" tIns="0" rIns="0" bIns="0" rtlCol="0" anchor="ctr"/>
          <a:lstStyle/>
          <a:p>
            <a:pPr marL="0" indent="0" algn="l">
              <a:buNone/>
            </a:pPr>
            <a:r>
              <a:rPr lang="en-US" sz="800" b="1" dirty="0">
                <a:solidFill>
                  <a:srgbClr val="FBBF24"/>
                </a:solidFill>
                <a:latin typeface="Arial" pitchFamily="34" charset="0"/>
                <a:ea typeface="Arial" pitchFamily="34" charset="-122"/>
                <a:cs typeface="Arial" pitchFamily="34" charset="-120"/>
              </a:rPr>
              <a:t>FACTORYTALK AGENT</a:t>
            </a:r>
            <a:endParaRPr lang="en-US" sz="800" dirty="0"/>
          </a:p>
        </p:txBody>
      </p:sp>
      <p:sp>
        <p:nvSpPr>
          <p:cNvPr id="76" name="Text 64"/>
          <p:cNvSpPr/>
          <p:nvPr/>
        </p:nvSpPr>
        <p:spPr>
          <a:xfrm>
            <a:off x="9015984" y="3355848"/>
            <a:ext cx="1444752" cy="310896"/>
          </a:xfrm>
          <a:prstGeom prst="rect">
            <a:avLst/>
          </a:prstGeom>
          <a:noFill/>
          <a:ln/>
        </p:spPr>
        <p:txBody>
          <a:bodyPr wrap="square" lIns="0" tIns="0" rIns="0" bIns="0" rtlCol="0" anchor="ctr"/>
          <a:lstStyle/>
          <a:p>
            <a:pPr marL="0" indent="0" algn="l">
              <a:lnSpc>
                <a:spcPct val="110000"/>
              </a:lnSpc>
              <a:buNone/>
            </a:pPr>
            <a:r>
              <a:rPr lang="en-US" sz="680" dirty="0">
                <a:solidFill>
                  <a:srgbClr val="A9BBD4"/>
                </a:solidFill>
                <a:latin typeface="Arial" pitchFamily="34" charset="0"/>
                <a:ea typeface="Arial" pitchFamily="34" charset="-122"/>
                <a:cs typeface="Arial" pitchFamily="34" charset="-120"/>
              </a:rPr>
              <a:t>Shop-floor telemetry.</a:t>
            </a:r>
            <a:endParaRPr lang="en-US" sz="680" dirty="0"/>
          </a:p>
          <a:p>
            <a:pPr marL="0" indent="0" algn="l">
              <a:lnSpc>
                <a:spcPct val="110000"/>
              </a:lnSpc>
              <a:buNone/>
            </a:pPr>
            <a:r>
              <a:rPr lang="en-US" sz="680" dirty="0">
                <a:solidFill>
                  <a:srgbClr val="A9BBD4"/>
                </a:solidFill>
                <a:latin typeface="Arial" pitchFamily="34" charset="0"/>
                <a:ea typeface="Arial" pitchFamily="34" charset="-122"/>
                <a:cs typeface="Arial" pitchFamily="34" charset="-120"/>
              </a:rPr>
              <a:t>Machine state and OEE.</a:t>
            </a:r>
            <a:endParaRPr lang="en-US" sz="680" dirty="0"/>
          </a:p>
        </p:txBody>
      </p:sp>
      <p:sp>
        <p:nvSpPr>
          <p:cNvPr id="77" name="Shape 65"/>
          <p:cNvSpPr/>
          <p:nvPr/>
        </p:nvSpPr>
        <p:spPr>
          <a:xfrm>
            <a:off x="8595360" y="1344168"/>
            <a:ext cx="0" cy="539496"/>
          </a:xfrm>
          <a:prstGeom prst="line">
            <a:avLst/>
          </a:prstGeom>
          <a:noFill/>
          <a:ln w="12700">
            <a:solidFill>
              <a:srgbClr val="5B7EA6"/>
            </a:solidFill>
            <a:prstDash val="solid"/>
            <a:headEnd type="triangle"/>
            <a:tailEnd type="triangle"/>
          </a:ln>
        </p:spPr>
      </p:sp>
      <p:sp>
        <p:nvSpPr>
          <p:cNvPr id="78" name="Shape 66"/>
          <p:cNvSpPr/>
          <p:nvPr/>
        </p:nvSpPr>
        <p:spPr>
          <a:xfrm>
            <a:off x="8595360" y="2688336"/>
            <a:ext cx="0" cy="539496"/>
          </a:xfrm>
          <a:prstGeom prst="line">
            <a:avLst/>
          </a:prstGeom>
          <a:noFill/>
          <a:ln w="12700">
            <a:solidFill>
              <a:srgbClr val="5B7EA6"/>
            </a:solidFill>
            <a:prstDash val="solid"/>
            <a:headEnd type="triangle"/>
            <a:tailEnd type="triangle"/>
          </a:ln>
        </p:spPr>
      </p:sp>
      <p:sp>
        <p:nvSpPr>
          <p:cNvPr id="79" name="Shape 67"/>
          <p:cNvSpPr/>
          <p:nvPr/>
        </p:nvSpPr>
        <p:spPr>
          <a:xfrm>
            <a:off x="7626096" y="2286000"/>
            <a:ext cx="329184" cy="0"/>
          </a:xfrm>
          <a:prstGeom prst="line">
            <a:avLst/>
          </a:prstGeom>
          <a:noFill/>
          <a:ln w="12700">
            <a:solidFill>
              <a:srgbClr val="5B7EA6"/>
            </a:solidFill>
            <a:prstDash val="solid"/>
            <a:headEnd type="triangle"/>
            <a:tailEnd type="triangle"/>
          </a:ln>
        </p:spPr>
      </p:sp>
      <p:sp>
        <p:nvSpPr>
          <p:cNvPr id="80" name="Shape 68"/>
          <p:cNvSpPr/>
          <p:nvPr/>
        </p:nvSpPr>
        <p:spPr>
          <a:xfrm>
            <a:off x="9235440" y="2286000"/>
            <a:ext cx="329184" cy="0"/>
          </a:xfrm>
          <a:prstGeom prst="line">
            <a:avLst/>
          </a:prstGeom>
          <a:noFill/>
          <a:ln w="12700">
            <a:solidFill>
              <a:srgbClr val="5B7EA6"/>
            </a:solidFill>
            <a:prstDash val="solid"/>
            <a:headEnd type="triangle"/>
            <a:tailEnd type="triangle"/>
          </a:ln>
        </p:spPr>
      </p:sp>
      <p:sp>
        <p:nvSpPr>
          <p:cNvPr id="81" name="Shape 69"/>
          <p:cNvSpPr/>
          <p:nvPr/>
        </p:nvSpPr>
        <p:spPr>
          <a:xfrm>
            <a:off x="5358384" y="640080"/>
            <a:ext cx="1517904" cy="749808"/>
          </a:xfrm>
          <a:prstGeom prst="roundRect">
            <a:avLst>
              <a:gd name="adj" fmla="val 7317"/>
            </a:avLst>
          </a:prstGeom>
          <a:solidFill>
            <a:srgbClr val="12263E"/>
          </a:solidFill>
          <a:ln w="12700">
            <a:solidFill>
              <a:srgbClr val="24405F"/>
            </a:solidFill>
            <a:prstDash val="solid"/>
          </a:ln>
        </p:spPr>
      </p:sp>
      <p:pic>
        <p:nvPicPr>
          <p:cNvPr id="82" name="Image 10" descr="/sessions/zealous-intelligent-mayer/mnt/outputs/icons/handshake.png"/>
          <p:cNvPicPr>
            <a:picLocks noChangeAspect="1"/>
          </p:cNvPicPr>
          <p:nvPr/>
        </p:nvPicPr>
        <p:blipFill>
          <a:blip r:embed="rId13"/>
          <a:stretch>
            <a:fillRect/>
          </a:stretch>
        </p:blipFill>
        <p:spPr>
          <a:xfrm>
            <a:off x="5468112" y="777240"/>
            <a:ext cx="219456" cy="219456"/>
          </a:xfrm>
          <a:prstGeom prst="rect">
            <a:avLst/>
          </a:prstGeom>
        </p:spPr>
      </p:pic>
      <p:sp>
        <p:nvSpPr>
          <p:cNvPr id="83" name="Text 70"/>
          <p:cNvSpPr/>
          <p:nvPr/>
        </p:nvSpPr>
        <p:spPr>
          <a:xfrm>
            <a:off x="5760720" y="722376"/>
            <a:ext cx="1024128" cy="274320"/>
          </a:xfrm>
          <a:prstGeom prst="rect">
            <a:avLst/>
          </a:prstGeom>
          <a:noFill/>
          <a:ln/>
        </p:spPr>
        <p:txBody>
          <a:bodyPr wrap="square" lIns="0" tIns="0" rIns="0" bIns="0" rtlCol="0" anchor="ctr"/>
          <a:lstStyle/>
          <a:p>
            <a:pPr marL="0" indent="0">
              <a:lnSpc>
                <a:spcPct val="105000"/>
              </a:lnSpc>
              <a:buNone/>
            </a:pPr>
            <a:r>
              <a:rPr lang="en-US" sz="650" b="1" dirty="0">
                <a:solidFill>
                  <a:srgbClr val="FFFFFF"/>
                </a:solidFill>
                <a:latin typeface="Arial" pitchFamily="34" charset="0"/>
                <a:ea typeface="Arial" pitchFamily="34" charset="-122"/>
                <a:cs typeface="Arial" pitchFamily="34" charset="-120"/>
              </a:rPr>
              <a:t>GOVERNED</a:t>
            </a:r>
            <a:endParaRPr lang="en-US" sz="650" dirty="0"/>
          </a:p>
          <a:p>
            <a:pPr marL="0" indent="0">
              <a:lnSpc>
                <a:spcPct val="105000"/>
              </a:lnSpc>
              <a:buNone/>
            </a:pPr>
            <a:r>
              <a:rPr lang="en-US" sz="650" b="1" dirty="0">
                <a:solidFill>
                  <a:srgbClr val="FFFFFF"/>
                </a:solidFill>
                <a:latin typeface="Arial" pitchFamily="34" charset="0"/>
                <a:ea typeface="Arial" pitchFamily="34" charset="-122"/>
                <a:cs typeface="Arial" pitchFamily="34" charset="-120"/>
              </a:rPr>
              <a:t>HANDOFFS</a:t>
            </a:r>
            <a:endParaRPr lang="en-US" sz="650" dirty="0"/>
          </a:p>
        </p:txBody>
      </p:sp>
      <p:sp>
        <p:nvSpPr>
          <p:cNvPr id="84" name="Text 71"/>
          <p:cNvSpPr/>
          <p:nvPr/>
        </p:nvSpPr>
        <p:spPr>
          <a:xfrm>
            <a:off x="5468112" y="1042416"/>
            <a:ext cx="1316736" cy="274320"/>
          </a:xfrm>
          <a:prstGeom prst="rect">
            <a:avLst/>
          </a:prstGeom>
          <a:noFill/>
          <a:ln/>
        </p:spPr>
        <p:txBody>
          <a:bodyPr wrap="square" lIns="0" tIns="0" rIns="0" bIns="0" rtlCol="0" anchor="ctr"/>
          <a:lstStyle/>
          <a:p>
            <a:pPr marL="0" indent="0">
              <a:lnSpc>
                <a:spcPct val="105000"/>
              </a:lnSpc>
              <a:buNone/>
            </a:pPr>
            <a:r>
              <a:rPr lang="en-US" sz="580" dirty="0">
                <a:solidFill>
                  <a:srgbClr val="A9BBD4"/>
                </a:solidFill>
                <a:latin typeface="Arial" pitchFamily="34" charset="0"/>
                <a:ea typeface="Arial" pitchFamily="34" charset="-122"/>
                <a:cs typeface="Arial" pitchFamily="34" charset="-120"/>
              </a:rPr>
              <a:t>Negotiate. Verify.</a:t>
            </a:r>
            <a:endParaRPr lang="en-US" sz="580" dirty="0"/>
          </a:p>
          <a:p>
            <a:pPr marL="0" indent="0">
              <a:lnSpc>
                <a:spcPct val="105000"/>
              </a:lnSpc>
              <a:buNone/>
            </a:pPr>
            <a:r>
              <a:rPr lang="en-US" sz="580" dirty="0">
                <a:solidFill>
                  <a:srgbClr val="A9BBD4"/>
                </a:solidFill>
                <a:latin typeface="Arial" pitchFamily="34" charset="0"/>
                <a:ea typeface="Arial" pitchFamily="34" charset="-122"/>
                <a:cs typeface="Arial" pitchFamily="34" charset="-120"/>
              </a:rPr>
              <a:t>Pass context.</a:t>
            </a:r>
            <a:endParaRPr lang="en-US" sz="580" dirty="0"/>
          </a:p>
        </p:txBody>
      </p:sp>
      <p:sp>
        <p:nvSpPr>
          <p:cNvPr id="85" name="Shape 72"/>
          <p:cNvSpPr/>
          <p:nvPr/>
        </p:nvSpPr>
        <p:spPr>
          <a:xfrm>
            <a:off x="10607040" y="640080"/>
            <a:ext cx="1517904" cy="749808"/>
          </a:xfrm>
          <a:prstGeom prst="roundRect">
            <a:avLst>
              <a:gd name="adj" fmla="val 7317"/>
            </a:avLst>
          </a:prstGeom>
          <a:solidFill>
            <a:srgbClr val="12263E"/>
          </a:solidFill>
          <a:ln w="12700">
            <a:solidFill>
              <a:srgbClr val="24405F"/>
            </a:solidFill>
            <a:prstDash val="solid"/>
          </a:ln>
        </p:spPr>
      </p:sp>
      <p:pic>
        <p:nvPicPr>
          <p:cNvPr id="86" name="Image 11" descr="/sessions/zealous-intelligent-mayer/mnt/outputs/icons/trusthop.png"/>
          <p:cNvPicPr>
            <a:picLocks noChangeAspect="1"/>
          </p:cNvPicPr>
          <p:nvPr/>
        </p:nvPicPr>
        <p:blipFill>
          <a:blip r:embed="rId14"/>
          <a:stretch>
            <a:fillRect/>
          </a:stretch>
        </p:blipFill>
        <p:spPr>
          <a:xfrm>
            <a:off x="10716768" y="777240"/>
            <a:ext cx="219456" cy="219456"/>
          </a:xfrm>
          <a:prstGeom prst="rect">
            <a:avLst/>
          </a:prstGeom>
        </p:spPr>
      </p:pic>
      <p:sp>
        <p:nvSpPr>
          <p:cNvPr id="87" name="Text 73"/>
          <p:cNvSpPr/>
          <p:nvPr/>
        </p:nvSpPr>
        <p:spPr>
          <a:xfrm>
            <a:off x="11009376" y="722376"/>
            <a:ext cx="1024128" cy="274320"/>
          </a:xfrm>
          <a:prstGeom prst="rect">
            <a:avLst/>
          </a:prstGeom>
          <a:noFill/>
          <a:ln/>
        </p:spPr>
        <p:txBody>
          <a:bodyPr wrap="square" lIns="0" tIns="0" rIns="0" bIns="0" rtlCol="0" anchor="ctr"/>
          <a:lstStyle/>
          <a:p>
            <a:pPr marL="0" indent="0">
              <a:lnSpc>
                <a:spcPct val="105000"/>
              </a:lnSpc>
              <a:buNone/>
            </a:pPr>
            <a:r>
              <a:rPr lang="en-US" sz="650" b="1" dirty="0">
                <a:solidFill>
                  <a:srgbClr val="FFFFFF"/>
                </a:solidFill>
                <a:latin typeface="Arial" pitchFamily="34" charset="0"/>
                <a:ea typeface="Arial" pitchFamily="34" charset="-122"/>
                <a:cs typeface="Arial" pitchFamily="34" charset="-120"/>
              </a:rPr>
              <a:t>TRUST AT</a:t>
            </a:r>
            <a:endParaRPr lang="en-US" sz="650" dirty="0"/>
          </a:p>
          <a:p>
            <a:pPr marL="0" indent="0">
              <a:lnSpc>
                <a:spcPct val="105000"/>
              </a:lnSpc>
              <a:buNone/>
            </a:pPr>
            <a:r>
              <a:rPr lang="en-US" sz="650" b="1" dirty="0">
                <a:solidFill>
                  <a:srgbClr val="FFFFFF"/>
                </a:solidFill>
                <a:latin typeface="Arial" pitchFamily="34" charset="0"/>
                <a:ea typeface="Arial" pitchFamily="34" charset="-122"/>
                <a:cs typeface="Arial" pitchFamily="34" charset="-120"/>
              </a:rPr>
              <a:t>EVERY HOP</a:t>
            </a:r>
            <a:endParaRPr lang="en-US" sz="650" dirty="0"/>
          </a:p>
        </p:txBody>
      </p:sp>
      <p:sp>
        <p:nvSpPr>
          <p:cNvPr id="88" name="Text 74"/>
          <p:cNvSpPr/>
          <p:nvPr/>
        </p:nvSpPr>
        <p:spPr>
          <a:xfrm>
            <a:off x="10716768" y="1042416"/>
            <a:ext cx="1316736" cy="274320"/>
          </a:xfrm>
          <a:prstGeom prst="rect">
            <a:avLst/>
          </a:prstGeom>
          <a:noFill/>
          <a:ln/>
        </p:spPr>
        <p:txBody>
          <a:bodyPr wrap="square" lIns="0" tIns="0" rIns="0" bIns="0" rtlCol="0" anchor="ctr"/>
          <a:lstStyle/>
          <a:p>
            <a:pPr marL="0" indent="0">
              <a:lnSpc>
                <a:spcPct val="105000"/>
              </a:lnSpc>
              <a:buNone/>
            </a:pPr>
            <a:r>
              <a:rPr lang="en-US" sz="580" dirty="0">
                <a:solidFill>
                  <a:srgbClr val="A9BBD4"/>
                </a:solidFill>
                <a:latin typeface="Arial" pitchFamily="34" charset="0"/>
                <a:ea typeface="Arial" pitchFamily="34" charset="-122"/>
                <a:cs typeface="Arial" pitchFamily="34" charset="-120"/>
              </a:rPr>
              <a:t>Verify at each</a:t>
            </a:r>
            <a:endParaRPr lang="en-US" sz="580" dirty="0"/>
          </a:p>
          <a:p>
            <a:pPr marL="0" indent="0">
              <a:lnSpc>
                <a:spcPct val="105000"/>
              </a:lnSpc>
              <a:buNone/>
            </a:pPr>
            <a:r>
              <a:rPr lang="en-US" sz="580" dirty="0">
                <a:solidFill>
                  <a:srgbClr val="A9BBD4"/>
                </a:solidFill>
                <a:latin typeface="Arial" pitchFamily="34" charset="0"/>
                <a:ea typeface="Arial" pitchFamily="34" charset="-122"/>
                <a:cs typeface="Arial" pitchFamily="34" charset="-120"/>
              </a:rPr>
              <a:t>interaction.</a:t>
            </a:r>
            <a:endParaRPr lang="en-US" sz="580" dirty="0"/>
          </a:p>
        </p:txBody>
      </p:sp>
      <p:sp>
        <p:nvSpPr>
          <p:cNvPr id="89" name="Shape 75"/>
          <p:cNvSpPr/>
          <p:nvPr/>
        </p:nvSpPr>
        <p:spPr>
          <a:xfrm>
            <a:off x="5358384" y="2743200"/>
            <a:ext cx="1517904" cy="749808"/>
          </a:xfrm>
          <a:prstGeom prst="roundRect">
            <a:avLst>
              <a:gd name="adj" fmla="val 7317"/>
            </a:avLst>
          </a:prstGeom>
          <a:solidFill>
            <a:srgbClr val="12263E"/>
          </a:solidFill>
          <a:ln w="12700">
            <a:solidFill>
              <a:srgbClr val="24405F"/>
            </a:solidFill>
            <a:prstDash val="solid"/>
          </a:ln>
        </p:spPr>
      </p:sp>
      <p:pic>
        <p:nvPicPr>
          <p:cNvPr id="90" name="Image 12" descr="/sessions/zealous-intelligent-mayer/mnt/outputs/icons/verifyhop.png"/>
          <p:cNvPicPr>
            <a:picLocks noChangeAspect="1"/>
          </p:cNvPicPr>
          <p:nvPr/>
        </p:nvPicPr>
        <p:blipFill>
          <a:blip r:embed="rId15"/>
          <a:stretch>
            <a:fillRect/>
          </a:stretch>
        </p:blipFill>
        <p:spPr>
          <a:xfrm>
            <a:off x="5468112" y="2880360"/>
            <a:ext cx="219456" cy="219456"/>
          </a:xfrm>
          <a:prstGeom prst="rect">
            <a:avLst/>
          </a:prstGeom>
        </p:spPr>
      </p:pic>
      <p:sp>
        <p:nvSpPr>
          <p:cNvPr id="91" name="Text 76"/>
          <p:cNvSpPr/>
          <p:nvPr/>
        </p:nvSpPr>
        <p:spPr>
          <a:xfrm>
            <a:off x="5760720" y="2825496"/>
            <a:ext cx="1024128" cy="274320"/>
          </a:xfrm>
          <a:prstGeom prst="rect">
            <a:avLst/>
          </a:prstGeom>
          <a:noFill/>
          <a:ln/>
        </p:spPr>
        <p:txBody>
          <a:bodyPr wrap="square" lIns="0" tIns="0" rIns="0" bIns="0" rtlCol="0" anchor="ctr"/>
          <a:lstStyle/>
          <a:p>
            <a:pPr marL="0" indent="0">
              <a:lnSpc>
                <a:spcPct val="105000"/>
              </a:lnSpc>
              <a:buNone/>
            </a:pPr>
            <a:r>
              <a:rPr lang="en-US" sz="650" b="1" dirty="0">
                <a:solidFill>
                  <a:srgbClr val="FFFFFF"/>
                </a:solidFill>
                <a:latin typeface="Arial" pitchFamily="34" charset="0"/>
                <a:ea typeface="Arial" pitchFamily="34" charset="-122"/>
                <a:cs typeface="Arial" pitchFamily="34" charset="-120"/>
              </a:rPr>
              <a:t>VERIFIED AT</a:t>
            </a:r>
            <a:endParaRPr lang="en-US" sz="650" dirty="0"/>
          </a:p>
          <a:p>
            <a:pPr marL="0" indent="0">
              <a:lnSpc>
                <a:spcPct val="105000"/>
              </a:lnSpc>
              <a:buNone/>
            </a:pPr>
            <a:r>
              <a:rPr lang="en-US" sz="650" b="1" dirty="0">
                <a:solidFill>
                  <a:srgbClr val="FFFFFF"/>
                </a:solidFill>
                <a:latin typeface="Arial" pitchFamily="34" charset="0"/>
                <a:ea typeface="Arial" pitchFamily="34" charset="-122"/>
                <a:cs typeface="Arial" pitchFamily="34" charset="-120"/>
              </a:rPr>
              <a:t>EVERY HOP</a:t>
            </a:r>
            <a:endParaRPr lang="en-US" sz="650" dirty="0"/>
          </a:p>
        </p:txBody>
      </p:sp>
      <p:sp>
        <p:nvSpPr>
          <p:cNvPr id="92" name="Text 77"/>
          <p:cNvSpPr/>
          <p:nvPr/>
        </p:nvSpPr>
        <p:spPr>
          <a:xfrm>
            <a:off x="5468112" y="3145536"/>
            <a:ext cx="1316736" cy="274320"/>
          </a:xfrm>
          <a:prstGeom prst="rect">
            <a:avLst/>
          </a:prstGeom>
          <a:noFill/>
          <a:ln/>
        </p:spPr>
        <p:txBody>
          <a:bodyPr wrap="square" lIns="0" tIns="0" rIns="0" bIns="0" rtlCol="0" anchor="ctr"/>
          <a:lstStyle/>
          <a:p>
            <a:pPr marL="0" indent="0">
              <a:lnSpc>
                <a:spcPct val="105000"/>
              </a:lnSpc>
              <a:buNone/>
            </a:pPr>
            <a:r>
              <a:rPr lang="en-US" sz="580" dirty="0">
                <a:solidFill>
                  <a:srgbClr val="A9BBD4"/>
                </a:solidFill>
                <a:latin typeface="Arial" pitchFamily="34" charset="0"/>
                <a:ea typeface="Arial" pitchFamily="34" charset="-122"/>
                <a:cs typeface="Arial" pitchFamily="34" charset="-120"/>
              </a:rPr>
              <a:t>Least privilege.</a:t>
            </a:r>
            <a:endParaRPr lang="en-US" sz="580" dirty="0"/>
          </a:p>
          <a:p>
            <a:pPr marL="0" indent="0">
              <a:lnSpc>
                <a:spcPct val="105000"/>
              </a:lnSpc>
              <a:buNone/>
            </a:pPr>
            <a:r>
              <a:rPr lang="en-US" sz="580" dirty="0">
                <a:solidFill>
                  <a:srgbClr val="A9BBD4"/>
                </a:solidFill>
                <a:latin typeface="Arial" pitchFamily="34" charset="0"/>
                <a:ea typeface="Arial" pitchFamily="34" charset="-122"/>
                <a:cs typeface="Arial" pitchFamily="34" charset="-120"/>
              </a:rPr>
              <a:t>Audit every handoff.</a:t>
            </a:r>
            <a:endParaRPr lang="en-US" sz="580" dirty="0"/>
          </a:p>
        </p:txBody>
      </p:sp>
      <p:sp>
        <p:nvSpPr>
          <p:cNvPr id="93" name="Shape 78"/>
          <p:cNvSpPr/>
          <p:nvPr/>
        </p:nvSpPr>
        <p:spPr>
          <a:xfrm>
            <a:off x="10607040" y="2743200"/>
            <a:ext cx="1517904" cy="749808"/>
          </a:xfrm>
          <a:prstGeom prst="roundRect">
            <a:avLst>
              <a:gd name="adj" fmla="val 7317"/>
            </a:avLst>
          </a:prstGeom>
          <a:solidFill>
            <a:srgbClr val="12263E"/>
          </a:solidFill>
          <a:ln w="12700">
            <a:solidFill>
              <a:srgbClr val="24405F"/>
            </a:solidFill>
            <a:prstDash val="solid"/>
          </a:ln>
        </p:spPr>
      </p:sp>
      <p:pic>
        <p:nvPicPr>
          <p:cNvPr id="94" name="Image 13" descr="/sessions/zealous-intelligent-mayer/mnt/outputs/icons/observe.png"/>
          <p:cNvPicPr>
            <a:picLocks noChangeAspect="1"/>
          </p:cNvPicPr>
          <p:nvPr/>
        </p:nvPicPr>
        <p:blipFill>
          <a:blip r:embed="rId16"/>
          <a:stretch>
            <a:fillRect/>
          </a:stretch>
        </p:blipFill>
        <p:spPr>
          <a:xfrm>
            <a:off x="10716768" y="2880360"/>
            <a:ext cx="219456" cy="219456"/>
          </a:xfrm>
          <a:prstGeom prst="rect">
            <a:avLst/>
          </a:prstGeom>
        </p:spPr>
      </p:pic>
      <p:sp>
        <p:nvSpPr>
          <p:cNvPr id="95" name="Text 79"/>
          <p:cNvSpPr/>
          <p:nvPr/>
        </p:nvSpPr>
        <p:spPr>
          <a:xfrm>
            <a:off x="11009376" y="2825496"/>
            <a:ext cx="1024128" cy="274320"/>
          </a:xfrm>
          <a:prstGeom prst="rect">
            <a:avLst/>
          </a:prstGeom>
          <a:noFill/>
          <a:ln/>
        </p:spPr>
        <p:txBody>
          <a:bodyPr wrap="square" lIns="0" tIns="0" rIns="0" bIns="0" rtlCol="0" anchor="ctr"/>
          <a:lstStyle/>
          <a:p>
            <a:pPr marL="0" indent="0">
              <a:lnSpc>
                <a:spcPct val="105000"/>
              </a:lnSpc>
              <a:buNone/>
            </a:pPr>
            <a:r>
              <a:rPr lang="en-US" sz="650" b="1" dirty="0">
                <a:solidFill>
                  <a:srgbClr val="FFFFFF"/>
                </a:solidFill>
                <a:latin typeface="Arial" pitchFamily="34" charset="0"/>
                <a:ea typeface="Arial" pitchFamily="34" charset="-122"/>
                <a:cs typeface="Arial" pitchFamily="34" charset="-120"/>
              </a:rPr>
              <a:t>OBSERVABILITY</a:t>
            </a:r>
            <a:endParaRPr lang="en-US" sz="650" dirty="0"/>
          </a:p>
        </p:txBody>
      </p:sp>
      <p:sp>
        <p:nvSpPr>
          <p:cNvPr id="96" name="Text 80"/>
          <p:cNvSpPr/>
          <p:nvPr/>
        </p:nvSpPr>
        <p:spPr>
          <a:xfrm>
            <a:off x="10716768" y="3145536"/>
            <a:ext cx="1316736" cy="274320"/>
          </a:xfrm>
          <a:prstGeom prst="rect">
            <a:avLst/>
          </a:prstGeom>
          <a:noFill/>
          <a:ln/>
        </p:spPr>
        <p:txBody>
          <a:bodyPr wrap="square" lIns="0" tIns="0" rIns="0" bIns="0" rtlCol="0" anchor="ctr"/>
          <a:lstStyle/>
          <a:p>
            <a:pPr marL="0" indent="0">
              <a:lnSpc>
                <a:spcPct val="105000"/>
              </a:lnSpc>
              <a:buNone/>
            </a:pPr>
            <a:r>
              <a:rPr lang="en-US" sz="580" dirty="0">
                <a:solidFill>
                  <a:srgbClr val="A9BBD4"/>
                </a:solidFill>
                <a:latin typeface="Arial" pitchFamily="34" charset="0"/>
                <a:ea typeface="Arial" pitchFamily="34" charset="-122"/>
                <a:cs typeface="Arial" pitchFamily="34" charset="-120"/>
              </a:rPr>
              <a:t>One system trace across</a:t>
            </a:r>
            <a:endParaRPr lang="en-US" sz="580" dirty="0"/>
          </a:p>
          <a:p>
            <a:pPr marL="0" indent="0">
              <a:lnSpc>
                <a:spcPct val="105000"/>
              </a:lnSpc>
              <a:buNone/>
            </a:pPr>
            <a:r>
              <a:rPr lang="en-US" sz="580" dirty="0">
                <a:solidFill>
                  <a:srgbClr val="A9BBD4"/>
                </a:solidFill>
                <a:latin typeface="Arial" pitchFamily="34" charset="0"/>
                <a:ea typeface="Arial" pitchFamily="34" charset="-122"/>
                <a:cs typeface="Arial" pitchFamily="34" charset="-120"/>
              </a:rPr>
              <a:t>agents. Across hops.</a:t>
            </a:r>
            <a:endParaRPr lang="en-US" sz="580" dirty="0"/>
          </a:p>
        </p:txBody>
      </p:sp>
      <p:sp>
        <p:nvSpPr>
          <p:cNvPr id="97" name="Shape 81"/>
          <p:cNvSpPr/>
          <p:nvPr/>
        </p:nvSpPr>
        <p:spPr>
          <a:xfrm>
            <a:off x="0" y="4041648"/>
            <a:ext cx="12191695" cy="2816352"/>
          </a:xfrm>
          <a:prstGeom prst="rect">
            <a:avLst/>
          </a:prstGeom>
          <a:solidFill>
            <a:srgbClr val="F7F5F1"/>
          </a:solidFill>
          <a:ln w="12700">
            <a:solidFill>
              <a:srgbClr val="F7F5F1"/>
            </a:solidFill>
            <a:prstDash val="solid"/>
          </a:ln>
        </p:spPr>
      </p:sp>
      <p:sp>
        <p:nvSpPr>
          <p:cNvPr id="98" name="Text 82"/>
          <p:cNvSpPr/>
          <p:nvPr/>
        </p:nvSpPr>
        <p:spPr>
          <a:xfrm>
            <a:off x="0" y="4133088"/>
            <a:ext cx="12191695" cy="237744"/>
          </a:xfrm>
          <a:prstGeom prst="rect">
            <a:avLst/>
          </a:prstGeom>
          <a:noFill/>
          <a:ln/>
        </p:spPr>
        <p:txBody>
          <a:bodyPr wrap="square" lIns="0" tIns="0" rIns="0" bIns="0" rtlCol="0" anchor="ctr"/>
          <a:lstStyle/>
          <a:p>
            <a:pPr marL="0" indent="0" algn="ctr">
              <a:buNone/>
            </a:pPr>
            <a:r>
              <a:rPr lang="en-US" sz="1100" b="1" kern="0" spc="80" dirty="0">
                <a:solidFill>
                  <a:srgbClr val="132A4C"/>
                </a:solidFill>
                <a:latin typeface="Arial" pitchFamily="34" charset="0"/>
                <a:ea typeface="Arial" pitchFamily="34" charset="-122"/>
                <a:cs typeface="Arial" pitchFamily="34" charset="-120"/>
              </a:rPr>
              <a:t>AGENT MESH — REFERENCE ARCHITECTURE</a:t>
            </a:r>
            <a:endParaRPr lang="en-US" sz="1100" dirty="0"/>
          </a:p>
        </p:txBody>
      </p:sp>
      <p:sp>
        <p:nvSpPr>
          <p:cNvPr id="99" name="Shape 83"/>
          <p:cNvSpPr/>
          <p:nvPr/>
        </p:nvSpPr>
        <p:spPr>
          <a:xfrm>
            <a:off x="365760" y="4443984"/>
            <a:ext cx="1700784" cy="1481328"/>
          </a:xfrm>
          <a:prstGeom prst="roundRect">
            <a:avLst>
              <a:gd name="adj" fmla="val 3086"/>
            </a:avLst>
          </a:prstGeom>
          <a:solidFill>
            <a:srgbClr val="FFFFFF"/>
          </a:solidFill>
          <a:ln w="12700">
            <a:solidFill>
              <a:srgbClr val="DCD6CB"/>
            </a:solidFill>
            <a:prstDash val="solid"/>
          </a:ln>
        </p:spPr>
      </p:sp>
      <p:sp>
        <p:nvSpPr>
          <p:cNvPr id="100" name="Text 84"/>
          <p:cNvSpPr/>
          <p:nvPr/>
        </p:nvSpPr>
        <p:spPr>
          <a:xfrm>
            <a:off x="484632" y="4526280"/>
            <a:ext cx="365760" cy="146304"/>
          </a:xfrm>
          <a:prstGeom prst="rect">
            <a:avLst/>
          </a:prstGeom>
          <a:noFill/>
          <a:ln/>
        </p:spPr>
        <p:txBody>
          <a:bodyPr wrap="square" lIns="0" tIns="0" rIns="0" bIns="0" rtlCol="0" anchor="ctr"/>
          <a:lstStyle/>
          <a:p>
            <a:pPr marL="0" indent="0">
              <a:buNone/>
            </a:pPr>
            <a:r>
              <a:rPr lang="en-US" sz="750" b="1" i="1" dirty="0">
                <a:solidFill>
                  <a:srgbClr val="E8552F"/>
                </a:solidFill>
                <a:latin typeface="Arial" pitchFamily="34" charset="0"/>
                <a:ea typeface="Arial" pitchFamily="34" charset="-122"/>
                <a:cs typeface="Arial" pitchFamily="34" charset="-120"/>
              </a:rPr>
              <a:t>01</a:t>
            </a:r>
            <a:endParaRPr lang="en-US" sz="750" dirty="0"/>
          </a:p>
        </p:txBody>
      </p:sp>
      <p:pic>
        <p:nvPicPr>
          <p:cNvPr id="101" name="Image 14" descr="/sessions/zealous-intelligent-mayer/mnt/outputs/icons/layer1.png"/>
          <p:cNvPicPr>
            <a:picLocks noChangeAspect="1"/>
          </p:cNvPicPr>
          <p:nvPr/>
        </p:nvPicPr>
        <p:blipFill>
          <a:blip r:embed="rId17"/>
          <a:stretch>
            <a:fillRect/>
          </a:stretch>
        </p:blipFill>
        <p:spPr>
          <a:xfrm>
            <a:off x="1060704" y="4718304"/>
            <a:ext cx="310896" cy="310896"/>
          </a:xfrm>
          <a:prstGeom prst="rect">
            <a:avLst/>
          </a:prstGeom>
        </p:spPr>
      </p:pic>
      <p:sp>
        <p:nvSpPr>
          <p:cNvPr id="102" name="Text 85"/>
          <p:cNvSpPr/>
          <p:nvPr/>
        </p:nvSpPr>
        <p:spPr>
          <a:xfrm>
            <a:off x="438912" y="5084064"/>
            <a:ext cx="1554480" cy="274320"/>
          </a:xfrm>
          <a:prstGeom prst="rect">
            <a:avLst/>
          </a:prstGeom>
          <a:noFill/>
          <a:ln/>
        </p:spPr>
        <p:txBody>
          <a:bodyPr wrap="square" lIns="0" tIns="0" rIns="0" bIns="0" rtlCol="0" anchor="ctr"/>
          <a:lstStyle/>
          <a:p>
            <a:pPr marL="0" indent="0" algn="ctr">
              <a:lnSpc>
                <a:spcPct val="105000"/>
              </a:lnSpc>
              <a:buNone/>
            </a:pPr>
            <a:r>
              <a:rPr lang="en-US" sz="800" b="1" dirty="0">
                <a:solidFill>
                  <a:srgbClr val="132A4C"/>
                </a:solidFill>
                <a:latin typeface="Arial" pitchFamily="34" charset="0"/>
                <a:ea typeface="Arial" pitchFamily="34" charset="-122"/>
                <a:cs typeface="Arial" pitchFamily="34" charset="-120"/>
              </a:rPr>
              <a:t>INTERACTION LAYER</a:t>
            </a:r>
            <a:endParaRPr lang="en-US" sz="800" dirty="0"/>
          </a:p>
        </p:txBody>
      </p:sp>
      <p:sp>
        <p:nvSpPr>
          <p:cNvPr id="103" name="Text 86"/>
          <p:cNvSpPr/>
          <p:nvPr/>
        </p:nvSpPr>
        <p:spPr>
          <a:xfrm>
            <a:off x="438912" y="5376672"/>
            <a:ext cx="1554480" cy="457200"/>
          </a:xfrm>
          <a:prstGeom prst="rect">
            <a:avLst/>
          </a:prstGeom>
          <a:noFill/>
          <a:ln/>
        </p:spPr>
        <p:txBody>
          <a:bodyPr wrap="square" lIns="0" tIns="0" rIns="0" bIns="0" rtlCol="0" anchor="ctr"/>
          <a:lstStyle/>
          <a:p>
            <a:pPr marL="0" indent="0" algn="ctr">
              <a:lnSpc>
                <a:spcPct val="108000"/>
              </a:lnSpc>
              <a:buNone/>
            </a:pPr>
            <a:r>
              <a:rPr lang="en-US" sz="630" dirty="0">
                <a:solidFill>
                  <a:srgbClr val="6B7A90"/>
                </a:solidFill>
                <a:latin typeface="Arial" pitchFamily="34" charset="0"/>
                <a:ea typeface="Arial" pitchFamily="34" charset="-122"/>
                <a:cs typeface="Arial" pitchFamily="34" charset="-120"/>
              </a:rPr>
              <a:t>Users, enterprise systems,</a:t>
            </a:r>
            <a:endParaRPr lang="en-US" sz="630" dirty="0"/>
          </a:p>
          <a:p>
            <a:pPr marL="0" indent="0" algn="ctr">
              <a:lnSpc>
                <a:spcPct val="108000"/>
              </a:lnSpc>
              <a:buNone/>
            </a:pPr>
            <a:r>
              <a:rPr lang="en-US" sz="630" dirty="0">
                <a:solidFill>
                  <a:srgbClr val="6B7A90"/>
                </a:solidFill>
                <a:latin typeface="Arial" pitchFamily="34" charset="0"/>
                <a:ea typeface="Arial" pitchFamily="34" charset="-122"/>
                <a:cs typeface="Arial" pitchFamily="34" charset="-120"/>
              </a:rPr>
              <a:t>and channels initiate a request.</a:t>
            </a:r>
            <a:endParaRPr lang="en-US" sz="630" dirty="0"/>
          </a:p>
        </p:txBody>
      </p:sp>
      <p:sp>
        <p:nvSpPr>
          <p:cNvPr id="104" name="Shape 87"/>
          <p:cNvSpPr/>
          <p:nvPr/>
        </p:nvSpPr>
        <p:spPr>
          <a:xfrm>
            <a:off x="2084832" y="5184648"/>
            <a:ext cx="118872" cy="0"/>
          </a:xfrm>
          <a:prstGeom prst="line">
            <a:avLst/>
          </a:prstGeom>
          <a:noFill/>
          <a:ln w="15875">
            <a:solidFill>
              <a:srgbClr val="132A4C"/>
            </a:solidFill>
            <a:prstDash val="solid"/>
            <a:tailEnd type="triangle"/>
          </a:ln>
        </p:spPr>
      </p:sp>
      <p:sp>
        <p:nvSpPr>
          <p:cNvPr id="105" name="Shape 88"/>
          <p:cNvSpPr/>
          <p:nvPr/>
        </p:nvSpPr>
        <p:spPr>
          <a:xfrm>
            <a:off x="2221992" y="4443984"/>
            <a:ext cx="1700784" cy="1481328"/>
          </a:xfrm>
          <a:prstGeom prst="roundRect">
            <a:avLst>
              <a:gd name="adj" fmla="val 3086"/>
            </a:avLst>
          </a:prstGeom>
          <a:solidFill>
            <a:srgbClr val="FFFFFF"/>
          </a:solidFill>
          <a:ln w="12700">
            <a:solidFill>
              <a:srgbClr val="DCD6CB"/>
            </a:solidFill>
            <a:prstDash val="solid"/>
          </a:ln>
        </p:spPr>
      </p:sp>
      <p:sp>
        <p:nvSpPr>
          <p:cNvPr id="106" name="Text 89"/>
          <p:cNvSpPr/>
          <p:nvPr/>
        </p:nvSpPr>
        <p:spPr>
          <a:xfrm>
            <a:off x="2340864" y="4526280"/>
            <a:ext cx="365760" cy="146304"/>
          </a:xfrm>
          <a:prstGeom prst="rect">
            <a:avLst/>
          </a:prstGeom>
          <a:noFill/>
          <a:ln/>
        </p:spPr>
        <p:txBody>
          <a:bodyPr wrap="square" lIns="0" tIns="0" rIns="0" bIns="0" rtlCol="0" anchor="ctr"/>
          <a:lstStyle/>
          <a:p>
            <a:pPr marL="0" indent="0">
              <a:buNone/>
            </a:pPr>
            <a:r>
              <a:rPr lang="en-US" sz="750" b="1" i="1" dirty="0">
                <a:solidFill>
                  <a:srgbClr val="E8552F"/>
                </a:solidFill>
                <a:latin typeface="Arial" pitchFamily="34" charset="0"/>
                <a:ea typeface="Arial" pitchFamily="34" charset="-122"/>
                <a:cs typeface="Arial" pitchFamily="34" charset="-120"/>
              </a:rPr>
              <a:t>02</a:t>
            </a:r>
            <a:endParaRPr lang="en-US" sz="750" dirty="0"/>
          </a:p>
        </p:txBody>
      </p:sp>
      <p:pic>
        <p:nvPicPr>
          <p:cNvPr id="107" name="Image 15" descr="/sessions/zealous-intelligent-mayer/mnt/outputs/icons/layer2.png"/>
          <p:cNvPicPr>
            <a:picLocks noChangeAspect="1"/>
          </p:cNvPicPr>
          <p:nvPr/>
        </p:nvPicPr>
        <p:blipFill>
          <a:blip r:embed="rId18"/>
          <a:stretch>
            <a:fillRect/>
          </a:stretch>
        </p:blipFill>
        <p:spPr>
          <a:xfrm>
            <a:off x="2916936" y="4718304"/>
            <a:ext cx="310896" cy="310896"/>
          </a:xfrm>
          <a:prstGeom prst="rect">
            <a:avLst/>
          </a:prstGeom>
        </p:spPr>
      </p:pic>
      <p:sp>
        <p:nvSpPr>
          <p:cNvPr id="108" name="Text 90"/>
          <p:cNvSpPr/>
          <p:nvPr/>
        </p:nvSpPr>
        <p:spPr>
          <a:xfrm>
            <a:off x="2295144" y="5084064"/>
            <a:ext cx="1554480" cy="274320"/>
          </a:xfrm>
          <a:prstGeom prst="rect">
            <a:avLst/>
          </a:prstGeom>
          <a:noFill/>
          <a:ln/>
        </p:spPr>
        <p:txBody>
          <a:bodyPr wrap="square" lIns="0" tIns="0" rIns="0" bIns="0" rtlCol="0" anchor="ctr"/>
          <a:lstStyle/>
          <a:p>
            <a:pPr marL="0" indent="0" algn="ctr">
              <a:lnSpc>
                <a:spcPct val="105000"/>
              </a:lnSpc>
              <a:buNone/>
            </a:pPr>
            <a:r>
              <a:rPr lang="en-US" sz="800" b="1" dirty="0">
                <a:solidFill>
                  <a:srgbClr val="132A4C"/>
                </a:solidFill>
                <a:latin typeface="Arial" pitchFamily="34" charset="0"/>
                <a:ea typeface="Arial" pitchFamily="34" charset="-122"/>
                <a:cs typeface="Arial" pitchFamily="34" charset="-120"/>
              </a:rPr>
              <a:t>ORCHESTRATION &amp;</a:t>
            </a:r>
            <a:endParaRPr lang="en-US" sz="800" dirty="0"/>
          </a:p>
          <a:p>
            <a:pPr marL="0" indent="0" algn="ctr">
              <a:lnSpc>
                <a:spcPct val="105000"/>
              </a:lnSpc>
              <a:buNone/>
            </a:pPr>
            <a:r>
              <a:rPr lang="en-US" sz="800" b="1" dirty="0">
                <a:solidFill>
                  <a:srgbClr val="132A4C"/>
                </a:solidFill>
                <a:latin typeface="Arial" pitchFamily="34" charset="0"/>
                <a:ea typeface="Arial" pitchFamily="34" charset="-122"/>
                <a:cs typeface="Arial" pitchFamily="34" charset="-120"/>
              </a:rPr>
              <a:t>PROTOCOL LAYER</a:t>
            </a:r>
            <a:endParaRPr lang="en-US" sz="800" dirty="0"/>
          </a:p>
        </p:txBody>
      </p:sp>
      <p:sp>
        <p:nvSpPr>
          <p:cNvPr id="109" name="Text 91"/>
          <p:cNvSpPr/>
          <p:nvPr/>
        </p:nvSpPr>
        <p:spPr>
          <a:xfrm>
            <a:off x="2295144" y="5376672"/>
            <a:ext cx="1554480" cy="457200"/>
          </a:xfrm>
          <a:prstGeom prst="rect">
            <a:avLst/>
          </a:prstGeom>
          <a:noFill/>
          <a:ln/>
        </p:spPr>
        <p:txBody>
          <a:bodyPr wrap="square" lIns="0" tIns="0" rIns="0" bIns="0" rtlCol="0" anchor="ctr"/>
          <a:lstStyle/>
          <a:p>
            <a:pPr marL="0" indent="0" algn="ctr">
              <a:lnSpc>
                <a:spcPct val="108000"/>
              </a:lnSpc>
              <a:buNone/>
            </a:pPr>
            <a:r>
              <a:rPr lang="en-US" sz="630" dirty="0">
                <a:solidFill>
                  <a:srgbClr val="6B7A90"/>
                </a:solidFill>
                <a:latin typeface="Arial" pitchFamily="34" charset="0"/>
                <a:ea typeface="Arial" pitchFamily="34" charset="-122"/>
                <a:cs typeface="Arial" pitchFamily="34" charset="-120"/>
              </a:rPr>
              <a:t>Capability negotiation and</a:t>
            </a:r>
            <a:endParaRPr lang="en-US" sz="630" dirty="0"/>
          </a:p>
          <a:p>
            <a:pPr marL="0" indent="0" algn="ctr">
              <a:lnSpc>
                <a:spcPct val="108000"/>
              </a:lnSpc>
              <a:buNone/>
            </a:pPr>
            <a:r>
              <a:rPr lang="en-US" sz="630" dirty="0">
                <a:solidFill>
                  <a:srgbClr val="6B7A90"/>
                </a:solidFill>
                <a:latin typeface="Arial" pitchFamily="34" charset="0"/>
                <a:ea typeface="Arial" pitchFamily="34" charset="-122"/>
                <a:cs typeface="Arial" pitchFamily="34" charset="-120"/>
              </a:rPr>
              <a:t>handoff routing — MCP /</a:t>
            </a:r>
            <a:endParaRPr lang="en-US" sz="630" dirty="0"/>
          </a:p>
          <a:p>
            <a:pPr marL="0" indent="0" algn="ctr">
              <a:lnSpc>
                <a:spcPct val="108000"/>
              </a:lnSpc>
              <a:buNone/>
            </a:pPr>
            <a:r>
              <a:rPr lang="en-US" sz="630" dirty="0">
                <a:solidFill>
                  <a:srgbClr val="6B7A90"/>
                </a:solidFill>
                <a:latin typeface="Arial" pitchFamily="34" charset="0"/>
                <a:ea typeface="Arial" pitchFamily="34" charset="-122"/>
                <a:cs typeface="Arial" pitchFamily="34" charset="-120"/>
              </a:rPr>
              <a:t>A2A-style contracts.</a:t>
            </a:r>
            <a:endParaRPr lang="en-US" sz="630" dirty="0"/>
          </a:p>
        </p:txBody>
      </p:sp>
      <p:sp>
        <p:nvSpPr>
          <p:cNvPr id="110" name="Shape 92"/>
          <p:cNvSpPr/>
          <p:nvPr/>
        </p:nvSpPr>
        <p:spPr>
          <a:xfrm>
            <a:off x="3941064" y="5184648"/>
            <a:ext cx="118872" cy="0"/>
          </a:xfrm>
          <a:prstGeom prst="line">
            <a:avLst/>
          </a:prstGeom>
          <a:noFill/>
          <a:ln w="15875">
            <a:solidFill>
              <a:srgbClr val="132A4C"/>
            </a:solidFill>
            <a:prstDash val="solid"/>
            <a:tailEnd type="triangle"/>
          </a:ln>
        </p:spPr>
      </p:sp>
      <p:sp>
        <p:nvSpPr>
          <p:cNvPr id="111" name="Shape 93"/>
          <p:cNvSpPr/>
          <p:nvPr/>
        </p:nvSpPr>
        <p:spPr>
          <a:xfrm>
            <a:off x="4078224" y="4443984"/>
            <a:ext cx="1700784" cy="1481328"/>
          </a:xfrm>
          <a:prstGeom prst="roundRect">
            <a:avLst>
              <a:gd name="adj" fmla="val 3086"/>
            </a:avLst>
          </a:prstGeom>
          <a:solidFill>
            <a:srgbClr val="0F2440"/>
          </a:solidFill>
          <a:ln w="12700">
            <a:solidFill>
              <a:srgbClr val="0F2440"/>
            </a:solidFill>
            <a:prstDash val="solid"/>
          </a:ln>
        </p:spPr>
      </p:sp>
      <p:sp>
        <p:nvSpPr>
          <p:cNvPr id="112" name="Text 94"/>
          <p:cNvSpPr/>
          <p:nvPr/>
        </p:nvSpPr>
        <p:spPr>
          <a:xfrm>
            <a:off x="4197096" y="4526280"/>
            <a:ext cx="365760" cy="146304"/>
          </a:xfrm>
          <a:prstGeom prst="rect">
            <a:avLst/>
          </a:prstGeom>
          <a:noFill/>
          <a:ln/>
        </p:spPr>
        <p:txBody>
          <a:bodyPr wrap="square" lIns="0" tIns="0" rIns="0" bIns="0" rtlCol="0" anchor="ctr"/>
          <a:lstStyle/>
          <a:p>
            <a:pPr marL="0" indent="0">
              <a:buNone/>
            </a:pPr>
            <a:r>
              <a:rPr lang="en-US" sz="750" b="1" i="1" dirty="0">
                <a:solidFill>
                  <a:srgbClr val="E8552F"/>
                </a:solidFill>
                <a:latin typeface="Arial" pitchFamily="34" charset="0"/>
                <a:ea typeface="Arial" pitchFamily="34" charset="-122"/>
                <a:cs typeface="Arial" pitchFamily="34" charset="-120"/>
              </a:rPr>
              <a:t>03</a:t>
            </a:r>
            <a:endParaRPr lang="en-US" sz="750" dirty="0"/>
          </a:p>
        </p:txBody>
      </p:sp>
      <p:pic>
        <p:nvPicPr>
          <p:cNvPr id="113" name="Image 16" descr="/sessions/zealous-intelligent-mayer/mnt/outputs/icons/layer3.png"/>
          <p:cNvPicPr>
            <a:picLocks noChangeAspect="1"/>
          </p:cNvPicPr>
          <p:nvPr/>
        </p:nvPicPr>
        <p:blipFill>
          <a:blip r:embed="rId19"/>
          <a:stretch>
            <a:fillRect/>
          </a:stretch>
        </p:blipFill>
        <p:spPr>
          <a:xfrm>
            <a:off x="4773168" y="4718304"/>
            <a:ext cx="310896" cy="310896"/>
          </a:xfrm>
          <a:prstGeom prst="rect">
            <a:avLst/>
          </a:prstGeom>
        </p:spPr>
      </p:pic>
      <p:sp>
        <p:nvSpPr>
          <p:cNvPr id="114" name="Text 95"/>
          <p:cNvSpPr/>
          <p:nvPr/>
        </p:nvSpPr>
        <p:spPr>
          <a:xfrm>
            <a:off x="4151376" y="5084064"/>
            <a:ext cx="1554480" cy="274320"/>
          </a:xfrm>
          <a:prstGeom prst="rect">
            <a:avLst/>
          </a:prstGeom>
          <a:noFill/>
          <a:ln/>
        </p:spPr>
        <p:txBody>
          <a:bodyPr wrap="square" lIns="0" tIns="0" rIns="0" bIns="0" rtlCol="0" anchor="ctr"/>
          <a:lstStyle/>
          <a:p>
            <a:pPr marL="0" indent="0" algn="ctr">
              <a:lnSpc>
                <a:spcPct val="105000"/>
              </a:lnSpc>
              <a:buNone/>
            </a:pPr>
            <a:r>
              <a:rPr lang="en-US" sz="800" b="1" dirty="0">
                <a:solidFill>
                  <a:srgbClr val="FFFFFF"/>
                </a:solidFill>
                <a:latin typeface="Arial" pitchFamily="34" charset="0"/>
                <a:ea typeface="Arial" pitchFamily="34" charset="-122"/>
                <a:cs typeface="Arial" pitchFamily="34" charset="-120"/>
              </a:rPr>
              <a:t>AGENT MESH</a:t>
            </a:r>
            <a:endParaRPr lang="en-US" sz="800" dirty="0"/>
          </a:p>
        </p:txBody>
      </p:sp>
      <p:sp>
        <p:nvSpPr>
          <p:cNvPr id="115" name="Text 96"/>
          <p:cNvSpPr/>
          <p:nvPr/>
        </p:nvSpPr>
        <p:spPr>
          <a:xfrm>
            <a:off x="4151376" y="5376672"/>
            <a:ext cx="1554480" cy="457200"/>
          </a:xfrm>
          <a:prstGeom prst="rect">
            <a:avLst/>
          </a:prstGeom>
          <a:noFill/>
          <a:ln/>
        </p:spPr>
        <p:txBody>
          <a:bodyPr wrap="square" lIns="0" tIns="0" rIns="0" bIns="0" rtlCol="0" anchor="ctr"/>
          <a:lstStyle/>
          <a:p>
            <a:pPr marL="0" indent="0" algn="ctr">
              <a:lnSpc>
                <a:spcPct val="108000"/>
              </a:lnSpc>
              <a:buNone/>
            </a:pPr>
            <a:r>
              <a:rPr lang="en-US" sz="630" dirty="0">
                <a:solidFill>
                  <a:srgbClr val="CBD7E6"/>
                </a:solidFill>
                <a:latin typeface="Arial" pitchFamily="34" charset="0"/>
                <a:ea typeface="Arial" pitchFamily="34" charset="-122"/>
                <a:cs typeface="Arial" pitchFamily="34" charset="-120"/>
              </a:rPr>
              <a:t>Specialist agents collaborate,</a:t>
            </a:r>
            <a:endParaRPr lang="en-US" sz="630" dirty="0"/>
          </a:p>
          <a:p>
            <a:pPr marL="0" indent="0" algn="ctr">
              <a:lnSpc>
                <a:spcPct val="108000"/>
              </a:lnSpc>
              <a:buNone/>
            </a:pPr>
            <a:r>
              <a:rPr lang="en-US" sz="630" dirty="0">
                <a:solidFill>
                  <a:srgbClr val="CBD7E6"/>
                </a:solidFill>
                <a:latin typeface="Arial" pitchFamily="34" charset="0"/>
                <a:ea typeface="Arial" pitchFamily="34" charset="-122"/>
                <a:cs typeface="Arial" pitchFamily="34" charset="-120"/>
              </a:rPr>
              <a:t>negotiate, and hand off work</a:t>
            </a:r>
            <a:endParaRPr lang="en-US" sz="630" dirty="0"/>
          </a:p>
          <a:p>
            <a:pPr marL="0" indent="0" algn="ctr">
              <a:lnSpc>
                <a:spcPct val="108000"/>
              </a:lnSpc>
              <a:buNone/>
            </a:pPr>
            <a:r>
              <a:rPr lang="en-US" sz="630" dirty="0">
                <a:solidFill>
                  <a:srgbClr val="CBD7E6"/>
                </a:solidFill>
                <a:latin typeface="Arial" pitchFamily="34" charset="0"/>
                <a:ea typeface="Arial" pitchFamily="34" charset="-122"/>
                <a:cs typeface="Arial" pitchFamily="34" charset="-120"/>
              </a:rPr>
              <a:t>within governed boundaries.</a:t>
            </a:r>
            <a:endParaRPr lang="en-US" sz="630" dirty="0"/>
          </a:p>
        </p:txBody>
      </p:sp>
      <p:sp>
        <p:nvSpPr>
          <p:cNvPr id="116" name="Shape 97"/>
          <p:cNvSpPr/>
          <p:nvPr/>
        </p:nvSpPr>
        <p:spPr>
          <a:xfrm>
            <a:off x="5797296" y="5184648"/>
            <a:ext cx="118872" cy="0"/>
          </a:xfrm>
          <a:prstGeom prst="line">
            <a:avLst/>
          </a:prstGeom>
          <a:noFill/>
          <a:ln w="15875">
            <a:solidFill>
              <a:srgbClr val="132A4C"/>
            </a:solidFill>
            <a:prstDash val="solid"/>
            <a:tailEnd type="triangle"/>
          </a:ln>
        </p:spPr>
      </p:sp>
      <p:sp>
        <p:nvSpPr>
          <p:cNvPr id="117" name="Shape 98"/>
          <p:cNvSpPr/>
          <p:nvPr/>
        </p:nvSpPr>
        <p:spPr>
          <a:xfrm>
            <a:off x="5934456" y="4443984"/>
            <a:ext cx="1700784" cy="1481328"/>
          </a:xfrm>
          <a:prstGeom prst="roundRect">
            <a:avLst>
              <a:gd name="adj" fmla="val 3086"/>
            </a:avLst>
          </a:prstGeom>
          <a:solidFill>
            <a:srgbClr val="FFFFFF"/>
          </a:solidFill>
          <a:ln w="12700">
            <a:solidFill>
              <a:srgbClr val="DCD6CB"/>
            </a:solidFill>
            <a:prstDash val="solid"/>
          </a:ln>
        </p:spPr>
      </p:sp>
      <p:sp>
        <p:nvSpPr>
          <p:cNvPr id="118" name="Text 99"/>
          <p:cNvSpPr/>
          <p:nvPr/>
        </p:nvSpPr>
        <p:spPr>
          <a:xfrm>
            <a:off x="6053328" y="4526280"/>
            <a:ext cx="365760" cy="146304"/>
          </a:xfrm>
          <a:prstGeom prst="rect">
            <a:avLst/>
          </a:prstGeom>
          <a:noFill/>
          <a:ln/>
        </p:spPr>
        <p:txBody>
          <a:bodyPr wrap="square" lIns="0" tIns="0" rIns="0" bIns="0" rtlCol="0" anchor="ctr"/>
          <a:lstStyle/>
          <a:p>
            <a:pPr marL="0" indent="0">
              <a:buNone/>
            </a:pPr>
            <a:r>
              <a:rPr lang="en-US" sz="750" b="1" i="1" dirty="0">
                <a:solidFill>
                  <a:srgbClr val="E8552F"/>
                </a:solidFill>
                <a:latin typeface="Arial" pitchFamily="34" charset="0"/>
                <a:ea typeface="Arial" pitchFamily="34" charset="-122"/>
                <a:cs typeface="Arial" pitchFamily="34" charset="-120"/>
              </a:rPr>
              <a:t>04</a:t>
            </a:r>
            <a:endParaRPr lang="en-US" sz="750" dirty="0"/>
          </a:p>
        </p:txBody>
      </p:sp>
      <p:pic>
        <p:nvPicPr>
          <p:cNvPr id="119" name="Image 17" descr="/sessions/zealous-intelligent-mayer/mnt/outputs/icons/layer4.png"/>
          <p:cNvPicPr>
            <a:picLocks noChangeAspect="1"/>
          </p:cNvPicPr>
          <p:nvPr/>
        </p:nvPicPr>
        <p:blipFill>
          <a:blip r:embed="rId20"/>
          <a:stretch>
            <a:fillRect/>
          </a:stretch>
        </p:blipFill>
        <p:spPr>
          <a:xfrm>
            <a:off x="6629400" y="4718304"/>
            <a:ext cx="310896" cy="310896"/>
          </a:xfrm>
          <a:prstGeom prst="rect">
            <a:avLst/>
          </a:prstGeom>
        </p:spPr>
      </p:pic>
      <p:sp>
        <p:nvSpPr>
          <p:cNvPr id="120" name="Text 100"/>
          <p:cNvSpPr/>
          <p:nvPr/>
        </p:nvSpPr>
        <p:spPr>
          <a:xfrm>
            <a:off x="6007608" y="5084064"/>
            <a:ext cx="1554480" cy="274320"/>
          </a:xfrm>
          <a:prstGeom prst="rect">
            <a:avLst/>
          </a:prstGeom>
          <a:noFill/>
          <a:ln/>
        </p:spPr>
        <p:txBody>
          <a:bodyPr wrap="square" lIns="0" tIns="0" rIns="0" bIns="0" rtlCol="0" anchor="ctr"/>
          <a:lstStyle/>
          <a:p>
            <a:pPr marL="0" indent="0" algn="ctr">
              <a:lnSpc>
                <a:spcPct val="105000"/>
              </a:lnSpc>
              <a:buNone/>
            </a:pPr>
            <a:r>
              <a:rPr lang="en-US" sz="800" b="1" dirty="0">
                <a:solidFill>
                  <a:srgbClr val="132A4C"/>
                </a:solidFill>
                <a:latin typeface="Arial" pitchFamily="34" charset="0"/>
                <a:ea typeface="Arial" pitchFamily="34" charset="-122"/>
                <a:cs typeface="Arial" pitchFamily="34" charset="-120"/>
              </a:rPr>
              <a:t>SHARED CONTEXT</a:t>
            </a:r>
            <a:endParaRPr lang="en-US" sz="800" dirty="0"/>
          </a:p>
          <a:p>
            <a:pPr marL="0" indent="0" algn="ctr">
              <a:lnSpc>
                <a:spcPct val="105000"/>
              </a:lnSpc>
              <a:buNone/>
            </a:pPr>
            <a:r>
              <a:rPr lang="en-US" sz="800" b="1" dirty="0">
                <a:solidFill>
                  <a:srgbClr val="132A4C"/>
                </a:solidFill>
                <a:latin typeface="Arial" pitchFamily="34" charset="0"/>
                <a:ea typeface="Arial" pitchFamily="34" charset="-122"/>
                <a:cs typeface="Arial" pitchFamily="34" charset="-120"/>
              </a:rPr>
              <a:t>&amp; MEMORY</a:t>
            </a:r>
            <a:endParaRPr lang="en-US" sz="800" dirty="0"/>
          </a:p>
        </p:txBody>
      </p:sp>
      <p:sp>
        <p:nvSpPr>
          <p:cNvPr id="121" name="Text 101"/>
          <p:cNvSpPr/>
          <p:nvPr/>
        </p:nvSpPr>
        <p:spPr>
          <a:xfrm>
            <a:off x="6007608" y="5376672"/>
            <a:ext cx="1554480" cy="457200"/>
          </a:xfrm>
          <a:prstGeom prst="rect">
            <a:avLst/>
          </a:prstGeom>
          <a:noFill/>
          <a:ln/>
        </p:spPr>
        <p:txBody>
          <a:bodyPr wrap="square" lIns="0" tIns="0" rIns="0" bIns="0" rtlCol="0" anchor="ctr"/>
          <a:lstStyle/>
          <a:p>
            <a:pPr marL="0" indent="0" algn="ctr">
              <a:lnSpc>
                <a:spcPct val="108000"/>
              </a:lnSpc>
              <a:buNone/>
            </a:pPr>
            <a:r>
              <a:rPr lang="en-US" sz="630" dirty="0">
                <a:solidFill>
                  <a:srgbClr val="6B7A90"/>
                </a:solidFill>
                <a:latin typeface="Arial" pitchFamily="34" charset="0"/>
                <a:ea typeface="Arial" pitchFamily="34" charset="-122"/>
                <a:cs typeface="Arial" pitchFamily="34" charset="-120"/>
              </a:rPr>
              <a:t>Episodic and semantic memory,</a:t>
            </a:r>
            <a:endParaRPr lang="en-US" sz="630" dirty="0"/>
          </a:p>
          <a:p>
            <a:pPr marL="0" indent="0" algn="ctr">
              <a:lnSpc>
                <a:spcPct val="108000"/>
              </a:lnSpc>
              <a:buNone/>
            </a:pPr>
            <a:r>
              <a:rPr lang="en-US" sz="630" dirty="0">
                <a:solidFill>
                  <a:srgbClr val="6B7A90"/>
                </a:solidFill>
                <a:latin typeface="Arial" pitchFamily="34" charset="0"/>
                <a:ea typeface="Arial" pitchFamily="34" charset="-122"/>
                <a:cs typeface="Arial" pitchFamily="34" charset="-120"/>
              </a:rPr>
              <a:t>read and written under</a:t>
            </a:r>
            <a:endParaRPr lang="en-US" sz="630" dirty="0"/>
          </a:p>
          <a:p>
            <a:pPr marL="0" indent="0" algn="ctr">
              <a:lnSpc>
                <a:spcPct val="108000"/>
              </a:lnSpc>
              <a:buNone/>
            </a:pPr>
            <a:r>
              <a:rPr lang="en-US" sz="630" dirty="0">
                <a:solidFill>
                  <a:srgbClr val="6B7A90"/>
                </a:solidFill>
                <a:latin typeface="Arial" pitchFamily="34" charset="0"/>
                <a:ea typeface="Arial" pitchFamily="34" charset="-122"/>
                <a:cs typeface="Arial" pitchFamily="34" charset="-120"/>
              </a:rPr>
              <a:t>access control.</a:t>
            </a:r>
            <a:endParaRPr lang="en-US" sz="630" dirty="0"/>
          </a:p>
        </p:txBody>
      </p:sp>
      <p:sp>
        <p:nvSpPr>
          <p:cNvPr id="122" name="Shape 102"/>
          <p:cNvSpPr/>
          <p:nvPr/>
        </p:nvSpPr>
        <p:spPr>
          <a:xfrm>
            <a:off x="7653528" y="5184648"/>
            <a:ext cx="118872" cy="0"/>
          </a:xfrm>
          <a:prstGeom prst="line">
            <a:avLst/>
          </a:prstGeom>
          <a:noFill/>
          <a:ln w="15875">
            <a:solidFill>
              <a:srgbClr val="132A4C"/>
            </a:solidFill>
            <a:prstDash val="solid"/>
            <a:tailEnd type="triangle"/>
          </a:ln>
        </p:spPr>
      </p:sp>
      <p:sp>
        <p:nvSpPr>
          <p:cNvPr id="123" name="Shape 103"/>
          <p:cNvSpPr/>
          <p:nvPr/>
        </p:nvSpPr>
        <p:spPr>
          <a:xfrm>
            <a:off x="7790688" y="4443984"/>
            <a:ext cx="1700784" cy="1481328"/>
          </a:xfrm>
          <a:prstGeom prst="roundRect">
            <a:avLst>
              <a:gd name="adj" fmla="val 3086"/>
            </a:avLst>
          </a:prstGeom>
          <a:solidFill>
            <a:srgbClr val="FFFFFF"/>
          </a:solidFill>
          <a:ln w="12700">
            <a:solidFill>
              <a:srgbClr val="DCD6CB"/>
            </a:solidFill>
            <a:prstDash val="solid"/>
          </a:ln>
        </p:spPr>
      </p:sp>
      <p:sp>
        <p:nvSpPr>
          <p:cNvPr id="124" name="Text 104"/>
          <p:cNvSpPr/>
          <p:nvPr/>
        </p:nvSpPr>
        <p:spPr>
          <a:xfrm>
            <a:off x="7909560" y="4526280"/>
            <a:ext cx="365760" cy="146304"/>
          </a:xfrm>
          <a:prstGeom prst="rect">
            <a:avLst/>
          </a:prstGeom>
          <a:noFill/>
          <a:ln/>
        </p:spPr>
        <p:txBody>
          <a:bodyPr wrap="square" lIns="0" tIns="0" rIns="0" bIns="0" rtlCol="0" anchor="ctr"/>
          <a:lstStyle/>
          <a:p>
            <a:pPr marL="0" indent="0">
              <a:buNone/>
            </a:pPr>
            <a:r>
              <a:rPr lang="en-US" sz="750" b="1" i="1" dirty="0">
                <a:solidFill>
                  <a:srgbClr val="E8552F"/>
                </a:solidFill>
                <a:latin typeface="Arial" pitchFamily="34" charset="0"/>
                <a:ea typeface="Arial" pitchFamily="34" charset="-122"/>
                <a:cs typeface="Arial" pitchFamily="34" charset="-120"/>
              </a:rPr>
              <a:t>05</a:t>
            </a:r>
            <a:endParaRPr lang="en-US" sz="750" dirty="0"/>
          </a:p>
        </p:txBody>
      </p:sp>
      <p:pic>
        <p:nvPicPr>
          <p:cNvPr id="125" name="Image 18" descr="/sessions/zealous-intelligent-mayer/mnt/outputs/icons/layer5.png"/>
          <p:cNvPicPr>
            <a:picLocks noChangeAspect="1"/>
          </p:cNvPicPr>
          <p:nvPr/>
        </p:nvPicPr>
        <p:blipFill>
          <a:blip r:embed="rId21"/>
          <a:stretch>
            <a:fillRect/>
          </a:stretch>
        </p:blipFill>
        <p:spPr>
          <a:xfrm>
            <a:off x="8485632" y="4718304"/>
            <a:ext cx="310896" cy="310896"/>
          </a:xfrm>
          <a:prstGeom prst="rect">
            <a:avLst/>
          </a:prstGeom>
        </p:spPr>
      </p:pic>
      <p:sp>
        <p:nvSpPr>
          <p:cNvPr id="126" name="Text 105"/>
          <p:cNvSpPr/>
          <p:nvPr/>
        </p:nvSpPr>
        <p:spPr>
          <a:xfrm>
            <a:off x="7863840" y="5084064"/>
            <a:ext cx="1554480" cy="274320"/>
          </a:xfrm>
          <a:prstGeom prst="rect">
            <a:avLst/>
          </a:prstGeom>
          <a:noFill/>
          <a:ln/>
        </p:spPr>
        <p:txBody>
          <a:bodyPr wrap="square" lIns="0" tIns="0" rIns="0" bIns="0" rtlCol="0" anchor="ctr"/>
          <a:lstStyle/>
          <a:p>
            <a:pPr marL="0" indent="0" algn="ctr">
              <a:lnSpc>
                <a:spcPct val="105000"/>
              </a:lnSpc>
              <a:buNone/>
            </a:pPr>
            <a:r>
              <a:rPr lang="en-US" sz="800" b="1" dirty="0">
                <a:solidFill>
                  <a:srgbClr val="132A4C"/>
                </a:solidFill>
                <a:latin typeface="Arial" pitchFamily="34" charset="0"/>
                <a:ea typeface="Arial" pitchFamily="34" charset="-122"/>
                <a:cs typeface="Arial" pitchFamily="34" charset="-120"/>
              </a:rPr>
              <a:t>GOVERNED TOOL</a:t>
            </a:r>
            <a:endParaRPr lang="en-US" sz="800" dirty="0"/>
          </a:p>
          <a:p>
            <a:pPr marL="0" indent="0" algn="ctr">
              <a:lnSpc>
                <a:spcPct val="105000"/>
              </a:lnSpc>
              <a:buNone/>
            </a:pPr>
            <a:r>
              <a:rPr lang="en-US" sz="800" b="1" dirty="0">
                <a:solidFill>
                  <a:srgbClr val="132A4C"/>
                </a:solidFill>
                <a:latin typeface="Arial" pitchFamily="34" charset="0"/>
                <a:ea typeface="Arial" pitchFamily="34" charset="-122"/>
                <a:cs typeface="Arial" pitchFamily="34" charset="-120"/>
              </a:rPr>
              <a:t>&amp; ACTION LAYER</a:t>
            </a:r>
            <a:endParaRPr lang="en-US" sz="800" dirty="0"/>
          </a:p>
        </p:txBody>
      </p:sp>
      <p:sp>
        <p:nvSpPr>
          <p:cNvPr id="127" name="Text 106"/>
          <p:cNvSpPr/>
          <p:nvPr/>
        </p:nvSpPr>
        <p:spPr>
          <a:xfrm>
            <a:off x="7863840" y="5376672"/>
            <a:ext cx="1554480" cy="457200"/>
          </a:xfrm>
          <a:prstGeom prst="rect">
            <a:avLst/>
          </a:prstGeom>
          <a:noFill/>
          <a:ln/>
        </p:spPr>
        <p:txBody>
          <a:bodyPr wrap="square" lIns="0" tIns="0" rIns="0" bIns="0" rtlCol="0" anchor="ctr"/>
          <a:lstStyle/>
          <a:p>
            <a:pPr marL="0" indent="0" algn="ctr">
              <a:lnSpc>
                <a:spcPct val="108000"/>
              </a:lnSpc>
              <a:buNone/>
            </a:pPr>
            <a:r>
              <a:rPr lang="en-US" sz="630" dirty="0">
                <a:solidFill>
                  <a:srgbClr val="6B7A90"/>
                </a:solidFill>
                <a:latin typeface="Arial" pitchFamily="34" charset="0"/>
                <a:ea typeface="Arial" pitchFamily="34" charset="-122"/>
                <a:cs typeface="Arial" pitchFamily="34" charset="-120"/>
              </a:rPr>
              <a:t>Least-privilege execution</a:t>
            </a:r>
            <a:endParaRPr lang="en-US" sz="630" dirty="0"/>
          </a:p>
          <a:p>
            <a:pPr marL="0" indent="0" algn="ctr">
              <a:lnSpc>
                <a:spcPct val="108000"/>
              </a:lnSpc>
              <a:buNone/>
            </a:pPr>
            <a:r>
              <a:rPr lang="en-US" sz="630" dirty="0">
                <a:solidFill>
                  <a:srgbClr val="6B7A90"/>
                </a:solidFill>
                <a:latin typeface="Arial" pitchFamily="34" charset="0"/>
                <a:ea typeface="Arial" pitchFamily="34" charset="-122"/>
                <a:cs typeface="Arial" pitchFamily="34" charset="-120"/>
              </a:rPr>
              <a:t>against systems of record</a:t>
            </a:r>
            <a:endParaRPr lang="en-US" sz="630" dirty="0"/>
          </a:p>
          <a:p>
            <a:pPr marL="0" indent="0" algn="ctr">
              <a:lnSpc>
                <a:spcPct val="108000"/>
              </a:lnSpc>
              <a:buNone/>
            </a:pPr>
            <a:r>
              <a:rPr lang="en-US" sz="630" dirty="0">
                <a:solidFill>
                  <a:srgbClr val="6B7A90"/>
                </a:solidFill>
                <a:latin typeface="Arial" pitchFamily="34" charset="0"/>
                <a:ea typeface="Arial" pitchFamily="34" charset="-122"/>
                <a:cs typeface="Arial" pitchFamily="34" charset="-120"/>
              </a:rPr>
              <a:t>and external tools.</a:t>
            </a:r>
            <a:endParaRPr lang="en-US" sz="630" dirty="0"/>
          </a:p>
        </p:txBody>
      </p:sp>
      <p:sp>
        <p:nvSpPr>
          <p:cNvPr id="128" name="Shape 107"/>
          <p:cNvSpPr/>
          <p:nvPr/>
        </p:nvSpPr>
        <p:spPr>
          <a:xfrm>
            <a:off x="9509760" y="5184648"/>
            <a:ext cx="274320" cy="0"/>
          </a:xfrm>
          <a:prstGeom prst="line">
            <a:avLst/>
          </a:prstGeom>
          <a:noFill/>
          <a:ln w="12700">
            <a:solidFill>
              <a:srgbClr val="9AA5B4"/>
            </a:solidFill>
            <a:prstDash val="sysDot"/>
          </a:ln>
        </p:spPr>
      </p:sp>
      <p:sp>
        <p:nvSpPr>
          <p:cNvPr id="129" name="Text 108"/>
          <p:cNvSpPr/>
          <p:nvPr/>
        </p:nvSpPr>
        <p:spPr>
          <a:xfrm>
            <a:off x="9802368" y="4480560"/>
            <a:ext cx="2103120" cy="182880"/>
          </a:xfrm>
          <a:prstGeom prst="rect">
            <a:avLst/>
          </a:prstGeom>
          <a:noFill/>
          <a:ln/>
        </p:spPr>
        <p:txBody>
          <a:bodyPr wrap="square" lIns="0" tIns="0" rIns="0" bIns="0" rtlCol="0" anchor="ctr"/>
          <a:lstStyle/>
          <a:p>
            <a:pPr marL="0" indent="0">
              <a:buNone/>
            </a:pPr>
            <a:r>
              <a:rPr lang="en-US" sz="750" b="1" kern="0" spc="20" dirty="0">
                <a:solidFill>
                  <a:srgbClr val="E8552F"/>
                </a:solidFill>
                <a:latin typeface="Arial" pitchFamily="34" charset="0"/>
                <a:ea typeface="Arial" pitchFamily="34" charset="-122"/>
                <a:cs typeface="Arial" pitchFamily="34" charset="-120"/>
              </a:rPr>
              <a:t>CROSS-CUTTING GOVERNANCE</a:t>
            </a:r>
            <a:endParaRPr lang="en-US" sz="750" dirty="0"/>
          </a:p>
        </p:txBody>
      </p:sp>
      <p:pic>
        <p:nvPicPr>
          <p:cNvPr id="130" name="Image 19" descr="/sessions/zealous-intelligent-mayer/mnt/outputs/icons/gov1.png"/>
          <p:cNvPicPr>
            <a:picLocks noChangeAspect="1"/>
          </p:cNvPicPr>
          <p:nvPr/>
        </p:nvPicPr>
        <p:blipFill>
          <a:blip r:embed="rId22"/>
          <a:stretch>
            <a:fillRect/>
          </a:stretch>
        </p:blipFill>
        <p:spPr>
          <a:xfrm>
            <a:off x="9820656" y="4732020"/>
            <a:ext cx="118872" cy="118872"/>
          </a:xfrm>
          <a:prstGeom prst="rect">
            <a:avLst/>
          </a:prstGeom>
        </p:spPr>
      </p:pic>
      <p:sp>
        <p:nvSpPr>
          <p:cNvPr id="131" name="Text 109"/>
          <p:cNvSpPr/>
          <p:nvPr/>
        </p:nvSpPr>
        <p:spPr>
          <a:xfrm>
            <a:off x="10021824" y="4718304"/>
            <a:ext cx="1874520" cy="155448"/>
          </a:xfrm>
          <a:prstGeom prst="rect">
            <a:avLst/>
          </a:prstGeom>
          <a:noFill/>
          <a:ln/>
        </p:spPr>
        <p:txBody>
          <a:bodyPr wrap="square" lIns="0" tIns="0" rIns="0" bIns="0" rtlCol="0" anchor="ctr"/>
          <a:lstStyle/>
          <a:p>
            <a:pPr marL="0" indent="0">
              <a:buNone/>
            </a:pPr>
            <a:r>
              <a:rPr lang="en-US" sz="750" dirty="0">
                <a:solidFill>
                  <a:srgbClr val="132A4C"/>
                </a:solidFill>
                <a:latin typeface="Arial" pitchFamily="34" charset="0"/>
                <a:ea typeface="Arial" pitchFamily="34" charset="-122"/>
                <a:cs typeface="Arial" pitchFamily="34" charset="-120"/>
              </a:rPr>
              <a:t>Identity &amp; Trust</a:t>
            </a:r>
            <a:endParaRPr lang="en-US" sz="750" dirty="0"/>
          </a:p>
        </p:txBody>
      </p:sp>
      <p:pic>
        <p:nvPicPr>
          <p:cNvPr id="132" name="Image 20" descr="/sessions/zealous-intelligent-mayer/mnt/outputs/icons/gov2.png"/>
          <p:cNvPicPr>
            <a:picLocks noChangeAspect="1"/>
          </p:cNvPicPr>
          <p:nvPr/>
        </p:nvPicPr>
        <p:blipFill>
          <a:blip r:embed="rId23"/>
          <a:stretch>
            <a:fillRect/>
          </a:stretch>
        </p:blipFill>
        <p:spPr>
          <a:xfrm>
            <a:off x="9820656" y="4928616"/>
            <a:ext cx="118872" cy="118872"/>
          </a:xfrm>
          <a:prstGeom prst="rect">
            <a:avLst/>
          </a:prstGeom>
        </p:spPr>
      </p:pic>
      <p:sp>
        <p:nvSpPr>
          <p:cNvPr id="133" name="Text 110"/>
          <p:cNvSpPr/>
          <p:nvPr/>
        </p:nvSpPr>
        <p:spPr>
          <a:xfrm>
            <a:off x="10021824" y="4914900"/>
            <a:ext cx="1874520" cy="155448"/>
          </a:xfrm>
          <a:prstGeom prst="rect">
            <a:avLst/>
          </a:prstGeom>
          <a:noFill/>
          <a:ln/>
        </p:spPr>
        <p:txBody>
          <a:bodyPr wrap="square" lIns="0" tIns="0" rIns="0" bIns="0" rtlCol="0" anchor="ctr"/>
          <a:lstStyle/>
          <a:p>
            <a:pPr marL="0" indent="0">
              <a:buNone/>
            </a:pPr>
            <a:r>
              <a:rPr lang="en-US" sz="750" dirty="0">
                <a:solidFill>
                  <a:srgbClr val="132A4C"/>
                </a:solidFill>
                <a:latin typeface="Arial" pitchFamily="34" charset="0"/>
                <a:ea typeface="Arial" pitchFamily="34" charset="-122"/>
                <a:cs typeface="Arial" pitchFamily="34" charset="-120"/>
              </a:rPr>
              <a:t>Policy &amp; Authorization</a:t>
            </a:r>
            <a:endParaRPr lang="en-US" sz="750" dirty="0"/>
          </a:p>
        </p:txBody>
      </p:sp>
      <p:pic>
        <p:nvPicPr>
          <p:cNvPr id="134" name="Image 21" descr="/sessions/zealous-intelligent-mayer/mnt/outputs/icons/gov3.png"/>
          <p:cNvPicPr>
            <a:picLocks noChangeAspect="1"/>
          </p:cNvPicPr>
          <p:nvPr/>
        </p:nvPicPr>
        <p:blipFill>
          <a:blip r:embed="rId24"/>
          <a:stretch>
            <a:fillRect/>
          </a:stretch>
        </p:blipFill>
        <p:spPr>
          <a:xfrm>
            <a:off x="9820656" y="5125212"/>
            <a:ext cx="118872" cy="118872"/>
          </a:xfrm>
          <a:prstGeom prst="rect">
            <a:avLst/>
          </a:prstGeom>
        </p:spPr>
      </p:pic>
      <p:sp>
        <p:nvSpPr>
          <p:cNvPr id="135" name="Text 111"/>
          <p:cNvSpPr/>
          <p:nvPr/>
        </p:nvSpPr>
        <p:spPr>
          <a:xfrm>
            <a:off x="10021824" y="5111496"/>
            <a:ext cx="1874520" cy="155448"/>
          </a:xfrm>
          <a:prstGeom prst="rect">
            <a:avLst/>
          </a:prstGeom>
          <a:noFill/>
          <a:ln/>
        </p:spPr>
        <p:txBody>
          <a:bodyPr wrap="square" lIns="0" tIns="0" rIns="0" bIns="0" rtlCol="0" anchor="ctr"/>
          <a:lstStyle/>
          <a:p>
            <a:pPr marL="0" indent="0">
              <a:buNone/>
            </a:pPr>
            <a:r>
              <a:rPr lang="en-US" sz="750" dirty="0">
                <a:solidFill>
                  <a:srgbClr val="132A4C"/>
                </a:solidFill>
                <a:latin typeface="Arial" pitchFamily="34" charset="0"/>
                <a:ea typeface="Arial" pitchFamily="34" charset="-122"/>
                <a:cs typeface="Arial" pitchFamily="34" charset="-120"/>
              </a:rPr>
              <a:t>Audit &amp; Compliance</a:t>
            </a:r>
            <a:endParaRPr lang="en-US" sz="750" dirty="0"/>
          </a:p>
        </p:txBody>
      </p:sp>
      <p:pic>
        <p:nvPicPr>
          <p:cNvPr id="136" name="Image 22" descr="/sessions/zealous-intelligent-mayer/mnt/outputs/icons/gov4.png"/>
          <p:cNvPicPr>
            <a:picLocks noChangeAspect="1"/>
          </p:cNvPicPr>
          <p:nvPr/>
        </p:nvPicPr>
        <p:blipFill>
          <a:blip r:embed="rId4"/>
          <a:stretch>
            <a:fillRect/>
          </a:stretch>
        </p:blipFill>
        <p:spPr>
          <a:xfrm>
            <a:off x="9820656" y="5321808"/>
            <a:ext cx="118872" cy="118872"/>
          </a:xfrm>
          <a:prstGeom prst="rect">
            <a:avLst/>
          </a:prstGeom>
        </p:spPr>
      </p:pic>
      <p:sp>
        <p:nvSpPr>
          <p:cNvPr id="137" name="Text 112"/>
          <p:cNvSpPr/>
          <p:nvPr/>
        </p:nvSpPr>
        <p:spPr>
          <a:xfrm>
            <a:off x="10021824" y="5308092"/>
            <a:ext cx="1874520" cy="155448"/>
          </a:xfrm>
          <a:prstGeom prst="rect">
            <a:avLst/>
          </a:prstGeom>
          <a:noFill/>
          <a:ln/>
        </p:spPr>
        <p:txBody>
          <a:bodyPr wrap="square" lIns="0" tIns="0" rIns="0" bIns="0" rtlCol="0" anchor="ctr"/>
          <a:lstStyle/>
          <a:p>
            <a:pPr marL="0" indent="0">
              <a:buNone/>
            </a:pPr>
            <a:r>
              <a:rPr lang="en-US" sz="750" dirty="0">
                <a:solidFill>
                  <a:srgbClr val="132A4C"/>
                </a:solidFill>
                <a:latin typeface="Arial" pitchFamily="34" charset="0"/>
                <a:ea typeface="Arial" pitchFamily="34" charset="-122"/>
                <a:cs typeface="Arial" pitchFamily="34" charset="-120"/>
              </a:rPr>
              <a:t>Observability &amp; Tracing</a:t>
            </a:r>
            <a:endParaRPr lang="en-US" sz="750" dirty="0"/>
          </a:p>
        </p:txBody>
      </p:sp>
      <p:pic>
        <p:nvPicPr>
          <p:cNvPr id="138" name="Image 23" descr="/sessions/zealous-intelligent-mayer/mnt/outputs/icons/gov5.png"/>
          <p:cNvPicPr>
            <a:picLocks noChangeAspect="1"/>
          </p:cNvPicPr>
          <p:nvPr/>
        </p:nvPicPr>
        <p:blipFill>
          <a:blip r:embed="rId25"/>
          <a:stretch>
            <a:fillRect/>
          </a:stretch>
        </p:blipFill>
        <p:spPr>
          <a:xfrm>
            <a:off x="9820656" y="5518404"/>
            <a:ext cx="118872" cy="118872"/>
          </a:xfrm>
          <a:prstGeom prst="rect">
            <a:avLst/>
          </a:prstGeom>
        </p:spPr>
      </p:pic>
      <p:sp>
        <p:nvSpPr>
          <p:cNvPr id="139" name="Text 113"/>
          <p:cNvSpPr/>
          <p:nvPr/>
        </p:nvSpPr>
        <p:spPr>
          <a:xfrm>
            <a:off x="10021824" y="5504688"/>
            <a:ext cx="1874520" cy="155448"/>
          </a:xfrm>
          <a:prstGeom prst="rect">
            <a:avLst/>
          </a:prstGeom>
          <a:noFill/>
          <a:ln/>
        </p:spPr>
        <p:txBody>
          <a:bodyPr wrap="square" lIns="0" tIns="0" rIns="0" bIns="0" rtlCol="0" anchor="ctr"/>
          <a:lstStyle/>
          <a:p>
            <a:pPr marL="0" indent="0">
              <a:buNone/>
            </a:pPr>
            <a:r>
              <a:rPr lang="en-US" sz="750" dirty="0">
                <a:solidFill>
                  <a:srgbClr val="132A4C"/>
                </a:solidFill>
                <a:latin typeface="Arial" pitchFamily="34" charset="0"/>
                <a:ea typeface="Arial" pitchFamily="34" charset="-122"/>
                <a:cs typeface="Arial" pitchFamily="34" charset="-120"/>
              </a:rPr>
              <a:t>Safety &amp; Guardrails</a:t>
            </a:r>
            <a:endParaRPr lang="en-US" sz="750" dirty="0"/>
          </a:p>
        </p:txBody>
      </p:sp>
      <p:pic>
        <p:nvPicPr>
          <p:cNvPr id="140" name="Image 24" descr="/sessions/zealous-intelligent-mayer/mnt/outputs/icons/gov6.png"/>
          <p:cNvPicPr>
            <a:picLocks noChangeAspect="1"/>
          </p:cNvPicPr>
          <p:nvPr/>
        </p:nvPicPr>
        <p:blipFill>
          <a:blip r:embed="rId26"/>
          <a:stretch>
            <a:fillRect/>
          </a:stretch>
        </p:blipFill>
        <p:spPr>
          <a:xfrm>
            <a:off x="9820656" y="5715000"/>
            <a:ext cx="118872" cy="118872"/>
          </a:xfrm>
          <a:prstGeom prst="rect">
            <a:avLst/>
          </a:prstGeom>
        </p:spPr>
      </p:pic>
      <p:sp>
        <p:nvSpPr>
          <p:cNvPr id="141" name="Text 114"/>
          <p:cNvSpPr/>
          <p:nvPr/>
        </p:nvSpPr>
        <p:spPr>
          <a:xfrm>
            <a:off x="10021824" y="5701284"/>
            <a:ext cx="1874520" cy="155448"/>
          </a:xfrm>
          <a:prstGeom prst="rect">
            <a:avLst/>
          </a:prstGeom>
          <a:noFill/>
          <a:ln/>
        </p:spPr>
        <p:txBody>
          <a:bodyPr wrap="square" lIns="0" tIns="0" rIns="0" bIns="0" rtlCol="0" anchor="ctr"/>
          <a:lstStyle/>
          <a:p>
            <a:pPr marL="0" indent="0">
              <a:buNone/>
            </a:pPr>
            <a:r>
              <a:rPr lang="en-US" sz="750" dirty="0">
                <a:solidFill>
                  <a:srgbClr val="132A4C"/>
                </a:solidFill>
                <a:latin typeface="Arial" pitchFamily="34" charset="0"/>
                <a:ea typeface="Arial" pitchFamily="34" charset="-122"/>
                <a:cs typeface="Arial" pitchFamily="34" charset="-120"/>
              </a:rPr>
              <a:t>Cost &amp; Efficiency</a:t>
            </a:r>
            <a:endParaRPr lang="en-US" sz="750" dirty="0"/>
          </a:p>
        </p:txBody>
      </p:sp>
      <p:sp>
        <p:nvSpPr>
          <p:cNvPr id="142" name="Shape 115"/>
          <p:cNvSpPr/>
          <p:nvPr/>
        </p:nvSpPr>
        <p:spPr>
          <a:xfrm>
            <a:off x="365760" y="6053328"/>
            <a:ext cx="11466576" cy="566928"/>
          </a:xfrm>
          <a:prstGeom prst="roundRect">
            <a:avLst>
              <a:gd name="adj" fmla="val 9677"/>
            </a:avLst>
          </a:prstGeom>
          <a:solidFill>
            <a:srgbClr val="0F2440"/>
          </a:solidFill>
          <a:ln/>
        </p:spPr>
      </p:sp>
      <p:pic>
        <p:nvPicPr>
          <p:cNvPr id="143" name="Image 25" descr="/sessions/zealous-intelligent-mayer/mnt/outputs/icons/ben1.png"/>
          <p:cNvPicPr>
            <a:picLocks noChangeAspect="1"/>
          </p:cNvPicPr>
          <p:nvPr/>
        </p:nvPicPr>
        <p:blipFill>
          <a:blip r:embed="rId27"/>
          <a:stretch>
            <a:fillRect/>
          </a:stretch>
        </p:blipFill>
        <p:spPr>
          <a:xfrm>
            <a:off x="603504" y="6227064"/>
            <a:ext cx="219456" cy="219456"/>
          </a:xfrm>
          <a:prstGeom prst="rect">
            <a:avLst/>
          </a:prstGeom>
        </p:spPr>
      </p:pic>
      <p:sp>
        <p:nvSpPr>
          <p:cNvPr id="144" name="Text 116"/>
          <p:cNvSpPr/>
          <p:nvPr/>
        </p:nvSpPr>
        <p:spPr>
          <a:xfrm>
            <a:off x="914400" y="6108192"/>
            <a:ext cx="1653235" cy="457200"/>
          </a:xfrm>
          <a:prstGeom prst="rect">
            <a:avLst/>
          </a:prstGeom>
          <a:noFill/>
          <a:ln/>
        </p:spPr>
        <p:txBody>
          <a:bodyPr wrap="square" lIns="0" tIns="0" rIns="0" bIns="0" rtlCol="0" anchor="ctr"/>
          <a:lstStyle/>
          <a:p>
            <a:pPr marL="0" indent="0">
              <a:lnSpc>
                <a:spcPct val="110000"/>
              </a:lnSpc>
              <a:buNone/>
            </a:pPr>
            <a:r>
              <a:rPr lang="en-US" sz="700" dirty="0">
                <a:solidFill>
                  <a:srgbClr val="FFFFFF"/>
                </a:solidFill>
                <a:latin typeface="Arial" pitchFamily="34" charset="0"/>
                <a:ea typeface="Arial" pitchFamily="34" charset="-122"/>
                <a:cs typeface="Arial" pitchFamily="34" charset="-120"/>
              </a:rPr>
              <a:t>Specialized expertise</a:t>
            </a:r>
            <a:endParaRPr lang="en-US" sz="700" dirty="0"/>
          </a:p>
          <a:p>
            <a:pPr marL="0" indent="0">
              <a:lnSpc>
                <a:spcPct val="110000"/>
              </a:lnSpc>
              <a:buNone/>
            </a:pPr>
            <a:r>
              <a:rPr lang="en-US" sz="700" dirty="0">
                <a:solidFill>
                  <a:srgbClr val="FFFFFF"/>
                </a:solidFill>
                <a:latin typeface="Arial" pitchFamily="34" charset="0"/>
                <a:ea typeface="Arial" pitchFamily="34" charset="-122"/>
                <a:cs typeface="Arial" pitchFamily="34" charset="-120"/>
              </a:rPr>
              <a:t>for every domain</a:t>
            </a:r>
            <a:endParaRPr lang="en-US" sz="700" dirty="0"/>
          </a:p>
        </p:txBody>
      </p:sp>
      <p:pic>
        <p:nvPicPr>
          <p:cNvPr id="145" name="Image 26" descr="/sessions/zealous-intelligent-mayer/mnt/outputs/icons/ben2.png"/>
          <p:cNvPicPr>
            <a:picLocks noChangeAspect="1"/>
          </p:cNvPicPr>
          <p:nvPr/>
        </p:nvPicPr>
        <p:blipFill>
          <a:blip r:embed="rId13"/>
          <a:stretch>
            <a:fillRect/>
          </a:stretch>
        </p:blipFill>
        <p:spPr>
          <a:xfrm>
            <a:off x="2896819" y="6227064"/>
            <a:ext cx="219456" cy="219456"/>
          </a:xfrm>
          <a:prstGeom prst="rect">
            <a:avLst/>
          </a:prstGeom>
        </p:spPr>
      </p:pic>
      <p:sp>
        <p:nvSpPr>
          <p:cNvPr id="146" name="Text 117"/>
          <p:cNvSpPr/>
          <p:nvPr/>
        </p:nvSpPr>
        <p:spPr>
          <a:xfrm>
            <a:off x="3207715" y="6108192"/>
            <a:ext cx="1653235" cy="457200"/>
          </a:xfrm>
          <a:prstGeom prst="rect">
            <a:avLst/>
          </a:prstGeom>
          <a:noFill/>
          <a:ln/>
        </p:spPr>
        <p:txBody>
          <a:bodyPr wrap="square" lIns="0" tIns="0" rIns="0" bIns="0" rtlCol="0" anchor="ctr"/>
          <a:lstStyle/>
          <a:p>
            <a:pPr marL="0" indent="0">
              <a:lnSpc>
                <a:spcPct val="110000"/>
              </a:lnSpc>
              <a:buNone/>
            </a:pPr>
            <a:r>
              <a:rPr lang="en-US" sz="700" dirty="0">
                <a:solidFill>
                  <a:srgbClr val="FFFFFF"/>
                </a:solidFill>
                <a:latin typeface="Arial" pitchFamily="34" charset="0"/>
                <a:ea typeface="Arial" pitchFamily="34" charset="-122"/>
                <a:cs typeface="Arial" pitchFamily="34" charset="-120"/>
              </a:rPr>
              <a:t>Collaborative outcomes</a:t>
            </a:r>
            <a:endParaRPr lang="en-US" sz="700" dirty="0"/>
          </a:p>
          <a:p>
            <a:pPr marL="0" indent="0">
              <a:lnSpc>
                <a:spcPct val="110000"/>
              </a:lnSpc>
              <a:buNone/>
            </a:pPr>
            <a:r>
              <a:rPr lang="en-US" sz="700" dirty="0">
                <a:solidFill>
                  <a:srgbClr val="FFFFFF"/>
                </a:solidFill>
                <a:latin typeface="Arial" pitchFamily="34" charset="0"/>
                <a:ea typeface="Arial" pitchFamily="34" charset="-122"/>
                <a:cs typeface="Arial" pitchFamily="34" charset="-120"/>
              </a:rPr>
              <a:t>through negotiation</a:t>
            </a:r>
            <a:endParaRPr lang="en-US" sz="700" dirty="0"/>
          </a:p>
        </p:txBody>
      </p:sp>
      <p:sp>
        <p:nvSpPr>
          <p:cNvPr id="147" name="Shape 118"/>
          <p:cNvSpPr/>
          <p:nvPr/>
        </p:nvSpPr>
        <p:spPr>
          <a:xfrm>
            <a:off x="2659075" y="6172200"/>
            <a:ext cx="0" cy="329184"/>
          </a:xfrm>
          <a:prstGeom prst="line">
            <a:avLst/>
          </a:prstGeom>
          <a:noFill/>
          <a:ln w="12700">
            <a:solidFill>
              <a:srgbClr val="31496A"/>
            </a:solidFill>
            <a:prstDash val="solid"/>
          </a:ln>
        </p:spPr>
      </p:sp>
      <p:pic>
        <p:nvPicPr>
          <p:cNvPr id="148" name="Image 27" descr="/sessions/zealous-intelligent-mayer/mnt/outputs/icons/ben3.png"/>
          <p:cNvPicPr>
            <a:picLocks noChangeAspect="1"/>
          </p:cNvPicPr>
          <p:nvPr/>
        </p:nvPicPr>
        <p:blipFill>
          <a:blip r:embed="rId28"/>
          <a:stretch>
            <a:fillRect/>
          </a:stretch>
        </p:blipFill>
        <p:spPr>
          <a:xfrm>
            <a:off x="5190134" y="6227064"/>
            <a:ext cx="219456" cy="219456"/>
          </a:xfrm>
          <a:prstGeom prst="rect">
            <a:avLst/>
          </a:prstGeom>
        </p:spPr>
      </p:pic>
      <p:sp>
        <p:nvSpPr>
          <p:cNvPr id="149" name="Text 119"/>
          <p:cNvSpPr/>
          <p:nvPr/>
        </p:nvSpPr>
        <p:spPr>
          <a:xfrm>
            <a:off x="5501030" y="6108192"/>
            <a:ext cx="1653235" cy="457200"/>
          </a:xfrm>
          <a:prstGeom prst="rect">
            <a:avLst/>
          </a:prstGeom>
          <a:noFill/>
          <a:ln/>
        </p:spPr>
        <p:txBody>
          <a:bodyPr wrap="square" lIns="0" tIns="0" rIns="0" bIns="0" rtlCol="0" anchor="ctr"/>
          <a:lstStyle/>
          <a:p>
            <a:pPr marL="0" indent="0">
              <a:lnSpc>
                <a:spcPct val="110000"/>
              </a:lnSpc>
              <a:buNone/>
            </a:pPr>
            <a:r>
              <a:rPr lang="en-US" sz="700" dirty="0">
                <a:solidFill>
                  <a:srgbClr val="FFFFFF"/>
                </a:solidFill>
                <a:latin typeface="Arial" pitchFamily="34" charset="0"/>
                <a:ea typeface="Arial" pitchFamily="34" charset="-122"/>
                <a:cs typeface="Arial" pitchFamily="34" charset="-120"/>
              </a:rPr>
              <a:t>Trust boundaries</a:t>
            </a:r>
            <a:endParaRPr lang="en-US" sz="700" dirty="0"/>
          </a:p>
          <a:p>
            <a:pPr marL="0" indent="0">
              <a:lnSpc>
                <a:spcPct val="110000"/>
              </a:lnSpc>
              <a:buNone/>
            </a:pPr>
            <a:r>
              <a:rPr lang="en-US" sz="700" dirty="0">
                <a:solidFill>
                  <a:srgbClr val="FFFFFF"/>
                </a:solidFill>
                <a:latin typeface="Arial" pitchFamily="34" charset="0"/>
                <a:ea typeface="Arial" pitchFamily="34" charset="-122"/>
                <a:cs typeface="Arial" pitchFamily="34" charset="-120"/>
              </a:rPr>
              <a:t>at every hop</a:t>
            </a:r>
            <a:endParaRPr lang="en-US" sz="700" dirty="0"/>
          </a:p>
        </p:txBody>
      </p:sp>
      <p:sp>
        <p:nvSpPr>
          <p:cNvPr id="150" name="Shape 120"/>
          <p:cNvSpPr/>
          <p:nvPr/>
        </p:nvSpPr>
        <p:spPr>
          <a:xfrm>
            <a:off x="4952390" y="6172200"/>
            <a:ext cx="0" cy="329184"/>
          </a:xfrm>
          <a:prstGeom prst="line">
            <a:avLst/>
          </a:prstGeom>
          <a:noFill/>
          <a:ln w="12700">
            <a:solidFill>
              <a:srgbClr val="31496A"/>
            </a:solidFill>
            <a:prstDash val="solid"/>
          </a:ln>
        </p:spPr>
      </p:sp>
      <p:pic>
        <p:nvPicPr>
          <p:cNvPr id="151" name="Image 28" descr="/sessions/zealous-intelligent-mayer/mnt/outputs/icons/ben4.png"/>
          <p:cNvPicPr>
            <a:picLocks noChangeAspect="1"/>
          </p:cNvPicPr>
          <p:nvPr/>
        </p:nvPicPr>
        <p:blipFill>
          <a:blip r:embed="rId29"/>
          <a:stretch>
            <a:fillRect/>
          </a:stretch>
        </p:blipFill>
        <p:spPr>
          <a:xfrm>
            <a:off x="7483450" y="6227064"/>
            <a:ext cx="219456" cy="219456"/>
          </a:xfrm>
          <a:prstGeom prst="rect">
            <a:avLst/>
          </a:prstGeom>
        </p:spPr>
      </p:pic>
      <p:sp>
        <p:nvSpPr>
          <p:cNvPr id="152" name="Text 121"/>
          <p:cNvSpPr/>
          <p:nvPr/>
        </p:nvSpPr>
        <p:spPr>
          <a:xfrm>
            <a:off x="7794346" y="6108192"/>
            <a:ext cx="1653235" cy="457200"/>
          </a:xfrm>
          <a:prstGeom prst="rect">
            <a:avLst/>
          </a:prstGeom>
          <a:noFill/>
          <a:ln/>
        </p:spPr>
        <p:txBody>
          <a:bodyPr wrap="square" lIns="0" tIns="0" rIns="0" bIns="0" rtlCol="0" anchor="ctr"/>
          <a:lstStyle/>
          <a:p>
            <a:pPr marL="0" indent="0">
              <a:lnSpc>
                <a:spcPct val="110000"/>
              </a:lnSpc>
              <a:buNone/>
            </a:pPr>
            <a:r>
              <a:rPr lang="en-US" sz="700" dirty="0">
                <a:solidFill>
                  <a:srgbClr val="FFFFFF"/>
                </a:solidFill>
                <a:latin typeface="Arial" pitchFamily="34" charset="0"/>
                <a:ea typeface="Arial" pitchFamily="34" charset="-122"/>
                <a:cs typeface="Arial" pitchFamily="34" charset="-120"/>
              </a:rPr>
              <a:t>End-to-end observability</a:t>
            </a:r>
            <a:endParaRPr lang="en-US" sz="700" dirty="0"/>
          </a:p>
          <a:p>
            <a:pPr marL="0" indent="0">
              <a:lnSpc>
                <a:spcPct val="110000"/>
              </a:lnSpc>
              <a:buNone/>
            </a:pPr>
            <a:r>
              <a:rPr lang="en-US" sz="700" dirty="0">
                <a:solidFill>
                  <a:srgbClr val="FFFFFF"/>
                </a:solidFill>
                <a:latin typeface="Arial" pitchFamily="34" charset="0"/>
                <a:ea typeface="Arial" pitchFamily="34" charset="-122"/>
                <a:cs typeface="Arial" pitchFamily="34" charset="-120"/>
              </a:rPr>
              <a:t>and system trace</a:t>
            </a:r>
            <a:endParaRPr lang="en-US" sz="700" dirty="0"/>
          </a:p>
        </p:txBody>
      </p:sp>
      <p:sp>
        <p:nvSpPr>
          <p:cNvPr id="153" name="Shape 122"/>
          <p:cNvSpPr/>
          <p:nvPr/>
        </p:nvSpPr>
        <p:spPr>
          <a:xfrm>
            <a:off x="7245706" y="6172200"/>
            <a:ext cx="0" cy="329184"/>
          </a:xfrm>
          <a:prstGeom prst="line">
            <a:avLst/>
          </a:prstGeom>
          <a:noFill/>
          <a:ln w="12700">
            <a:solidFill>
              <a:srgbClr val="31496A"/>
            </a:solidFill>
            <a:prstDash val="solid"/>
          </a:ln>
        </p:spPr>
      </p:sp>
      <p:pic>
        <p:nvPicPr>
          <p:cNvPr id="154" name="Image 29" descr="/sessions/zealous-intelligent-mayer/mnt/outputs/icons/ben5.png"/>
          <p:cNvPicPr>
            <a:picLocks noChangeAspect="1"/>
          </p:cNvPicPr>
          <p:nvPr/>
        </p:nvPicPr>
        <p:blipFill>
          <a:blip r:embed="rId30"/>
          <a:stretch>
            <a:fillRect/>
          </a:stretch>
        </p:blipFill>
        <p:spPr>
          <a:xfrm>
            <a:off x="9776765" y="6227064"/>
            <a:ext cx="219456" cy="219456"/>
          </a:xfrm>
          <a:prstGeom prst="rect">
            <a:avLst/>
          </a:prstGeom>
        </p:spPr>
      </p:pic>
      <p:sp>
        <p:nvSpPr>
          <p:cNvPr id="155" name="Text 123"/>
          <p:cNvSpPr/>
          <p:nvPr/>
        </p:nvSpPr>
        <p:spPr>
          <a:xfrm>
            <a:off x="10087661" y="6108192"/>
            <a:ext cx="1653235" cy="457200"/>
          </a:xfrm>
          <a:prstGeom prst="rect">
            <a:avLst/>
          </a:prstGeom>
          <a:noFill/>
          <a:ln/>
        </p:spPr>
        <p:txBody>
          <a:bodyPr wrap="square" lIns="0" tIns="0" rIns="0" bIns="0" rtlCol="0" anchor="ctr"/>
          <a:lstStyle/>
          <a:p>
            <a:pPr marL="0" indent="0">
              <a:lnSpc>
                <a:spcPct val="110000"/>
              </a:lnSpc>
              <a:buNone/>
            </a:pPr>
            <a:r>
              <a:rPr lang="en-US" sz="700" dirty="0">
                <a:solidFill>
                  <a:srgbClr val="FFFFFF"/>
                </a:solidFill>
                <a:latin typeface="Arial" pitchFamily="34" charset="0"/>
                <a:ea typeface="Arial" pitchFamily="34" charset="-122"/>
                <a:cs typeface="Arial" pitchFamily="34" charset="-120"/>
              </a:rPr>
              <a:t>Scalable, governable</a:t>
            </a:r>
            <a:endParaRPr lang="en-US" sz="700" dirty="0"/>
          </a:p>
          <a:p>
            <a:pPr marL="0" indent="0">
              <a:lnSpc>
                <a:spcPct val="110000"/>
              </a:lnSpc>
              <a:buNone/>
            </a:pPr>
            <a:r>
              <a:rPr lang="en-US" sz="700" dirty="0">
                <a:solidFill>
                  <a:srgbClr val="FFFFFF"/>
                </a:solidFill>
                <a:latin typeface="Arial" pitchFamily="34" charset="0"/>
                <a:ea typeface="Arial" pitchFamily="34" charset="-122"/>
                <a:cs typeface="Arial" pitchFamily="34" charset="-120"/>
              </a:rPr>
              <a:t>intelligence at enterprise scale</a:t>
            </a:r>
            <a:endParaRPr lang="en-US" sz="700" dirty="0"/>
          </a:p>
        </p:txBody>
      </p:sp>
      <p:sp>
        <p:nvSpPr>
          <p:cNvPr id="156" name="Shape 124"/>
          <p:cNvSpPr/>
          <p:nvPr/>
        </p:nvSpPr>
        <p:spPr>
          <a:xfrm>
            <a:off x="9539021" y="6172200"/>
            <a:ext cx="0" cy="329184"/>
          </a:xfrm>
          <a:prstGeom prst="line">
            <a:avLst/>
          </a:prstGeom>
          <a:noFill/>
          <a:ln w="12700">
            <a:solidFill>
              <a:srgbClr val="31496A"/>
            </a:solidFill>
            <a:prstDash val="solid"/>
          </a:ln>
        </p:spPr>
      </p:sp>
      <p:sp>
        <p:nvSpPr>
          <p:cNvPr id="157" name="Shape 125"/>
          <p:cNvSpPr/>
          <p:nvPr/>
        </p:nvSpPr>
        <p:spPr>
          <a:xfrm>
            <a:off x="4553712" y="2926080"/>
            <a:ext cx="420624" cy="246888"/>
          </a:xfrm>
          <a:prstGeom prst="rect">
            <a:avLst/>
          </a:prstGeom>
          <a:solidFill>
            <a:srgbClr val="E8552F"/>
          </a:solidFill>
          <a:ln/>
        </p:spPr>
      </p:sp>
      <p:sp>
        <p:nvSpPr>
          <p:cNvPr id="158" name="Shape 126"/>
          <p:cNvSpPr/>
          <p:nvPr/>
        </p:nvSpPr>
        <p:spPr>
          <a:xfrm rot="5400000">
            <a:off x="4846320" y="2894076"/>
            <a:ext cx="512064" cy="310896"/>
          </a:xfrm>
          <a:prstGeom prst="triangle">
            <a:avLst/>
          </a:prstGeom>
          <a:solidFill>
            <a:srgbClr val="E8552F"/>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8</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Agentic mesh — build sequence</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27</a:t>
            </a:r>
            <a:endParaRPr lang="en-US" sz="900" dirty="0"/>
          </a:p>
        </p:txBody>
      </p:sp>
      <p:sp>
        <p:nvSpPr>
          <p:cNvPr id="6" name="Shape 4"/>
          <p:cNvSpPr/>
          <p:nvPr/>
        </p:nvSpPr>
        <p:spPr>
          <a:xfrm>
            <a:off x="548640" y="1481328"/>
            <a:ext cx="3503066" cy="2066544"/>
          </a:xfrm>
          <a:prstGeom prst="roundRect">
            <a:avLst>
              <a:gd name="adj" fmla="val 354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7" name="Shape 5"/>
          <p:cNvSpPr/>
          <p:nvPr/>
        </p:nvSpPr>
        <p:spPr>
          <a:xfrm>
            <a:off x="786384" y="1700784"/>
            <a:ext cx="402336" cy="402336"/>
          </a:xfrm>
          <a:prstGeom prst="ellipse">
            <a:avLst/>
          </a:prstGeom>
          <a:solidFill>
            <a:srgbClr val="00A9E0"/>
          </a:solidFill>
          <a:ln w="12700">
            <a:solidFill>
              <a:srgbClr val="00A9E0"/>
            </a:solidFill>
            <a:prstDash val="solid"/>
          </a:ln>
        </p:spPr>
      </p:sp>
      <p:sp>
        <p:nvSpPr>
          <p:cNvPr id="8" name="Text 6"/>
          <p:cNvSpPr/>
          <p:nvPr/>
        </p:nvSpPr>
        <p:spPr>
          <a:xfrm>
            <a:off x="786384" y="1700784"/>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1298448" y="1682496"/>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Registry first</a:t>
            </a:r>
            <a:endParaRPr lang="en-US" sz="1400" dirty="0"/>
          </a:p>
        </p:txBody>
      </p:sp>
      <p:sp>
        <p:nvSpPr>
          <p:cNvPr id="10" name="Text 8"/>
          <p:cNvSpPr/>
          <p:nvPr/>
        </p:nvSpPr>
        <p:spPr>
          <a:xfrm>
            <a:off x="804672" y="2231136"/>
            <a:ext cx="2991002" cy="1133856"/>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Stand up the agent registry inside Unity Catalog</a:t>
            </a:r>
            <a:endParaRPr lang="en-US" sz="1100" dirty="0"/>
          </a:p>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Mandate registration: no unregistered agent may obtain a gateway credential</a:t>
            </a:r>
            <a:endParaRPr lang="en-US" sz="1100" dirty="0"/>
          </a:p>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Capture owner, purpose, data scope, tools, eval record</a:t>
            </a:r>
            <a:endParaRPr lang="en-US" sz="1100" dirty="0"/>
          </a:p>
        </p:txBody>
      </p:sp>
      <p:sp>
        <p:nvSpPr>
          <p:cNvPr id="11" name="Shape 9"/>
          <p:cNvSpPr/>
          <p:nvPr/>
        </p:nvSpPr>
        <p:spPr>
          <a:xfrm>
            <a:off x="4344314" y="1481328"/>
            <a:ext cx="3503066" cy="2066544"/>
          </a:xfrm>
          <a:prstGeom prst="roundRect">
            <a:avLst>
              <a:gd name="adj" fmla="val 354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2" name="Shape 10"/>
          <p:cNvSpPr/>
          <p:nvPr/>
        </p:nvSpPr>
        <p:spPr>
          <a:xfrm>
            <a:off x="4582058" y="1700784"/>
            <a:ext cx="402336" cy="402336"/>
          </a:xfrm>
          <a:prstGeom prst="ellipse">
            <a:avLst/>
          </a:prstGeom>
          <a:solidFill>
            <a:srgbClr val="00A9E0"/>
          </a:solidFill>
          <a:ln w="12700">
            <a:solidFill>
              <a:srgbClr val="00A9E0"/>
            </a:solidFill>
            <a:prstDash val="solid"/>
          </a:ln>
        </p:spPr>
      </p:sp>
      <p:sp>
        <p:nvSpPr>
          <p:cNvPr id="13" name="Text 11"/>
          <p:cNvSpPr/>
          <p:nvPr/>
        </p:nvSpPr>
        <p:spPr>
          <a:xfrm>
            <a:off x="4582058" y="1700784"/>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5094122" y="1682496"/>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Identity propagation</a:t>
            </a:r>
            <a:endParaRPr lang="en-US" sz="1400" dirty="0"/>
          </a:p>
        </p:txBody>
      </p:sp>
      <p:sp>
        <p:nvSpPr>
          <p:cNvPr id="15" name="Text 13"/>
          <p:cNvSpPr/>
          <p:nvPr/>
        </p:nvSpPr>
        <p:spPr>
          <a:xfrm>
            <a:off x="4600346" y="2231136"/>
            <a:ext cx="2991002" cy="1133856"/>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End-user identity flows through the agent to every tool call</a:t>
            </a:r>
            <a:endParaRPr lang="en-US" sz="1100" dirty="0"/>
          </a:p>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No service accounts with standing broad access</a:t>
            </a:r>
            <a:endParaRPr lang="en-US" sz="1100" dirty="0"/>
          </a:p>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Entitlements resolved at call time, not at build time</a:t>
            </a:r>
            <a:endParaRPr lang="en-US" sz="1100" dirty="0"/>
          </a:p>
        </p:txBody>
      </p:sp>
      <p:sp>
        <p:nvSpPr>
          <p:cNvPr id="16" name="Shape 14"/>
          <p:cNvSpPr/>
          <p:nvPr/>
        </p:nvSpPr>
        <p:spPr>
          <a:xfrm>
            <a:off x="8139989" y="1481328"/>
            <a:ext cx="3503066" cy="2066544"/>
          </a:xfrm>
          <a:prstGeom prst="roundRect">
            <a:avLst>
              <a:gd name="adj" fmla="val 354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7" name="Shape 15"/>
          <p:cNvSpPr/>
          <p:nvPr/>
        </p:nvSpPr>
        <p:spPr>
          <a:xfrm>
            <a:off x="8377733" y="1700784"/>
            <a:ext cx="402336" cy="402336"/>
          </a:xfrm>
          <a:prstGeom prst="ellipse">
            <a:avLst/>
          </a:prstGeom>
          <a:solidFill>
            <a:srgbClr val="00A9E0"/>
          </a:solidFill>
          <a:ln w="12700">
            <a:solidFill>
              <a:srgbClr val="00A9E0"/>
            </a:solidFill>
            <a:prstDash val="solid"/>
          </a:ln>
        </p:spPr>
      </p:sp>
      <p:sp>
        <p:nvSpPr>
          <p:cNvPr id="18" name="Text 16"/>
          <p:cNvSpPr/>
          <p:nvPr/>
        </p:nvSpPr>
        <p:spPr>
          <a:xfrm>
            <a:off x="8377733" y="1700784"/>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03</a:t>
            </a:r>
            <a:endParaRPr lang="en-US" sz="1300" dirty="0"/>
          </a:p>
        </p:txBody>
      </p:sp>
      <p:sp>
        <p:nvSpPr>
          <p:cNvPr id="19" name="Text 17"/>
          <p:cNvSpPr/>
          <p:nvPr/>
        </p:nvSpPr>
        <p:spPr>
          <a:xfrm>
            <a:off x="8889797" y="1682496"/>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Policy plane</a:t>
            </a:r>
            <a:endParaRPr lang="en-US" sz="1400" dirty="0"/>
          </a:p>
        </p:txBody>
      </p:sp>
      <p:sp>
        <p:nvSpPr>
          <p:cNvPr id="20" name="Text 18"/>
          <p:cNvSpPr/>
          <p:nvPr/>
        </p:nvSpPr>
        <p:spPr>
          <a:xfrm>
            <a:off x="8396021" y="2231136"/>
            <a:ext cx="2991002" cy="1133856"/>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Central policy: what data classes an agent may touch</a:t>
            </a:r>
            <a:endParaRPr lang="en-US" sz="1100" dirty="0"/>
          </a:p>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Spend caps and rate limits per agent and per domain</a:t>
            </a:r>
            <a:endParaRPr lang="en-US" sz="1100" dirty="0"/>
          </a:p>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PII redaction and prompt-injection defence at the boundary</a:t>
            </a:r>
            <a:endParaRPr lang="en-US" sz="1100" dirty="0"/>
          </a:p>
        </p:txBody>
      </p:sp>
      <p:sp>
        <p:nvSpPr>
          <p:cNvPr id="21" name="Shape 19"/>
          <p:cNvSpPr/>
          <p:nvPr/>
        </p:nvSpPr>
        <p:spPr>
          <a:xfrm>
            <a:off x="548640" y="3767328"/>
            <a:ext cx="3503066" cy="2066544"/>
          </a:xfrm>
          <a:prstGeom prst="roundRect">
            <a:avLst>
              <a:gd name="adj" fmla="val 354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2" name="Shape 20"/>
          <p:cNvSpPr/>
          <p:nvPr/>
        </p:nvSpPr>
        <p:spPr>
          <a:xfrm>
            <a:off x="786384" y="3986784"/>
            <a:ext cx="402336" cy="402336"/>
          </a:xfrm>
          <a:prstGeom prst="ellipse">
            <a:avLst/>
          </a:prstGeom>
          <a:solidFill>
            <a:srgbClr val="1B6CA8"/>
          </a:solidFill>
          <a:ln w="12700">
            <a:solidFill>
              <a:srgbClr val="1B6CA8"/>
            </a:solidFill>
            <a:prstDash val="solid"/>
          </a:ln>
        </p:spPr>
      </p:sp>
      <p:sp>
        <p:nvSpPr>
          <p:cNvPr id="23" name="Text 21"/>
          <p:cNvSpPr/>
          <p:nvPr/>
        </p:nvSpPr>
        <p:spPr>
          <a:xfrm>
            <a:off x="786384" y="398678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4" name="Text 22"/>
          <p:cNvSpPr/>
          <p:nvPr/>
        </p:nvSpPr>
        <p:spPr>
          <a:xfrm>
            <a:off x="1298448" y="3968496"/>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Tool plane</a:t>
            </a:r>
            <a:endParaRPr lang="en-US" sz="1400" dirty="0"/>
          </a:p>
        </p:txBody>
      </p:sp>
      <p:sp>
        <p:nvSpPr>
          <p:cNvPr id="25" name="Text 23"/>
          <p:cNvSpPr/>
          <p:nvPr/>
        </p:nvSpPr>
        <p:spPr>
          <a:xfrm>
            <a:off x="804672" y="4517136"/>
            <a:ext cx="2991002" cy="1133856"/>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Register MCP servers as governed assets with versioned schemas</a:t>
            </a:r>
            <a:endParaRPr lang="en-US" sz="1100" dirty="0"/>
          </a:p>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Scope tool visibility per agent — least privilege by default</a:t>
            </a:r>
            <a:endParaRPr lang="en-US" sz="1100" dirty="0"/>
          </a:p>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Deterministic orchestrations exposed as tools for all write paths</a:t>
            </a:r>
            <a:endParaRPr lang="en-US" sz="1100" dirty="0"/>
          </a:p>
        </p:txBody>
      </p:sp>
      <p:sp>
        <p:nvSpPr>
          <p:cNvPr id="26" name="Shape 24"/>
          <p:cNvSpPr/>
          <p:nvPr/>
        </p:nvSpPr>
        <p:spPr>
          <a:xfrm>
            <a:off x="4344314" y="3767328"/>
            <a:ext cx="3503066" cy="2066544"/>
          </a:xfrm>
          <a:prstGeom prst="roundRect">
            <a:avLst>
              <a:gd name="adj" fmla="val 354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7" name="Shape 25"/>
          <p:cNvSpPr/>
          <p:nvPr/>
        </p:nvSpPr>
        <p:spPr>
          <a:xfrm>
            <a:off x="4582058" y="3986784"/>
            <a:ext cx="402336" cy="402336"/>
          </a:xfrm>
          <a:prstGeom prst="ellipse">
            <a:avLst/>
          </a:prstGeom>
          <a:solidFill>
            <a:srgbClr val="1B6CA8"/>
          </a:solidFill>
          <a:ln w="12700">
            <a:solidFill>
              <a:srgbClr val="1B6CA8"/>
            </a:solidFill>
            <a:prstDash val="solid"/>
          </a:ln>
        </p:spPr>
      </p:sp>
      <p:sp>
        <p:nvSpPr>
          <p:cNvPr id="28" name="Text 26"/>
          <p:cNvSpPr/>
          <p:nvPr/>
        </p:nvSpPr>
        <p:spPr>
          <a:xfrm>
            <a:off x="4582058" y="398678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9" name="Text 27"/>
          <p:cNvSpPr/>
          <p:nvPr/>
        </p:nvSpPr>
        <p:spPr>
          <a:xfrm>
            <a:off x="5094122" y="3968496"/>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Orchestration</a:t>
            </a:r>
            <a:endParaRPr lang="en-US" sz="1400" dirty="0"/>
          </a:p>
        </p:txBody>
      </p:sp>
      <p:sp>
        <p:nvSpPr>
          <p:cNvPr id="30" name="Text 28"/>
          <p:cNvSpPr/>
          <p:nvPr/>
        </p:nvSpPr>
        <p:spPr>
          <a:xfrm>
            <a:off x="4600346" y="4517136"/>
            <a:ext cx="2991002" cy="1133856"/>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Supervisor agents for multi-step, cross-domain work</a:t>
            </a:r>
            <a:endParaRPr lang="en-US" sz="1100" dirty="0"/>
          </a:p>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Explicit hand-off contracts and failure semantics</a:t>
            </a:r>
            <a:endParaRPr lang="en-US" sz="1100" dirty="0"/>
          </a:p>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Human checkpoints at defined risk thresholds</a:t>
            </a:r>
            <a:endParaRPr lang="en-US" sz="1100" dirty="0"/>
          </a:p>
        </p:txBody>
      </p:sp>
      <p:sp>
        <p:nvSpPr>
          <p:cNvPr id="31" name="Shape 29"/>
          <p:cNvSpPr/>
          <p:nvPr/>
        </p:nvSpPr>
        <p:spPr>
          <a:xfrm>
            <a:off x="8139989" y="3767328"/>
            <a:ext cx="3503066" cy="2066544"/>
          </a:xfrm>
          <a:prstGeom prst="roundRect">
            <a:avLst>
              <a:gd name="adj" fmla="val 3540"/>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32" name="Shape 30"/>
          <p:cNvSpPr/>
          <p:nvPr/>
        </p:nvSpPr>
        <p:spPr>
          <a:xfrm>
            <a:off x="8377733" y="3986784"/>
            <a:ext cx="402336" cy="402336"/>
          </a:xfrm>
          <a:prstGeom prst="ellipse">
            <a:avLst/>
          </a:prstGeom>
          <a:solidFill>
            <a:srgbClr val="1B6CA8"/>
          </a:solidFill>
          <a:ln w="12700">
            <a:solidFill>
              <a:srgbClr val="1B6CA8"/>
            </a:solidFill>
            <a:prstDash val="solid"/>
          </a:ln>
        </p:spPr>
      </p:sp>
      <p:sp>
        <p:nvSpPr>
          <p:cNvPr id="33" name="Text 31"/>
          <p:cNvSpPr/>
          <p:nvPr/>
        </p:nvSpPr>
        <p:spPr>
          <a:xfrm>
            <a:off x="8377733" y="398678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4" name="Text 32"/>
          <p:cNvSpPr/>
          <p:nvPr/>
        </p:nvSpPr>
        <p:spPr>
          <a:xfrm>
            <a:off x="8889797" y="3968496"/>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Trace everything</a:t>
            </a:r>
            <a:endParaRPr lang="en-US" sz="1400" dirty="0"/>
          </a:p>
        </p:txBody>
      </p:sp>
      <p:sp>
        <p:nvSpPr>
          <p:cNvPr id="35" name="Text 33"/>
          <p:cNvSpPr/>
          <p:nvPr/>
        </p:nvSpPr>
        <p:spPr>
          <a:xfrm>
            <a:off x="8396021" y="4517136"/>
            <a:ext cx="2991002" cy="1133856"/>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OpenTelemetry spans across agents, tools and model calls</a:t>
            </a:r>
            <a:endParaRPr lang="en-US" sz="1100" dirty="0"/>
          </a:p>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Cost, token, latency and outcome attribution per run</a:t>
            </a:r>
            <a:endParaRPr lang="en-US" sz="1100" dirty="0"/>
          </a:p>
          <a:p>
            <a:pPr marL="342900" indent="-342900">
              <a:lnSpc>
                <a:spcPts val="1500"/>
              </a:lnSpc>
              <a:spcAft>
                <a:spcPts val="500"/>
              </a:spcAft>
              <a:buSzPct val="100000"/>
              <a:buChar char="•"/>
            </a:pPr>
            <a:r>
              <a:rPr lang="en-US" sz="1100" dirty="0">
                <a:solidFill>
                  <a:srgbClr val="5A6B7B"/>
                </a:solidFill>
                <a:latin typeface="Calibri" pitchFamily="34" charset="0"/>
                <a:ea typeface="Calibri" pitchFamily="34" charset="-122"/>
                <a:cs typeface="Calibri" pitchFamily="34" charset="-120"/>
              </a:rPr>
              <a:t>Replay capability for any past agent decision</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91440"/>
            <a:ext cx="12191695" cy="292608"/>
          </a:xfrm>
          <a:prstGeom prst="rect">
            <a:avLst/>
          </a:prstGeom>
          <a:noFill/>
          <a:ln/>
        </p:spPr>
        <p:txBody>
          <a:bodyPr wrap="square" lIns="0" tIns="0" rIns="0" bIns="0" rtlCol="0" anchor="ctr"/>
          <a:lstStyle/>
          <a:p>
            <a:pPr marL="0" indent="0" algn="ctr">
              <a:buNone/>
            </a:pPr>
            <a:r>
              <a:rPr lang="en-US" sz="1900" b="1" kern="0" spc="-20" dirty="0">
                <a:solidFill>
                  <a:srgbClr val="1F3864"/>
                </a:solidFill>
                <a:latin typeface="Arial" pitchFamily="34" charset="0"/>
                <a:ea typeface="Arial" pitchFamily="34" charset="-122"/>
                <a:cs typeface="Arial" pitchFamily="34" charset="-120"/>
              </a:rPr>
              <a:t>MULTI-MODEL AI AGENT PLATFORM ARCHITECTURE ON AZURE</a:t>
            </a:r>
            <a:endParaRPr lang="en-US" sz="1900" dirty="0"/>
          </a:p>
        </p:txBody>
      </p:sp>
      <p:sp>
        <p:nvSpPr>
          <p:cNvPr id="3" name="Shape 1"/>
          <p:cNvSpPr/>
          <p:nvPr/>
        </p:nvSpPr>
        <p:spPr>
          <a:xfrm>
            <a:off x="164592" y="475488"/>
            <a:ext cx="1005840" cy="2267712"/>
          </a:xfrm>
          <a:prstGeom prst="roundRect">
            <a:avLst>
              <a:gd name="adj" fmla="val 4545"/>
            </a:avLst>
          </a:prstGeom>
          <a:solidFill>
            <a:srgbClr val="FFFFFF"/>
          </a:solidFill>
          <a:ln w="12700">
            <a:solidFill>
              <a:srgbClr val="A6A6A6"/>
            </a:solidFill>
            <a:prstDash val="solid"/>
          </a:ln>
        </p:spPr>
      </p:sp>
      <p:sp>
        <p:nvSpPr>
          <p:cNvPr id="4" name="Text 2"/>
          <p:cNvSpPr/>
          <p:nvPr/>
        </p:nvSpPr>
        <p:spPr>
          <a:xfrm>
            <a:off x="164592" y="539496"/>
            <a:ext cx="1005840" cy="155448"/>
          </a:xfrm>
          <a:prstGeom prst="rect">
            <a:avLst/>
          </a:prstGeom>
          <a:noFill/>
          <a:ln/>
        </p:spPr>
        <p:txBody>
          <a:bodyPr wrap="square" lIns="0" tIns="0" rIns="0" bIns="0" rtlCol="0" anchor="ctr"/>
          <a:lstStyle/>
          <a:p>
            <a:pPr marL="0" indent="0" algn="ctr">
              <a:buNone/>
            </a:pPr>
            <a:r>
              <a:rPr lang="en-US" sz="900" b="1" dirty="0">
                <a:solidFill>
                  <a:srgbClr val="1F3864"/>
                </a:solidFill>
                <a:latin typeface="Arial" pitchFamily="34" charset="0"/>
                <a:ea typeface="Arial" pitchFamily="34" charset="-122"/>
                <a:cs typeface="Arial" pitchFamily="34" charset="-120"/>
              </a:rPr>
              <a:t>USERS</a:t>
            </a:r>
            <a:endParaRPr lang="en-US" sz="900" dirty="0"/>
          </a:p>
        </p:txBody>
      </p:sp>
      <p:pic>
        <p:nvPicPr>
          <p:cNvPr id="5" name="Image 0" descr="/sessions/zealous-intelligent-mayer/mnt/outputs/icons3/u_web.png"/>
          <p:cNvPicPr>
            <a:picLocks noChangeAspect="1"/>
          </p:cNvPicPr>
          <p:nvPr/>
        </p:nvPicPr>
        <p:blipFill>
          <a:blip r:embed="rId3"/>
          <a:stretch>
            <a:fillRect/>
          </a:stretch>
        </p:blipFill>
        <p:spPr>
          <a:xfrm>
            <a:off x="557784" y="768096"/>
            <a:ext cx="201168" cy="201168"/>
          </a:xfrm>
          <a:prstGeom prst="rect">
            <a:avLst/>
          </a:prstGeom>
        </p:spPr>
      </p:pic>
      <p:sp>
        <p:nvSpPr>
          <p:cNvPr id="6" name="Text 3"/>
          <p:cNvSpPr/>
          <p:nvPr/>
        </p:nvSpPr>
        <p:spPr>
          <a:xfrm>
            <a:off x="182880" y="987552"/>
            <a:ext cx="969264" cy="146304"/>
          </a:xfrm>
          <a:prstGeom prst="rect">
            <a:avLst/>
          </a:prstGeom>
          <a:noFill/>
          <a:ln/>
        </p:spPr>
        <p:txBody>
          <a:bodyPr wrap="square" lIns="0" tIns="0" rIns="0" bIns="0" rtlCol="0" anchor="ctr"/>
          <a:lstStyle/>
          <a:p>
            <a:pPr marL="0" indent="0" algn="ctr">
              <a:lnSpc>
                <a:spcPct val="95000"/>
              </a:lnSpc>
              <a:buNone/>
            </a:pPr>
            <a:r>
              <a:rPr lang="en-US" sz="600" dirty="0">
                <a:solidFill>
                  <a:srgbClr val="3B3B3B"/>
                </a:solidFill>
                <a:latin typeface="Arial" pitchFamily="34" charset="0"/>
                <a:ea typeface="Arial" pitchFamily="34" charset="-122"/>
                <a:cs typeface="Arial" pitchFamily="34" charset="-120"/>
              </a:rPr>
              <a:t>Web App</a:t>
            </a:r>
            <a:endParaRPr lang="en-US" sz="600" dirty="0"/>
          </a:p>
        </p:txBody>
      </p:sp>
      <p:pic>
        <p:nvPicPr>
          <p:cNvPr id="7" name="Image 1" descr="/sessions/zealous-intelligent-mayer/mnt/outputs/icons3/u_mob.png"/>
          <p:cNvPicPr>
            <a:picLocks noChangeAspect="1"/>
          </p:cNvPicPr>
          <p:nvPr/>
        </p:nvPicPr>
        <p:blipFill>
          <a:blip r:embed="rId4"/>
          <a:stretch>
            <a:fillRect/>
          </a:stretch>
        </p:blipFill>
        <p:spPr>
          <a:xfrm>
            <a:off x="557784" y="1152144"/>
            <a:ext cx="201168" cy="201168"/>
          </a:xfrm>
          <a:prstGeom prst="rect">
            <a:avLst/>
          </a:prstGeom>
        </p:spPr>
      </p:pic>
      <p:sp>
        <p:nvSpPr>
          <p:cNvPr id="8" name="Text 4"/>
          <p:cNvSpPr/>
          <p:nvPr/>
        </p:nvSpPr>
        <p:spPr>
          <a:xfrm>
            <a:off x="182880" y="1371600"/>
            <a:ext cx="969264" cy="146304"/>
          </a:xfrm>
          <a:prstGeom prst="rect">
            <a:avLst/>
          </a:prstGeom>
          <a:noFill/>
          <a:ln/>
        </p:spPr>
        <p:txBody>
          <a:bodyPr wrap="square" lIns="0" tIns="0" rIns="0" bIns="0" rtlCol="0" anchor="ctr"/>
          <a:lstStyle/>
          <a:p>
            <a:pPr marL="0" indent="0" algn="ctr">
              <a:lnSpc>
                <a:spcPct val="95000"/>
              </a:lnSpc>
              <a:buNone/>
            </a:pPr>
            <a:r>
              <a:rPr lang="en-US" sz="600" dirty="0">
                <a:solidFill>
                  <a:srgbClr val="3B3B3B"/>
                </a:solidFill>
                <a:latin typeface="Arial" pitchFamily="34" charset="0"/>
                <a:ea typeface="Arial" pitchFamily="34" charset="-122"/>
                <a:cs typeface="Arial" pitchFamily="34" charset="-120"/>
              </a:rPr>
              <a:t>Mobile App</a:t>
            </a:r>
            <a:endParaRPr lang="en-US" sz="600" dirty="0"/>
          </a:p>
        </p:txBody>
      </p:sp>
      <p:pic>
        <p:nvPicPr>
          <p:cNvPr id="9" name="Image 2" descr="/sessions/zealous-intelligent-mayer/mnt/outputs/icons3/u_teams.png"/>
          <p:cNvPicPr>
            <a:picLocks noChangeAspect="1"/>
          </p:cNvPicPr>
          <p:nvPr/>
        </p:nvPicPr>
        <p:blipFill>
          <a:blip r:embed="rId5"/>
          <a:stretch>
            <a:fillRect/>
          </a:stretch>
        </p:blipFill>
        <p:spPr>
          <a:xfrm>
            <a:off x="557784" y="1536192"/>
            <a:ext cx="201168" cy="201168"/>
          </a:xfrm>
          <a:prstGeom prst="rect">
            <a:avLst/>
          </a:prstGeom>
        </p:spPr>
      </p:pic>
      <p:sp>
        <p:nvSpPr>
          <p:cNvPr id="10" name="Text 5"/>
          <p:cNvSpPr/>
          <p:nvPr/>
        </p:nvSpPr>
        <p:spPr>
          <a:xfrm>
            <a:off x="182880" y="1755648"/>
            <a:ext cx="969264" cy="146304"/>
          </a:xfrm>
          <a:prstGeom prst="rect">
            <a:avLst/>
          </a:prstGeom>
          <a:noFill/>
          <a:ln/>
        </p:spPr>
        <p:txBody>
          <a:bodyPr wrap="square" lIns="0" tIns="0" rIns="0" bIns="0" rtlCol="0" anchor="ctr"/>
          <a:lstStyle/>
          <a:p>
            <a:pPr marL="0" indent="0" algn="ctr">
              <a:lnSpc>
                <a:spcPct val="95000"/>
              </a:lnSpc>
              <a:buNone/>
            </a:pPr>
            <a:r>
              <a:rPr lang="en-US" sz="600" dirty="0">
                <a:solidFill>
                  <a:srgbClr val="3B3B3B"/>
                </a:solidFill>
                <a:latin typeface="Arial" pitchFamily="34" charset="0"/>
                <a:ea typeface="Arial" pitchFamily="34" charset="-122"/>
                <a:cs typeface="Arial" pitchFamily="34" charset="-120"/>
              </a:rPr>
              <a:t>Microsoft</a:t>
            </a:r>
            <a:endParaRPr lang="en-US" sz="600" dirty="0"/>
          </a:p>
          <a:p>
            <a:pPr marL="0" indent="0" algn="ctr">
              <a:lnSpc>
                <a:spcPct val="95000"/>
              </a:lnSpc>
              <a:buNone/>
            </a:pPr>
            <a:r>
              <a:rPr lang="en-US" sz="600" dirty="0">
                <a:solidFill>
                  <a:srgbClr val="3B3B3B"/>
                </a:solidFill>
                <a:latin typeface="Arial" pitchFamily="34" charset="0"/>
                <a:ea typeface="Arial" pitchFamily="34" charset="-122"/>
                <a:cs typeface="Arial" pitchFamily="34" charset="-120"/>
              </a:rPr>
              <a:t>Teams</a:t>
            </a:r>
            <a:endParaRPr lang="en-US" sz="600" dirty="0"/>
          </a:p>
        </p:txBody>
      </p:sp>
      <p:pic>
        <p:nvPicPr>
          <p:cNvPr id="11" name="Image 3" descr="/sessions/zealous-intelligent-mayer/mnt/outputs/icons3/u_slack.png"/>
          <p:cNvPicPr>
            <a:picLocks noChangeAspect="1"/>
          </p:cNvPicPr>
          <p:nvPr/>
        </p:nvPicPr>
        <p:blipFill>
          <a:blip r:embed="rId6"/>
          <a:stretch>
            <a:fillRect/>
          </a:stretch>
        </p:blipFill>
        <p:spPr>
          <a:xfrm>
            <a:off x="557784" y="1920240"/>
            <a:ext cx="201168" cy="201168"/>
          </a:xfrm>
          <a:prstGeom prst="rect">
            <a:avLst/>
          </a:prstGeom>
        </p:spPr>
      </p:pic>
      <p:sp>
        <p:nvSpPr>
          <p:cNvPr id="12" name="Text 6"/>
          <p:cNvSpPr/>
          <p:nvPr/>
        </p:nvSpPr>
        <p:spPr>
          <a:xfrm>
            <a:off x="182880" y="2139696"/>
            <a:ext cx="969264" cy="146304"/>
          </a:xfrm>
          <a:prstGeom prst="rect">
            <a:avLst/>
          </a:prstGeom>
          <a:noFill/>
          <a:ln/>
        </p:spPr>
        <p:txBody>
          <a:bodyPr wrap="square" lIns="0" tIns="0" rIns="0" bIns="0" rtlCol="0" anchor="ctr"/>
          <a:lstStyle/>
          <a:p>
            <a:pPr marL="0" indent="0" algn="ctr">
              <a:lnSpc>
                <a:spcPct val="95000"/>
              </a:lnSpc>
              <a:buNone/>
            </a:pPr>
            <a:r>
              <a:rPr lang="en-US" sz="600" dirty="0">
                <a:solidFill>
                  <a:srgbClr val="3B3B3B"/>
                </a:solidFill>
                <a:latin typeface="Arial" pitchFamily="34" charset="0"/>
                <a:ea typeface="Arial" pitchFamily="34" charset="-122"/>
                <a:cs typeface="Arial" pitchFamily="34" charset="-120"/>
              </a:rPr>
              <a:t>Slack</a:t>
            </a:r>
            <a:endParaRPr lang="en-US" sz="600" dirty="0"/>
          </a:p>
        </p:txBody>
      </p:sp>
      <p:pic>
        <p:nvPicPr>
          <p:cNvPr id="13" name="Image 4" descr="/sessions/zealous-intelligent-mayer/mnt/outputs/icons3/u_api.png"/>
          <p:cNvPicPr>
            <a:picLocks noChangeAspect="1"/>
          </p:cNvPicPr>
          <p:nvPr/>
        </p:nvPicPr>
        <p:blipFill>
          <a:blip r:embed="rId7"/>
          <a:stretch>
            <a:fillRect/>
          </a:stretch>
        </p:blipFill>
        <p:spPr>
          <a:xfrm>
            <a:off x="557784" y="2304288"/>
            <a:ext cx="201168" cy="201168"/>
          </a:xfrm>
          <a:prstGeom prst="rect">
            <a:avLst/>
          </a:prstGeom>
        </p:spPr>
      </p:pic>
      <p:sp>
        <p:nvSpPr>
          <p:cNvPr id="14" name="Text 7"/>
          <p:cNvSpPr/>
          <p:nvPr/>
        </p:nvSpPr>
        <p:spPr>
          <a:xfrm>
            <a:off x="182880" y="2523744"/>
            <a:ext cx="969264" cy="146304"/>
          </a:xfrm>
          <a:prstGeom prst="rect">
            <a:avLst/>
          </a:prstGeom>
          <a:noFill/>
          <a:ln/>
        </p:spPr>
        <p:txBody>
          <a:bodyPr wrap="square" lIns="0" tIns="0" rIns="0" bIns="0" rtlCol="0" anchor="ctr"/>
          <a:lstStyle/>
          <a:p>
            <a:pPr marL="0" indent="0" algn="ctr">
              <a:lnSpc>
                <a:spcPct val="95000"/>
              </a:lnSpc>
              <a:buNone/>
            </a:pPr>
            <a:r>
              <a:rPr lang="en-US" sz="600" dirty="0">
                <a:solidFill>
                  <a:srgbClr val="3B3B3B"/>
                </a:solidFill>
                <a:latin typeface="Arial" pitchFamily="34" charset="0"/>
                <a:ea typeface="Arial" pitchFamily="34" charset="-122"/>
                <a:cs typeface="Arial" pitchFamily="34" charset="-120"/>
              </a:rPr>
              <a:t>API / SDK</a:t>
            </a:r>
            <a:endParaRPr lang="en-US" sz="600" dirty="0"/>
          </a:p>
        </p:txBody>
      </p:sp>
      <p:sp>
        <p:nvSpPr>
          <p:cNvPr id="15" name="Shape 8"/>
          <p:cNvSpPr/>
          <p:nvPr/>
        </p:nvSpPr>
        <p:spPr>
          <a:xfrm>
            <a:off x="1298448" y="475488"/>
            <a:ext cx="1280160" cy="1920240"/>
          </a:xfrm>
          <a:prstGeom prst="roundRect">
            <a:avLst>
              <a:gd name="adj" fmla="val 3571"/>
            </a:avLst>
          </a:prstGeom>
          <a:solidFill>
            <a:srgbClr val="FAF8FD"/>
          </a:solidFill>
          <a:ln w="12700">
            <a:solidFill>
              <a:srgbClr val="8064A2"/>
            </a:solidFill>
            <a:prstDash val="solid"/>
          </a:ln>
        </p:spPr>
      </p:sp>
      <p:sp>
        <p:nvSpPr>
          <p:cNvPr id="16" name="Text 9"/>
          <p:cNvSpPr/>
          <p:nvPr/>
        </p:nvSpPr>
        <p:spPr>
          <a:xfrm>
            <a:off x="1298448" y="539496"/>
            <a:ext cx="1280160" cy="155448"/>
          </a:xfrm>
          <a:prstGeom prst="rect">
            <a:avLst/>
          </a:prstGeom>
          <a:noFill/>
          <a:ln/>
        </p:spPr>
        <p:txBody>
          <a:bodyPr wrap="square" lIns="0" tIns="0" rIns="0" bIns="0" rtlCol="0" anchor="ctr"/>
          <a:lstStyle/>
          <a:p>
            <a:pPr marL="0" indent="0" algn="ctr">
              <a:buNone/>
            </a:pPr>
            <a:r>
              <a:rPr lang="en-US" sz="800" b="1" dirty="0">
                <a:solidFill>
                  <a:srgbClr val="5B2E8C"/>
                </a:solidFill>
                <a:latin typeface="Arial" pitchFamily="34" charset="0"/>
                <a:ea typeface="Arial" pitchFamily="34" charset="-122"/>
                <a:cs typeface="Arial" pitchFamily="34" charset="-120"/>
              </a:rPr>
              <a:t>AUTHENTICATION</a:t>
            </a:r>
            <a:endParaRPr lang="en-US" sz="800" dirty="0"/>
          </a:p>
        </p:txBody>
      </p:sp>
      <p:pic>
        <p:nvPicPr>
          <p:cNvPr id="17" name="Image 5" descr="/sessions/zealous-intelligent-mayer/mnt/outputs/icons3/au_lock.png"/>
          <p:cNvPicPr>
            <a:picLocks noChangeAspect="1"/>
          </p:cNvPicPr>
          <p:nvPr/>
        </p:nvPicPr>
        <p:blipFill>
          <a:blip r:embed="rId8"/>
          <a:stretch>
            <a:fillRect/>
          </a:stretch>
        </p:blipFill>
        <p:spPr>
          <a:xfrm>
            <a:off x="1828800" y="731520"/>
            <a:ext cx="219456" cy="219456"/>
          </a:xfrm>
          <a:prstGeom prst="rect">
            <a:avLst/>
          </a:prstGeom>
        </p:spPr>
      </p:pic>
      <p:sp>
        <p:nvSpPr>
          <p:cNvPr id="18" name="Text 10"/>
          <p:cNvSpPr/>
          <p:nvPr/>
        </p:nvSpPr>
        <p:spPr>
          <a:xfrm>
            <a:off x="1335024" y="987552"/>
            <a:ext cx="1207008" cy="256032"/>
          </a:xfrm>
          <a:prstGeom prst="rect">
            <a:avLst/>
          </a:prstGeom>
          <a:noFill/>
          <a:ln/>
        </p:spPr>
        <p:txBody>
          <a:bodyPr wrap="square" lIns="0" tIns="0" rIns="0" bIns="0" rtlCol="0" anchor="ctr"/>
          <a:lstStyle/>
          <a:p>
            <a:pPr marL="0" indent="0" algn="ctr">
              <a:lnSpc>
                <a:spcPct val="100000"/>
              </a:lnSpc>
              <a:buNone/>
            </a:pPr>
            <a:r>
              <a:rPr lang="en-US" sz="620" dirty="0">
                <a:solidFill>
                  <a:srgbClr val="3B3B3B"/>
                </a:solidFill>
                <a:latin typeface="Arial" pitchFamily="34" charset="0"/>
                <a:ea typeface="Arial" pitchFamily="34" charset="-122"/>
                <a:cs typeface="Arial" pitchFamily="34" charset="-120"/>
              </a:rPr>
              <a:t>Microsoft Entra ID</a:t>
            </a:r>
            <a:endParaRPr lang="en-US" sz="620" dirty="0"/>
          </a:p>
          <a:p>
            <a:pPr marL="0" indent="0" algn="ctr">
              <a:lnSpc>
                <a:spcPct val="100000"/>
              </a:lnSpc>
              <a:buNone/>
            </a:pPr>
            <a:r>
              <a:rPr lang="en-US" sz="620" dirty="0">
                <a:solidFill>
                  <a:srgbClr val="3B3B3B"/>
                </a:solidFill>
                <a:latin typeface="Arial" pitchFamily="34" charset="0"/>
                <a:ea typeface="Arial" pitchFamily="34" charset="-122"/>
                <a:cs typeface="Arial" pitchFamily="34" charset="-120"/>
              </a:rPr>
              <a:t>SSO / OAuth 2.0 · OIDC / SAML</a:t>
            </a:r>
            <a:endParaRPr lang="en-US" sz="620" dirty="0"/>
          </a:p>
        </p:txBody>
      </p:sp>
      <p:pic>
        <p:nvPicPr>
          <p:cNvPr id="19" name="Image 6" descr="/sessions/zealous-intelligent-mayer/mnt/outputs/icons3/au_id.png"/>
          <p:cNvPicPr>
            <a:picLocks noChangeAspect="1"/>
          </p:cNvPicPr>
          <p:nvPr/>
        </p:nvPicPr>
        <p:blipFill>
          <a:blip r:embed="rId9"/>
          <a:stretch>
            <a:fillRect/>
          </a:stretch>
        </p:blipFill>
        <p:spPr>
          <a:xfrm>
            <a:off x="1389888" y="1367028"/>
            <a:ext cx="155448" cy="155448"/>
          </a:xfrm>
          <a:prstGeom prst="rect">
            <a:avLst/>
          </a:prstGeom>
        </p:spPr>
      </p:pic>
      <p:sp>
        <p:nvSpPr>
          <p:cNvPr id="20" name="Text 11"/>
          <p:cNvSpPr/>
          <p:nvPr/>
        </p:nvSpPr>
        <p:spPr>
          <a:xfrm>
            <a:off x="1600200" y="1316736"/>
            <a:ext cx="923544" cy="256032"/>
          </a:xfrm>
          <a:prstGeom prst="rect">
            <a:avLst/>
          </a:prstGeom>
          <a:noFill/>
          <a:ln/>
        </p:spPr>
        <p:txBody>
          <a:bodyPr wrap="square" lIns="0" tIns="0" rIns="0" bIns="0" rtlCol="0" anchor="ctr"/>
          <a:lstStyle/>
          <a:p>
            <a:pPr marL="0" indent="0">
              <a:lnSpc>
                <a:spcPct val="100000"/>
              </a:lnSpc>
              <a:buNone/>
            </a:pPr>
            <a:r>
              <a:rPr lang="en-US" sz="620" dirty="0">
                <a:solidFill>
                  <a:srgbClr val="3B3B3B"/>
                </a:solidFill>
                <a:latin typeface="Arial" pitchFamily="34" charset="0"/>
                <a:ea typeface="Arial" pitchFamily="34" charset="-122"/>
                <a:cs typeface="Arial" pitchFamily="34" charset="-120"/>
              </a:rPr>
              <a:t>Entra ID (P1 / P2)</a:t>
            </a:r>
            <a:endParaRPr lang="en-US" sz="620" dirty="0"/>
          </a:p>
        </p:txBody>
      </p:sp>
      <p:pic>
        <p:nvPicPr>
          <p:cNvPr id="21" name="Image 7" descr="/sessions/zealous-intelligent-mayer/mnt/outputs/icons3/au_ext.png"/>
          <p:cNvPicPr>
            <a:picLocks noChangeAspect="1"/>
          </p:cNvPicPr>
          <p:nvPr/>
        </p:nvPicPr>
        <p:blipFill>
          <a:blip r:embed="rId10"/>
          <a:stretch>
            <a:fillRect/>
          </a:stretch>
        </p:blipFill>
        <p:spPr>
          <a:xfrm>
            <a:off x="1389888" y="1623060"/>
            <a:ext cx="155448" cy="155448"/>
          </a:xfrm>
          <a:prstGeom prst="rect">
            <a:avLst/>
          </a:prstGeom>
        </p:spPr>
      </p:pic>
      <p:sp>
        <p:nvSpPr>
          <p:cNvPr id="22" name="Text 12"/>
          <p:cNvSpPr/>
          <p:nvPr/>
        </p:nvSpPr>
        <p:spPr>
          <a:xfrm>
            <a:off x="1600200" y="1572768"/>
            <a:ext cx="923544" cy="256032"/>
          </a:xfrm>
          <a:prstGeom prst="rect">
            <a:avLst/>
          </a:prstGeom>
          <a:noFill/>
          <a:ln/>
        </p:spPr>
        <p:txBody>
          <a:bodyPr wrap="square" lIns="0" tIns="0" rIns="0" bIns="0" rtlCol="0" anchor="ctr"/>
          <a:lstStyle/>
          <a:p>
            <a:pPr marL="0" indent="0">
              <a:lnSpc>
                <a:spcPct val="100000"/>
              </a:lnSpc>
              <a:buNone/>
            </a:pPr>
            <a:r>
              <a:rPr lang="en-US" sz="620" dirty="0">
                <a:solidFill>
                  <a:srgbClr val="3B3B3B"/>
                </a:solidFill>
                <a:latin typeface="Arial" pitchFamily="34" charset="0"/>
                <a:ea typeface="Arial" pitchFamily="34" charset="-122"/>
                <a:cs typeface="Arial" pitchFamily="34" charset="-120"/>
              </a:rPr>
              <a:t>Entra External ID</a:t>
            </a:r>
            <a:endParaRPr lang="en-US" sz="620" dirty="0"/>
          </a:p>
        </p:txBody>
      </p:sp>
      <p:pic>
        <p:nvPicPr>
          <p:cNvPr id="23" name="Image 8" descr="/sessions/zealous-intelligent-mayer/mnt/outputs/icons3/au_ca.png"/>
          <p:cNvPicPr>
            <a:picLocks noChangeAspect="1"/>
          </p:cNvPicPr>
          <p:nvPr/>
        </p:nvPicPr>
        <p:blipFill>
          <a:blip r:embed="rId11"/>
          <a:stretch>
            <a:fillRect/>
          </a:stretch>
        </p:blipFill>
        <p:spPr>
          <a:xfrm>
            <a:off x="1389888" y="1879092"/>
            <a:ext cx="155448" cy="155448"/>
          </a:xfrm>
          <a:prstGeom prst="rect">
            <a:avLst/>
          </a:prstGeom>
        </p:spPr>
      </p:pic>
      <p:sp>
        <p:nvSpPr>
          <p:cNvPr id="24" name="Text 13"/>
          <p:cNvSpPr/>
          <p:nvPr/>
        </p:nvSpPr>
        <p:spPr>
          <a:xfrm>
            <a:off x="1600200" y="1828800"/>
            <a:ext cx="923544" cy="256032"/>
          </a:xfrm>
          <a:prstGeom prst="rect">
            <a:avLst/>
          </a:prstGeom>
          <a:noFill/>
          <a:ln/>
        </p:spPr>
        <p:txBody>
          <a:bodyPr wrap="square" lIns="0" tIns="0" rIns="0" bIns="0" rtlCol="0" anchor="ctr"/>
          <a:lstStyle/>
          <a:p>
            <a:pPr marL="0" indent="0">
              <a:lnSpc>
                <a:spcPct val="100000"/>
              </a:lnSpc>
              <a:buNone/>
            </a:pPr>
            <a:r>
              <a:rPr lang="en-US" sz="620" dirty="0">
                <a:solidFill>
                  <a:srgbClr val="3B3B3B"/>
                </a:solidFill>
                <a:latin typeface="Arial" pitchFamily="34" charset="0"/>
                <a:ea typeface="Arial" pitchFamily="34" charset="-122"/>
                <a:cs typeface="Arial" pitchFamily="34" charset="-120"/>
              </a:rPr>
              <a:t>Conditional Access</a:t>
            </a:r>
            <a:endParaRPr lang="en-US" sz="620" dirty="0"/>
          </a:p>
        </p:txBody>
      </p:sp>
      <p:pic>
        <p:nvPicPr>
          <p:cNvPr id="25" name="Image 9" descr="/sessions/zealous-intelligent-mayer/mnt/outputs/icons3/au_mi.png"/>
          <p:cNvPicPr>
            <a:picLocks noChangeAspect="1"/>
          </p:cNvPicPr>
          <p:nvPr/>
        </p:nvPicPr>
        <p:blipFill>
          <a:blip r:embed="rId12"/>
          <a:stretch>
            <a:fillRect/>
          </a:stretch>
        </p:blipFill>
        <p:spPr>
          <a:xfrm>
            <a:off x="1389888" y="2135124"/>
            <a:ext cx="155448" cy="155448"/>
          </a:xfrm>
          <a:prstGeom prst="rect">
            <a:avLst/>
          </a:prstGeom>
        </p:spPr>
      </p:pic>
      <p:sp>
        <p:nvSpPr>
          <p:cNvPr id="26" name="Text 14"/>
          <p:cNvSpPr/>
          <p:nvPr/>
        </p:nvSpPr>
        <p:spPr>
          <a:xfrm>
            <a:off x="1600200" y="2084832"/>
            <a:ext cx="923544" cy="256032"/>
          </a:xfrm>
          <a:prstGeom prst="rect">
            <a:avLst/>
          </a:prstGeom>
          <a:noFill/>
          <a:ln/>
        </p:spPr>
        <p:txBody>
          <a:bodyPr wrap="square" lIns="0" tIns="0" rIns="0" bIns="0" rtlCol="0" anchor="ctr"/>
          <a:lstStyle/>
          <a:p>
            <a:pPr marL="0" indent="0">
              <a:lnSpc>
                <a:spcPct val="100000"/>
              </a:lnSpc>
              <a:buNone/>
            </a:pPr>
            <a:r>
              <a:rPr lang="en-US" sz="620" dirty="0">
                <a:solidFill>
                  <a:srgbClr val="3B3B3B"/>
                </a:solidFill>
                <a:latin typeface="Arial" pitchFamily="34" charset="0"/>
                <a:ea typeface="Arial" pitchFamily="34" charset="-122"/>
                <a:cs typeface="Arial" pitchFamily="34" charset="-120"/>
              </a:rPr>
              <a:t>Managed Identity</a:t>
            </a:r>
            <a:endParaRPr lang="en-US" sz="620" dirty="0"/>
          </a:p>
        </p:txBody>
      </p:sp>
      <p:sp>
        <p:nvSpPr>
          <p:cNvPr id="27" name="Shape 15"/>
          <p:cNvSpPr/>
          <p:nvPr/>
        </p:nvSpPr>
        <p:spPr>
          <a:xfrm>
            <a:off x="2706624" y="475488"/>
            <a:ext cx="5266944" cy="950976"/>
          </a:xfrm>
          <a:prstGeom prst="roundRect">
            <a:avLst>
              <a:gd name="adj" fmla="val 4808"/>
            </a:avLst>
          </a:prstGeom>
          <a:solidFill>
            <a:srgbClr val="F4F8FD"/>
          </a:solidFill>
          <a:ln w="12700">
            <a:solidFill>
              <a:srgbClr val="4472C4"/>
            </a:solidFill>
            <a:prstDash val="solid"/>
          </a:ln>
        </p:spPr>
      </p:sp>
      <p:sp>
        <p:nvSpPr>
          <p:cNvPr id="28" name="Text 16"/>
          <p:cNvSpPr/>
          <p:nvPr/>
        </p:nvSpPr>
        <p:spPr>
          <a:xfrm>
            <a:off x="2706624" y="521208"/>
            <a:ext cx="5266944" cy="155448"/>
          </a:xfrm>
          <a:prstGeom prst="rect">
            <a:avLst/>
          </a:prstGeom>
          <a:noFill/>
          <a:ln/>
        </p:spPr>
        <p:txBody>
          <a:bodyPr wrap="square" lIns="0" tIns="0" rIns="0" bIns="0" rtlCol="0" anchor="ctr"/>
          <a:lstStyle/>
          <a:p>
            <a:pPr marL="0" indent="0" algn="ctr">
              <a:buNone/>
            </a:pPr>
            <a:r>
              <a:rPr lang="en-US" sz="950" b="1" dirty="0">
                <a:solidFill>
                  <a:srgbClr val="1F5C99"/>
                </a:solidFill>
                <a:latin typeface="Arial" pitchFamily="34" charset="0"/>
                <a:ea typeface="Arial" pitchFamily="34" charset="-122"/>
                <a:cs typeface="Arial" pitchFamily="34" charset="-120"/>
              </a:rPr>
              <a:t>AI AGENT INTERFACE</a:t>
            </a:r>
            <a:endParaRPr lang="en-US" sz="950" dirty="0"/>
          </a:p>
        </p:txBody>
      </p:sp>
      <p:sp>
        <p:nvSpPr>
          <p:cNvPr id="29" name="Text 17"/>
          <p:cNvSpPr/>
          <p:nvPr/>
        </p:nvSpPr>
        <p:spPr>
          <a:xfrm>
            <a:off x="2706624" y="676656"/>
            <a:ext cx="5266944" cy="118872"/>
          </a:xfrm>
          <a:prstGeom prst="rect">
            <a:avLst/>
          </a:prstGeom>
          <a:noFill/>
          <a:ln/>
        </p:spPr>
        <p:txBody>
          <a:bodyPr wrap="square" lIns="0" tIns="0" rIns="0" bIns="0" rtlCol="0" anchor="ctr"/>
          <a:lstStyle/>
          <a:p>
            <a:pPr marL="0" indent="0" algn="ctr">
              <a:buNone/>
            </a:pPr>
            <a:r>
              <a:rPr lang="en-US" sz="600" i="1" dirty="0">
                <a:solidFill>
                  <a:srgbClr val="6E7A8A"/>
                </a:solidFill>
                <a:latin typeface="Arial" pitchFamily="34" charset="0"/>
                <a:ea typeface="Arial" pitchFamily="34" charset="-122"/>
                <a:cs typeface="Arial" pitchFamily="34" charset="-120"/>
              </a:rPr>
              <a:t>Microsoft Foundry Agent Service · Copilot Studio · Teams / Web / API channels</a:t>
            </a:r>
            <a:endParaRPr lang="en-US" sz="600" dirty="0"/>
          </a:p>
        </p:txBody>
      </p:sp>
      <p:pic>
        <p:nvPicPr>
          <p:cNvPr id="30" name="Image 10" descr="/sessions/zealous-intelligent-mayer/mnt/outputs/icons3/i_chat.png"/>
          <p:cNvPicPr>
            <a:picLocks noChangeAspect="1"/>
          </p:cNvPicPr>
          <p:nvPr/>
        </p:nvPicPr>
        <p:blipFill>
          <a:blip r:embed="rId13"/>
          <a:stretch>
            <a:fillRect/>
          </a:stretch>
        </p:blipFill>
        <p:spPr>
          <a:xfrm>
            <a:off x="3026664" y="822960"/>
            <a:ext cx="237744" cy="237744"/>
          </a:xfrm>
          <a:prstGeom prst="rect">
            <a:avLst/>
          </a:prstGeom>
        </p:spPr>
      </p:pic>
      <p:sp>
        <p:nvSpPr>
          <p:cNvPr id="31" name="Text 18"/>
          <p:cNvSpPr/>
          <p:nvPr/>
        </p:nvSpPr>
        <p:spPr>
          <a:xfrm>
            <a:off x="2724912" y="1097280"/>
            <a:ext cx="841248" cy="128016"/>
          </a:xfrm>
          <a:prstGeom prst="rect">
            <a:avLst/>
          </a:prstGeom>
          <a:noFill/>
          <a:ln/>
        </p:spPr>
        <p:txBody>
          <a:bodyPr wrap="square" lIns="0" tIns="0" rIns="0" bIns="0" rtlCol="0" anchor="ctr"/>
          <a:lstStyle/>
          <a:p>
            <a:pPr marL="0" indent="0" algn="ctr">
              <a:lnSpc>
                <a:spcPct val="100000"/>
              </a:lnSpc>
              <a:buNone/>
            </a:pPr>
            <a:r>
              <a:rPr lang="en-US" sz="620" dirty="0">
                <a:solidFill>
                  <a:srgbClr val="3B3B3B"/>
                </a:solidFill>
                <a:latin typeface="Arial" pitchFamily="34" charset="0"/>
                <a:ea typeface="Arial" pitchFamily="34" charset="-122"/>
                <a:cs typeface="Arial" pitchFamily="34" charset="-120"/>
              </a:rPr>
              <a:t>Chat</a:t>
            </a:r>
            <a:endParaRPr lang="en-US" sz="620" dirty="0"/>
          </a:p>
        </p:txBody>
      </p:sp>
      <p:pic>
        <p:nvPicPr>
          <p:cNvPr id="32" name="Image 11" descr="/sessions/zealous-intelligent-mayer/mnt/outputs/icons3/i_file.png"/>
          <p:cNvPicPr>
            <a:picLocks noChangeAspect="1"/>
          </p:cNvPicPr>
          <p:nvPr/>
        </p:nvPicPr>
        <p:blipFill>
          <a:blip r:embed="rId14"/>
          <a:stretch>
            <a:fillRect/>
          </a:stretch>
        </p:blipFill>
        <p:spPr>
          <a:xfrm>
            <a:off x="3904488" y="822960"/>
            <a:ext cx="237744" cy="237744"/>
          </a:xfrm>
          <a:prstGeom prst="rect">
            <a:avLst/>
          </a:prstGeom>
        </p:spPr>
      </p:pic>
      <p:sp>
        <p:nvSpPr>
          <p:cNvPr id="33" name="Text 19"/>
          <p:cNvSpPr/>
          <p:nvPr/>
        </p:nvSpPr>
        <p:spPr>
          <a:xfrm>
            <a:off x="3602736" y="1097280"/>
            <a:ext cx="841248" cy="128016"/>
          </a:xfrm>
          <a:prstGeom prst="rect">
            <a:avLst/>
          </a:prstGeom>
          <a:noFill/>
          <a:ln/>
        </p:spPr>
        <p:txBody>
          <a:bodyPr wrap="square" lIns="0" tIns="0" rIns="0" bIns="0" rtlCol="0" anchor="ctr"/>
          <a:lstStyle/>
          <a:p>
            <a:pPr marL="0" indent="0" algn="ctr">
              <a:lnSpc>
                <a:spcPct val="100000"/>
              </a:lnSpc>
              <a:buNone/>
            </a:pPr>
            <a:r>
              <a:rPr lang="en-US" sz="620" dirty="0">
                <a:solidFill>
                  <a:srgbClr val="3B3B3B"/>
                </a:solidFill>
                <a:latin typeface="Arial" pitchFamily="34" charset="0"/>
                <a:ea typeface="Arial" pitchFamily="34" charset="-122"/>
                <a:cs typeface="Arial" pitchFamily="34" charset="-120"/>
              </a:rPr>
              <a:t>File / Document</a:t>
            </a:r>
            <a:endParaRPr lang="en-US" sz="620" dirty="0"/>
          </a:p>
        </p:txBody>
      </p:sp>
      <p:pic>
        <p:nvPicPr>
          <p:cNvPr id="34" name="Image 12" descr="/sessions/zealous-intelligent-mayer/mnt/outputs/icons3/i_img.png"/>
          <p:cNvPicPr>
            <a:picLocks noChangeAspect="1"/>
          </p:cNvPicPr>
          <p:nvPr/>
        </p:nvPicPr>
        <p:blipFill>
          <a:blip r:embed="rId15"/>
          <a:stretch>
            <a:fillRect/>
          </a:stretch>
        </p:blipFill>
        <p:spPr>
          <a:xfrm>
            <a:off x="4782312" y="822960"/>
            <a:ext cx="237744" cy="237744"/>
          </a:xfrm>
          <a:prstGeom prst="rect">
            <a:avLst/>
          </a:prstGeom>
        </p:spPr>
      </p:pic>
      <p:sp>
        <p:nvSpPr>
          <p:cNvPr id="35" name="Text 20"/>
          <p:cNvSpPr/>
          <p:nvPr/>
        </p:nvSpPr>
        <p:spPr>
          <a:xfrm>
            <a:off x="4480560" y="1097280"/>
            <a:ext cx="841248" cy="128016"/>
          </a:xfrm>
          <a:prstGeom prst="rect">
            <a:avLst/>
          </a:prstGeom>
          <a:noFill/>
          <a:ln/>
        </p:spPr>
        <p:txBody>
          <a:bodyPr wrap="square" lIns="0" tIns="0" rIns="0" bIns="0" rtlCol="0" anchor="ctr"/>
          <a:lstStyle/>
          <a:p>
            <a:pPr marL="0" indent="0" algn="ctr">
              <a:lnSpc>
                <a:spcPct val="100000"/>
              </a:lnSpc>
              <a:buNone/>
            </a:pPr>
            <a:r>
              <a:rPr lang="en-US" sz="620" dirty="0">
                <a:solidFill>
                  <a:srgbClr val="3B3B3B"/>
                </a:solidFill>
                <a:latin typeface="Arial" pitchFamily="34" charset="0"/>
                <a:ea typeface="Arial" pitchFamily="34" charset="-122"/>
                <a:cs typeface="Arial" pitchFamily="34" charset="-120"/>
              </a:rPr>
              <a:t>Image</a:t>
            </a:r>
            <a:endParaRPr lang="en-US" sz="620" dirty="0"/>
          </a:p>
        </p:txBody>
      </p:sp>
      <p:pic>
        <p:nvPicPr>
          <p:cNvPr id="36" name="Image 13" descr="/sessions/zealous-intelligent-mayer/mnt/outputs/icons3/i_vid.png"/>
          <p:cNvPicPr>
            <a:picLocks noChangeAspect="1"/>
          </p:cNvPicPr>
          <p:nvPr/>
        </p:nvPicPr>
        <p:blipFill>
          <a:blip r:embed="rId16"/>
          <a:stretch>
            <a:fillRect/>
          </a:stretch>
        </p:blipFill>
        <p:spPr>
          <a:xfrm>
            <a:off x="5660136" y="822960"/>
            <a:ext cx="237744" cy="237744"/>
          </a:xfrm>
          <a:prstGeom prst="rect">
            <a:avLst/>
          </a:prstGeom>
        </p:spPr>
      </p:pic>
      <p:sp>
        <p:nvSpPr>
          <p:cNvPr id="37" name="Text 21"/>
          <p:cNvSpPr/>
          <p:nvPr/>
        </p:nvSpPr>
        <p:spPr>
          <a:xfrm>
            <a:off x="5358384" y="1097280"/>
            <a:ext cx="841248" cy="128016"/>
          </a:xfrm>
          <a:prstGeom prst="rect">
            <a:avLst/>
          </a:prstGeom>
          <a:noFill/>
          <a:ln/>
        </p:spPr>
        <p:txBody>
          <a:bodyPr wrap="square" lIns="0" tIns="0" rIns="0" bIns="0" rtlCol="0" anchor="ctr"/>
          <a:lstStyle/>
          <a:p>
            <a:pPr marL="0" indent="0" algn="ctr">
              <a:lnSpc>
                <a:spcPct val="100000"/>
              </a:lnSpc>
              <a:buNone/>
            </a:pPr>
            <a:r>
              <a:rPr lang="en-US" sz="620" dirty="0">
                <a:solidFill>
                  <a:srgbClr val="3B3B3B"/>
                </a:solidFill>
                <a:latin typeface="Arial" pitchFamily="34" charset="0"/>
                <a:ea typeface="Arial" pitchFamily="34" charset="-122"/>
                <a:cs typeface="Arial" pitchFamily="34" charset="-120"/>
              </a:rPr>
              <a:t>Video</a:t>
            </a:r>
            <a:endParaRPr lang="en-US" sz="620" dirty="0"/>
          </a:p>
        </p:txBody>
      </p:sp>
      <p:pic>
        <p:nvPicPr>
          <p:cNvPr id="38" name="Image 14" descr="/sessions/zealous-intelligent-mayer/mnt/outputs/icons3/i_res.png"/>
          <p:cNvPicPr>
            <a:picLocks noChangeAspect="1"/>
          </p:cNvPicPr>
          <p:nvPr/>
        </p:nvPicPr>
        <p:blipFill>
          <a:blip r:embed="rId17"/>
          <a:stretch>
            <a:fillRect/>
          </a:stretch>
        </p:blipFill>
        <p:spPr>
          <a:xfrm>
            <a:off x="6537960" y="822960"/>
            <a:ext cx="237744" cy="237744"/>
          </a:xfrm>
          <a:prstGeom prst="rect">
            <a:avLst/>
          </a:prstGeom>
        </p:spPr>
      </p:pic>
      <p:sp>
        <p:nvSpPr>
          <p:cNvPr id="39" name="Text 22"/>
          <p:cNvSpPr/>
          <p:nvPr/>
        </p:nvSpPr>
        <p:spPr>
          <a:xfrm>
            <a:off x="6236208" y="1097280"/>
            <a:ext cx="841248" cy="128016"/>
          </a:xfrm>
          <a:prstGeom prst="rect">
            <a:avLst/>
          </a:prstGeom>
          <a:noFill/>
          <a:ln/>
        </p:spPr>
        <p:txBody>
          <a:bodyPr wrap="square" lIns="0" tIns="0" rIns="0" bIns="0" rtlCol="0" anchor="ctr"/>
          <a:lstStyle/>
          <a:p>
            <a:pPr marL="0" indent="0" algn="ctr">
              <a:lnSpc>
                <a:spcPct val="100000"/>
              </a:lnSpc>
              <a:buNone/>
            </a:pPr>
            <a:r>
              <a:rPr lang="en-US" sz="620" dirty="0">
                <a:solidFill>
                  <a:srgbClr val="3B3B3B"/>
                </a:solidFill>
                <a:latin typeface="Arial" pitchFamily="34" charset="0"/>
                <a:ea typeface="Arial" pitchFamily="34" charset="-122"/>
                <a:cs typeface="Arial" pitchFamily="34" charset="-120"/>
              </a:rPr>
              <a:t>Research</a:t>
            </a:r>
            <a:endParaRPr lang="en-US" sz="620" dirty="0"/>
          </a:p>
        </p:txBody>
      </p:sp>
      <p:pic>
        <p:nvPicPr>
          <p:cNvPr id="40" name="Image 15" descr="/sessions/zealous-intelligent-mayer/mnt/outputs/icons3/i_voice.png"/>
          <p:cNvPicPr>
            <a:picLocks noChangeAspect="1"/>
          </p:cNvPicPr>
          <p:nvPr/>
        </p:nvPicPr>
        <p:blipFill>
          <a:blip r:embed="rId18"/>
          <a:stretch>
            <a:fillRect/>
          </a:stretch>
        </p:blipFill>
        <p:spPr>
          <a:xfrm>
            <a:off x="7415784" y="822960"/>
            <a:ext cx="237744" cy="237744"/>
          </a:xfrm>
          <a:prstGeom prst="rect">
            <a:avLst/>
          </a:prstGeom>
        </p:spPr>
      </p:pic>
      <p:sp>
        <p:nvSpPr>
          <p:cNvPr id="41" name="Text 23"/>
          <p:cNvSpPr/>
          <p:nvPr/>
        </p:nvSpPr>
        <p:spPr>
          <a:xfrm>
            <a:off x="7114032" y="1097280"/>
            <a:ext cx="841248" cy="128016"/>
          </a:xfrm>
          <a:prstGeom prst="rect">
            <a:avLst/>
          </a:prstGeom>
          <a:noFill/>
          <a:ln/>
        </p:spPr>
        <p:txBody>
          <a:bodyPr wrap="square" lIns="0" tIns="0" rIns="0" bIns="0" rtlCol="0" anchor="ctr"/>
          <a:lstStyle/>
          <a:p>
            <a:pPr marL="0" indent="0" algn="ctr">
              <a:lnSpc>
                <a:spcPct val="100000"/>
              </a:lnSpc>
              <a:buNone/>
            </a:pPr>
            <a:r>
              <a:rPr lang="en-US" sz="620" dirty="0">
                <a:solidFill>
                  <a:srgbClr val="3B3B3B"/>
                </a:solidFill>
                <a:latin typeface="Arial" pitchFamily="34" charset="0"/>
                <a:ea typeface="Arial" pitchFamily="34" charset="-122"/>
                <a:cs typeface="Arial" pitchFamily="34" charset="-120"/>
              </a:rPr>
              <a:t>Voice</a:t>
            </a:r>
            <a:endParaRPr lang="en-US" sz="620" dirty="0"/>
          </a:p>
        </p:txBody>
      </p:sp>
      <p:sp>
        <p:nvSpPr>
          <p:cNvPr id="42" name="Shape 24"/>
          <p:cNvSpPr/>
          <p:nvPr/>
        </p:nvSpPr>
        <p:spPr>
          <a:xfrm>
            <a:off x="2706624" y="1536192"/>
            <a:ext cx="5266944" cy="1792224"/>
          </a:xfrm>
          <a:prstGeom prst="roundRect">
            <a:avLst>
              <a:gd name="adj" fmla="val 2551"/>
            </a:avLst>
          </a:prstGeom>
          <a:solidFill>
            <a:srgbClr val="F4F8FD"/>
          </a:solidFill>
          <a:ln w="12700">
            <a:solidFill>
              <a:srgbClr val="4472C4"/>
            </a:solidFill>
            <a:prstDash val="solid"/>
          </a:ln>
        </p:spPr>
      </p:sp>
      <p:sp>
        <p:nvSpPr>
          <p:cNvPr id="43" name="Text 25"/>
          <p:cNvSpPr/>
          <p:nvPr/>
        </p:nvSpPr>
        <p:spPr>
          <a:xfrm>
            <a:off x="2706624" y="1581912"/>
            <a:ext cx="5266944" cy="155448"/>
          </a:xfrm>
          <a:prstGeom prst="rect">
            <a:avLst/>
          </a:prstGeom>
          <a:noFill/>
          <a:ln/>
        </p:spPr>
        <p:txBody>
          <a:bodyPr wrap="square" lIns="0" tIns="0" rIns="0" bIns="0" rtlCol="0" anchor="ctr"/>
          <a:lstStyle/>
          <a:p>
            <a:pPr marL="0" indent="0" algn="ctr">
              <a:buNone/>
            </a:pPr>
            <a:r>
              <a:rPr lang="en-US" sz="950" b="1" dirty="0">
                <a:solidFill>
                  <a:srgbClr val="1F5C99"/>
                </a:solidFill>
                <a:latin typeface="Arial" pitchFamily="34" charset="0"/>
                <a:ea typeface="Arial" pitchFamily="34" charset="-122"/>
                <a:cs typeface="Arial" pitchFamily="34" charset="-120"/>
              </a:rPr>
              <a:t>AI ORCHESTRATION LAYER</a:t>
            </a:r>
            <a:endParaRPr lang="en-US" sz="950" dirty="0"/>
          </a:p>
        </p:txBody>
      </p:sp>
      <p:sp>
        <p:nvSpPr>
          <p:cNvPr id="44" name="Text 26"/>
          <p:cNvSpPr/>
          <p:nvPr/>
        </p:nvSpPr>
        <p:spPr>
          <a:xfrm>
            <a:off x="2706624" y="1737360"/>
            <a:ext cx="5266944" cy="118872"/>
          </a:xfrm>
          <a:prstGeom prst="rect">
            <a:avLst/>
          </a:prstGeom>
          <a:noFill/>
          <a:ln/>
        </p:spPr>
        <p:txBody>
          <a:bodyPr wrap="square" lIns="0" tIns="0" rIns="0" bIns="0" rtlCol="0" anchor="ctr"/>
          <a:lstStyle/>
          <a:p>
            <a:pPr marL="0" indent="0" algn="ctr">
              <a:buNone/>
            </a:pPr>
            <a:r>
              <a:rPr lang="en-US" sz="600" i="1" dirty="0">
                <a:solidFill>
                  <a:srgbClr val="6E7A8A"/>
                </a:solidFill>
                <a:latin typeface="Arial" pitchFamily="34" charset="0"/>
                <a:ea typeface="Arial" pitchFamily="34" charset="-122"/>
                <a:cs typeface="Arial" pitchFamily="34" charset="-120"/>
              </a:rPr>
              <a:t>Foundry Agent Service · Prompt flow · Semantic Kernel orchestration</a:t>
            </a:r>
            <a:endParaRPr lang="en-US" sz="600" dirty="0"/>
          </a:p>
        </p:txBody>
      </p:sp>
      <p:sp>
        <p:nvSpPr>
          <p:cNvPr id="45" name="Shape 27"/>
          <p:cNvSpPr/>
          <p:nvPr/>
        </p:nvSpPr>
        <p:spPr>
          <a:xfrm>
            <a:off x="2761488" y="1883664"/>
            <a:ext cx="1225296" cy="1371600"/>
          </a:xfrm>
          <a:prstGeom prst="roundRect">
            <a:avLst>
              <a:gd name="adj" fmla="val 2985"/>
            </a:avLst>
          </a:prstGeom>
          <a:solidFill>
            <a:srgbClr val="FFFFFF"/>
          </a:solidFill>
          <a:ln w="12700">
            <a:solidFill>
              <a:srgbClr val="4472C4"/>
            </a:solidFill>
            <a:prstDash val="solid"/>
          </a:ln>
        </p:spPr>
      </p:sp>
      <p:sp>
        <p:nvSpPr>
          <p:cNvPr id="46" name="Text 28"/>
          <p:cNvSpPr/>
          <p:nvPr/>
        </p:nvSpPr>
        <p:spPr>
          <a:xfrm>
            <a:off x="2807208" y="1929384"/>
            <a:ext cx="1133856" cy="192024"/>
          </a:xfrm>
          <a:prstGeom prst="rect">
            <a:avLst/>
          </a:prstGeom>
          <a:noFill/>
          <a:ln/>
        </p:spPr>
        <p:txBody>
          <a:bodyPr wrap="square" lIns="0" tIns="0" rIns="0" bIns="0" rtlCol="0" anchor="ctr"/>
          <a:lstStyle/>
          <a:p>
            <a:pPr marL="0" indent="0" algn="ctr">
              <a:lnSpc>
                <a:spcPct val="100000"/>
              </a:lnSpc>
              <a:buNone/>
            </a:pPr>
            <a:r>
              <a:rPr lang="en-US" sz="680" b="1" dirty="0">
                <a:solidFill>
                  <a:srgbClr val="1F5C99"/>
                </a:solidFill>
                <a:latin typeface="Arial" pitchFamily="34" charset="0"/>
                <a:ea typeface="Arial" pitchFamily="34" charset="-122"/>
                <a:cs typeface="Arial" pitchFamily="34" charset="-120"/>
              </a:rPr>
              <a:t>1. PROMPT</a:t>
            </a:r>
            <a:endParaRPr lang="en-US" sz="680" dirty="0"/>
          </a:p>
          <a:p>
            <a:pPr marL="0" indent="0" algn="ctr">
              <a:lnSpc>
                <a:spcPct val="100000"/>
              </a:lnSpc>
              <a:buNone/>
            </a:pPr>
            <a:r>
              <a:rPr lang="en-US" sz="680" b="1" dirty="0">
                <a:solidFill>
                  <a:srgbClr val="1F5C99"/>
                </a:solidFill>
                <a:latin typeface="Arial" pitchFamily="34" charset="0"/>
                <a:ea typeface="Arial" pitchFamily="34" charset="-122"/>
                <a:cs typeface="Arial" pitchFamily="34" charset="-120"/>
              </a:rPr>
              <a:t>CLASSIFICATION</a:t>
            </a:r>
            <a:endParaRPr lang="en-US" sz="680" dirty="0"/>
          </a:p>
        </p:txBody>
      </p:sp>
      <p:pic>
        <p:nvPicPr>
          <p:cNvPr id="47" name="Image 16" descr="/sessions/zealous-intelligent-mayer/mnt/outputs/icons3/o1.png"/>
          <p:cNvPicPr>
            <a:picLocks noChangeAspect="1"/>
          </p:cNvPicPr>
          <p:nvPr/>
        </p:nvPicPr>
        <p:blipFill>
          <a:blip r:embed="rId19"/>
          <a:stretch>
            <a:fillRect/>
          </a:stretch>
        </p:blipFill>
        <p:spPr>
          <a:xfrm>
            <a:off x="3255264" y="2148840"/>
            <a:ext cx="237744" cy="237744"/>
          </a:xfrm>
          <a:prstGeom prst="rect">
            <a:avLst/>
          </a:prstGeom>
        </p:spPr>
      </p:pic>
      <p:sp>
        <p:nvSpPr>
          <p:cNvPr id="48" name="Text 29"/>
          <p:cNvSpPr/>
          <p:nvPr/>
        </p:nvSpPr>
        <p:spPr>
          <a:xfrm>
            <a:off x="2807208" y="2423160"/>
            <a:ext cx="1133856" cy="182880"/>
          </a:xfrm>
          <a:prstGeom prst="rect">
            <a:avLst/>
          </a:prstGeom>
          <a:noFill/>
          <a:ln/>
        </p:spPr>
        <p:txBody>
          <a:bodyPr wrap="square" lIns="0" tIns="0" rIns="0" bIns="0" rtlCol="0" anchor="ctr"/>
          <a:lstStyle/>
          <a:p>
            <a:pPr marL="0" indent="0" algn="ctr">
              <a:lnSpc>
                <a:spcPct val="100000"/>
              </a:lnSpc>
              <a:buNone/>
            </a:pPr>
            <a:r>
              <a:rPr lang="en-US" sz="620" dirty="0">
                <a:solidFill>
                  <a:srgbClr val="3B3B3B"/>
                </a:solidFill>
                <a:latin typeface="Arial" pitchFamily="34" charset="0"/>
                <a:ea typeface="Arial" pitchFamily="34" charset="-122"/>
                <a:cs typeface="Arial" pitchFamily="34" charset="-120"/>
              </a:rPr>
              <a:t>Detect intent</a:t>
            </a:r>
            <a:endParaRPr lang="en-US" sz="620" dirty="0"/>
          </a:p>
          <a:p>
            <a:pPr marL="0" indent="0" algn="ctr">
              <a:lnSpc>
                <a:spcPct val="100000"/>
              </a:lnSpc>
              <a:buNone/>
            </a:pPr>
            <a:r>
              <a:rPr lang="en-US" sz="620" dirty="0">
                <a:solidFill>
                  <a:srgbClr val="3B3B3B"/>
                </a:solidFill>
                <a:latin typeface="Arial" pitchFamily="34" charset="0"/>
                <a:ea typeface="Arial" pitchFamily="34" charset="-122"/>
                <a:cs typeface="Arial" pitchFamily="34" charset="-120"/>
              </a:rPr>
              <a:t>&amp; category</a:t>
            </a:r>
            <a:endParaRPr lang="en-US" sz="620" dirty="0"/>
          </a:p>
        </p:txBody>
      </p:sp>
      <p:sp>
        <p:nvSpPr>
          <p:cNvPr id="49" name="Text 30"/>
          <p:cNvSpPr/>
          <p:nvPr/>
        </p:nvSpPr>
        <p:spPr>
          <a:xfrm>
            <a:off x="2880360" y="2633472"/>
            <a:ext cx="1042416" cy="566928"/>
          </a:xfrm>
          <a:prstGeom prst="rect">
            <a:avLst/>
          </a:prstGeom>
          <a:noFill/>
          <a:ln/>
        </p:spPr>
        <p:txBody>
          <a:bodyPr wrap="square" lIns="0" tIns="0" rIns="0" bIns="0" rtlCol="0" anchor="ctr"/>
          <a:lstStyle/>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Text</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Research</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Code</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Image</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Video</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Data / SQL</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Sensitive / Other</a:t>
            </a:r>
            <a:endParaRPr lang="en-US" sz="580" dirty="0"/>
          </a:p>
        </p:txBody>
      </p:sp>
      <p:sp>
        <p:nvSpPr>
          <p:cNvPr id="50" name="Shape 31"/>
          <p:cNvSpPr/>
          <p:nvPr/>
        </p:nvSpPr>
        <p:spPr>
          <a:xfrm>
            <a:off x="3995928" y="2560320"/>
            <a:ext cx="73152" cy="0"/>
          </a:xfrm>
          <a:prstGeom prst="line">
            <a:avLst/>
          </a:prstGeom>
          <a:noFill/>
          <a:ln w="12700">
            <a:solidFill>
              <a:srgbClr val="2F2F2F"/>
            </a:solidFill>
            <a:prstDash val="solid"/>
            <a:tailEnd type="triangle"/>
          </a:ln>
        </p:spPr>
      </p:sp>
      <p:sp>
        <p:nvSpPr>
          <p:cNvPr id="51" name="Shape 32"/>
          <p:cNvSpPr/>
          <p:nvPr/>
        </p:nvSpPr>
        <p:spPr>
          <a:xfrm>
            <a:off x="4078224" y="1883664"/>
            <a:ext cx="1225296" cy="1371600"/>
          </a:xfrm>
          <a:prstGeom prst="roundRect">
            <a:avLst>
              <a:gd name="adj" fmla="val 2985"/>
            </a:avLst>
          </a:prstGeom>
          <a:solidFill>
            <a:srgbClr val="FFFFFF"/>
          </a:solidFill>
          <a:ln w="12700">
            <a:solidFill>
              <a:srgbClr val="4472C4"/>
            </a:solidFill>
            <a:prstDash val="solid"/>
          </a:ln>
        </p:spPr>
      </p:sp>
      <p:sp>
        <p:nvSpPr>
          <p:cNvPr id="52" name="Text 33"/>
          <p:cNvSpPr/>
          <p:nvPr/>
        </p:nvSpPr>
        <p:spPr>
          <a:xfrm>
            <a:off x="4123944" y="1929384"/>
            <a:ext cx="1133856" cy="192024"/>
          </a:xfrm>
          <a:prstGeom prst="rect">
            <a:avLst/>
          </a:prstGeom>
          <a:noFill/>
          <a:ln/>
        </p:spPr>
        <p:txBody>
          <a:bodyPr wrap="square" lIns="0" tIns="0" rIns="0" bIns="0" rtlCol="0" anchor="ctr"/>
          <a:lstStyle/>
          <a:p>
            <a:pPr marL="0" indent="0" algn="ctr">
              <a:lnSpc>
                <a:spcPct val="100000"/>
              </a:lnSpc>
              <a:buNone/>
            </a:pPr>
            <a:r>
              <a:rPr lang="en-US" sz="680" b="1" dirty="0">
                <a:solidFill>
                  <a:srgbClr val="1F5C99"/>
                </a:solidFill>
                <a:latin typeface="Arial" pitchFamily="34" charset="0"/>
                <a:ea typeface="Arial" pitchFamily="34" charset="-122"/>
                <a:cs typeface="Arial" pitchFamily="34" charset="-120"/>
              </a:rPr>
              <a:t>2. POLICY &amp; RBAC</a:t>
            </a:r>
            <a:endParaRPr lang="en-US" sz="680" dirty="0"/>
          </a:p>
          <a:p>
            <a:pPr marL="0" indent="0" algn="ctr">
              <a:lnSpc>
                <a:spcPct val="100000"/>
              </a:lnSpc>
              <a:buNone/>
            </a:pPr>
            <a:r>
              <a:rPr lang="en-US" sz="680" b="1" dirty="0">
                <a:solidFill>
                  <a:srgbClr val="1F5C99"/>
                </a:solidFill>
                <a:latin typeface="Arial" pitchFamily="34" charset="0"/>
                <a:ea typeface="Arial" pitchFamily="34" charset="-122"/>
                <a:cs typeface="Arial" pitchFamily="34" charset="-120"/>
              </a:rPr>
              <a:t>ENGINE</a:t>
            </a:r>
            <a:endParaRPr lang="en-US" sz="680" dirty="0"/>
          </a:p>
        </p:txBody>
      </p:sp>
      <p:pic>
        <p:nvPicPr>
          <p:cNvPr id="53" name="Image 17" descr="/sessions/zealous-intelligent-mayer/mnt/outputs/icons3/o2.png"/>
          <p:cNvPicPr>
            <a:picLocks noChangeAspect="1"/>
          </p:cNvPicPr>
          <p:nvPr/>
        </p:nvPicPr>
        <p:blipFill>
          <a:blip r:embed="rId20"/>
          <a:stretch>
            <a:fillRect/>
          </a:stretch>
        </p:blipFill>
        <p:spPr>
          <a:xfrm>
            <a:off x="4572000" y="2148840"/>
            <a:ext cx="237744" cy="237744"/>
          </a:xfrm>
          <a:prstGeom prst="rect">
            <a:avLst/>
          </a:prstGeom>
        </p:spPr>
      </p:pic>
      <p:sp>
        <p:nvSpPr>
          <p:cNvPr id="54" name="Text 34"/>
          <p:cNvSpPr/>
          <p:nvPr/>
        </p:nvSpPr>
        <p:spPr>
          <a:xfrm>
            <a:off x="4123944" y="2423160"/>
            <a:ext cx="1133856" cy="182880"/>
          </a:xfrm>
          <a:prstGeom prst="rect">
            <a:avLst/>
          </a:prstGeom>
          <a:noFill/>
          <a:ln/>
        </p:spPr>
        <p:txBody>
          <a:bodyPr wrap="square" lIns="0" tIns="0" rIns="0" bIns="0" rtlCol="0" anchor="ctr"/>
          <a:lstStyle/>
          <a:p>
            <a:pPr marL="0" indent="0" algn="ctr">
              <a:lnSpc>
                <a:spcPct val="100000"/>
              </a:lnSpc>
              <a:buNone/>
            </a:pPr>
            <a:r>
              <a:rPr lang="en-US" sz="620" dirty="0">
                <a:solidFill>
                  <a:srgbClr val="3B3B3B"/>
                </a:solidFill>
                <a:latin typeface="Arial" pitchFamily="34" charset="0"/>
                <a:ea typeface="Arial" pitchFamily="34" charset="-122"/>
                <a:cs typeface="Arial" pitchFamily="34" charset="-120"/>
              </a:rPr>
              <a:t>Check Entra access</a:t>
            </a:r>
            <a:endParaRPr lang="en-US" sz="620" dirty="0"/>
          </a:p>
          <a:p>
            <a:pPr marL="0" indent="0" algn="ctr">
              <a:lnSpc>
                <a:spcPct val="100000"/>
              </a:lnSpc>
              <a:buNone/>
            </a:pPr>
            <a:r>
              <a:rPr lang="en-US" sz="620" dirty="0">
                <a:solidFill>
                  <a:srgbClr val="3B3B3B"/>
                </a:solidFill>
                <a:latin typeface="Arial" pitchFamily="34" charset="0"/>
                <a:ea typeface="Arial" pitchFamily="34" charset="-122"/>
                <a:cs typeface="Arial" pitchFamily="34" charset="-120"/>
              </a:rPr>
              <a:t>and policies</a:t>
            </a:r>
            <a:endParaRPr lang="en-US" sz="620" dirty="0"/>
          </a:p>
        </p:txBody>
      </p:sp>
      <p:sp>
        <p:nvSpPr>
          <p:cNvPr id="55" name="Text 35"/>
          <p:cNvSpPr/>
          <p:nvPr/>
        </p:nvSpPr>
        <p:spPr>
          <a:xfrm>
            <a:off x="4197096" y="2633472"/>
            <a:ext cx="1042416" cy="566928"/>
          </a:xfrm>
          <a:prstGeom prst="rect">
            <a:avLst/>
          </a:prstGeom>
          <a:noFill/>
          <a:ln/>
        </p:spPr>
        <p:txBody>
          <a:bodyPr wrap="square" lIns="0" tIns="0" rIns="0" bIns="0" rtlCol="0" anchor="ctr"/>
          <a:lstStyle/>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Model access</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Data access</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Content policy</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Compliance</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Safety rules</a:t>
            </a:r>
            <a:endParaRPr lang="en-US" sz="580" dirty="0"/>
          </a:p>
        </p:txBody>
      </p:sp>
      <p:sp>
        <p:nvSpPr>
          <p:cNvPr id="56" name="Shape 36"/>
          <p:cNvSpPr/>
          <p:nvPr/>
        </p:nvSpPr>
        <p:spPr>
          <a:xfrm>
            <a:off x="5312664" y="2560320"/>
            <a:ext cx="73152" cy="0"/>
          </a:xfrm>
          <a:prstGeom prst="line">
            <a:avLst/>
          </a:prstGeom>
          <a:noFill/>
          <a:ln w="12700">
            <a:solidFill>
              <a:srgbClr val="2F2F2F"/>
            </a:solidFill>
            <a:prstDash val="solid"/>
            <a:tailEnd type="triangle"/>
          </a:ln>
        </p:spPr>
      </p:sp>
      <p:sp>
        <p:nvSpPr>
          <p:cNvPr id="57" name="Shape 37"/>
          <p:cNvSpPr/>
          <p:nvPr/>
        </p:nvSpPr>
        <p:spPr>
          <a:xfrm>
            <a:off x="5394960" y="1883664"/>
            <a:ext cx="1225296" cy="1371600"/>
          </a:xfrm>
          <a:prstGeom prst="roundRect">
            <a:avLst>
              <a:gd name="adj" fmla="val 2985"/>
            </a:avLst>
          </a:prstGeom>
          <a:solidFill>
            <a:srgbClr val="FFFFFF"/>
          </a:solidFill>
          <a:ln w="12700">
            <a:solidFill>
              <a:srgbClr val="4472C4"/>
            </a:solidFill>
            <a:prstDash val="solid"/>
          </a:ln>
        </p:spPr>
      </p:sp>
      <p:sp>
        <p:nvSpPr>
          <p:cNvPr id="58" name="Text 38"/>
          <p:cNvSpPr/>
          <p:nvPr/>
        </p:nvSpPr>
        <p:spPr>
          <a:xfrm>
            <a:off x="5440680" y="1929384"/>
            <a:ext cx="1133856" cy="192024"/>
          </a:xfrm>
          <a:prstGeom prst="rect">
            <a:avLst/>
          </a:prstGeom>
          <a:noFill/>
          <a:ln/>
        </p:spPr>
        <p:txBody>
          <a:bodyPr wrap="square" lIns="0" tIns="0" rIns="0" bIns="0" rtlCol="0" anchor="ctr"/>
          <a:lstStyle/>
          <a:p>
            <a:pPr marL="0" indent="0" algn="ctr">
              <a:lnSpc>
                <a:spcPct val="100000"/>
              </a:lnSpc>
              <a:buNone/>
            </a:pPr>
            <a:r>
              <a:rPr lang="en-US" sz="680" b="1" dirty="0">
                <a:solidFill>
                  <a:srgbClr val="1F5C99"/>
                </a:solidFill>
                <a:latin typeface="Arial" pitchFamily="34" charset="0"/>
                <a:ea typeface="Arial" pitchFamily="34" charset="-122"/>
                <a:cs typeface="Arial" pitchFamily="34" charset="-120"/>
              </a:rPr>
              <a:t>3. QUOTA &amp; LIMIT</a:t>
            </a:r>
            <a:endParaRPr lang="en-US" sz="680" dirty="0"/>
          </a:p>
          <a:p>
            <a:pPr marL="0" indent="0" algn="ctr">
              <a:lnSpc>
                <a:spcPct val="100000"/>
              </a:lnSpc>
              <a:buNone/>
            </a:pPr>
            <a:r>
              <a:rPr lang="en-US" sz="680" b="1" dirty="0">
                <a:solidFill>
                  <a:srgbClr val="1F5C99"/>
                </a:solidFill>
                <a:latin typeface="Arial" pitchFamily="34" charset="0"/>
                <a:ea typeface="Arial" pitchFamily="34" charset="-122"/>
                <a:cs typeface="Arial" pitchFamily="34" charset="-120"/>
              </a:rPr>
              <a:t>ENGINE</a:t>
            </a:r>
            <a:endParaRPr lang="en-US" sz="680" dirty="0"/>
          </a:p>
        </p:txBody>
      </p:sp>
      <p:pic>
        <p:nvPicPr>
          <p:cNvPr id="59" name="Image 18" descr="/sessions/zealous-intelligent-mayer/mnt/outputs/icons3/o3.png"/>
          <p:cNvPicPr>
            <a:picLocks noChangeAspect="1"/>
          </p:cNvPicPr>
          <p:nvPr/>
        </p:nvPicPr>
        <p:blipFill>
          <a:blip r:embed="rId21"/>
          <a:stretch>
            <a:fillRect/>
          </a:stretch>
        </p:blipFill>
        <p:spPr>
          <a:xfrm>
            <a:off x="5888736" y="2148840"/>
            <a:ext cx="237744" cy="237744"/>
          </a:xfrm>
          <a:prstGeom prst="rect">
            <a:avLst/>
          </a:prstGeom>
        </p:spPr>
      </p:pic>
      <p:sp>
        <p:nvSpPr>
          <p:cNvPr id="60" name="Text 39"/>
          <p:cNvSpPr/>
          <p:nvPr/>
        </p:nvSpPr>
        <p:spPr>
          <a:xfrm>
            <a:off x="5440680" y="2423160"/>
            <a:ext cx="1133856" cy="182880"/>
          </a:xfrm>
          <a:prstGeom prst="rect">
            <a:avLst/>
          </a:prstGeom>
          <a:noFill/>
          <a:ln/>
        </p:spPr>
        <p:txBody>
          <a:bodyPr wrap="square" lIns="0" tIns="0" rIns="0" bIns="0" rtlCol="0" anchor="ctr"/>
          <a:lstStyle/>
          <a:p>
            <a:pPr marL="0" indent="0" algn="ctr">
              <a:lnSpc>
                <a:spcPct val="100000"/>
              </a:lnSpc>
              <a:buNone/>
            </a:pPr>
            <a:r>
              <a:rPr lang="en-US" sz="620" dirty="0">
                <a:solidFill>
                  <a:srgbClr val="3B3B3B"/>
                </a:solidFill>
                <a:latin typeface="Arial" pitchFamily="34" charset="0"/>
                <a:ea typeface="Arial" pitchFamily="34" charset="-122"/>
                <a:cs typeface="Arial" pitchFamily="34" charset="-120"/>
              </a:rPr>
              <a:t>Check usage limits</a:t>
            </a:r>
            <a:endParaRPr lang="en-US" sz="620" dirty="0"/>
          </a:p>
          <a:p>
            <a:pPr marL="0" indent="0" algn="ctr">
              <a:lnSpc>
                <a:spcPct val="100000"/>
              </a:lnSpc>
              <a:buNone/>
            </a:pPr>
            <a:r>
              <a:rPr lang="en-US" sz="620" dirty="0">
                <a:solidFill>
                  <a:srgbClr val="3B3B3B"/>
                </a:solidFill>
                <a:latin typeface="Arial" pitchFamily="34" charset="0"/>
                <a:ea typeface="Arial" pitchFamily="34" charset="-122"/>
                <a:cs typeface="Arial" pitchFamily="34" charset="-120"/>
              </a:rPr>
              <a:t>(APIM policies)</a:t>
            </a:r>
            <a:endParaRPr lang="en-US" sz="620" dirty="0"/>
          </a:p>
        </p:txBody>
      </p:sp>
      <p:sp>
        <p:nvSpPr>
          <p:cNvPr id="61" name="Text 40"/>
          <p:cNvSpPr/>
          <p:nvPr/>
        </p:nvSpPr>
        <p:spPr>
          <a:xfrm>
            <a:off x="5513832" y="2633472"/>
            <a:ext cx="1042416" cy="566928"/>
          </a:xfrm>
          <a:prstGeom prst="rect">
            <a:avLst/>
          </a:prstGeom>
          <a:noFill/>
          <a:ln/>
        </p:spPr>
        <p:txBody>
          <a:bodyPr wrap="square" lIns="0" tIns="0" rIns="0" bIns="0" rtlCol="0" anchor="ctr"/>
          <a:lstStyle/>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Requests / day</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Tokens / month</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Cost / budget</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Concurrency</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Rate limits</a:t>
            </a:r>
            <a:endParaRPr lang="en-US" sz="580" dirty="0"/>
          </a:p>
        </p:txBody>
      </p:sp>
      <p:sp>
        <p:nvSpPr>
          <p:cNvPr id="62" name="Shape 41"/>
          <p:cNvSpPr/>
          <p:nvPr/>
        </p:nvSpPr>
        <p:spPr>
          <a:xfrm>
            <a:off x="6629400" y="2560320"/>
            <a:ext cx="73152" cy="0"/>
          </a:xfrm>
          <a:prstGeom prst="line">
            <a:avLst/>
          </a:prstGeom>
          <a:noFill/>
          <a:ln w="12700">
            <a:solidFill>
              <a:srgbClr val="2F2F2F"/>
            </a:solidFill>
            <a:prstDash val="solid"/>
            <a:tailEnd type="triangle"/>
          </a:ln>
        </p:spPr>
      </p:sp>
      <p:sp>
        <p:nvSpPr>
          <p:cNvPr id="63" name="Shape 42"/>
          <p:cNvSpPr/>
          <p:nvPr/>
        </p:nvSpPr>
        <p:spPr>
          <a:xfrm>
            <a:off x="6711696" y="1883664"/>
            <a:ext cx="1225296" cy="1371600"/>
          </a:xfrm>
          <a:prstGeom prst="roundRect">
            <a:avLst>
              <a:gd name="adj" fmla="val 2985"/>
            </a:avLst>
          </a:prstGeom>
          <a:solidFill>
            <a:srgbClr val="FFFFFF"/>
          </a:solidFill>
          <a:ln w="12700">
            <a:solidFill>
              <a:srgbClr val="4472C4"/>
            </a:solidFill>
            <a:prstDash val="solid"/>
          </a:ln>
        </p:spPr>
      </p:sp>
      <p:sp>
        <p:nvSpPr>
          <p:cNvPr id="64" name="Text 43"/>
          <p:cNvSpPr/>
          <p:nvPr/>
        </p:nvSpPr>
        <p:spPr>
          <a:xfrm>
            <a:off x="6757416" y="1929384"/>
            <a:ext cx="1133856" cy="192024"/>
          </a:xfrm>
          <a:prstGeom prst="rect">
            <a:avLst/>
          </a:prstGeom>
          <a:noFill/>
          <a:ln/>
        </p:spPr>
        <p:txBody>
          <a:bodyPr wrap="square" lIns="0" tIns="0" rIns="0" bIns="0" rtlCol="0" anchor="ctr"/>
          <a:lstStyle/>
          <a:p>
            <a:pPr marL="0" indent="0" algn="ctr">
              <a:lnSpc>
                <a:spcPct val="100000"/>
              </a:lnSpc>
              <a:buNone/>
            </a:pPr>
            <a:r>
              <a:rPr lang="en-US" sz="680" b="1" dirty="0">
                <a:solidFill>
                  <a:srgbClr val="1F5C99"/>
                </a:solidFill>
                <a:latin typeface="Arial" pitchFamily="34" charset="0"/>
                <a:ea typeface="Arial" pitchFamily="34" charset="-122"/>
                <a:cs typeface="Arial" pitchFamily="34" charset="-120"/>
              </a:rPr>
              <a:t>4. MODEL</a:t>
            </a:r>
            <a:endParaRPr lang="en-US" sz="680" dirty="0"/>
          </a:p>
          <a:p>
            <a:pPr marL="0" indent="0" algn="ctr">
              <a:lnSpc>
                <a:spcPct val="100000"/>
              </a:lnSpc>
              <a:buNone/>
            </a:pPr>
            <a:r>
              <a:rPr lang="en-US" sz="680" b="1" dirty="0">
                <a:solidFill>
                  <a:srgbClr val="1F5C99"/>
                </a:solidFill>
                <a:latin typeface="Arial" pitchFamily="34" charset="0"/>
                <a:ea typeface="Arial" pitchFamily="34" charset="-122"/>
                <a:cs typeface="Arial" pitchFamily="34" charset="-120"/>
              </a:rPr>
              <a:t>ROUTER</a:t>
            </a:r>
            <a:endParaRPr lang="en-US" sz="680" dirty="0"/>
          </a:p>
        </p:txBody>
      </p:sp>
      <p:pic>
        <p:nvPicPr>
          <p:cNvPr id="65" name="Image 19" descr="/sessions/zealous-intelligent-mayer/mnt/outputs/icons3/o4.png"/>
          <p:cNvPicPr>
            <a:picLocks noChangeAspect="1"/>
          </p:cNvPicPr>
          <p:nvPr/>
        </p:nvPicPr>
        <p:blipFill>
          <a:blip r:embed="rId22"/>
          <a:stretch>
            <a:fillRect/>
          </a:stretch>
        </p:blipFill>
        <p:spPr>
          <a:xfrm>
            <a:off x="7205472" y="2148840"/>
            <a:ext cx="237744" cy="237744"/>
          </a:xfrm>
          <a:prstGeom prst="rect">
            <a:avLst/>
          </a:prstGeom>
        </p:spPr>
      </p:pic>
      <p:sp>
        <p:nvSpPr>
          <p:cNvPr id="66" name="Text 44"/>
          <p:cNvSpPr/>
          <p:nvPr/>
        </p:nvSpPr>
        <p:spPr>
          <a:xfrm>
            <a:off x="6757416" y="2423160"/>
            <a:ext cx="1133856" cy="182880"/>
          </a:xfrm>
          <a:prstGeom prst="rect">
            <a:avLst/>
          </a:prstGeom>
          <a:noFill/>
          <a:ln/>
        </p:spPr>
        <p:txBody>
          <a:bodyPr wrap="square" lIns="0" tIns="0" rIns="0" bIns="0" rtlCol="0" anchor="ctr"/>
          <a:lstStyle/>
          <a:p>
            <a:pPr marL="0" indent="0" algn="ctr">
              <a:lnSpc>
                <a:spcPct val="100000"/>
              </a:lnSpc>
              <a:buNone/>
            </a:pPr>
            <a:r>
              <a:rPr lang="en-US" sz="620" dirty="0">
                <a:solidFill>
                  <a:srgbClr val="3B3B3B"/>
                </a:solidFill>
                <a:latin typeface="Arial" pitchFamily="34" charset="0"/>
                <a:ea typeface="Arial" pitchFamily="34" charset="-122"/>
                <a:cs typeface="Arial" pitchFamily="34" charset="-120"/>
              </a:rPr>
              <a:t>Select best</a:t>
            </a:r>
            <a:endParaRPr lang="en-US" sz="620" dirty="0"/>
          </a:p>
          <a:p>
            <a:pPr marL="0" indent="0" algn="ctr">
              <a:lnSpc>
                <a:spcPct val="100000"/>
              </a:lnSpc>
              <a:buNone/>
            </a:pPr>
            <a:r>
              <a:rPr lang="en-US" sz="620" dirty="0">
                <a:solidFill>
                  <a:srgbClr val="3B3B3B"/>
                </a:solidFill>
                <a:latin typeface="Arial" pitchFamily="34" charset="0"/>
                <a:ea typeface="Arial" pitchFamily="34" charset="-122"/>
                <a:cs typeface="Arial" pitchFamily="34" charset="-120"/>
              </a:rPr>
              <a:t>available model</a:t>
            </a:r>
            <a:endParaRPr lang="en-US" sz="620" dirty="0"/>
          </a:p>
        </p:txBody>
      </p:sp>
      <p:sp>
        <p:nvSpPr>
          <p:cNvPr id="67" name="Text 45"/>
          <p:cNvSpPr/>
          <p:nvPr/>
        </p:nvSpPr>
        <p:spPr>
          <a:xfrm>
            <a:off x="6830568" y="2633472"/>
            <a:ext cx="1042416" cy="566928"/>
          </a:xfrm>
          <a:prstGeom prst="rect">
            <a:avLst/>
          </a:prstGeom>
          <a:noFill/>
          <a:ln/>
        </p:spPr>
        <p:txBody>
          <a:bodyPr wrap="square" lIns="0" tIns="0" rIns="0" bIns="0" rtlCol="0" anchor="ctr"/>
          <a:lstStyle/>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Best capability</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Cost optimized</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Latency aware</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Allowed by policy</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Fallback model</a:t>
            </a:r>
            <a:endParaRPr lang="en-US" sz="580" dirty="0"/>
          </a:p>
        </p:txBody>
      </p:sp>
      <p:sp>
        <p:nvSpPr>
          <p:cNvPr id="68" name="Shape 46"/>
          <p:cNvSpPr/>
          <p:nvPr/>
        </p:nvSpPr>
        <p:spPr>
          <a:xfrm>
            <a:off x="8083296" y="1536192"/>
            <a:ext cx="1060704" cy="1792224"/>
          </a:xfrm>
          <a:prstGeom prst="roundRect">
            <a:avLst>
              <a:gd name="adj" fmla="val 4310"/>
            </a:avLst>
          </a:prstGeom>
          <a:solidFill>
            <a:srgbClr val="FAF8FD"/>
          </a:solidFill>
          <a:ln w="12700">
            <a:solidFill>
              <a:srgbClr val="8064A2"/>
            </a:solidFill>
            <a:prstDash val="solid"/>
          </a:ln>
        </p:spPr>
      </p:sp>
      <p:sp>
        <p:nvSpPr>
          <p:cNvPr id="69" name="Text 47"/>
          <p:cNvSpPr/>
          <p:nvPr/>
        </p:nvSpPr>
        <p:spPr>
          <a:xfrm>
            <a:off x="8083296" y="1581912"/>
            <a:ext cx="1060704" cy="155448"/>
          </a:xfrm>
          <a:prstGeom prst="rect">
            <a:avLst/>
          </a:prstGeom>
          <a:noFill/>
          <a:ln/>
        </p:spPr>
        <p:txBody>
          <a:bodyPr wrap="square" lIns="0" tIns="0" rIns="0" bIns="0" rtlCol="0" anchor="ctr"/>
          <a:lstStyle/>
          <a:p>
            <a:pPr marL="0" indent="0" algn="ctr">
              <a:buNone/>
            </a:pPr>
            <a:r>
              <a:rPr lang="en-US" sz="850" b="1" dirty="0">
                <a:solidFill>
                  <a:srgbClr val="5B2E8C"/>
                </a:solidFill>
                <a:latin typeface="Arial" pitchFamily="34" charset="0"/>
                <a:ea typeface="Arial" pitchFamily="34" charset="-122"/>
                <a:cs typeface="Arial" pitchFamily="34" charset="-120"/>
              </a:rPr>
              <a:t>AI GATEWAY</a:t>
            </a:r>
            <a:endParaRPr lang="en-US" sz="850" dirty="0"/>
          </a:p>
        </p:txBody>
      </p:sp>
      <p:sp>
        <p:nvSpPr>
          <p:cNvPr id="70" name="Text 48"/>
          <p:cNvSpPr/>
          <p:nvPr/>
        </p:nvSpPr>
        <p:spPr>
          <a:xfrm>
            <a:off x="8083296" y="1737360"/>
            <a:ext cx="1060704" cy="109728"/>
          </a:xfrm>
          <a:prstGeom prst="rect">
            <a:avLst/>
          </a:prstGeom>
          <a:noFill/>
          <a:ln/>
        </p:spPr>
        <p:txBody>
          <a:bodyPr wrap="square" lIns="0" tIns="0" rIns="0" bIns="0" rtlCol="0" anchor="ctr"/>
          <a:lstStyle/>
          <a:p>
            <a:pPr marL="0" indent="0" algn="ctr">
              <a:buNone/>
            </a:pPr>
            <a:r>
              <a:rPr lang="en-US" sz="560" i="1" dirty="0">
                <a:solidFill>
                  <a:srgbClr val="6E7A8A"/>
                </a:solidFill>
                <a:latin typeface="Arial" pitchFamily="34" charset="0"/>
                <a:ea typeface="Arial" pitchFamily="34" charset="-122"/>
                <a:cs typeface="Arial" pitchFamily="34" charset="-120"/>
              </a:rPr>
              <a:t>Azure API Management</a:t>
            </a:r>
            <a:endParaRPr lang="en-US" sz="560" dirty="0"/>
          </a:p>
        </p:txBody>
      </p:sp>
      <p:pic>
        <p:nvPicPr>
          <p:cNvPr id="71" name="Image 20" descr="/sessions/zealous-intelligent-mayer/mnt/outputs/icons3/gw.png"/>
          <p:cNvPicPr>
            <a:picLocks noChangeAspect="1"/>
          </p:cNvPicPr>
          <p:nvPr/>
        </p:nvPicPr>
        <p:blipFill>
          <a:blip r:embed="rId23"/>
          <a:stretch>
            <a:fillRect/>
          </a:stretch>
        </p:blipFill>
        <p:spPr>
          <a:xfrm>
            <a:off x="8485632" y="1883664"/>
            <a:ext cx="256032" cy="256032"/>
          </a:xfrm>
          <a:prstGeom prst="rect">
            <a:avLst/>
          </a:prstGeom>
        </p:spPr>
      </p:pic>
      <p:pic>
        <p:nvPicPr>
          <p:cNvPr id="72" name="Image 21" descr="/sessions/zealous-intelligent-mayer/mnt/outputs/icons3/g1.png"/>
          <p:cNvPicPr>
            <a:picLocks noChangeAspect="1"/>
          </p:cNvPicPr>
          <p:nvPr/>
        </p:nvPicPr>
        <p:blipFill>
          <a:blip r:embed="rId24"/>
          <a:stretch>
            <a:fillRect/>
          </a:stretch>
        </p:blipFill>
        <p:spPr>
          <a:xfrm>
            <a:off x="8156448" y="2244852"/>
            <a:ext cx="118872" cy="118872"/>
          </a:xfrm>
          <a:prstGeom prst="rect">
            <a:avLst/>
          </a:prstGeom>
        </p:spPr>
      </p:pic>
      <p:sp>
        <p:nvSpPr>
          <p:cNvPr id="73" name="Text 49"/>
          <p:cNvSpPr/>
          <p:nvPr/>
        </p:nvSpPr>
        <p:spPr>
          <a:xfrm>
            <a:off x="8330184" y="2231136"/>
            <a:ext cx="740664" cy="146304"/>
          </a:xfrm>
          <a:prstGeom prst="rect">
            <a:avLst/>
          </a:prstGeom>
          <a:noFill/>
          <a:ln/>
        </p:spPr>
        <p:txBody>
          <a:bodyPr wrap="square" lIns="0" tIns="0" rIns="0" bIns="0" rtlCol="0" anchor="ctr"/>
          <a:lstStyle/>
          <a:p>
            <a:pPr marL="0" indent="0">
              <a:lnSpc>
                <a:spcPct val="100000"/>
              </a:lnSpc>
              <a:buNone/>
            </a:pPr>
            <a:r>
              <a:rPr lang="en-US" sz="580" dirty="0">
                <a:solidFill>
                  <a:srgbClr val="3B3B3B"/>
                </a:solidFill>
                <a:latin typeface="Arial" pitchFamily="34" charset="0"/>
                <a:ea typeface="Arial" pitchFamily="34" charset="-122"/>
                <a:cs typeface="Arial" pitchFamily="34" charset="-120"/>
              </a:rPr>
              <a:t>Request Routing</a:t>
            </a:r>
            <a:endParaRPr lang="en-US" sz="580" dirty="0"/>
          </a:p>
        </p:txBody>
      </p:sp>
      <p:pic>
        <p:nvPicPr>
          <p:cNvPr id="74" name="Image 22" descr="/sessions/zealous-intelligent-mayer/mnt/outputs/icons3/g2.png"/>
          <p:cNvPicPr>
            <a:picLocks noChangeAspect="1"/>
          </p:cNvPicPr>
          <p:nvPr/>
        </p:nvPicPr>
        <p:blipFill>
          <a:blip r:embed="rId25"/>
          <a:stretch>
            <a:fillRect/>
          </a:stretch>
        </p:blipFill>
        <p:spPr>
          <a:xfrm>
            <a:off x="8156448" y="2391156"/>
            <a:ext cx="118872" cy="118872"/>
          </a:xfrm>
          <a:prstGeom prst="rect">
            <a:avLst/>
          </a:prstGeom>
        </p:spPr>
      </p:pic>
      <p:sp>
        <p:nvSpPr>
          <p:cNvPr id="75" name="Text 50"/>
          <p:cNvSpPr/>
          <p:nvPr/>
        </p:nvSpPr>
        <p:spPr>
          <a:xfrm>
            <a:off x="8330184" y="2377440"/>
            <a:ext cx="740664" cy="146304"/>
          </a:xfrm>
          <a:prstGeom prst="rect">
            <a:avLst/>
          </a:prstGeom>
          <a:noFill/>
          <a:ln/>
        </p:spPr>
        <p:txBody>
          <a:bodyPr wrap="square" lIns="0" tIns="0" rIns="0" bIns="0" rtlCol="0" anchor="ctr"/>
          <a:lstStyle/>
          <a:p>
            <a:pPr marL="0" indent="0">
              <a:lnSpc>
                <a:spcPct val="100000"/>
              </a:lnSpc>
              <a:buNone/>
            </a:pPr>
            <a:r>
              <a:rPr lang="en-US" sz="580" dirty="0">
                <a:solidFill>
                  <a:srgbClr val="3B3B3B"/>
                </a:solidFill>
                <a:latin typeface="Arial" pitchFamily="34" charset="0"/>
                <a:ea typeface="Arial" pitchFamily="34" charset="-122"/>
                <a:cs typeface="Arial" pitchFamily="34" charset="-120"/>
              </a:rPr>
              <a:t>Model Abstraction</a:t>
            </a:r>
            <a:endParaRPr lang="en-US" sz="580" dirty="0"/>
          </a:p>
        </p:txBody>
      </p:sp>
      <p:pic>
        <p:nvPicPr>
          <p:cNvPr id="76" name="Image 23" descr="/sessions/zealous-intelligent-mayer/mnt/outputs/icons3/g3.png"/>
          <p:cNvPicPr>
            <a:picLocks noChangeAspect="1"/>
          </p:cNvPicPr>
          <p:nvPr/>
        </p:nvPicPr>
        <p:blipFill>
          <a:blip r:embed="rId26"/>
          <a:stretch>
            <a:fillRect/>
          </a:stretch>
        </p:blipFill>
        <p:spPr>
          <a:xfrm>
            <a:off x="8156448" y="2537460"/>
            <a:ext cx="118872" cy="118872"/>
          </a:xfrm>
          <a:prstGeom prst="rect">
            <a:avLst/>
          </a:prstGeom>
        </p:spPr>
      </p:pic>
      <p:sp>
        <p:nvSpPr>
          <p:cNvPr id="77" name="Text 51"/>
          <p:cNvSpPr/>
          <p:nvPr/>
        </p:nvSpPr>
        <p:spPr>
          <a:xfrm>
            <a:off x="8330184" y="2523744"/>
            <a:ext cx="740664" cy="146304"/>
          </a:xfrm>
          <a:prstGeom prst="rect">
            <a:avLst/>
          </a:prstGeom>
          <a:noFill/>
          <a:ln/>
        </p:spPr>
        <p:txBody>
          <a:bodyPr wrap="square" lIns="0" tIns="0" rIns="0" bIns="0" rtlCol="0" anchor="ctr"/>
          <a:lstStyle/>
          <a:p>
            <a:pPr marL="0" indent="0">
              <a:lnSpc>
                <a:spcPct val="100000"/>
              </a:lnSpc>
              <a:buNone/>
            </a:pPr>
            <a:r>
              <a:rPr lang="en-US" sz="580" dirty="0">
                <a:solidFill>
                  <a:srgbClr val="3B3B3B"/>
                </a:solidFill>
                <a:latin typeface="Arial" pitchFamily="34" charset="0"/>
                <a:ea typeface="Arial" pitchFamily="34" charset="-122"/>
                <a:cs typeface="Arial" pitchFamily="34" charset="-120"/>
              </a:rPr>
              <a:t>Key Vault Auth</a:t>
            </a:r>
            <a:endParaRPr lang="en-US" sz="580" dirty="0"/>
          </a:p>
        </p:txBody>
      </p:sp>
      <p:pic>
        <p:nvPicPr>
          <p:cNvPr id="78" name="Image 24" descr="/sessions/zealous-intelligent-mayer/mnt/outputs/icons3/g4.png"/>
          <p:cNvPicPr>
            <a:picLocks noChangeAspect="1"/>
          </p:cNvPicPr>
          <p:nvPr/>
        </p:nvPicPr>
        <p:blipFill>
          <a:blip r:embed="rId27"/>
          <a:stretch>
            <a:fillRect/>
          </a:stretch>
        </p:blipFill>
        <p:spPr>
          <a:xfrm>
            <a:off x="8156448" y="2683764"/>
            <a:ext cx="118872" cy="118872"/>
          </a:xfrm>
          <a:prstGeom prst="rect">
            <a:avLst/>
          </a:prstGeom>
        </p:spPr>
      </p:pic>
      <p:sp>
        <p:nvSpPr>
          <p:cNvPr id="79" name="Text 52"/>
          <p:cNvSpPr/>
          <p:nvPr/>
        </p:nvSpPr>
        <p:spPr>
          <a:xfrm>
            <a:off x="8330184" y="2670048"/>
            <a:ext cx="740664" cy="146304"/>
          </a:xfrm>
          <a:prstGeom prst="rect">
            <a:avLst/>
          </a:prstGeom>
          <a:noFill/>
          <a:ln/>
        </p:spPr>
        <p:txBody>
          <a:bodyPr wrap="square" lIns="0" tIns="0" rIns="0" bIns="0" rtlCol="0" anchor="ctr"/>
          <a:lstStyle/>
          <a:p>
            <a:pPr marL="0" indent="0">
              <a:lnSpc>
                <a:spcPct val="100000"/>
              </a:lnSpc>
              <a:buNone/>
            </a:pPr>
            <a:r>
              <a:rPr lang="en-US" sz="580" dirty="0">
                <a:solidFill>
                  <a:srgbClr val="3B3B3B"/>
                </a:solidFill>
                <a:latin typeface="Arial" pitchFamily="34" charset="0"/>
                <a:ea typeface="Arial" pitchFamily="34" charset="-122"/>
                <a:cs typeface="Arial" pitchFamily="34" charset="-120"/>
              </a:rPr>
              <a:t>Retry / Failover</a:t>
            </a:r>
            <a:endParaRPr lang="en-US" sz="580" dirty="0"/>
          </a:p>
        </p:txBody>
      </p:sp>
      <p:pic>
        <p:nvPicPr>
          <p:cNvPr id="80" name="Image 25" descr="/sessions/zealous-intelligent-mayer/mnt/outputs/icons3/g5.png"/>
          <p:cNvPicPr>
            <a:picLocks noChangeAspect="1"/>
          </p:cNvPicPr>
          <p:nvPr/>
        </p:nvPicPr>
        <p:blipFill>
          <a:blip r:embed="rId28"/>
          <a:stretch>
            <a:fillRect/>
          </a:stretch>
        </p:blipFill>
        <p:spPr>
          <a:xfrm>
            <a:off x="8156448" y="2830068"/>
            <a:ext cx="118872" cy="118872"/>
          </a:xfrm>
          <a:prstGeom prst="rect">
            <a:avLst/>
          </a:prstGeom>
        </p:spPr>
      </p:pic>
      <p:sp>
        <p:nvSpPr>
          <p:cNvPr id="81" name="Text 53"/>
          <p:cNvSpPr/>
          <p:nvPr/>
        </p:nvSpPr>
        <p:spPr>
          <a:xfrm>
            <a:off x="8330184" y="2816352"/>
            <a:ext cx="740664" cy="146304"/>
          </a:xfrm>
          <a:prstGeom prst="rect">
            <a:avLst/>
          </a:prstGeom>
          <a:noFill/>
          <a:ln/>
        </p:spPr>
        <p:txBody>
          <a:bodyPr wrap="square" lIns="0" tIns="0" rIns="0" bIns="0" rtlCol="0" anchor="ctr"/>
          <a:lstStyle/>
          <a:p>
            <a:pPr marL="0" indent="0">
              <a:lnSpc>
                <a:spcPct val="100000"/>
              </a:lnSpc>
              <a:buNone/>
            </a:pPr>
            <a:r>
              <a:rPr lang="en-US" sz="580" dirty="0">
                <a:solidFill>
                  <a:srgbClr val="3B3B3B"/>
                </a:solidFill>
                <a:latin typeface="Arial" pitchFamily="34" charset="0"/>
                <a:ea typeface="Arial" pitchFamily="34" charset="-122"/>
                <a:cs typeface="Arial" pitchFamily="34" charset="-120"/>
              </a:rPr>
              <a:t>Load Balancing</a:t>
            </a:r>
            <a:endParaRPr lang="en-US" sz="580" dirty="0"/>
          </a:p>
        </p:txBody>
      </p:sp>
      <p:pic>
        <p:nvPicPr>
          <p:cNvPr id="82" name="Image 26" descr="/sessions/zealous-intelligent-mayer/mnt/outputs/icons3/g6.png"/>
          <p:cNvPicPr>
            <a:picLocks noChangeAspect="1"/>
          </p:cNvPicPr>
          <p:nvPr/>
        </p:nvPicPr>
        <p:blipFill>
          <a:blip r:embed="rId29"/>
          <a:stretch>
            <a:fillRect/>
          </a:stretch>
        </p:blipFill>
        <p:spPr>
          <a:xfrm>
            <a:off x="8156448" y="2976372"/>
            <a:ext cx="118872" cy="118872"/>
          </a:xfrm>
          <a:prstGeom prst="rect">
            <a:avLst/>
          </a:prstGeom>
        </p:spPr>
      </p:pic>
      <p:sp>
        <p:nvSpPr>
          <p:cNvPr id="83" name="Text 54"/>
          <p:cNvSpPr/>
          <p:nvPr/>
        </p:nvSpPr>
        <p:spPr>
          <a:xfrm>
            <a:off x="8330184" y="2962656"/>
            <a:ext cx="740664" cy="146304"/>
          </a:xfrm>
          <a:prstGeom prst="rect">
            <a:avLst/>
          </a:prstGeom>
          <a:noFill/>
          <a:ln/>
        </p:spPr>
        <p:txBody>
          <a:bodyPr wrap="square" lIns="0" tIns="0" rIns="0" bIns="0" rtlCol="0" anchor="ctr"/>
          <a:lstStyle/>
          <a:p>
            <a:pPr marL="0" indent="0">
              <a:lnSpc>
                <a:spcPct val="100000"/>
              </a:lnSpc>
              <a:buNone/>
            </a:pPr>
            <a:r>
              <a:rPr lang="en-US" sz="580" dirty="0">
                <a:solidFill>
                  <a:srgbClr val="3B3B3B"/>
                </a:solidFill>
                <a:latin typeface="Arial" pitchFamily="34" charset="0"/>
                <a:ea typeface="Arial" pitchFamily="34" charset="-122"/>
                <a:cs typeface="Arial" pitchFamily="34" charset="-120"/>
              </a:rPr>
              <a:t>Logging &amp; Metrics</a:t>
            </a:r>
            <a:endParaRPr lang="en-US" sz="580" dirty="0"/>
          </a:p>
        </p:txBody>
      </p:sp>
      <p:pic>
        <p:nvPicPr>
          <p:cNvPr id="84" name="Image 27" descr="/sessions/zealous-intelligent-mayer/mnt/outputs/icons3/g7.png"/>
          <p:cNvPicPr>
            <a:picLocks noChangeAspect="1"/>
          </p:cNvPicPr>
          <p:nvPr/>
        </p:nvPicPr>
        <p:blipFill>
          <a:blip r:embed="rId30"/>
          <a:stretch>
            <a:fillRect/>
          </a:stretch>
        </p:blipFill>
        <p:spPr>
          <a:xfrm>
            <a:off x="8156448" y="3122676"/>
            <a:ext cx="118872" cy="118872"/>
          </a:xfrm>
          <a:prstGeom prst="rect">
            <a:avLst/>
          </a:prstGeom>
        </p:spPr>
      </p:pic>
      <p:sp>
        <p:nvSpPr>
          <p:cNvPr id="85" name="Text 55"/>
          <p:cNvSpPr/>
          <p:nvPr/>
        </p:nvSpPr>
        <p:spPr>
          <a:xfrm>
            <a:off x="8330184" y="3108960"/>
            <a:ext cx="740664" cy="146304"/>
          </a:xfrm>
          <a:prstGeom prst="rect">
            <a:avLst/>
          </a:prstGeom>
          <a:noFill/>
          <a:ln/>
        </p:spPr>
        <p:txBody>
          <a:bodyPr wrap="square" lIns="0" tIns="0" rIns="0" bIns="0" rtlCol="0" anchor="ctr"/>
          <a:lstStyle/>
          <a:p>
            <a:pPr marL="0" indent="0">
              <a:lnSpc>
                <a:spcPct val="100000"/>
              </a:lnSpc>
              <a:buNone/>
            </a:pPr>
            <a:r>
              <a:rPr lang="en-US" sz="580" dirty="0">
                <a:solidFill>
                  <a:srgbClr val="3B3B3B"/>
                </a:solidFill>
                <a:latin typeface="Arial" pitchFamily="34" charset="0"/>
                <a:ea typeface="Arial" pitchFamily="34" charset="-122"/>
                <a:cs typeface="Arial" pitchFamily="34" charset="-120"/>
              </a:rPr>
              <a:t>Cost Tracking</a:t>
            </a:r>
            <a:endParaRPr lang="en-US" sz="580" dirty="0"/>
          </a:p>
        </p:txBody>
      </p:sp>
      <p:sp>
        <p:nvSpPr>
          <p:cNvPr id="86" name="Shape 56"/>
          <p:cNvSpPr/>
          <p:nvPr/>
        </p:nvSpPr>
        <p:spPr>
          <a:xfrm>
            <a:off x="9418320" y="475488"/>
            <a:ext cx="2615184" cy="3694176"/>
          </a:xfrm>
          <a:prstGeom prst="roundRect">
            <a:avLst>
              <a:gd name="adj" fmla="val 1748"/>
            </a:avLst>
          </a:prstGeom>
          <a:solidFill>
            <a:srgbClr val="FAF8FD"/>
          </a:solidFill>
          <a:ln w="12700">
            <a:solidFill>
              <a:srgbClr val="8064A2"/>
            </a:solidFill>
            <a:prstDash val="solid"/>
          </a:ln>
        </p:spPr>
      </p:sp>
      <p:sp>
        <p:nvSpPr>
          <p:cNvPr id="87" name="Text 57"/>
          <p:cNvSpPr/>
          <p:nvPr/>
        </p:nvSpPr>
        <p:spPr>
          <a:xfrm>
            <a:off x="9418320" y="530352"/>
            <a:ext cx="2615184" cy="155448"/>
          </a:xfrm>
          <a:prstGeom prst="rect">
            <a:avLst/>
          </a:prstGeom>
          <a:noFill/>
          <a:ln/>
        </p:spPr>
        <p:txBody>
          <a:bodyPr wrap="square" lIns="0" tIns="0" rIns="0" bIns="0" rtlCol="0" anchor="ctr"/>
          <a:lstStyle/>
          <a:p>
            <a:pPr marL="0" indent="0" algn="ctr">
              <a:buNone/>
            </a:pPr>
            <a:r>
              <a:rPr lang="en-US" sz="850" b="1" dirty="0">
                <a:solidFill>
                  <a:srgbClr val="5B2E8C"/>
                </a:solidFill>
                <a:latin typeface="Arial" pitchFamily="34" charset="0"/>
                <a:ea typeface="Arial" pitchFamily="34" charset="-122"/>
                <a:cs typeface="Arial" pitchFamily="34" charset="-120"/>
              </a:rPr>
              <a:t>BACKEND LLM MODELS</a:t>
            </a:r>
            <a:endParaRPr lang="en-US" sz="850" dirty="0"/>
          </a:p>
        </p:txBody>
      </p:sp>
      <p:sp>
        <p:nvSpPr>
          <p:cNvPr id="88" name="Shape 58"/>
          <p:cNvSpPr/>
          <p:nvPr/>
        </p:nvSpPr>
        <p:spPr>
          <a:xfrm>
            <a:off x="9509760" y="713232"/>
            <a:ext cx="2432304" cy="630936"/>
          </a:xfrm>
          <a:prstGeom prst="roundRect">
            <a:avLst>
              <a:gd name="adj" fmla="val 5797"/>
            </a:avLst>
          </a:prstGeom>
          <a:solidFill>
            <a:srgbClr val="FFFFFF"/>
          </a:solidFill>
          <a:ln w="12700">
            <a:solidFill>
              <a:srgbClr val="B8A6D4"/>
            </a:solidFill>
            <a:prstDash val="solid"/>
          </a:ln>
        </p:spPr>
      </p:sp>
      <p:sp>
        <p:nvSpPr>
          <p:cNvPr id="89" name="Text 59"/>
          <p:cNvSpPr/>
          <p:nvPr/>
        </p:nvSpPr>
        <p:spPr>
          <a:xfrm>
            <a:off x="9509760" y="754380"/>
            <a:ext cx="2432304" cy="155448"/>
          </a:xfrm>
          <a:prstGeom prst="rect">
            <a:avLst/>
          </a:prstGeom>
          <a:noFill/>
          <a:ln/>
        </p:spPr>
        <p:txBody>
          <a:bodyPr wrap="square" lIns="0" tIns="0" rIns="0" bIns="0" rtlCol="0" anchor="ctr"/>
          <a:lstStyle/>
          <a:p>
            <a:pPr marL="0" indent="0" algn="ctr">
              <a:buNone/>
            </a:pPr>
            <a:r>
              <a:rPr lang="en-US" sz="620" b="1" dirty="0">
                <a:solidFill>
                  <a:srgbClr val="5B2E8C"/>
                </a:solidFill>
                <a:latin typeface="Arial" pitchFamily="34" charset="0"/>
                <a:ea typeface="Arial" pitchFamily="34" charset="-122"/>
                <a:cs typeface="Arial" pitchFamily="34" charset="-120"/>
              </a:rPr>
              <a:t>TEXT / GENERAL MODELS</a:t>
            </a:r>
            <a:endParaRPr lang="en-US" sz="620" dirty="0"/>
          </a:p>
        </p:txBody>
      </p:sp>
      <p:pic>
        <p:nvPicPr>
          <p:cNvPr id="90" name="Image 28" descr="/sessions/zealous-intelligent-mayer/mnt/outputs/icons3/m_gpt.png"/>
          <p:cNvPicPr>
            <a:picLocks noChangeAspect="1"/>
          </p:cNvPicPr>
          <p:nvPr/>
        </p:nvPicPr>
        <p:blipFill>
          <a:blip r:embed="rId31"/>
          <a:stretch>
            <a:fillRect/>
          </a:stretch>
        </p:blipFill>
        <p:spPr>
          <a:xfrm>
            <a:off x="9676181" y="914400"/>
            <a:ext cx="182880" cy="182880"/>
          </a:xfrm>
          <a:prstGeom prst="rect">
            <a:avLst/>
          </a:prstGeom>
        </p:spPr>
      </p:pic>
      <p:sp>
        <p:nvSpPr>
          <p:cNvPr id="91" name="Text 60"/>
          <p:cNvSpPr/>
          <p:nvPr/>
        </p:nvSpPr>
        <p:spPr>
          <a:xfrm>
            <a:off x="9546336" y="1124712"/>
            <a:ext cx="442570"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GPT-4o /</a:t>
            </a:r>
            <a:endParaRPr lang="en-US" sz="540" dirty="0"/>
          </a:p>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4.1</a:t>
            </a:r>
            <a:endParaRPr lang="en-US" sz="540" dirty="0"/>
          </a:p>
        </p:txBody>
      </p:sp>
      <p:pic>
        <p:nvPicPr>
          <p:cNvPr id="92" name="Image 29" descr="/sessions/zealous-intelligent-mayer/mnt/outputs/icons3/m_claude.png"/>
          <p:cNvPicPr>
            <a:picLocks noChangeAspect="1"/>
          </p:cNvPicPr>
          <p:nvPr/>
        </p:nvPicPr>
        <p:blipFill>
          <a:blip r:embed="rId32"/>
          <a:stretch>
            <a:fillRect/>
          </a:stretch>
        </p:blipFill>
        <p:spPr>
          <a:xfrm>
            <a:off x="10155326" y="914400"/>
            <a:ext cx="182880" cy="182880"/>
          </a:xfrm>
          <a:prstGeom prst="rect">
            <a:avLst/>
          </a:prstGeom>
        </p:spPr>
      </p:pic>
      <p:sp>
        <p:nvSpPr>
          <p:cNvPr id="93" name="Text 61"/>
          <p:cNvSpPr/>
          <p:nvPr/>
        </p:nvSpPr>
        <p:spPr>
          <a:xfrm>
            <a:off x="10025482" y="1124712"/>
            <a:ext cx="442570"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Claude</a:t>
            </a:r>
            <a:endParaRPr lang="en-US" sz="540" dirty="0"/>
          </a:p>
        </p:txBody>
      </p:sp>
      <p:pic>
        <p:nvPicPr>
          <p:cNvPr id="94" name="Image 30" descr="/sessions/zealous-intelligent-mayer/mnt/outputs/icons3/m_gemini.png"/>
          <p:cNvPicPr>
            <a:picLocks noChangeAspect="1"/>
          </p:cNvPicPr>
          <p:nvPr/>
        </p:nvPicPr>
        <p:blipFill>
          <a:blip r:embed="rId33"/>
          <a:stretch>
            <a:fillRect/>
          </a:stretch>
        </p:blipFill>
        <p:spPr>
          <a:xfrm>
            <a:off x="10634472" y="914400"/>
            <a:ext cx="182880" cy="182880"/>
          </a:xfrm>
          <a:prstGeom prst="rect">
            <a:avLst/>
          </a:prstGeom>
        </p:spPr>
      </p:pic>
      <p:sp>
        <p:nvSpPr>
          <p:cNvPr id="95" name="Text 62"/>
          <p:cNvSpPr/>
          <p:nvPr/>
        </p:nvSpPr>
        <p:spPr>
          <a:xfrm>
            <a:off x="10504627" y="1124712"/>
            <a:ext cx="442570"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Gemini</a:t>
            </a:r>
            <a:endParaRPr lang="en-US" sz="540" dirty="0"/>
          </a:p>
        </p:txBody>
      </p:sp>
      <p:pic>
        <p:nvPicPr>
          <p:cNvPr id="96" name="Image 31" descr="/sessions/zealous-intelligent-mayer/mnt/outputs/icons3/m_llama.png"/>
          <p:cNvPicPr>
            <a:picLocks noChangeAspect="1"/>
          </p:cNvPicPr>
          <p:nvPr/>
        </p:nvPicPr>
        <p:blipFill>
          <a:blip r:embed="rId34"/>
          <a:stretch>
            <a:fillRect/>
          </a:stretch>
        </p:blipFill>
        <p:spPr>
          <a:xfrm>
            <a:off x="11113618" y="914400"/>
            <a:ext cx="182880" cy="182880"/>
          </a:xfrm>
          <a:prstGeom prst="rect">
            <a:avLst/>
          </a:prstGeom>
        </p:spPr>
      </p:pic>
      <p:sp>
        <p:nvSpPr>
          <p:cNvPr id="97" name="Text 63"/>
          <p:cNvSpPr/>
          <p:nvPr/>
        </p:nvSpPr>
        <p:spPr>
          <a:xfrm>
            <a:off x="10983773" y="1124712"/>
            <a:ext cx="442570"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Llama 3.1</a:t>
            </a:r>
            <a:endParaRPr lang="en-US" sz="540" dirty="0"/>
          </a:p>
        </p:txBody>
      </p:sp>
      <p:sp>
        <p:nvSpPr>
          <p:cNvPr id="98" name="Text 64"/>
          <p:cNvSpPr/>
          <p:nvPr/>
        </p:nvSpPr>
        <p:spPr>
          <a:xfrm>
            <a:off x="11462918" y="1124712"/>
            <a:ext cx="442570"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a:t>
            </a:r>
            <a:endParaRPr lang="en-US" sz="540" dirty="0"/>
          </a:p>
        </p:txBody>
      </p:sp>
      <p:sp>
        <p:nvSpPr>
          <p:cNvPr id="99" name="Shape 65"/>
          <p:cNvSpPr/>
          <p:nvPr/>
        </p:nvSpPr>
        <p:spPr>
          <a:xfrm>
            <a:off x="9509760" y="1399032"/>
            <a:ext cx="2432304" cy="630936"/>
          </a:xfrm>
          <a:prstGeom prst="roundRect">
            <a:avLst>
              <a:gd name="adj" fmla="val 5797"/>
            </a:avLst>
          </a:prstGeom>
          <a:solidFill>
            <a:srgbClr val="FFFFFF"/>
          </a:solidFill>
          <a:ln w="12700">
            <a:solidFill>
              <a:srgbClr val="B8A6D4"/>
            </a:solidFill>
            <a:prstDash val="solid"/>
          </a:ln>
        </p:spPr>
      </p:sp>
      <p:sp>
        <p:nvSpPr>
          <p:cNvPr id="100" name="Text 66"/>
          <p:cNvSpPr/>
          <p:nvPr/>
        </p:nvSpPr>
        <p:spPr>
          <a:xfrm>
            <a:off x="9509760" y="1440180"/>
            <a:ext cx="2432304" cy="155448"/>
          </a:xfrm>
          <a:prstGeom prst="rect">
            <a:avLst/>
          </a:prstGeom>
          <a:noFill/>
          <a:ln/>
        </p:spPr>
        <p:txBody>
          <a:bodyPr wrap="square" lIns="0" tIns="0" rIns="0" bIns="0" rtlCol="0" anchor="ctr"/>
          <a:lstStyle/>
          <a:p>
            <a:pPr marL="0" indent="0" algn="ctr">
              <a:buNone/>
            </a:pPr>
            <a:r>
              <a:rPr lang="en-US" sz="620" b="1" dirty="0">
                <a:solidFill>
                  <a:srgbClr val="5B2E8C"/>
                </a:solidFill>
                <a:latin typeface="Arial" pitchFamily="34" charset="0"/>
                <a:ea typeface="Arial" pitchFamily="34" charset="-122"/>
                <a:cs typeface="Arial" pitchFamily="34" charset="-120"/>
              </a:rPr>
              <a:t>RESEARCH MODELS</a:t>
            </a:r>
            <a:endParaRPr lang="en-US" sz="620" dirty="0"/>
          </a:p>
        </p:txBody>
      </p:sp>
      <p:pic>
        <p:nvPicPr>
          <p:cNvPr id="101" name="Image 32" descr="/sessions/zealous-intelligent-mayer/mnt/outputs/icons3/m_pplx.png"/>
          <p:cNvPicPr>
            <a:picLocks noChangeAspect="1"/>
          </p:cNvPicPr>
          <p:nvPr/>
        </p:nvPicPr>
        <p:blipFill>
          <a:blip r:embed="rId35"/>
          <a:stretch>
            <a:fillRect/>
          </a:stretch>
        </p:blipFill>
        <p:spPr>
          <a:xfrm>
            <a:off x="9736074" y="1600200"/>
            <a:ext cx="182880" cy="182880"/>
          </a:xfrm>
          <a:prstGeom prst="rect">
            <a:avLst/>
          </a:prstGeom>
        </p:spPr>
      </p:pic>
      <p:sp>
        <p:nvSpPr>
          <p:cNvPr id="102" name="Text 67"/>
          <p:cNvSpPr/>
          <p:nvPr/>
        </p:nvSpPr>
        <p:spPr>
          <a:xfrm>
            <a:off x="9546336" y="1810512"/>
            <a:ext cx="562356"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Perplexity</a:t>
            </a:r>
            <a:endParaRPr lang="en-US" sz="540" dirty="0"/>
          </a:p>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API</a:t>
            </a:r>
            <a:endParaRPr lang="en-US" sz="540" dirty="0"/>
          </a:p>
        </p:txBody>
      </p:sp>
      <p:pic>
        <p:nvPicPr>
          <p:cNvPr id="103" name="Image 33" descr="/sessions/zealous-intelligent-mayer/mnt/outputs/icons3/m_bing.png"/>
          <p:cNvPicPr>
            <a:picLocks noChangeAspect="1"/>
          </p:cNvPicPr>
          <p:nvPr/>
        </p:nvPicPr>
        <p:blipFill>
          <a:blip r:embed="rId36"/>
          <a:stretch>
            <a:fillRect/>
          </a:stretch>
        </p:blipFill>
        <p:spPr>
          <a:xfrm>
            <a:off x="10335006" y="1600200"/>
            <a:ext cx="182880" cy="182880"/>
          </a:xfrm>
          <a:prstGeom prst="rect">
            <a:avLst/>
          </a:prstGeom>
        </p:spPr>
      </p:pic>
      <p:sp>
        <p:nvSpPr>
          <p:cNvPr id="104" name="Text 68"/>
          <p:cNvSpPr/>
          <p:nvPr/>
        </p:nvSpPr>
        <p:spPr>
          <a:xfrm>
            <a:off x="10145268" y="1810512"/>
            <a:ext cx="562356"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Grounding</a:t>
            </a:r>
            <a:endParaRPr lang="en-US" sz="540" dirty="0"/>
          </a:p>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w/ Bing</a:t>
            </a:r>
            <a:endParaRPr lang="en-US" sz="540" dirty="0"/>
          </a:p>
        </p:txBody>
      </p:sp>
      <p:pic>
        <p:nvPicPr>
          <p:cNvPr id="105" name="Image 34" descr="/sessions/zealous-intelligent-mayer/mnt/outputs/icons3/m_rag.png"/>
          <p:cNvPicPr>
            <a:picLocks noChangeAspect="1"/>
          </p:cNvPicPr>
          <p:nvPr/>
        </p:nvPicPr>
        <p:blipFill>
          <a:blip r:embed="rId37"/>
          <a:stretch>
            <a:fillRect/>
          </a:stretch>
        </p:blipFill>
        <p:spPr>
          <a:xfrm>
            <a:off x="10933938" y="1600200"/>
            <a:ext cx="182880" cy="182880"/>
          </a:xfrm>
          <a:prstGeom prst="rect">
            <a:avLst/>
          </a:prstGeom>
        </p:spPr>
      </p:pic>
      <p:sp>
        <p:nvSpPr>
          <p:cNvPr id="106" name="Text 69"/>
          <p:cNvSpPr/>
          <p:nvPr/>
        </p:nvSpPr>
        <p:spPr>
          <a:xfrm>
            <a:off x="10744200" y="1810512"/>
            <a:ext cx="562356"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AI Search</a:t>
            </a:r>
            <a:endParaRPr lang="en-US" sz="540" dirty="0"/>
          </a:p>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RAG</a:t>
            </a:r>
            <a:endParaRPr lang="en-US" sz="540" dirty="0"/>
          </a:p>
        </p:txBody>
      </p:sp>
      <p:sp>
        <p:nvSpPr>
          <p:cNvPr id="107" name="Text 70"/>
          <p:cNvSpPr/>
          <p:nvPr/>
        </p:nvSpPr>
        <p:spPr>
          <a:xfrm>
            <a:off x="11343132" y="1810512"/>
            <a:ext cx="562356"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a:t>
            </a:r>
            <a:endParaRPr lang="en-US" sz="540" dirty="0"/>
          </a:p>
        </p:txBody>
      </p:sp>
      <p:sp>
        <p:nvSpPr>
          <p:cNvPr id="108" name="Shape 71"/>
          <p:cNvSpPr/>
          <p:nvPr/>
        </p:nvSpPr>
        <p:spPr>
          <a:xfrm>
            <a:off x="9509760" y="2084832"/>
            <a:ext cx="2432304" cy="630936"/>
          </a:xfrm>
          <a:prstGeom prst="roundRect">
            <a:avLst>
              <a:gd name="adj" fmla="val 5797"/>
            </a:avLst>
          </a:prstGeom>
          <a:solidFill>
            <a:srgbClr val="FFFFFF"/>
          </a:solidFill>
          <a:ln w="12700">
            <a:solidFill>
              <a:srgbClr val="B8A6D4"/>
            </a:solidFill>
            <a:prstDash val="solid"/>
          </a:ln>
        </p:spPr>
      </p:sp>
      <p:sp>
        <p:nvSpPr>
          <p:cNvPr id="109" name="Text 72"/>
          <p:cNvSpPr/>
          <p:nvPr/>
        </p:nvSpPr>
        <p:spPr>
          <a:xfrm>
            <a:off x="9509760" y="2125980"/>
            <a:ext cx="2432304" cy="155448"/>
          </a:xfrm>
          <a:prstGeom prst="rect">
            <a:avLst/>
          </a:prstGeom>
          <a:noFill/>
          <a:ln/>
        </p:spPr>
        <p:txBody>
          <a:bodyPr wrap="square" lIns="0" tIns="0" rIns="0" bIns="0" rtlCol="0" anchor="ctr"/>
          <a:lstStyle/>
          <a:p>
            <a:pPr marL="0" indent="0" algn="ctr">
              <a:buNone/>
            </a:pPr>
            <a:r>
              <a:rPr lang="en-US" sz="620" b="1" dirty="0">
                <a:solidFill>
                  <a:srgbClr val="5B2E8C"/>
                </a:solidFill>
                <a:latin typeface="Arial" pitchFamily="34" charset="0"/>
                <a:ea typeface="Arial" pitchFamily="34" charset="-122"/>
                <a:cs typeface="Arial" pitchFamily="34" charset="-120"/>
              </a:rPr>
              <a:t>IMAGE MODELS</a:t>
            </a:r>
            <a:endParaRPr lang="en-US" sz="620" dirty="0"/>
          </a:p>
        </p:txBody>
      </p:sp>
      <p:pic>
        <p:nvPicPr>
          <p:cNvPr id="110" name="Image 35" descr="/sessions/zealous-intelligent-mayer/mnt/outputs/icons3/m_dalle.png"/>
          <p:cNvPicPr>
            <a:picLocks noChangeAspect="1"/>
          </p:cNvPicPr>
          <p:nvPr/>
        </p:nvPicPr>
        <p:blipFill>
          <a:blip r:embed="rId38"/>
          <a:stretch>
            <a:fillRect/>
          </a:stretch>
        </p:blipFill>
        <p:spPr>
          <a:xfrm>
            <a:off x="9736074" y="2286000"/>
            <a:ext cx="182880" cy="182880"/>
          </a:xfrm>
          <a:prstGeom prst="rect">
            <a:avLst/>
          </a:prstGeom>
        </p:spPr>
      </p:pic>
      <p:sp>
        <p:nvSpPr>
          <p:cNvPr id="111" name="Text 73"/>
          <p:cNvSpPr/>
          <p:nvPr/>
        </p:nvSpPr>
        <p:spPr>
          <a:xfrm>
            <a:off x="9546336" y="2496312"/>
            <a:ext cx="562356"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DALL·E 3</a:t>
            </a:r>
            <a:endParaRPr lang="en-US" sz="540" dirty="0"/>
          </a:p>
        </p:txBody>
      </p:sp>
      <p:pic>
        <p:nvPicPr>
          <p:cNvPr id="112" name="Image 36" descr="/sessions/zealous-intelligent-mayer/mnt/outputs/icons3/m_sd.png"/>
          <p:cNvPicPr>
            <a:picLocks noChangeAspect="1"/>
          </p:cNvPicPr>
          <p:nvPr/>
        </p:nvPicPr>
        <p:blipFill>
          <a:blip r:embed="rId39"/>
          <a:stretch>
            <a:fillRect/>
          </a:stretch>
        </p:blipFill>
        <p:spPr>
          <a:xfrm>
            <a:off x="10335006" y="2286000"/>
            <a:ext cx="182880" cy="182880"/>
          </a:xfrm>
          <a:prstGeom prst="rect">
            <a:avLst/>
          </a:prstGeom>
        </p:spPr>
      </p:pic>
      <p:sp>
        <p:nvSpPr>
          <p:cNvPr id="113" name="Text 74"/>
          <p:cNvSpPr/>
          <p:nvPr/>
        </p:nvSpPr>
        <p:spPr>
          <a:xfrm>
            <a:off x="10145268" y="2496312"/>
            <a:ext cx="562356"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Stable</a:t>
            </a:r>
            <a:endParaRPr lang="en-US" sz="540" dirty="0"/>
          </a:p>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Diffusion</a:t>
            </a:r>
            <a:endParaRPr lang="en-US" sz="540" dirty="0"/>
          </a:p>
        </p:txBody>
      </p:sp>
      <p:pic>
        <p:nvPicPr>
          <p:cNvPr id="114" name="Image 37" descr="/sessions/zealous-intelligent-mayer/mnt/outputs/icons3/m_mj.png"/>
          <p:cNvPicPr>
            <a:picLocks noChangeAspect="1"/>
          </p:cNvPicPr>
          <p:nvPr/>
        </p:nvPicPr>
        <p:blipFill>
          <a:blip r:embed="rId40"/>
          <a:stretch>
            <a:fillRect/>
          </a:stretch>
        </p:blipFill>
        <p:spPr>
          <a:xfrm>
            <a:off x="10933938" y="2286000"/>
            <a:ext cx="182880" cy="182880"/>
          </a:xfrm>
          <a:prstGeom prst="rect">
            <a:avLst/>
          </a:prstGeom>
        </p:spPr>
      </p:pic>
      <p:sp>
        <p:nvSpPr>
          <p:cNvPr id="115" name="Text 75"/>
          <p:cNvSpPr/>
          <p:nvPr/>
        </p:nvSpPr>
        <p:spPr>
          <a:xfrm>
            <a:off x="10744200" y="2496312"/>
            <a:ext cx="562356"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Midjourney</a:t>
            </a:r>
            <a:endParaRPr lang="en-US" sz="540" dirty="0"/>
          </a:p>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API</a:t>
            </a:r>
            <a:endParaRPr lang="en-US" sz="540" dirty="0"/>
          </a:p>
        </p:txBody>
      </p:sp>
      <p:sp>
        <p:nvSpPr>
          <p:cNvPr id="116" name="Text 76"/>
          <p:cNvSpPr/>
          <p:nvPr/>
        </p:nvSpPr>
        <p:spPr>
          <a:xfrm>
            <a:off x="11343132" y="2496312"/>
            <a:ext cx="562356"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a:t>
            </a:r>
            <a:endParaRPr lang="en-US" sz="540" dirty="0"/>
          </a:p>
        </p:txBody>
      </p:sp>
      <p:sp>
        <p:nvSpPr>
          <p:cNvPr id="117" name="Shape 77"/>
          <p:cNvSpPr/>
          <p:nvPr/>
        </p:nvSpPr>
        <p:spPr>
          <a:xfrm>
            <a:off x="9509760" y="2770632"/>
            <a:ext cx="2432304" cy="630936"/>
          </a:xfrm>
          <a:prstGeom prst="roundRect">
            <a:avLst>
              <a:gd name="adj" fmla="val 5797"/>
            </a:avLst>
          </a:prstGeom>
          <a:solidFill>
            <a:srgbClr val="FFFFFF"/>
          </a:solidFill>
          <a:ln w="12700">
            <a:solidFill>
              <a:srgbClr val="B8A6D4"/>
            </a:solidFill>
            <a:prstDash val="solid"/>
          </a:ln>
        </p:spPr>
      </p:sp>
      <p:sp>
        <p:nvSpPr>
          <p:cNvPr id="118" name="Text 78"/>
          <p:cNvSpPr/>
          <p:nvPr/>
        </p:nvSpPr>
        <p:spPr>
          <a:xfrm>
            <a:off x="9509760" y="2811780"/>
            <a:ext cx="2432304" cy="155448"/>
          </a:xfrm>
          <a:prstGeom prst="rect">
            <a:avLst/>
          </a:prstGeom>
          <a:noFill/>
          <a:ln/>
        </p:spPr>
        <p:txBody>
          <a:bodyPr wrap="square" lIns="0" tIns="0" rIns="0" bIns="0" rtlCol="0" anchor="ctr"/>
          <a:lstStyle/>
          <a:p>
            <a:pPr marL="0" indent="0" algn="ctr">
              <a:buNone/>
            </a:pPr>
            <a:r>
              <a:rPr lang="en-US" sz="620" b="1" dirty="0">
                <a:solidFill>
                  <a:srgbClr val="5B2E8C"/>
                </a:solidFill>
                <a:latin typeface="Arial" pitchFamily="34" charset="0"/>
                <a:ea typeface="Arial" pitchFamily="34" charset="-122"/>
                <a:cs typeface="Arial" pitchFamily="34" charset="-120"/>
              </a:rPr>
              <a:t>VIDEO MODELS</a:t>
            </a:r>
            <a:endParaRPr lang="en-US" sz="620" dirty="0"/>
          </a:p>
        </p:txBody>
      </p:sp>
      <p:pic>
        <p:nvPicPr>
          <p:cNvPr id="119" name="Image 38" descr="/sessions/zealous-intelligent-mayer/mnt/outputs/icons3/m_sora.png"/>
          <p:cNvPicPr>
            <a:picLocks noChangeAspect="1"/>
          </p:cNvPicPr>
          <p:nvPr/>
        </p:nvPicPr>
        <p:blipFill>
          <a:blip r:embed="rId41"/>
          <a:stretch>
            <a:fillRect/>
          </a:stretch>
        </p:blipFill>
        <p:spPr>
          <a:xfrm>
            <a:off x="9736074" y="2971800"/>
            <a:ext cx="182880" cy="182880"/>
          </a:xfrm>
          <a:prstGeom prst="rect">
            <a:avLst/>
          </a:prstGeom>
        </p:spPr>
      </p:pic>
      <p:sp>
        <p:nvSpPr>
          <p:cNvPr id="120" name="Text 79"/>
          <p:cNvSpPr/>
          <p:nvPr/>
        </p:nvSpPr>
        <p:spPr>
          <a:xfrm>
            <a:off x="9546336" y="3182112"/>
            <a:ext cx="562356"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Sora</a:t>
            </a:r>
            <a:endParaRPr lang="en-US" sz="540" dirty="0"/>
          </a:p>
        </p:txBody>
      </p:sp>
      <p:pic>
        <p:nvPicPr>
          <p:cNvPr id="121" name="Image 39" descr="/sessions/zealous-intelligent-mayer/mnt/outputs/icons3/m_runway.png"/>
          <p:cNvPicPr>
            <a:picLocks noChangeAspect="1"/>
          </p:cNvPicPr>
          <p:nvPr/>
        </p:nvPicPr>
        <p:blipFill>
          <a:blip r:embed="rId42"/>
          <a:stretch>
            <a:fillRect/>
          </a:stretch>
        </p:blipFill>
        <p:spPr>
          <a:xfrm>
            <a:off x="10335006" y="2971800"/>
            <a:ext cx="182880" cy="182880"/>
          </a:xfrm>
          <a:prstGeom prst="rect">
            <a:avLst/>
          </a:prstGeom>
        </p:spPr>
      </p:pic>
      <p:sp>
        <p:nvSpPr>
          <p:cNvPr id="122" name="Text 80"/>
          <p:cNvSpPr/>
          <p:nvPr/>
        </p:nvSpPr>
        <p:spPr>
          <a:xfrm>
            <a:off x="10145268" y="3182112"/>
            <a:ext cx="562356"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Runway</a:t>
            </a:r>
            <a:endParaRPr lang="en-US" sz="540" dirty="0"/>
          </a:p>
        </p:txBody>
      </p:sp>
      <p:pic>
        <p:nvPicPr>
          <p:cNvPr id="123" name="Image 40" descr="/sessions/zealous-intelligent-mayer/mnt/outputs/icons3/m_pika.png"/>
          <p:cNvPicPr>
            <a:picLocks noChangeAspect="1"/>
          </p:cNvPicPr>
          <p:nvPr/>
        </p:nvPicPr>
        <p:blipFill>
          <a:blip r:embed="rId43"/>
          <a:stretch>
            <a:fillRect/>
          </a:stretch>
        </p:blipFill>
        <p:spPr>
          <a:xfrm>
            <a:off x="10933938" y="2971800"/>
            <a:ext cx="182880" cy="182880"/>
          </a:xfrm>
          <a:prstGeom prst="rect">
            <a:avLst/>
          </a:prstGeom>
        </p:spPr>
      </p:pic>
      <p:sp>
        <p:nvSpPr>
          <p:cNvPr id="124" name="Text 81"/>
          <p:cNvSpPr/>
          <p:nvPr/>
        </p:nvSpPr>
        <p:spPr>
          <a:xfrm>
            <a:off x="10744200" y="3182112"/>
            <a:ext cx="562356"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Pika</a:t>
            </a:r>
            <a:endParaRPr lang="en-US" sz="540" dirty="0"/>
          </a:p>
        </p:txBody>
      </p:sp>
      <p:sp>
        <p:nvSpPr>
          <p:cNvPr id="125" name="Text 82"/>
          <p:cNvSpPr/>
          <p:nvPr/>
        </p:nvSpPr>
        <p:spPr>
          <a:xfrm>
            <a:off x="11343132" y="3182112"/>
            <a:ext cx="562356"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a:t>
            </a:r>
            <a:endParaRPr lang="en-US" sz="540" dirty="0"/>
          </a:p>
        </p:txBody>
      </p:sp>
      <p:sp>
        <p:nvSpPr>
          <p:cNvPr id="126" name="Shape 83"/>
          <p:cNvSpPr/>
          <p:nvPr/>
        </p:nvSpPr>
        <p:spPr>
          <a:xfrm>
            <a:off x="9509760" y="3456432"/>
            <a:ext cx="2432304" cy="630936"/>
          </a:xfrm>
          <a:prstGeom prst="roundRect">
            <a:avLst>
              <a:gd name="adj" fmla="val 5797"/>
            </a:avLst>
          </a:prstGeom>
          <a:solidFill>
            <a:srgbClr val="FFFFFF"/>
          </a:solidFill>
          <a:ln w="12700">
            <a:solidFill>
              <a:srgbClr val="B8A6D4"/>
            </a:solidFill>
            <a:prstDash val="solid"/>
          </a:ln>
        </p:spPr>
      </p:sp>
      <p:sp>
        <p:nvSpPr>
          <p:cNvPr id="127" name="Text 84"/>
          <p:cNvSpPr/>
          <p:nvPr/>
        </p:nvSpPr>
        <p:spPr>
          <a:xfrm>
            <a:off x="9509760" y="3497580"/>
            <a:ext cx="2432304" cy="155448"/>
          </a:xfrm>
          <a:prstGeom prst="rect">
            <a:avLst/>
          </a:prstGeom>
          <a:noFill/>
          <a:ln/>
        </p:spPr>
        <p:txBody>
          <a:bodyPr wrap="square" lIns="0" tIns="0" rIns="0" bIns="0" rtlCol="0" anchor="ctr"/>
          <a:lstStyle/>
          <a:p>
            <a:pPr marL="0" indent="0" algn="ctr">
              <a:buNone/>
            </a:pPr>
            <a:r>
              <a:rPr lang="en-US" sz="620" b="1" dirty="0">
                <a:solidFill>
                  <a:srgbClr val="5B2E8C"/>
                </a:solidFill>
                <a:latin typeface="Arial" pitchFamily="34" charset="0"/>
                <a:ea typeface="Arial" pitchFamily="34" charset="-122"/>
                <a:cs typeface="Arial" pitchFamily="34" charset="-120"/>
              </a:rPr>
              <a:t>DOMAIN / FINE-TUNED MODELS</a:t>
            </a:r>
            <a:endParaRPr lang="en-US" sz="620" dirty="0"/>
          </a:p>
        </p:txBody>
      </p:sp>
      <p:pic>
        <p:nvPicPr>
          <p:cNvPr id="128" name="Image 41" descr="/sessions/zealous-intelligent-mayer/mnt/outputs/icons3/m_dom.png"/>
          <p:cNvPicPr>
            <a:picLocks noChangeAspect="1"/>
          </p:cNvPicPr>
          <p:nvPr/>
        </p:nvPicPr>
        <p:blipFill>
          <a:blip r:embed="rId44"/>
          <a:stretch>
            <a:fillRect/>
          </a:stretch>
        </p:blipFill>
        <p:spPr>
          <a:xfrm>
            <a:off x="9736074" y="3657600"/>
            <a:ext cx="182880" cy="182880"/>
          </a:xfrm>
          <a:prstGeom prst="rect">
            <a:avLst/>
          </a:prstGeom>
        </p:spPr>
      </p:pic>
      <p:sp>
        <p:nvSpPr>
          <p:cNvPr id="129" name="Text 85"/>
          <p:cNvSpPr/>
          <p:nvPr/>
        </p:nvSpPr>
        <p:spPr>
          <a:xfrm>
            <a:off x="9546336" y="3867912"/>
            <a:ext cx="562356"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Finance</a:t>
            </a:r>
            <a:endParaRPr lang="en-US" sz="540" dirty="0"/>
          </a:p>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Model</a:t>
            </a:r>
            <a:endParaRPr lang="en-US" sz="540" dirty="0"/>
          </a:p>
        </p:txBody>
      </p:sp>
      <p:pic>
        <p:nvPicPr>
          <p:cNvPr id="130" name="Image 42" descr="/sessions/zealous-intelligent-mayer/mnt/outputs/icons3/m_dom.png"/>
          <p:cNvPicPr>
            <a:picLocks noChangeAspect="1"/>
          </p:cNvPicPr>
          <p:nvPr/>
        </p:nvPicPr>
        <p:blipFill>
          <a:blip r:embed="rId44"/>
          <a:stretch>
            <a:fillRect/>
          </a:stretch>
        </p:blipFill>
        <p:spPr>
          <a:xfrm>
            <a:off x="10335006" y="3657600"/>
            <a:ext cx="182880" cy="182880"/>
          </a:xfrm>
          <a:prstGeom prst="rect">
            <a:avLst/>
          </a:prstGeom>
        </p:spPr>
      </p:pic>
      <p:sp>
        <p:nvSpPr>
          <p:cNvPr id="131" name="Text 86"/>
          <p:cNvSpPr/>
          <p:nvPr/>
        </p:nvSpPr>
        <p:spPr>
          <a:xfrm>
            <a:off x="10145268" y="3867912"/>
            <a:ext cx="562356"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Legal</a:t>
            </a:r>
            <a:endParaRPr lang="en-US" sz="540" dirty="0"/>
          </a:p>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Model</a:t>
            </a:r>
            <a:endParaRPr lang="en-US" sz="540" dirty="0"/>
          </a:p>
        </p:txBody>
      </p:sp>
      <p:pic>
        <p:nvPicPr>
          <p:cNvPr id="132" name="Image 43" descr="/sessions/zealous-intelligent-mayer/mnt/outputs/icons3/m_dom.png"/>
          <p:cNvPicPr>
            <a:picLocks noChangeAspect="1"/>
          </p:cNvPicPr>
          <p:nvPr/>
        </p:nvPicPr>
        <p:blipFill>
          <a:blip r:embed="rId44"/>
          <a:stretch>
            <a:fillRect/>
          </a:stretch>
        </p:blipFill>
        <p:spPr>
          <a:xfrm>
            <a:off x="10933938" y="3657600"/>
            <a:ext cx="182880" cy="182880"/>
          </a:xfrm>
          <a:prstGeom prst="rect">
            <a:avLst/>
          </a:prstGeom>
        </p:spPr>
      </p:pic>
      <p:sp>
        <p:nvSpPr>
          <p:cNvPr id="133" name="Text 87"/>
          <p:cNvSpPr/>
          <p:nvPr/>
        </p:nvSpPr>
        <p:spPr>
          <a:xfrm>
            <a:off x="10744200" y="3867912"/>
            <a:ext cx="562356"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HR</a:t>
            </a:r>
            <a:endParaRPr lang="en-US" sz="540" dirty="0"/>
          </a:p>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Model</a:t>
            </a:r>
            <a:endParaRPr lang="en-US" sz="540" dirty="0"/>
          </a:p>
        </p:txBody>
      </p:sp>
      <p:sp>
        <p:nvSpPr>
          <p:cNvPr id="134" name="Text 88"/>
          <p:cNvSpPr/>
          <p:nvPr/>
        </p:nvSpPr>
        <p:spPr>
          <a:xfrm>
            <a:off x="11343132" y="3867912"/>
            <a:ext cx="562356" cy="173736"/>
          </a:xfrm>
          <a:prstGeom prst="rect">
            <a:avLst/>
          </a:prstGeom>
          <a:noFill/>
          <a:ln/>
        </p:spPr>
        <p:txBody>
          <a:bodyPr wrap="square" lIns="0" tIns="0" rIns="0" bIns="0" rtlCol="0" anchor="ctr"/>
          <a:lstStyle/>
          <a:p>
            <a:pPr marL="0" indent="0" algn="ctr">
              <a:lnSpc>
                <a:spcPct val="100000"/>
              </a:lnSpc>
              <a:buNone/>
            </a:pPr>
            <a:r>
              <a:rPr lang="en-US" sz="540" dirty="0">
                <a:solidFill>
                  <a:srgbClr val="3B3B3B"/>
                </a:solidFill>
                <a:latin typeface="Arial" pitchFamily="34" charset="0"/>
                <a:ea typeface="Arial" pitchFamily="34" charset="-122"/>
                <a:cs typeface="Arial" pitchFamily="34" charset="-120"/>
              </a:rPr>
              <a:t>…</a:t>
            </a:r>
            <a:endParaRPr lang="en-US" sz="540" dirty="0"/>
          </a:p>
        </p:txBody>
      </p:sp>
      <p:sp>
        <p:nvSpPr>
          <p:cNvPr id="135" name="Shape 89"/>
          <p:cNvSpPr/>
          <p:nvPr/>
        </p:nvSpPr>
        <p:spPr>
          <a:xfrm>
            <a:off x="640080" y="2889504"/>
            <a:ext cx="1938528" cy="896112"/>
          </a:xfrm>
          <a:prstGeom prst="roundRect">
            <a:avLst>
              <a:gd name="adj" fmla="val 5102"/>
            </a:avLst>
          </a:prstGeom>
          <a:solidFill>
            <a:srgbClr val="F2F9F4"/>
          </a:solidFill>
          <a:ln w="12700">
            <a:solidFill>
              <a:srgbClr val="3F8F5B"/>
            </a:solidFill>
            <a:prstDash val="solid"/>
          </a:ln>
        </p:spPr>
      </p:sp>
      <p:sp>
        <p:nvSpPr>
          <p:cNvPr id="136" name="Text 90"/>
          <p:cNvSpPr/>
          <p:nvPr/>
        </p:nvSpPr>
        <p:spPr>
          <a:xfrm>
            <a:off x="640080" y="2944368"/>
            <a:ext cx="1938528" cy="155448"/>
          </a:xfrm>
          <a:prstGeom prst="rect">
            <a:avLst/>
          </a:prstGeom>
          <a:noFill/>
          <a:ln/>
        </p:spPr>
        <p:txBody>
          <a:bodyPr wrap="square" lIns="0" tIns="0" rIns="0" bIns="0" rtlCol="0" anchor="ctr"/>
          <a:lstStyle/>
          <a:p>
            <a:pPr marL="0" indent="0" algn="ctr">
              <a:buNone/>
            </a:pPr>
            <a:r>
              <a:rPr lang="en-US" sz="750" b="1" dirty="0">
                <a:solidFill>
                  <a:srgbClr val="2E6B44"/>
                </a:solidFill>
                <a:latin typeface="Arial" pitchFamily="34" charset="0"/>
                <a:ea typeface="Arial" pitchFamily="34" charset="-122"/>
                <a:cs typeface="Arial" pitchFamily="34" charset="-120"/>
              </a:rPr>
              <a:t>USER CONTEXT &amp; RBAC</a:t>
            </a:r>
            <a:endParaRPr lang="en-US" sz="750" dirty="0"/>
          </a:p>
        </p:txBody>
      </p:sp>
      <p:pic>
        <p:nvPicPr>
          <p:cNvPr id="137" name="Image 44" descr="/sessions/zealous-intelligent-mayer/mnt/outputs/icons3/uc.png"/>
          <p:cNvPicPr>
            <a:picLocks noChangeAspect="1"/>
          </p:cNvPicPr>
          <p:nvPr/>
        </p:nvPicPr>
        <p:blipFill>
          <a:blip r:embed="rId45"/>
          <a:stretch>
            <a:fillRect/>
          </a:stretch>
        </p:blipFill>
        <p:spPr>
          <a:xfrm>
            <a:off x="731520" y="3246120"/>
            <a:ext cx="219456" cy="219456"/>
          </a:xfrm>
          <a:prstGeom prst="rect">
            <a:avLst/>
          </a:prstGeom>
        </p:spPr>
      </p:pic>
      <p:sp>
        <p:nvSpPr>
          <p:cNvPr id="138" name="Text 91"/>
          <p:cNvSpPr/>
          <p:nvPr/>
        </p:nvSpPr>
        <p:spPr>
          <a:xfrm>
            <a:off x="1042416" y="3127248"/>
            <a:ext cx="1463040" cy="585216"/>
          </a:xfrm>
          <a:prstGeom prst="rect">
            <a:avLst/>
          </a:prstGeom>
          <a:noFill/>
          <a:ln/>
        </p:spPr>
        <p:txBody>
          <a:bodyPr wrap="square" lIns="0" tIns="0" rIns="0" bIns="0" rtlCol="0" anchor="ctr"/>
          <a:lstStyle/>
          <a:p>
            <a:pPr marL="88900" indent="-88900">
              <a:lnSpc>
                <a:spcPct val="100000"/>
              </a:lnSpc>
              <a:buSzPct val="100000"/>
              <a:buChar char="•"/>
            </a:pPr>
            <a:r>
              <a:rPr lang="en-US" sz="600" dirty="0">
                <a:solidFill>
                  <a:srgbClr val="3B3B3B"/>
                </a:solidFill>
                <a:latin typeface="Arial" pitchFamily="34" charset="0"/>
                <a:ea typeface="Arial" pitchFamily="34" charset="-122"/>
                <a:cs typeface="Arial" pitchFamily="34" charset="-120"/>
              </a:rPr>
              <a:t>User Profile</a:t>
            </a:r>
            <a:endParaRPr lang="en-US" sz="600" dirty="0"/>
          </a:p>
          <a:p>
            <a:pPr marL="88900" indent="-88900">
              <a:lnSpc>
                <a:spcPct val="100000"/>
              </a:lnSpc>
              <a:buSzPct val="100000"/>
              <a:buChar char="•"/>
            </a:pPr>
            <a:r>
              <a:rPr lang="en-US" sz="600" dirty="0">
                <a:solidFill>
                  <a:srgbClr val="3B3B3B"/>
                </a:solidFill>
                <a:latin typeface="Arial" pitchFamily="34" charset="0"/>
                <a:ea typeface="Arial" pitchFamily="34" charset="-122"/>
                <a:cs typeface="Arial" pitchFamily="34" charset="-120"/>
              </a:rPr>
              <a:t>Entra Groups / Roles</a:t>
            </a:r>
            <a:endParaRPr lang="en-US" sz="600" dirty="0"/>
          </a:p>
          <a:p>
            <a:pPr marL="88900" indent="-88900">
              <a:lnSpc>
                <a:spcPct val="100000"/>
              </a:lnSpc>
              <a:buSzPct val="100000"/>
              <a:buChar char="•"/>
            </a:pPr>
            <a:r>
              <a:rPr lang="en-US" sz="600" dirty="0">
                <a:solidFill>
                  <a:srgbClr val="3B3B3B"/>
                </a:solidFill>
                <a:latin typeface="Arial" pitchFamily="34" charset="0"/>
                <a:ea typeface="Arial" pitchFamily="34" charset="-122"/>
                <a:cs typeface="Arial" pitchFamily="34" charset="-120"/>
              </a:rPr>
              <a:t>Permissions</a:t>
            </a:r>
            <a:endParaRPr lang="en-US" sz="600" dirty="0"/>
          </a:p>
          <a:p>
            <a:pPr marL="88900" indent="-88900">
              <a:lnSpc>
                <a:spcPct val="100000"/>
              </a:lnSpc>
              <a:buSzPct val="100000"/>
              <a:buChar char="•"/>
            </a:pPr>
            <a:r>
              <a:rPr lang="en-US" sz="600" dirty="0">
                <a:solidFill>
                  <a:srgbClr val="3B3B3B"/>
                </a:solidFill>
                <a:latin typeface="Arial" pitchFamily="34" charset="0"/>
                <a:ea typeface="Arial" pitchFamily="34" charset="-122"/>
                <a:cs typeface="Arial" pitchFamily="34" charset="-120"/>
              </a:rPr>
              <a:t>Entitlements</a:t>
            </a:r>
            <a:endParaRPr lang="en-US" sz="600" dirty="0"/>
          </a:p>
          <a:p>
            <a:pPr marL="88900" indent="-88900">
              <a:lnSpc>
                <a:spcPct val="100000"/>
              </a:lnSpc>
              <a:buSzPct val="100000"/>
              <a:buChar char="•"/>
            </a:pPr>
            <a:r>
              <a:rPr lang="en-US" sz="600" dirty="0">
                <a:solidFill>
                  <a:srgbClr val="3B3B3B"/>
                </a:solidFill>
                <a:latin typeface="Arial" pitchFamily="34" charset="0"/>
                <a:ea typeface="Arial" pitchFamily="34" charset="-122"/>
                <a:cs typeface="Arial" pitchFamily="34" charset="-120"/>
              </a:rPr>
              <a:t>Data Access Scope</a:t>
            </a:r>
            <a:endParaRPr lang="en-US" sz="600" dirty="0"/>
          </a:p>
        </p:txBody>
      </p:sp>
      <p:sp>
        <p:nvSpPr>
          <p:cNvPr id="139" name="Shape 92"/>
          <p:cNvSpPr/>
          <p:nvPr/>
        </p:nvSpPr>
        <p:spPr>
          <a:xfrm>
            <a:off x="2706624" y="3438144"/>
            <a:ext cx="2962656" cy="786384"/>
          </a:xfrm>
          <a:prstGeom prst="roundRect">
            <a:avLst>
              <a:gd name="adj" fmla="val 5814"/>
            </a:avLst>
          </a:prstGeom>
          <a:solidFill>
            <a:srgbClr val="F2F9F4"/>
          </a:solidFill>
          <a:ln w="12700">
            <a:solidFill>
              <a:srgbClr val="3F8F5B"/>
            </a:solidFill>
            <a:prstDash val="solid"/>
          </a:ln>
        </p:spPr>
      </p:sp>
      <p:sp>
        <p:nvSpPr>
          <p:cNvPr id="140" name="Text 93"/>
          <p:cNvSpPr/>
          <p:nvPr/>
        </p:nvSpPr>
        <p:spPr>
          <a:xfrm>
            <a:off x="2706624" y="3483864"/>
            <a:ext cx="2962656" cy="155448"/>
          </a:xfrm>
          <a:prstGeom prst="rect">
            <a:avLst/>
          </a:prstGeom>
          <a:noFill/>
          <a:ln/>
        </p:spPr>
        <p:txBody>
          <a:bodyPr wrap="square" lIns="0" tIns="0" rIns="0" bIns="0" rtlCol="0" anchor="ctr"/>
          <a:lstStyle/>
          <a:p>
            <a:pPr marL="0" indent="0" algn="ctr">
              <a:buNone/>
            </a:pPr>
            <a:r>
              <a:rPr lang="en-US" sz="800" b="1" dirty="0">
                <a:solidFill>
                  <a:srgbClr val="2E6B44"/>
                </a:solidFill>
                <a:latin typeface="Arial" pitchFamily="34" charset="0"/>
                <a:ea typeface="Arial" pitchFamily="34" charset="-122"/>
                <a:cs typeface="Arial" pitchFamily="34" charset="-120"/>
              </a:rPr>
              <a:t>KNOWLEDGE &amp; DATA LAYER</a:t>
            </a:r>
            <a:endParaRPr lang="en-US" sz="800" dirty="0"/>
          </a:p>
        </p:txBody>
      </p:sp>
      <p:pic>
        <p:nvPicPr>
          <p:cNvPr id="141" name="Image 45" descr="/sessions/zealous-intelligent-mayer/mnt/outputs/icons3/k1.png"/>
          <p:cNvPicPr>
            <a:picLocks noChangeAspect="1"/>
          </p:cNvPicPr>
          <p:nvPr/>
        </p:nvPicPr>
        <p:blipFill>
          <a:blip r:embed="rId46"/>
          <a:stretch>
            <a:fillRect/>
          </a:stretch>
        </p:blipFill>
        <p:spPr>
          <a:xfrm>
            <a:off x="2868168" y="3675888"/>
            <a:ext cx="201168" cy="201168"/>
          </a:xfrm>
          <a:prstGeom prst="rect">
            <a:avLst/>
          </a:prstGeom>
        </p:spPr>
      </p:pic>
      <p:sp>
        <p:nvSpPr>
          <p:cNvPr id="142" name="Text 94"/>
          <p:cNvSpPr/>
          <p:nvPr/>
        </p:nvSpPr>
        <p:spPr>
          <a:xfrm>
            <a:off x="2743200" y="3904488"/>
            <a:ext cx="451104" cy="182880"/>
          </a:xfrm>
          <a:prstGeom prst="rect">
            <a:avLst/>
          </a:prstGeom>
          <a:noFill/>
          <a:ln/>
        </p:spPr>
        <p:txBody>
          <a:bodyPr wrap="square" lIns="0" tIns="0" rIns="0" bIns="0" rtlCol="0" anchor="ctr"/>
          <a:lstStyle/>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Azure AI</a:t>
            </a:r>
            <a:endParaRPr lang="en-US" sz="560" dirty="0"/>
          </a:p>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Search</a:t>
            </a:r>
            <a:endParaRPr lang="en-US" sz="560" dirty="0"/>
          </a:p>
        </p:txBody>
      </p:sp>
      <p:pic>
        <p:nvPicPr>
          <p:cNvPr id="143" name="Image 46" descr="/sessions/zealous-intelligent-mayer/mnt/outputs/icons3/k2.png"/>
          <p:cNvPicPr>
            <a:picLocks noChangeAspect="1"/>
          </p:cNvPicPr>
          <p:nvPr/>
        </p:nvPicPr>
        <p:blipFill>
          <a:blip r:embed="rId47"/>
          <a:stretch>
            <a:fillRect/>
          </a:stretch>
        </p:blipFill>
        <p:spPr>
          <a:xfrm>
            <a:off x="3355848" y="3675888"/>
            <a:ext cx="201168" cy="201168"/>
          </a:xfrm>
          <a:prstGeom prst="rect">
            <a:avLst/>
          </a:prstGeom>
        </p:spPr>
      </p:pic>
      <p:sp>
        <p:nvSpPr>
          <p:cNvPr id="144" name="Text 95"/>
          <p:cNvSpPr/>
          <p:nvPr/>
        </p:nvSpPr>
        <p:spPr>
          <a:xfrm>
            <a:off x="3230880" y="3904488"/>
            <a:ext cx="451104" cy="182880"/>
          </a:xfrm>
          <a:prstGeom prst="rect">
            <a:avLst/>
          </a:prstGeom>
          <a:noFill/>
          <a:ln/>
        </p:spPr>
        <p:txBody>
          <a:bodyPr wrap="square" lIns="0" tIns="0" rIns="0" bIns="0" rtlCol="0" anchor="ctr"/>
          <a:lstStyle/>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Enterprise</a:t>
            </a:r>
            <a:endParaRPr lang="en-US" sz="560" dirty="0"/>
          </a:p>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Search</a:t>
            </a:r>
            <a:endParaRPr lang="en-US" sz="560" dirty="0"/>
          </a:p>
        </p:txBody>
      </p:sp>
      <p:pic>
        <p:nvPicPr>
          <p:cNvPr id="145" name="Image 47" descr="/sessions/zealous-intelligent-mayer/mnt/outputs/icons3/k3.png"/>
          <p:cNvPicPr>
            <a:picLocks noChangeAspect="1"/>
          </p:cNvPicPr>
          <p:nvPr/>
        </p:nvPicPr>
        <p:blipFill>
          <a:blip r:embed="rId48"/>
          <a:stretch>
            <a:fillRect/>
          </a:stretch>
        </p:blipFill>
        <p:spPr>
          <a:xfrm>
            <a:off x="3843528" y="3675888"/>
            <a:ext cx="201168" cy="201168"/>
          </a:xfrm>
          <a:prstGeom prst="rect">
            <a:avLst/>
          </a:prstGeom>
        </p:spPr>
      </p:pic>
      <p:sp>
        <p:nvSpPr>
          <p:cNvPr id="146" name="Text 96"/>
          <p:cNvSpPr/>
          <p:nvPr/>
        </p:nvSpPr>
        <p:spPr>
          <a:xfrm>
            <a:off x="3718560" y="3904488"/>
            <a:ext cx="451104" cy="182880"/>
          </a:xfrm>
          <a:prstGeom prst="rect">
            <a:avLst/>
          </a:prstGeom>
          <a:noFill/>
          <a:ln/>
        </p:spPr>
        <p:txBody>
          <a:bodyPr wrap="square" lIns="0" tIns="0" rIns="0" bIns="0" rtlCol="0" anchor="ctr"/>
          <a:lstStyle/>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SharePoint /</a:t>
            </a:r>
            <a:endParaRPr lang="en-US" sz="560" dirty="0"/>
          </a:p>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OneDrive</a:t>
            </a:r>
            <a:endParaRPr lang="en-US" sz="560" dirty="0"/>
          </a:p>
        </p:txBody>
      </p:sp>
      <p:pic>
        <p:nvPicPr>
          <p:cNvPr id="147" name="Image 48" descr="/sessions/zealous-intelligent-mayer/mnt/outputs/icons3/k4.png"/>
          <p:cNvPicPr>
            <a:picLocks noChangeAspect="1"/>
          </p:cNvPicPr>
          <p:nvPr/>
        </p:nvPicPr>
        <p:blipFill>
          <a:blip r:embed="rId49"/>
          <a:stretch>
            <a:fillRect/>
          </a:stretch>
        </p:blipFill>
        <p:spPr>
          <a:xfrm>
            <a:off x="4331208" y="3675888"/>
            <a:ext cx="201168" cy="201168"/>
          </a:xfrm>
          <a:prstGeom prst="rect">
            <a:avLst/>
          </a:prstGeom>
        </p:spPr>
      </p:pic>
      <p:sp>
        <p:nvSpPr>
          <p:cNvPr id="148" name="Text 97"/>
          <p:cNvSpPr/>
          <p:nvPr/>
        </p:nvSpPr>
        <p:spPr>
          <a:xfrm>
            <a:off x="4206240" y="3904488"/>
            <a:ext cx="451104" cy="182880"/>
          </a:xfrm>
          <a:prstGeom prst="rect">
            <a:avLst/>
          </a:prstGeom>
          <a:noFill/>
          <a:ln/>
        </p:spPr>
        <p:txBody>
          <a:bodyPr wrap="square" lIns="0" tIns="0" rIns="0" bIns="0" rtlCol="0" anchor="ctr"/>
          <a:lstStyle/>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Azure SQL /</a:t>
            </a:r>
            <a:endParaRPr lang="en-US" sz="560" dirty="0"/>
          </a:p>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Cosmos DB</a:t>
            </a:r>
            <a:endParaRPr lang="en-US" sz="560" dirty="0"/>
          </a:p>
        </p:txBody>
      </p:sp>
      <p:pic>
        <p:nvPicPr>
          <p:cNvPr id="149" name="Image 49" descr="/sessions/zealous-intelligent-mayer/mnt/outputs/icons3/k5.png"/>
          <p:cNvPicPr>
            <a:picLocks noChangeAspect="1"/>
          </p:cNvPicPr>
          <p:nvPr/>
        </p:nvPicPr>
        <p:blipFill>
          <a:blip r:embed="rId50"/>
          <a:stretch>
            <a:fillRect/>
          </a:stretch>
        </p:blipFill>
        <p:spPr>
          <a:xfrm>
            <a:off x="4818888" y="3675888"/>
            <a:ext cx="201168" cy="201168"/>
          </a:xfrm>
          <a:prstGeom prst="rect">
            <a:avLst/>
          </a:prstGeom>
        </p:spPr>
      </p:pic>
      <p:sp>
        <p:nvSpPr>
          <p:cNvPr id="150" name="Text 98"/>
          <p:cNvSpPr/>
          <p:nvPr/>
        </p:nvSpPr>
        <p:spPr>
          <a:xfrm>
            <a:off x="4693920" y="3904488"/>
            <a:ext cx="451104" cy="182880"/>
          </a:xfrm>
          <a:prstGeom prst="rect">
            <a:avLst/>
          </a:prstGeom>
          <a:noFill/>
          <a:ln/>
        </p:spPr>
        <p:txBody>
          <a:bodyPr wrap="square" lIns="0" tIns="0" rIns="0" bIns="0" rtlCol="0" anchor="ctr"/>
          <a:lstStyle/>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Fabric /</a:t>
            </a:r>
            <a:endParaRPr lang="en-US" sz="560" dirty="0"/>
          </a:p>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Synapse</a:t>
            </a:r>
            <a:endParaRPr lang="en-US" sz="560" dirty="0"/>
          </a:p>
        </p:txBody>
      </p:sp>
      <p:pic>
        <p:nvPicPr>
          <p:cNvPr id="151" name="Image 50" descr="/sessions/zealous-intelligent-mayer/mnt/outputs/icons3/k6.png"/>
          <p:cNvPicPr>
            <a:picLocks noChangeAspect="1"/>
          </p:cNvPicPr>
          <p:nvPr/>
        </p:nvPicPr>
        <p:blipFill>
          <a:blip r:embed="rId51"/>
          <a:stretch>
            <a:fillRect/>
          </a:stretch>
        </p:blipFill>
        <p:spPr>
          <a:xfrm>
            <a:off x="5306568" y="3675888"/>
            <a:ext cx="201168" cy="201168"/>
          </a:xfrm>
          <a:prstGeom prst="rect">
            <a:avLst/>
          </a:prstGeom>
        </p:spPr>
      </p:pic>
      <p:sp>
        <p:nvSpPr>
          <p:cNvPr id="152" name="Text 99"/>
          <p:cNvSpPr/>
          <p:nvPr/>
        </p:nvSpPr>
        <p:spPr>
          <a:xfrm>
            <a:off x="5181600" y="3904488"/>
            <a:ext cx="451104" cy="182880"/>
          </a:xfrm>
          <a:prstGeom prst="rect">
            <a:avLst/>
          </a:prstGeom>
          <a:noFill/>
          <a:ln/>
        </p:spPr>
        <p:txBody>
          <a:bodyPr wrap="square" lIns="0" tIns="0" rIns="0" bIns="0" rtlCol="0" anchor="ctr"/>
          <a:lstStyle/>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Graph /</a:t>
            </a:r>
            <a:endParaRPr lang="en-US" sz="560" dirty="0"/>
          </a:p>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Dataverse</a:t>
            </a:r>
            <a:endParaRPr lang="en-US" sz="560" dirty="0"/>
          </a:p>
        </p:txBody>
      </p:sp>
      <p:sp>
        <p:nvSpPr>
          <p:cNvPr id="153" name="Shape 100"/>
          <p:cNvSpPr/>
          <p:nvPr/>
        </p:nvSpPr>
        <p:spPr>
          <a:xfrm>
            <a:off x="5760720" y="3438144"/>
            <a:ext cx="3108960" cy="786384"/>
          </a:xfrm>
          <a:prstGeom prst="roundRect">
            <a:avLst>
              <a:gd name="adj" fmla="val 5814"/>
            </a:avLst>
          </a:prstGeom>
          <a:solidFill>
            <a:srgbClr val="FDF7EE"/>
          </a:solidFill>
          <a:ln w="12700">
            <a:solidFill>
              <a:srgbClr val="D98A2B"/>
            </a:solidFill>
            <a:prstDash val="solid"/>
          </a:ln>
        </p:spPr>
      </p:sp>
      <p:sp>
        <p:nvSpPr>
          <p:cNvPr id="154" name="Text 101"/>
          <p:cNvSpPr/>
          <p:nvPr/>
        </p:nvSpPr>
        <p:spPr>
          <a:xfrm>
            <a:off x="5760720" y="3483864"/>
            <a:ext cx="3108960" cy="155448"/>
          </a:xfrm>
          <a:prstGeom prst="rect">
            <a:avLst/>
          </a:prstGeom>
          <a:noFill/>
          <a:ln/>
        </p:spPr>
        <p:txBody>
          <a:bodyPr wrap="square" lIns="0" tIns="0" rIns="0" bIns="0" rtlCol="0" anchor="ctr"/>
          <a:lstStyle/>
          <a:p>
            <a:pPr marL="0" indent="0" algn="ctr">
              <a:buNone/>
            </a:pPr>
            <a:r>
              <a:rPr lang="en-US" sz="800" b="1" dirty="0">
                <a:solidFill>
                  <a:srgbClr val="A9660F"/>
                </a:solidFill>
                <a:latin typeface="Arial" pitchFamily="34" charset="0"/>
                <a:ea typeface="Arial" pitchFamily="34" charset="-122"/>
                <a:cs typeface="Arial" pitchFamily="34" charset="-120"/>
              </a:rPr>
              <a:t>TOOLS &amp; ACTION LAYER</a:t>
            </a:r>
            <a:endParaRPr lang="en-US" sz="800" dirty="0"/>
          </a:p>
        </p:txBody>
      </p:sp>
      <p:pic>
        <p:nvPicPr>
          <p:cNvPr id="155" name="Image 51" descr="/sessions/zealous-intelligent-mayer/mnt/outputs/icons3/t1.png"/>
          <p:cNvPicPr>
            <a:picLocks noChangeAspect="1"/>
          </p:cNvPicPr>
          <p:nvPr/>
        </p:nvPicPr>
        <p:blipFill>
          <a:blip r:embed="rId52"/>
          <a:stretch>
            <a:fillRect/>
          </a:stretch>
        </p:blipFill>
        <p:spPr>
          <a:xfrm>
            <a:off x="5934456" y="3675888"/>
            <a:ext cx="201168" cy="201168"/>
          </a:xfrm>
          <a:prstGeom prst="rect">
            <a:avLst/>
          </a:prstGeom>
        </p:spPr>
      </p:pic>
      <p:sp>
        <p:nvSpPr>
          <p:cNvPr id="156" name="Text 102"/>
          <p:cNvSpPr/>
          <p:nvPr/>
        </p:nvSpPr>
        <p:spPr>
          <a:xfrm>
            <a:off x="5797296" y="3904488"/>
            <a:ext cx="475488" cy="182880"/>
          </a:xfrm>
          <a:prstGeom prst="rect">
            <a:avLst/>
          </a:prstGeom>
          <a:noFill/>
          <a:ln/>
        </p:spPr>
        <p:txBody>
          <a:bodyPr wrap="square" lIns="0" tIns="0" rIns="0" bIns="0" rtlCol="0" anchor="ctr"/>
          <a:lstStyle/>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Bing</a:t>
            </a:r>
            <a:endParaRPr lang="en-US" sz="560" dirty="0"/>
          </a:p>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Grounding</a:t>
            </a:r>
            <a:endParaRPr lang="en-US" sz="560" dirty="0"/>
          </a:p>
        </p:txBody>
      </p:sp>
      <p:pic>
        <p:nvPicPr>
          <p:cNvPr id="157" name="Image 52" descr="/sessions/zealous-intelligent-mayer/mnt/outputs/icons3/t2.png"/>
          <p:cNvPicPr>
            <a:picLocks noChangeAspect="1"/>
          </p:cNvPicPr>
          <p:nvPr/>
        </p:nvPicPr>
        <p:blipFill>
          <a:blip r:embed="rId53"/>
          <a:stretch>
            <a:fillRect/>
          </a:stretch>
        </p:blipFill>
        <p:spPr>
          <a:xfrm>
            <a:off x="6446520" y="3675888"/>
            <a:ext cx="201168" cy="201168"/>
          </a:xfrm>
          <a:prstGeom prst="rect">
            <a:avLst/>
          </a:prstGeom>
        </p:spPr>
      </p:pic>
      <p:sp>
        <p:nvSpPr>
          <p:cNvPr id="158" name="Text 103"/>
          <p:cNvSpPr/>
          <p:nvPr/>
        </p:nvSpPr>
        <p:spPr>
          <a:xfrm>
            <a:off x="6309360" y="3904488"/>
            <a:ext cx="475488" cy="182880"/>
          </a:xfrm>
          <a:prstGeom prst="rect">
            <a:avLst/>
          </a:prstGeom>
          <a:noFill/>
          <a:ln/>
        </p:spPr>
        <p:txBody>
          <a:bodyPr wrap="square" lIns="0" tIns="0" rIns="0" bIns="0" rtlCol="0" anchor="ctr"/>
          <a:lstStyle/>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Fabric SQL</a:t>
            </a:r>
            <a:endParaRPr lang="en-US" sz="560" dirty="0"/>
          </a:p>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Query</a:t>
            </a:r>
            <a:endParaRPr lang="en-US" sz="560" dirty="0"/>
          </a:p>
        </p:txBody>
      </p:sp>
      <p:pic>
        <p:nvPicPr>
          <p:cNvPr id="159" name="Image 53" descr="/sessions/zealous-intelligent-mayer/mnt/outputs/icons3/t3.png"/>
          <p:cNvPicPr>
            <a:picLocks noChangeAspect="1"/>
          </p:cNvPicPr>
          <p:nvPr/>
        </p:nvPicPr>
        <p:blipFill>
          <a:blip r:embed="rId54"/>
          <a:stretch>
            <a:fillRect/>
          </a:stretch>
        </p:blipFill>
        <p:spPr>
          <a:xfrm>
            <a:off x="6958584" y="3675888"/>
            <a:ext cx="201168" cy="201168"/>
          </a:xfrm>
          <a:prstGeom prst="rect">
            <a:avLst/>
          </a:prstGeom>
        </p:spPr>
      </p:pic>
      <p:sp>
        <p:nvSpPr>
          <p:cNvPr id="160" name="Text 104"/>
          <p:cNvSpPr/>
          <p:nvPr/>
        </p:nvSpPr>
        <p:spPr>
          <a:xfrm>
            <a:off x="6821424" y="3904488"/>
            <a:ext cx="475488" cy="182880"/>
          </a:xfrm>
          <a:prstGeom prst="rect">
            <a:avLst/>
          </a:prstGeom>
          <a:noFill/>
          <a:ln/>
        </p:spPr>
        <p:txBody>
          <a:bodyPr wrap="square" lIns="0" tIns="0" rIns="0" bIns="0" rtlCol="0" anchor="ctr"/>
          <a:lstStyle/>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Code</a:t>
            </a:r>
            <a:endParaRPr lang="en-US" sz="560" dirty="0"/>
          </a:p>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Interpreter</a:t>
            </a:r>
            <a:endParaRPr lang="en-US" sz="560" dirty="0"/>
          </a:p>
        </p:txBody>
      </p:sp>
      <p:pic>
        <p:nvPicPr>
          <p:cNvPr id="161" name="Image 54" descr="/sessions/zealous-intelligent-mayer/mnt/outputs/icons3/t4.png"/>
          <p:cNvPicPr>
            <a:picLocks noChangeAspect="1"/>
          </p:cNvPicPr>
          <p:nvPr/>
        </p:nvPicPr>
        <p:blipFill>
          <a:blip r:embed="rId55"/>
          <a:stretch>
            <a:fillRect/>
          </a:stretch>
        </p:blipFill>
        <p:spPr>
          <a:xfrm>
            <a:off x="7470648" y="3675888"/>
            <a:ext cx="201168" cy="201168"/>
          </a:xfrm>
          <a:prstGeom prst="rect">
            <a:avLst/>
          </a:prstGeom>
        </p:spPr>
      </p:pic>
      <p:sp>
        <p:nvSpPr>
          <p:cNvPr id="162" name="Text 105"/>
          <p:cNvSpPr/>
          <p:nvPr/>
        </p:nvSpPr>
        <p:spPr>
          <a:xfrm>
            <a:off x="7333488" y="3904488"/>
            <a:ext cx="475488" cy="182880"/>
          </a:xfrm>
          <a:prstGeom prst="rect">
            <a:avLst/>
          </a:prstGeom>
          <a:noFill/>
          <a:ln/>
        </p:spPr>
        <p:txBody>
          <a:bodyPr wrap="square" lIns="0" tIns="0" rIns="0" bIns="0" rtlCol="0" anchor="ctr"/>
          <a:lstStyle/>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Calculator</a:t>
            </a:r>
            <a:endParaRPr lang="en-US" sz="560" dirty="0"/>
          </a:p>
        </p:txBody>
      </p:sp>
      <p:pic>
        <p:nvPicPr>
          <p:cNvPr id="163" name="Image 55" descr="/sessions/zealous-intelligent-mayer/mnt/outputs/icons3/t5.png"/>
          <p:cNvPicPr>
            <a:picLocks noChangeAspect="1"/>
          </p:cNvPicPr>
          <p:nvPr/>
        </p:nvPicPr>
        <p:blipFill>
          <a:blip r:embed="rId56"/>
          <a:stretch>
            <a:fillRect/>
          </a:stretch>
        </p:blipFill>
        <p:spPr>
          <a:xfrm>
            <a:off x="7982712" y="3675888"/>
            <a:ext cx="201168" cy="201168"/>
          </a:xfrm>
          <a:prstGeom prst="rect">
            <a:avLst/>
          </a:prstGeom>
        </p:spPr>
      </p:pic>
      <p:sp>
        <p:nvSpPr>
          <p:cNvPr id="164" name="Text 106"/>
          <p:cNvSpPr/>
          <p:nvPr/>
        </p:nvSpPr>
        <p:spPr>
          <a:xfrm>
            <a:off x="7845552" y="3904488"/>
            <a:ext cx="475488" cy="182880"/>
          </a:xfrm>
          <a:prstGeom prst="rect">
            <a:avLst/>
          </a:prstGeom>
          <a:noFill/>
          <a:ln/>
        </p:spPr>
        <p:txBody>
          <a:bodyPr wrap="square" lIns="0" tIns="0" rIns="0" bIns="0" rtlCol="0" anchor="ctr"/>
          <a:lstStyle/>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Logic Apps /</a:t>
            </a:r>
            <a:endParaRPr lang="en-US" sz="560" dirty="0"/>
          </a:p>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Functions</a:t>
            </a:r>
            <a:endParaRPr lang="en-US" sz="560" dirty="0"/>
          </a:p>
        </p:txBody>
      </p:sp>
      <p:pic>
        <p:nvPicPr>
          <p:cNvPr id="165" name="Image 56" descr="/sessions/zealous-intelligent-mayer/mnt/outputs/icons3/t6.png"/>
          <p:cNvPicPr>
            <a:picLocks noChangeAspect="1"/>
          </p:cNvPicPr>
          <p:nvPr/>
        </p:nvPicPr>
        <p:blipFill>
          <a:blip r:embed="rId57"/>
          <a:stretch>
            <a:fillRect/>
          </a:stretch>
        </p:blipFill>
        <p:spPr>
          <a:xfrm>
            <a:off x="8494776" y="3675888"/>
            <a:ext cx="201168" cy="201168"/>
          </a:xfrm>
          <a:prstGeom prst="rect">
            <a:avLst/>
          </a:prstGeom>
        </p:spPr>
      </p:pic>
      <p:sp>
        <p:nvSpPr>
          <p:cNvPr id="166" name="Text 107"/>
          <p:cNvSpPr/>
          <p:nvPr/>
        </p:nvSpPr>
        <p:spPr>
          <a:xfrm>
            <a:off x="8357616" y="3904488"/>
            <a:ext cx="475488" cy="182880"/>
          </a:xfrm>
          <a:prstGeom prst="rect">
            <a:avLst/>
          </a:prstGeom>
          <a:noFill/>
          <a:ln/>
        </p:spPr>
        <p:txBody>
          <a:bodyPr wrap="square" lIns="0" tIns="0" rIns="0" bIns="0" rtlCol="0" anchor="ctr"/>
          <a:lstStyle/>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MCP / 3rd</a:t>
            </a:r>
            <a:endParaRPr lang="en-US" sz="560" dirty="0"/>
          </a:p>
          <a:p>
            <a:pPr marL="0" indent="0" algn="ctr">
              <a:lnSpc>
                <a:spcPct val="100000"/>
              </a:lnSpc>
              <a:buNone/>
            </a:pPr>
            <a:r>
              <a:rPr lang="en-US" sz="560" dirty="0">
                <a:solidFill>
                  <a:srgbClr val="3B3B3B"/>
                </a:solidFill>
                <a:latin typeface="Arial" pitchFamily="34" charset="0"/>
                <a:ea typeface="Arial" pitchFamily="34" charset="-122"/>
                <a:cs typeface="Arial" pitchFamily="34" charset="-120"/>
              </a:rPr>
              <a:t>Party APIs</a:t>
            </a:r>
            <a:endParaRPr lang="en-US" sz="560" dirty="0"/>
          </a:p>
        </p:txBody>
      </p:sp>
      <p:sp>
        <p:nvSpPr>
          <p:cNvPr id="167" name="Shape 108"/>
          <p:cNvSpPr/>
          <p:nvPr/>
        </p:nvSpPr>
        <p:spPr>
          <a:xfrm>
            <a:off x="2468880" y="4334256"/>
            <a:ext cx="6400800" cy="475488"/>
          </a:xfrm>
          <a:prstGeom prst="roundRect">
            <a:avLst>
              <a:gd name="adj" fmla="val 9615"/>
            </a:avLst>
          </a:prstGeom>
          <a:solidFill>
            <a:srgbClr val="F4F8FD"/>
          </a:solidFill>
          <a:ln w="12700">
            <a:solidFill>
              <a:srgbClr val="4472C4"/>
            </a:solidFill>
            <a:prstDash val="solid"/>
          </a:ln>
        </p:spPr>
      </p:sp>
      <p:sp>
        <p:nvSpPr>
          <p:cNvPr id="168" name="Text 109"/>
          <p:cNvSpPr/>
          <p:nvPr/>
        </p:nvSpPr>
        <p:spPr>
          <a:xfrm>
            <a:off x="2468880" y="4389120"/>
            <a:ext cx="6400800" cy="155448"/>
          </a:xfrm>
          <a:prstGeom prst="rect">
            <a:avLst/>
          </a:prstGeom>
          <a:noFill/>
          <a:ln/>
        </p:spPr>
        <p:txBody>
          <a:bodyPr wrap="square" lIns="0" tIns="0" rIns="0" bIns="0" rtlCol="0" anchor="ctr"/>
          <a:lstStyle/>
          <a:p>
            <a:pPr marL="0" indent="0" algn="ctr">
              <a:buNone/>
            </a:pPr>
            <a:r>
              <a:rPr lang="en-US" sz="900" b="1" dirty="0">
                <a:solidFill>
                  <a:srgbClr val="1F5C99"/>
                </a:solidFill>
                <a:latin typeface="Arial" pitchFamily="34" charset="0"/>
                <a:ea typeface="Arial" pitchFamily="34" charset="-122"/>
                <a:cs typeface="Arial" pitchFamily="34" charset="-120"/>
              </a:rPr>
              <a:t>RESPONSE AGGREGATION &amp; STREAMING</a:t>
            </a:r>
            <a:endParaRPr lang="en-US" sz="900" dirty="0"/>
          </a:p>
        </p:txBody>
      </p:sp>
      <p:sp>
        <p:nvSpPr>
          <p:cNvPr id="169" name="Text 110"/>
          <p:cNvSpPr/>
          <p:nvPr/>
        </p:nvSpPr>
        <p:spPr>
          <a:xfrm>
            <a:off x="2468880" y="4572000"/>
            <a:ext cx="6400800" cy="146304"/>
          </a:xfrm>
          <a:prstGeom prst="rect">
            <a:avLst/>
          </a:prstGeom>
          <a:noFill/>
          <a:ln/>
        </p:spPr>
        <p:txBody>
          <a:bodyPr wrap="square" lIns="0" tIns="0" rIns="0" bIns="0" rtlCol="0" anchor="ctr"/>
          <a:lstStyle/>
          <a:p>
            <a:pPr marL="0" indent="0" algn="ctr">
              <a:buNone/>
            </a:pPr>
            <a:r>
              <a:rPr lang="en-US" sz="680" dirty="0">
                <a:solidFill>
                  <a:srgbClr val="3B3B3B"/>
                </a:solidFill>
                <a:latin typeface="Arial" pitchFamily="34" charset="0"/>
                <a:ea typeface="Arial" pitchFamily="34" charset="-122"/>
                <a:cs typeface="Arial" pitchFamily="34" charset="-120"/>
              </a:rPr>
              <a:t>Format  ·  Citations  ·  Guardrails  ·  Source Attribution  ·  Multi-modal Support</a:t>
            </a:r>
            <a:endParaRPr lang="en-US" sz="680" dirty="0"/>
          </a:p>
        </p:txBody>
      </p:sp>
      <p:sp>
        <p:nvSpPr>
          <p:cNvPr id="170" name="Shape 111"/>
          <p:cNvSpPr/>
          <p:nvPr/>
        </p:nvSpPr>
        <p:spPr>
          <a:xfrm>
            <a:off x="9015984" y="4315968"/>
            <a:ext cx="3017520" cy="1097280"/>
          </a:xfrm>
          <a:prstGeom prst="roundRect">
            <a:avLst>
              <a:gd name="adj" fmla="val 4167"/>
            </a:avLst>
          </a:prstGeom>
          <a:solidFill>
            <a:srgbClr val="FDF2F1"/>
          </a:solidFill>
          <a:ln w="12700">
            <a:solidFill>
              <a:srgbClr val="C0392B"/>
            </a:solidFill>
            <a:prstDash val="solid"/>
          </a:ln>
        </p:spPr>
      </p:sp>
      <p:sp>
        <p:nvSpPr>
          <p:cNvPr id="171" name="Text 112"/>
          <p:cNvSpPr/>
          <p:nvPr/>
        </p:nvSpPr>
        <p:spPr>
          <a:xfrm>
            <a:off x="9015984" y="4370832"/>
            <a:ext cx="3017520" cy="155448"/>
          </a:xfrm>
          <a:prstGeom prst="rect">
            <a:avLst/>
          </a:prstGeom>
          <a:noFill/>
          <a:ln/>
        </p:spPr>
        <p:txBody>
          <a:bodyPr wrap="square" lIns="0" tIns="0" rIns="0" bIns="0" rtlCol="0" anchor="ctr"/>
          <a:lstStyle/>
          <a:p>
            <a:pPr marL="0" indent="0" algn="ctr">
              <a:buNone/>
            </a:pPr>
            <a:r>
              <a:rPr lang="en-US" sz="800" b="1" dirty="0">
                <a:solidFill>
                  <a:srgbClr val="A32A1C"/>
                </a:solidFill>
                <a:latin typeface="Arial" pitchFamily="34" charset="0"/>
                <a:ea typeface="Arial" pitchFamily="34" charset="-122"/>
                <a:cs typeface="Arial" pitchFamily="34" charset="-120"/>
              </a:rPr>
              <a:t>RESPONSE GOVERNANCE</a:t>
            </a:r>
            <a:endParaRPr lang="en-US" sz="800" dirty="0"/>
          </a:p>
        </p:txBody>
      </p:sp>
      <p:pic>
        <p:nvPicPr>
          <p:cNvPr id="172" name="Image 57" descr="/sessions/zealous-intelligent-mayer/mnt/outputs/icons3/rg1.png"/>
          <p:cNvPicPr>
            <a:picLocks noChangeAspect="1"/>
          </p:cNvPicPr>
          <p:nvPr/>
        </p:nvPicPr>
        <p:blipFill>
          <a:blip r:embed="rId58"/>
          <a:stretch>
            <a:fillRect/>
          </a:stretch>
        </p:blipFill>
        <p:spPr>
          <a:xfrm>
            <a:off x="9125712" y="4590288"/>
            <a:ext cx="128016" cy="128016"/>
          </a:xfrm>
          <a:prstGeom prst="rect">
            <a:avLst/>
          </a:prstGeom>
        </p:spPr>
      </p:pic>
      <p:sp>
        <p:nvSpPr>
          <p:cNvPr id="173" name="Text 113"/>
          <p:cNvSpPr/>
          <p:nvPr/>
        </p:nvSpPr>
        <p:spPr>
          <a:xfrm>
            <a:off x="9308592" y="4572000"/>
            <a:ext cx="2615184" cy="164592"/>
          </a:xfrm>
          <a:prstGeom prst="rect">
            <a:avLst/>
          </a:prstGeom>
          <a:noFill/>
          <a:ln/>
        </p:spPr>
        <p:txBody>
          <a:bodyPr wrap="square" lIns="0" tIns="0" rIns="0" bIns="0" rtlCol="0" anchor="ctr"/>
          <a:lstStyle/>
          <a:p>
            <a:pPr marL="0" indent="0">
              <a:lnSpc>
                <a:spcPct val="100000"/>
              </a:lnSpc>
              <a:buNone/>
            </a:pPr>
            <a:r>
              <a:rPr lang="en-US" sz="600" dirty="0">
                <a:solidFill>
                  <a:srgbClr val="3B3B3B"/>
                </a:solidFill>
                <a:latin typeface="Arial" pitchFamily="34" charset="0"/>
                <a:ea typeface="Arial" pitchFamily="34" charset="-122"/>
                <a:cs typeface="Arial" pitchFamily="34" charset="-120"/>
              </a:rPr>
              <a:t>Azure AI Content Safety filters</a:t>
            </a:r>
            <a:endParaRPr lang="en-US" sz="600" dirty="0"/>
          </a:p>
        </p:txBody>
      </p:sp>
      <p:pic>
        <p:nvPicPr>
          <p:cNvPr id="174" name="Image 58" descr="/sessions/zealous-intelligent-mayer/mnt/outputs/icons3/rg2.png"/>
          <p:cNvPicPr>
            <a:picLocks noChangeAspect="1"/>
          </p:cNvPicPr>
          <p:nvPr/>
        </p:nvPicPr>
        <p:blipFill>
          <a:blip r:embed="rId59"/>
          <a:stretch>
            <a:fillRect/>
          </a:stretch>
        </p:blipFill>
        <p:spPr>
          <a:xfrm>
            <a:off x="9125712" y="4754880"/>
            <a:ext cx="128016" cy="128016"/>
          </a:xfrm>
          <a:prstGeom prst="rect">
            <a:avLst/>
          </a:prstGeom>
        </p:spPr>
      </p:pic>
      <p:sp>
        <p:nvSpPr>
          <p:cNvPr id="175" name="Text 114"/>
          <p:cNvSpPr/>
          <p:nvPr/>
        </p:nvSpPr>
        <p:spPr>
          <a:xfrm>
            <a:off x="9308592" y="4736592"/>
            <a:ext cx="2615184" cy="164592"/>
          </a:xfrm>
          <a:prstGeom prst="rect">
            <a:avLst/>
          </a:prstGeom>
          <a:noFill/>
          <a:ln/>
        </p:spPr>
        <p:txBody>
          <a:bodyPr wrap="square" lIns="0" tIns="0" rIns="0" bIns="0" rtlCol="0" anchor="ctr"/>
          <a:lstStyle/>
          <a:p>
            <a:pPr marL="0" indent="0">
              <a:lnSpc>
                <a:spcPct val="100000"/>
              </a:lnSpc>
              <a:buNone/>
            </a:pPr>
            <a:r>
              <a:rPr lang="en-US" sz="600" dirty="0">
                <a:solidFill>
                  <a:srgbClr val="3B3B3B"/>
                </a:solidFill>
                <a:latin typeface="Arial" pitchFamily="34" charset="0"/>
                <a:ea typeface="Arial" pitchFamily="34" charset="-122"/>
                <a:cs typeface="Arial" pitchFamily="34" charset="-120"/>
              </a:rPr>
              <a:t>PII / sensitive data (Purview)</a:t>
            </a:r>
            <a:endParaRPr lang="en-US" sz="600" dirty="0"/>
          </a:p>
        </p:txBody>
      </p:sp>
      <p:pic>
        <p:nvPicPr>
          <p:cNvPr id="176" name="Image 59" descr="/sessions/zealous-intelligent-mayer/mnt/outputs/icons3/rg3.png"/>
          <p:cNvPicPr>
            <a:picLocks noChangeAspect="1"/>
          </p:cNvPicPr>
          <p:nvPr/>
        </p:nvPicPr>
        <p:blipFill>
          <a:blip r:embed="rId60"/>
          <a:stretch>
            <a:fillRect/>
          </a:stretch>
        </p:blipFill>
        <p:spPr>
          <a:xfrm>
            <a:off x="9125712" y="4919472"/>
            <a:ext cx="128016" cy="128016"/>
          </a:xfrm>
          <a:prstGeom prst="rect">
            <a:avLst/>
          </a:prstGeom>
        </p:spPr>
      </p:pic>
      <p:sp>
        <p:nvSpPr>
          <p:cNvPr id="177" name="Text 115"/>
          <p:cNvSpPr/>
          <p:nvPr/>
        </p:nvSpPr>
        <p:spPr>
          <a:xfrm>
            <a:off x="9308592" y="4901184"/>
            <a:ext cx="2615184" cy="164592"/>
          </a:xfrm>
          <a:prstGeom prst="rect">
            <a:avLst/>
          </a:prstGeom>
          <a:noFill/>
          <a:ln/>
        </p:spPr>
        <p:txBody>
          <a:bodyPr wrap="square" lIns="0" tIns="0" rIns="0" bIns="0" rtlCol="0" anchor="ctr"/>
          <a:lstStyle/>
          <a:p>
            <a:pPr marL="0" indent="0">
              <a:lnSpc>
                <a:spcPct val="100000"/>
              </a:lnSpc>
              <a:buNone/>
            </a:pPr>
            <a:r>
              <a:rPr lang="en-US" sz="600" dirty="0">
                <a:solidFill>
                  <a:srgbClr val="3B3B3B"/>
                </a:solidFill>
                <a:latin typeface="Arial" pitchFamily="34" charset="0"/>
                <a:ea typeface="Arial" pitchFamily="34" charset="-122"/>
                <a:cs typeface="Arial" pitchFamily="34" charset="-120"/>
              </a:rPr>
              <a:t>Prompt Shields (injection)</a:t>
            </a:r>
            <a:endParaRPr lang="en-US" sz="600" dirty="0"/>
          </a:p>
        </p:txBody>
      </p:sp>
      <p:pic>
        <p:nvPicPr>
          <p:cNvPr id="178" name="Image 60" descr="/sessions/zealous-intelligent-mayer/mnt/outputs/icons3/rg4.png"/>
          <p:cNvPicPr>
            <a:picLocks noChangeAspect="1"/>
          </p:cNvPicPr>
          <p:nvPr/>
        </p:nvPicPr>
        <p:blipFill>
          <a:blip r:embed="rId61"/>
          <a:stretch>
            <a:fillRect/>
          </a:stretch>
        </p:blipFill>
        <p:spPr>
          <a:xfrm>
            <a:off x="9125712" y="5084064"/>
            <a:ext cx="128016" cy="128016"/>
          </a:xfrm>
          <a:prstGeom prst="rect">
            <a:avLst/>
          </a:prstGeom>
        </p:spPr>
      </p:pic>
      <p:sp>
        <p:nvSpPr>
          <p:cNvPr id="179" name="Text 116"/>
          <p:cNvSpPr/>
          <p:nvPr/>
        </p:nvSpPr>
        <p:spPr>
          <a:xfrm>
            <a:off x="9308592" y="5065776"/>
            <a:ext cx="2615184" cy="164592"/>
          </a:xfrm>
          <a:prstGeom prst="rect">
            <a:avLst/>
          </a:prstGeom>
          <a:noFill/>
          <a:ln/>
        </p:spPr>
        <p:txBody>
          <a:bodyPr wrap="square" lIns="0" tIns="0" rIns="0" bIns="0" rtlCol="0" anchor="ctr"/>
          <a:lstStyle/>
          <a:p>
            <a:pPr marL="0" indent="0">
              <a:lnSpc>
                <a:spcPct val="100000"/>
              </a:lnSpc>
              <a:buNone/>
            </a:pPr>
            <a:r>
              <a:rPr lang="en-US" sz="600" dirty="0">
                <a:solidFill>
                  <a:srgbClr val="3B3B3B"/>
                </a:solidFill>
                <a:latin typeface="Arial" pitchFamily="34" charset="0"/>
                <a:ea typeface="Arial" pitchFamily="34" charset="-122"/>
                <a:cs typeface="Arial" pitchFamily="34" charset="-120"/>
              </a:rPr>
              <a:t>Citations / grounding checks</a:t>
            </a:r>
            <a:endParaRPr lang="en-US" sz="600" dirty="0"/>
          </a:p>
        </p:txBody>
      </p:sp>
      <p:pic>
        <p:nvPicPr>
          <p:cNvPr id="180" name="Image 61" descr="/sessions/zealous-intelligent-mayer/mnt/outputs/icons3/rg5.png"/>
          <p:cNvPicPr>
            <a:picLocks noChangeAspect="1"/>
          </p:cNvPicPr>
          <p:nvPr/>
        </p:nvPicPr>
        <p:blipFill>
          <a:blip r:embed="rId62"/>
          <a:stretch>
            <a:fillRect/>
          </a:stretch>
        </p:blipFill>
        <p:spPr>
          <a:xfrm>
            <a:off x="9125712" y="5248656"/>
            <a:ext cx="128016" cy="128016"/>
          </a:xfrm>
          <a:prstGeom prst="rect">
            <a:avLst/>
          </a:prstGeom>
        </p:spPr>
      </p:pic>
      <p:sp>
        <p:nvSpPr>
          <p:cNvPr id="181" name="Text 117"/>
          <p:cNvSpPr/>
          <p:nvPr/>
        </p:nvSpPr>
        <p:spPr>
          <a:xfrm>
            <a:off x="9308592" y="5230368"/>
            <a:ext cx="2615184" cy="164592"/>
          </a:xfrm>
          <a:prstGeom prst="rect">
            <a:avLst/>
          </a:prstGeom>
          <a:noFill/>
          <a:ln/>
        </p:spPr>
        <p:txBody>
          <a:bodyPr wrap="square" lIns="0" tIns="0" rIns="0" bIns="0" rtlCol="0" anchor="ctr"/>
          <a:lstStyle/>
          <a:p>
            <a:pPr marL="0" indent="0">
              <a:lnSpc>
                <a:spcPct val="100000"/>
              </a:lnSpc>
              <a:buNone/>
            </a:pPr>
            <a:r>
              <a:rPr lang="en-US" sz="600" dirty="0">
                <a:solidFill>
                  <a:srgbClr val="3B3B3B"/>
                </a:solidFill>
                <a:latin typeface="Arial" pitchFamily="34" charset="0"/>
                <a:ea typeface="Arial" pitchFamily="34" charset="-122"/>
                <a:cs typeface="Arial" pitchFamily="34" charset="-120"/>
              </a:rPr>
              <a:t>Safety &amp; compliance evaluations</a:t>
            </a:r>
            <a:endParaRPr lang="en-US" sz="600" dirty="0"/>
          </a:p>
        </p:txBody>
      </p:sp>
      <p:sp>
        <p:nvSpPr>
          <p:cNvPr id="182" name="Shape 118"/>
          <p:cNvSpPr/>
          <p:nvPr/>
        </p:nvSpPr>
        <p:spPr>
          <a:xfrm>
            <a:off x="2468880" y="4937760"/>
            <a:ext cx="6400800" cy="621792"/>
          </a:xfrm>
          <a:prstGeom prst="roundRect">
            <a:avLst>
              <a:gd name="adj" fmla="val 7353"/>
            </a:avLst>
          </a:prstGeom>
          <a:solidFill>
            <a:srgbClr val="FDF7EE"/>
          </a:solidFill>
          <a:ln w="12700">
            <a:solidFill>
              <a:srgbClr val="D98A2B"/>
            </a:solidFill>
            <a:prstDash val="solid"/>
          </a:ln>
        </p:spPr>
      </p:sp>
      <p:sp>
        <p:nvSpPr>
          <p:cNvPr id="183" name="Text 119"/>
          <p:cNvSpPr/>
          <p:nvPr/>
        </p:nvSpPr>
        <p:spPr>
          <a:xfrm>
            <a:off x="2468880" y="4983480"/>
            <a:ext cx="6400800" cy="155448"/>
          </a:xfrm>
          <a:prstGeom prst="rect">
            <a:avLst/>
          </a:prstGeom>
          <a:noFill/>
          <a:ln/>
        </p:spPr>
        <p:txBody>
          <a:bodyPr wrap="square" lIns="0" tIns="0" rIns="0" bIns="0" rtlCol="0" anchor="ctr"/>
          <a:lstStyle/>
          <a:p>
            <a:pPr marL="0" indent="0" algn="ctr">
              <a:buNone/>
            </a:pPr>
            <a:r>
              <a:rPr lang="en-US" sz="850" b="1" dirty="0">
                <a:solidFill>
                  <a:srgbClr val="A9660F"/>
                </a:solidFill>
                <a:latin typeface="Arial" pitchFamily="34" charset="0"/>
                <a:ea typeface="Arial" pitchFamily="34" charset="-122"/>
                <a:cs typeface="Arial" pitchFamily="34" charset="-120"/>
              </a:rPr>
              <a:t>AUDIT, LOGGING &amp; MONITORING</a:t>
            </a:r>
            <a:endParaRPr lang="en-US" sz="850" dirty="0"/>
          </a:p>
        </p:txBody>
      </p:sp>
      <p:pic>
        <p:nvPicPr>
          <p:cNvPr id="184" name="Image 62" descr="/sessions/zealous-intelligent-mayer/mnt/outputs/icons3/a1.png"/>
          <p:cNvPicPr>
            <a:picLocks noChangeAspect="1"/>
          </p:cNvPicPr>
          <p:nvPr/>
        </p:nvPicPr>
        <p:blipFill>
          <a:blip r:embed="rId63"/>
          <a:stretch>
            <a:fillRect/>
          </a:stretch>
        </p:blipFill>
        <p:spPr>
          <a:xfrm>
            <a:off x="2845743" y="5175504"/>
            <a:ext cx="192024" cy="192024"/>
          </a:xfrm>
          <a:prstGeom prst="rect">
            <a:avLst/>
          </a:prstGeom>
        </p:spPr>
      </p:pic>
      <p:sp>
        <p:nvSpPr>
          <p:cNvPr id="185" name="Text 120"/>
          <p:cNvSpPr/>
          <p:nvPr/>
        </p:nvSpPr>
        <p:spPr>
          <a:xfrm>
            <a:off x="2505456" y="5394960"/>
            <a:ext cx="872599" cy="128016"/>
          </a:xfrm>
          <a:prstGeom prst="rect">
            <a:avLst/>
          </a:prstGeom>
          <a:noFill/>
          <a:ln/>
        </p:spPr>
        <p:txBody>
          <a:bodyPr wrap="square" lIns="0" tIns="0" rIns="0" bIns="0" rtlCol="0" anchor="ctr"/>
          <a:lstStyle/>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Entra Sign-in Logs</a:t>
            </a:r>
            <a:endParaRPr lang="en-US" sz="580" dirty="0"/>
          </a:p>
        </p:txBody>
      </p:sp>
      <p:pic>
        <p:nvPicPr>
          <p:cNvPr id="186" name="Image 63" descr="/sessions/zealous-intelligent-mayer/mnt/outputs/icons3/a2.png"/>
          <p:cNvPicPr>
            <a:picLocks noChangeAspect="1"/>
          </p:cNvPicPr>
          <p:nvPr/>
        </p:nvPicPr>
        <p:blipFill>
          <a:blip r:embed="rId64"/>
          <a:stretch>
            <a:fillRect/>
          </a:stretch>
        </p:blipFill>
        <p:spPr>
          <a:xfrm>
            <a:off x="3754918" y="5175504"/>
            <a:ext cx="192024" cy="192024"/>
          </a:xfrm>
          <a:prstGeom prst="rect">
            <a:avLst/>
          </a:prstGeom>
        </p:spPr>
      </p:pic>
      <p:sp>
        <p:nvSpPr>
          <p:cNvPr id="187" name="Text 121"/>
          <p:cNvSpPr/>
          <p:nvPr/>
        </p:nvSpPr>
        <p:spPr>
          <a:xfrm>
            <a:off x="3414631" y="5394960"/>
            <a:ext cx="872599" cy="128016"/>
          </a:xfrm>
          <a:prstGeom prst="rect">
            <a:avLst/>
          </a:prstGeom>
          <a:noFill/>
          <a:ln/>
        </p:spPr>
        <p:txBody>
          <a:bodyPr wrap="square" lIns="0" tIns="0" rIns="0" bIns="0" rtlCol="0" anchor="ctr"/>
          <a:lstStyle/>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Model Usage</a:t>
            </a:r>
            <a:endParaRPr lang="en-US" sz="580" dirty="0"/>
          </a:p>
        </p:txBody>
      </p:sp>
      <p:pic>
        <p:nvPicPr>
          <p:cNvPr id="188" name="Image 64" descr="/sessions/zealous-intelligent-mayer/mnt/outputs/icons3/a3.png"/>
          <p:cNvPicPr>
            <a:picLocks noChangeAspect="1"/>
          </p:cNvPicPr>
          <p:nvPr/>
        </p:nvPicPr>
        <p:blipFill>
          <a:blip r:embed="rId65"/>
          <a:stretch>
            <a:fillRect/>
          </a:stretch>
        </p:blipFill>
        <p:spPr>
          <a:xfrm>
            <a:off x="4664093" y="5175504"/>
            <a:ext cx="192024" cy="192024"/>
          </a:xfrm>
          <a:prstGeom prst="rect">
            <a:avLst/>
          </a:prstGeom>
        </p:spPr>
      </p:pic>
      <p:sp>
        <p:nvSpPr>
          <p:cNvPr id="189" name="Text 122"/>
          <p:cNvSpPr/>
          <p:nvPr/>
        </p:nvSpPr>
        <p:spPr>
          <a:xfrm>
            <a:off x="4323806" y="5394960"/>
            <a:ext cx="872599" cy="128016"/>
          </a:xfrm>
          <a:prstGeom prst="rect">
            <a:avLst/>
          </a:prstGeom>
          <a:noFill/>
          <a:ln/>
        </p:spPr>
        <p:txBody>
          <a:bodyPr wrap="square" lIns="0" tIns="0" rIns="0" bIns="0" rtlCol="0" anchor="ctr"/>
          <a:lstStyle/>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Tokens &amp; Cost</a:t>
            </a:r>
            <a:endParaRPr lang="en-US" sz="580" dirty="0"/>
          </a:p>
        </p:txBody>
      </p:sp>
      <p:pic>
        <p:nvPicPr>
          <p:cNvPr id="190" name="Image 65" descr="/sessions/zealous-intelligent-mayer/mnt/outputs/icons3/a4.png"/>
          <p:cNvPicPr>
            <a:picLocks noChangeAspect="1"/>
          </p:cNvPicPr>
          <p:nvPr/>
        </p:nvPicPr>
        <p:blipFill>
          <a:blip r:embed="rId66"/>
          <a:stretch>
            <a:fillRect/>
          </a:stretch>
        </p:blipFill>
        <p:spPr>
          <a:xfrm>
            <a:off x="5573268" y="5175504"/>
            <a:ext cx="192024" cy="192024"/>
          </a:xfrm>
          <a:prstGeom prst="rect">
            <a:avLst/>
          </a:prstGeom>
        </p:spPr>
      </p:pic>
      <p:sp>
        <p:nvSpPr>
          <p:cNvPr id="191" name="Text 123"/>
          <p:cNvSpPr/>
          <p:nvPr/>
        </p:nvSpPr>
        <p:spPr>
          <a:xfrm>
            <a:off x="5232981" y="5394960"/>
            <a:ext cx="872599" cy="128016"/>
          </a:xfrm>
          <a:prstGeom prst="rect">
            <a:avLst/>
          </a:prstGeom>
          <a:noFill/>
          <a:ln/>
        </p:spPr>
        <p:txBody>
          <a:bodyPr wrap="square" lIns="0" tIns="0" rIns="0" bIns="0" rtlCol="0" anchor="ctr"/>
          <a:lstStyle/>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App Insights Metrics</a:t>
            </a:r>
            <a:endParaRPr lang="en-US" sz="580" dirty="0"/>
          </a:p>
        </p:txBody>
      </p:sp>
      <p:pic>
        <p:nvPicPr>
          <p:cNvPr id="192" name="Image 66" descr="/sessions/zealous-intelligent-mayer/mnt/outputs/icons3/a5.png"/>
          <p:cNvPicPr>
            <a:picLocks noChangeAspect="1"/>
          </p:cNvPicPr>
          <p:nvPr/>
        </p:nvPicPr>
        <p:blipFill>
          <a:blip r:embed="rId67"/>
          <a:stretch>
            <a:fillRect/>
          </a:stretch>
        </p:blipFill>
        <p:spPr>
          <a:xfrm>
            <a:off x="6482443" y="5175504"/>
            <a:ext cx="192024" cy="192024"/>
          </a:xfrm>
          <a:prstGeom prst="rect">
            <a:avLst/>
          </a:prstGeom>
        </p:spPr>
      </p:pic>
      <p:sp>
        <p:nvSpPr>
          <p:cNvPr id="193" name="Text 124"/>
          <p:cNvSpPr/>
          <p:nvPr/>
        </p:nvSpPr>
        <p:spPr>
          <a:xfrm>
            <a:off x="6142155" y="5394960"/>
            <a:ext cx="872599" cy="128016"/>
          </a:xfrm>
          <a:prstGeom prst="rect">
            <a:avLst/>
          </a:prstGeom>
          <a:noFill/>
          <a:ln/>
        </p:spPr>
        <p:txBody>
          <a:bodyPr wrap="square" lIns="0" tIns="0" rIns="0" bIns="0" rtlCol="0" anchor="ctr"/>
          <a:lstStyle/>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Quality &amp; Feedback</a:t>
            </a:r>
            <a:endParaRPr lang="en-US" sz="580" dirty="0"/>
          </a:p>
        </p:txBody>
      </p:sp>
      <p:pic>
        <p:nvPicPr>
          <p:cNvPr id="194" name="Image 67" descr="/sessions/zealous-intelligent-mayer/mnt/outputs/icons3/a6.png"/>
          <p:cNvPicPr>
            <a:picLocks noChangeAspect="1"/>
          </p:cNvPicPr>
          <p:nvPr/>
        </p:nvPicPr>
        <p:blipFill>
          <a:blip r:embed="rId68"/>
          <a:stretch>
            <a:fillRect/>
          </a:stretch>
        </p:blipFill>
        <p:spPr>
          <a:xfrm>
            <a:off x="7391618" y="5175504"/>
            <a:ext cx="192024" cy="192024"/>
          </a:xfrm>
          <a:prstGeom prst="rect">
            <a:avLst/>
          </a:prstGeom>
        </p:spPr>
      </p:pic>
      <p:sp>
        <p:nvSpPr>
          <p:cNvPr id="195" name="Text 125"/>
          <p:cNvSpPr/>
          <p:nvPr/>
        </p:nvSpPr>
        <p:spPr>
          <a:xfrm>
            <a:off x="7051330" y="5394960"/>
            <a:ext cx="872599" cy="128016"/>
          </a:xfrm>
          <a:prstGeom prst="rect">
            <a:avLst/>
          </a:prstGeom>
          <a:noFill/>
          <a:ln/>
        </p:spPr>
        <p:txBody>
          <a:bodyPr wrap="square" lIns="0" tIns="0" rIns="0" bIns="0" rtlCol="0" anchor="ctr"/>
          <a:lstStyle/>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Azure Monitor Alerts</a:t>
            </a:r>
            <a:endParaRPr lang="en-US" sz="580" dirty="0"/>
          </a:p>
        </p:txBody>
      </p:sp>
      <p:pic>
        <p:nvPicPr>
          <p:cNvPr id="196" name="Image 68" descr="/sessions/zealous-intelligent-mayer/mnt/outputs/icons3/a7.png"/>
          <p:cNvPicPr>
            <a:picLocks noChangeAspect="1"/>
          </p:cNvPicPr>
          <p:nvPr/>
        </p:nvPicPr>
        <p:blipFill>
          <a:blip r:embed="rId69"/>
          <a:stretch>
            <a:fillRect/>
          </a:stretch>
        </p:blipFill>
        <p:spPr>
          <a:xfrm>
            <a:off x="8300793" y="5175504"/>
            <a:ext cx="192024" cy="192024"/>
          </a:xfrm>
          <a:prstGeom prst="rect">
            <a:avLst/>
          </a:prstGeom>
        </p:spPr>
      </p:pic>
      <p:sp>
        <p:nvSpPr>
          <p:cNvPr id="197" name="Text 126"/>
          <p:cNvSpPr/>
          <p:nvPr/>
        </p:nvSpPr>
        <p:spPr>
          <a:xfrm>
            <a:off x="7960505" y="5394960"/>
            <a:ext cx="872599" cy="128016"/>
          </a:xfrm>
          <a:prstGeom prst="rect">
            <a:avLst/>
          </a:prstGeom>
          <a:noFill/>
          <a:ln/>
        </p:spPr>
        <p:txBody>
          <a:bodyPr wrap="square" lIns="0" tIns="0" rIns="0" bIns="0" rtlCol="0" anchor="ctr"/>
          <a:lstStyle/>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Purview Audit Trail</a:t>
            </a:r>
            <a:endParaRPr lang="en-US" sz="580" dirty="0"/>
          </a:p>
        </p:txBody>
      </p:sp>
      <p:sp>
        <p:nvSpPr>
          <p:cNvPr id="198" name="Shape 127"/>
          <p:cNvSpPr/>
          <p:nvPr/>
        </p:nvSpPr>
        <p:spPr>
          <a:xfrm>
            <a:off x="548640" y="5669280"/>
            <a:ext cx="1847088" cy="859536"/>
          </a:xfrm>
          <a:prstGeom prst="roundRect">
            <a:avLst>
              <a:gd name="adj" fmla="val 5319"/>
            </a:avLst>
          </a:prstGeom>
          <a:solidFill>
            <a:srgbClr val="FAF8FD"/>
          </a:solidFill>
          <a:ln w="12700">
            <a:solidFill>
              <a:srgbClr val="8064A2"/>
            </a:solidFill>
            <a:prstDash val="solid"/>
          </a:ln>
        </p:spPr>
      </p:sp>
      <p:sp>
        <p:nvSpPr>
          <p:cNvPr id="199" name="Text 128"/>
          <p:cNvSpPr/>
          <p:nvPr/>
        </p:nvSpPr>
        <p:spPr>
          <a:xfrm>
            <a:off x="548640" y="5724144"/>
            <a:ext cx="1847088" cy="155448"/>
          </a:xfrm>
          <a:prstGeom prst="rect">
            <a:avLst/>
          </a:prstGeom>
          <a:noFill/>
          <a:ln/>
        </p:spPr>
        <p:txBody>
          <a:bodyPr wrap="square" lIns="0" tIns="0" rIns="0" bIns="0" rtlCol="0" anchor="ctr"/>
          <a:lstStyle/>
          <a:p>
            <a:pPr marL="0" indent="0" algn="ctr">
              <a:buNone/>
            </a:pPr>
            <a:r>
              <a:rPr lang="en-US" sz="800" b="1" dirty="0">
                <a:solidFill>
                  <a:srgbClr val="5B2E8C"/>
                </a:solidFill>
                <a:latin typeface="Arial" pitchFamily="34" charset="0"/>
                <a:ea typeface="Arial" pitchFamily="34" charset="-122"/>
                <a:cs typeface="Arial" pitchFamily="34" charset="-120"/>
              </a:rPr>
              <a:t>ADMIN PORTAL</a:t>
            </a:r>
            <a:endParaRPr lang="en-US" sz="800" dirty="0"/>
          </a:p>
        </p:txBody>
      </p:sp>
      <p:pic>
        <p:nvPicPr>
          <p:cNvPr id="200" name="Image 69" descr="/sessions/zealous-intelligent-mayer/mnt/outputs/icons3/ap.png"/>
          <p:cNvPicPr>
            <a:picLocks noChangeAspect="1"/>
          </p:cNvPicPr>
          <p:nvPr/>
        </p:nvPicPr>
        <p:blipFill>
          <a:blip r:embed="rId70"/>
          <a:stretch>
            <a:fillRect/>
          </a:stretch>
        </p:blipFill>
        <p:spPr>
          <a:xfrm>
            <a:off x="640080" y="6016752"/>
            <a:ext cx="237744" cy="237744"/>
          </a:xfrm>
          <a:prstGeom prst="rect">
            <a:avLst/>
          </a:prstGeom>
        </p:spPr>
      </p:pic>
      <p:sp>
        <p:nvSpPr>
          <p:cNvPr id="201" name="Text 129"/>
          <p:cNvSpPr/>
          <p:nvPr/>
        </p:nvSpPr>
        <p:spPr>
          <a:xfrm>
            <a:off x="950976" y="5907024"/>
            <a:ext cx="1389888" cy="566928"/>
          </a:xfrm>
          <a:prstGeom prst="rect">
            <a:avLst/>
          </a:prstGeom>
          <a:noFill/>
          <a:ln/>
        </p:spPr>
        <p:txBody>
          <a:bodyPr wrap="square" lIns="0" tIns="0" rIns="0" bIns="0" rtlCol="0" anchor="ctr"/>
          <a:lstStyle/>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Manage Users &amp; Groups</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Manage Models</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Set Policies &amp; Guardrails</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Configure Limits &amp; Quotas</a:t>
            </a:r>
            <a:endParaRPr lang="en-US" sz="580" dirty="0"/>
          </a:p>
          <a:p>
            <a:pPr marL="88900" indent="-88900">
              <a:lnSpc>
                <a:spcPct val="100000"/>
              </a:lnSpc>
              <a:buSzPct val="100000"/>
              <a:buChar char="•"/>
            </a:pPr>
            <a:r>
              <a:rPr lang="en-US" sz="580" dirty="0">
                <a:solidFill>
                  <a:srgbClr val="3B3B3B"/>
                </a:solidFill>
                <a:latin typeface="Arial" pitchFamily="34" charset="0"/>
                <a:ea typeface="Arial" pitchFamily="34" charset="-122"/>
                <a:cs typeface="Arial" pitchFamily="34" charset="-120"/>
              </a:rPr>
              <a:t>View Analytics &amp; Reports</a:t>
            </a:r>
            <a:endParaRPr lang="en-US" sz="580" dirty="0"/>
          </a:p>
        </p:txBody>
      </p:sp>
      <p:sp>
        <p:nvSpPr>
          <p:cNvPr id="202" name="Shape 130"/>
          <p:cNvSpPr/>
          <p:nvPr/>
        </p:nvSpPr>
        <p:spPr>
          <a:xfrm>
            <a:off x="2651760" y="5669280"/>
            <a:ext cx="6217920" cy="859536"/>
          </a:xfrm>
          <a:prstGeom prst="roundRect">
            <a:avLst>
              <a:gd name="adj" fmla="val 5319"/>
            </a:avLst>
          </a:prstGeom>
          <a:solidFill>
            <a:srgbClr val="F4F8FD"/>
          </a:solidFill>
          <a:ln w="12700">
            <a:solidFill>
              <a:srgbClr val="4472C4"/>
            </a:solidFill>
            <a:prstDash val="solid"/>
          </a:ln>
        </p:spPr>
      </p:sp>
      <p:sp>
        <p:nvSpPr>
          <p:cNvPr id="203" name="Text 131"/>
          <p:cNvSpPr/>
          <p:nvPr/>
        </p:nvSpPr>
        <p:spPr>
          <a:xfrm>
            <a:off x="2651760" y="5724144"/>
            <a:ext cx="6217920" cy="155448"/>
          </a:xfrm>
          <a:prstGeom prst="rect">
            <a:avLst/>
          </a:prstGeom>
          <a:noFill/>
          <a:ln/>
        </p:spPr>
        <p:txBody>
          <a:bodyPr wrap="square" lIns="0" tIns="0" rIns="0" bIns="0" rtlCol="0" anchor="ctr"/>
          <a:lstStyle/>
          <a:p>
            <a:pPr marL="0" indent="0" algn="ctr">
              <a:buNone/>
            </a:pPr>
            <a:r>
              <a:rPr lang="en-US" sz="850" b="1" dirty="0">
                <a:solidFill>
                  <a:srgbClr val="1F5C99"/>
                </a:solidFill>
                <a:latin typeface="Arial" pitchFamily="34" charset="0"/>
                <a:ea typeface="Arial" pitchFamily="34" charset="-122"/>
                <a:cs typeface="Arial" pitchFamily="34" charset="-120"/>
              </a:rPr>
              <a:t>INFRASTRUCTURE &amp; SECURITY</a:t>
            </a:r>
            <a:endParaRPr lang="en-US" sz="850" dirty="0"/>
          </a:p>
        </p:txBody>
      </p:sp>
      <p:pic>
        <p:nvPicPr>
          <p:cNvPr id="204" name="Image 70" descr="/sessions/zealous-intelligent-mayer/mnt/outputs/icons3/s1.png"/>
          <p:cNvPicPr>
            <a:picLocks noChangeAspect="1"/>
          </p:cNvPicPr>
          <p:nvPr/>
        </p:nvPicPr>
        <p:blipFill>
          <a:blip r:embed="rId71"/>
          <a:stretch>
            <a:fillRect/>
          </a:stretch>
        </p:blipFill>
        <p:spPr>
          <a:xfrm>
            <a:off x="3075432" y="5943600"/>
            <a:ext cx="219456" cy="219456"/>
          </a:xfrm>
          <a:prstGeom prst="rect">
            <a:avLst/>
          </a:prstGeom>
        </p:spPr>
      </p:pic>
      <p:sp>
        <p:nvSpPr>
          <p:cNvPr id="205" name="Text 132"/>
          <p:cNvSpPr/>
          <p:nvPr/>
        </p:nvSpPr>
        <p:spPr>
          <a:xfrm>
            <a:off x="2688336" y="6190488"/>
            <a:ext cx="993648" cy="219456"/>
          </a:xfrm>
          <a:prstGeom prst="rect">
            <a:avLst/>
          </a:prstGeom>
          <a:noFill/>
          <a:ln/>
        </p:spPr>
        <p:txBody>
          <a:bodyPr wrap="square" lIns="0" tIns="0" rIns="0" bIns="0" rtlCol="0" anchor="ctr"/>
          <a:lstStyle/>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Private Link /</a:t>
            </a:r>
            <a:endParaRPr lang="en-US" sz="580" dirty="0"/>
          </a:p>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VNet</a:t>
            </a:r>
            <a:endParaRPr lang="en-US" sz="580" dirty="0"/>
          </a:p>
        </p:txBody>
      </p:sp>
      <p:pic>
        <p:nvPicPr>
          <p:cNvPr id="206" name="Image 71" descr="/sessions/zealous-intelligent-mayer/mnt/outputs/icons3/s2.png"/>
          <p:cNvPicPr>
            <a:picLocks noChangeAspect="1"/>
          </p:cNvPicPr>
          <p:nvPr/>
        </p:nvPicPr>
        <p:blipFill>
          <a:blip r:embed="rId72"/>
          <a:stretch>
            <a:fillRect/>
          </a:stretch>
        </p:blipFill>
        <p:spPr>
          <a:xfrm>
            <a:off x="4105656" y="5943600"/>
            <a:ext cx="219456" cy="219456"/>
          </a:xfrm>
          <a:prstGeom prst="rect">
            <a:avLst/>
          </a:prstGeom>
        </p:spPr>
      </p:pic>
      <p:sp>
        <p:nvSpPr>
          <p:cNvPr id="207" name="Text 133"/>
          <p:cNvSpPr/>
          <p:nvPr/>
        </p:nvSpPr>
        <p:spPr>
          <a:xfrm>
            <a:off x="3718560" y="6190488"/>
            <a:ext cx="993648" cy="219456"/>
          </a:xfrm>
          <a:prstGeom prst="rect">
            <a:avLst/>
          </a:prstGeom>
          <a:noFill/>
          <a:ln/>
        </p:spPr>
        <p:txBody>
          <a:bodyPr wrap="square" lIns="0" tIns="0" rIns="0" bIns="0" rtlCol="0" anchor="ctr"/>
          <a:lstStyle/>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Encryption</a:t>
            </a:r>
            <a:endParaRPr lang="en-US" sz="580" dirty="0"/>
          </a:p>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(CMK, TDE)</a:t>
            </a:r>
            <a:endParaRPr lang="en-US" sz="580" dirty="0"/>
          </a:p>
        </p:txBody>
      </p:sp>
      <p:pic>
        <p:nvPicPr>
          <p:cNvPr id="208" name="Image 72" descr="/sessions/zealous-intelligent-mayer/mnt/outputs/icons3/s3.png"/>
          <p:cNvPicPr>
            <a:picLocks noChangeAspect="1"/>
          </p:cNvPicPr>
          <p:nvPr/>
        </p:nvPicPr>
        <p:blipFill>
          <a:blip r:embed="rId73"/>
          <a:stretch>
            <a:fillRect/>
          </a:stretch>
        </p:blipFill>
        <p:spPr>
          <a:xfrm>
            <a:off x="5135880" y="5943600"/>
            <a:ext cx="219456" cy="219456"/>
          </a:xfrm>
          <a:prstGeom prst="rect">
            <a:avLst/>
          </a:prstGeom>
        </p:spPr>
      </p:pic>
      <p:sp>
        <p:nvSpPr>
          <p:cNvPr id="209" name="Text 134"/>
          <p:cNvSpPr/>
          <p:nvPr/>
        </p:nvSpPr>
        <p:spPr>
          <a:xfrm>
            <a:off x="4748784" y="6190488"/>
            <a:ext cx="993648" cy="219456"/>
          </a:xfrm>
          <a:prstGeom prst="rect">
            <a:avLst/>
          </a:prstGeom>
          <a:noFill/>
          <a:ln/>
        </p:spPr>
        <p:txBody>
          <a:bodyPr wrap="square" lIns="0" tIns="0" rIns="0" bIns="0" rtlCol="0" anchor="ctr"/>
          <a:lstStyle/>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Key Vault /</a:t>
            </a:r>
            <a:endParaRPr lang="en-US" sz="580" dirty="0"/>
          </a:p>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Managed HSM</a:t>
            </a:r>
            <a:endParaRPr lang="en-US" sz="580" dirty="0"/>
          </a:p>
        </p:txBody>
      </p:sp>
      <p:pic>
        <p:nvPicPr>
          <p:cNvPr id="210" name="Image 73" descr="/sessions/zealous-intelligent-mayer/mnt/outputs/icons3/s4.png"/>
          <p:cNvPicPr>
            <a:picLocks noChangeAspect="1"/>
          </p:cNvPicPr>
          <p:nvPr/>
        </p:nvPicPr>
        <p:blipFill>
          <a:blip r:embed="rId74"/>
          <a:stretch>
            <a:fillRect/>
          </a:stretch>
        </p:blipFill>
        <p:spPr>
          <a:xfrm>
            <a:off x="6166104" y="5943600"/>
            <a:ext cx="219456" cy="219456"/>
          </a:xfrm>
          <a:prstGeom prst="rect">
            <a:avLst/>
          </a:prstGeom>
        </p:spPr>
      </p:pic>
      <p:sp>
        <p:nvSpPr>
          <p:cNvPr id="211" name="Text 135"/>
          <p:cNvSpPr/>
          <p:nvPr/>
        </p:nvSpPr>
        <p:spPr>
          <a:xfrm>
            <a:off x="5779008" y="6190488"/>
            <a:ext cx="993648" cy="219456"/>
          </a:xfrm>
          <a:prstGeom prst="rect">
            <a:avLst/>
          </a:prstGeom>
          <a:noFill/>
          <a:ln/>
        </p:spPr>
        <p:txBody>
          <a:bodyPr wrap="square" lIns="0" tIns="0" rIns="0" bIns="0" rtlCol="0" anchor="ctr"/>
          <a:lstStyle/>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Compliance</a:t>
            </a:r>
            <a:endParaRPr lang="en-US" sz="580" dirty="0"/>
          </a:p>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(GDPR, SOC2, ISO)</a:t>
            </a:r>
            <a:endParaRPr lang="en-US" sz="580" dirty="0"/>
          </a:p>
        </p:txBody>
      </p:sp>
      <p:pic>
        <p:nvPicPr>
          <p:cNvPr id="212" name="Image 74" descr="/sessions/zealous-intelligent-mayer/mnt/outputs/icons3/s5.png"/>
          <p:cNvPicPr>
            <a:picLocks noChangeAspect="1"/>
          </p:cNvPicPr>
          <p:nvPr/>
        </p:nvPicPr>
        <p:blipFill>
          <a:blip r:embed="rId75"/>
          <a:stretch>
            <a:fillRect/>
          </a:stretch>
        </p:blipFill>
        <p:spPr>
          <a:xfrm>
            <a:off x="7196328" y="5943600"/>
            <a:ext cx="219456" cy="219456"/>
          </a:xfrm>
          <a:prstGeom prst="rect">
            <a:avLst/>
          </a:prstGeom>
        </p:spPr>
      </p:pic>
      <p:sp>
        <p:nvSpPr>
          <p:cNvPr id="213" name="Text 136"/>
          <p:cNvSpPr/>
          <p:nvPr/>
        </p:nvSpPr>
        <p:spPr>
          <a:xfrm>
            <a:off x="6809232" y="6190488"/>
            <a:ext cx="993648" cy="219456"/>
          </a:xfrm>
          <a:prstGeom prst="rect">
            <a:avLst/>
          </a:prstGeom>
          <a:noFill/>
          <a:ln/>
        </p:spPr>
        <p:txBody>
          <a:bodyPr wrap="square" lIns="0" tIns="0" rIns="0" bIns="0" rtlCol="0" anchor="ctr"/>
          <a:lstStyle/>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Backup &amp;</a:t>
            </a:r>
            <a:endParaRPr lang="en-US" sz="580" dirty="0"/>
          </a:p>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Site Recovery</a:t>
            </a:r>
            <a:endParaRPr lang="en-US" sz="580" dirty="0"/>
          </a:p>
        </p:txBody>
      </p:sp>
      <p:pic>
        <p:nvPicPr>
          <p:cNvPr id="214" name="Image 75" descr="/sessions/zealous-intelligent-mayer/mnt/outputs/icons3/s6.png"/>
          <p:cNvPicPr>
            <a:picLocks noChangeAspect="1"/>
          </p:cNvPicPr>
          <p:nvPr/>
        </p:nvPicPr>
        <p:blipFill>
          <a:blip r:embed="rId76"/>
          <a:stretch>
            <a:fillRect/>
          </a:stretch>
        </p:blipFill>
        <p:spPr>
          <a:xfrm>
            <a:off x="8226552" y="5943600"/>
            <a:ext cx="219456" cy="219456"/>
          </a:xfrm>
          <a:prstGeom prst="rect">
            <a:avLst/>
          </a:prstGeom>
        </p:spPr>
      </p:pic>
      <p:sp>
        <p:nvSpPr>
          <p:cNvPr id="215" name="Text 137"/>
          <p:cNvSpPr/>
          <p:nvPr/>
        </p:nvSpPr>
        <p:spPr>
          <a:xfrm>
            <a:off x="7839456" y="6190488"/>
            <a:ext cx="993648" cy="219456"/>
          </a:xfrm>
          <a:prstGeom prst="rect">
            <a:avLst/>
          </a:prstGeom>
          <a:noFill/>
          <a:ln/>
        </p:spPr>
        <p:txBody>
          <a:bodyPr wrap="square" lIns="0" tIns="0" rIns="0" bIns="0" rtlCol="0" anchor="ctr"/>
          <a:lstStyle/>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Availability Zones</a:t>
            </a:r>
            <a:endParaRPr lang="en-US" sz="580" dirty="0"/>
          </a:p>
          <a:p>
            <a:pPr marL="0" indent="0" algn="ctr">
              <a:lnSpc>
                <a:spcPct val="100000"/>
              </a:lnSpc>
              <a:buNone/>
            </a:pPr>
            <a:r>
              <a:rPr lang="en-US" sz="580" dirty="0">
                <a:solidFill>
                  <a:srgbClr val="3B3B3B"/>
                </a:solidFill>
                <a:latin typeface="Arial" pitchFamily="34" charset="0"/>
                <a:ea typeface="Arial" pitchFamily="34" charset="-122"/>
                <a:cs typeface="Arial" pitchFamily="34" charset="-120"/>
              </a:rPr>
              <a:t>&amp; Autoscale</a:t>
            </a:r>
            <a:endParaRPr lang="en-US" sz="580" dirty="0"/>
          </a:p>
        </p:txBody>
      </p:sp>
      <p:sp>
        <p:nvSpPr>
          <p:cNvPr id="216" name="Shape 138"/>
          <p:cNvSpPr/>
          <p:nvPr/>
        </p:nvSpPr>
        <p:spPr>
          <a:xfrm>
            <a:off x="9418320" y="5669280"/>
            <a:ext cx="2615184" cy="859536"/>
          </a:xfrm>
          <a:prstGeom prst="roundRect">
            <a:avLst>
              <a:gd name="adj" fmla="val 5319"/>
            </a:avLst>
          </a:prstGeom>
          <a:solidFill>
            <a:srgbClr val="FFFFFF"/>
          </a:solidFill>
          <a:ln w="12700">
            <a:solidFill>
              <a:srgbClr val="A6A6A6"/>
            </a:solidFill>
            <a:prstDash val="solid"/>
          </a:ln>
        </p:spPr>
      </p:sp>
      <p:sp>
        <p:nvSpPr>
          <p:cNvPr id="217" name="Text 139"/>
          <p:cNvSpPr/>
          <p:nvPr/>
        </p:nvSpPr>
        <p:spPr>
          <a:xfrm>
            <a:off x="9418320" y="5724144"/>
            <a:ext cx="2615184" cy="155448"/>
          </a:xfrm>
          <a:prstGeom prst="rect">
            <a:avLst/>
          </a:prstGeom>
          <a:noFill/>
          <a:ln/>
        </p:spPr>
        <p:txBody>
          <a:bodyPr wrap="square" lIns="0" tIns="0" rIns="0" bIns="0" rtlCol="0" anchor="ctr"/>
          <a:lstStyle/>
          <a:p>
            <a:pPr marL="0" indent="0" algn="ctr">
              <a:buNone/>
            </a:pPr>
            <a:r>
              <a:rPr lang="en-US" sz="750" b="1" dirty="0">
                <a:solidFill>
                  <a:srgbClr val="1F3864"/>
                </a:solidFill>
                <a:latin typeface="Arial" pitchFamily="34" charset="0"/>
                <a:ea typeface="Arial" pitchFamily="34" charset="-122"/>
                <a:cs typeface="Arial" pitchFamily="34" charset="-120"/>
              </a:rPr>
              <a:t>LEGEND</a:t>
            </a:r>
            <a:endParaRPr lang="en-US" sz="750" dirty="0"/>
          </a:p>
        </p:txBody>
      </p:sp>
      <p:sp>
        <p:nvSpPr>
          <p:cNvPr id="218" name="Shape 140"/>
          <p:cNvSpPr/>
          <p:nvPr/>
        </p:nvSpPr>
        <p:spPr>
          <a:xfrm>
            <a:off x="9601200" y="5998464"/>
            <a:ext cx="402336" cy="0"/>
          </a:xfrm>
          <a:prstGeom prst="line">
            <a:avLst/>
          </a:prstGeom>
          <a:noFill/>
          <a:ln w="15875">
            <a:solidFill>
              <a:srgbClr val="2F2F2F"/>
            </a:solidFill>
            <a:prstDash val="solid"/>
            <a:tailEnd type="triangle"/>
          </a:ln>
        </p:spPr>
      </p:sp>
      <p:sp>
        <p:nvSpPr>
          <p:cNvPr id="219" name="Text 141"/>
          <p:cNvSpPr/>
          <p:nvPr/>
        </p:nvSpPr>
        <p:spPr>
          <a:xfrm>
            <a:off x="10076688" y="5925312"/>
            <a:ext cx="1828800" cy="146304"/>
          </a:xfrm>
          <a:prstGeom prst="rect">
            <a:avLst/>
          </a:prstGeom>
          <a:noFill/>
          <a:ln/>
        </p:spPr>
        <p:txBody>
          <a:bodyPr wrap="square" lIns="0" tIns="0" rIns="0" bIns="0" rtlCol="0" anchor="ctr"/>
          <a:lstStyle/>
          <a:p>
            <a:pPr marL="0" indent="0">
              <a:buNone/>
            </a:pPr>
            <a:r>
              <a:rPr lang="en-US" sz="650" dirty="0">
                <a:solidFill>
                  <a:srgbClr val="3B3B3B"/>
                </a:solidFill>
                <a:latin typeface="Arial" pitchFamily="34" charset="0"/>
                <a:ea typeface="Arial" pitchFamily="34" charset="-122"/>
                <a:cs typeface="Arial" pitchFamily="34" charset="-120"/>
              </a:rPr>
              <a:t>Request Flow</a:t>
            </a:r>
            <a:endParaRPr lang="en-US" sz="650" dirty="0"/>
          </a:p>
        </p:txBody>
      </p:sp>
      <p:sp>
        <p:nvSpPr>
          <p:cNvPr id="220" name="Shape 142"/>
          <p:cNvSpPr/>
          <p:nvPr/>
        </p:nvSpPr>
        <p:spPr>
          <a:xfrm>
            <a:off x="9601200" y="6144768"/>
            <a:ext cx="402336" cy="0"/>
          </a:xfrm>
          <a:prstGeom prst="line">
            <a:avLst/>
          </a:prstGeom>
          <a:noFill/>
          <a:ln w="15875">
            <a:solidFill>
              <a:srgbClr val="3F8F5B"/>
            </a:solidFill>
            <a:prstDash val="solid"/>
            <a:tailEnd type="triangle"/>
          </a:ln>
        </p:spPr>
      </p:sp>
      <p:sp>
        <p:nvSpPr>
          <p:cNvPr id="221" name="Text 143"/>
          <p:cNvSpPr/>
          <p:nvPr/>
        </p:nvSpPr>
        <p:spPr>
          <a:xfrm>
            <a:off x="10076688" y="6071616"/>
            <a:ext cx="1828800" cy="146304"/>
          </a:xfrm>
          <a:prstGeom prst="rect">
            <a:avLst/>
          </a:prstGeom>
          <a:noFill/>
          <a:ln/>
        </p:spPr>
        <p:txBody>
          <a:bodyPr wrap="square" lIns="0" tIns="0" rIns="0" bIns="0" rtlCol="0" anchor="ctr"/>
          <a:lstStyle/>
          <a:p>
            <a:pPr marL="0" indent="0">
              <a:buNone/>
            </a:pPr>
            <a:r>
              <a:rPr lang="en-US" sz="650" dirty="0">
                <a:solidFill>
                  <a:srgbClr val="3B3B3B"/>
                </a:solidFill>
                <a:latin typeface="Arial" pitchFamily="34" charset="0"/>
                <a:ea typeface="Arial" pitchFamily="34" charset="-122"/>
                <a:cs typeface="Arial" pitchFamily="34" charset="-120"/>
              </a:rPr>
              <a:t>Data / Context Flow</a:t>
            </a:r>
            <a:endParaRPr lang="en-US" sz="650" dirty="0"/>
          </a:p>
        </p:txBody>
      </p:sp>
      <p:sp>
        <p:nvSpPr>
          <p:cNvPr id="222" name="Shape 144"/>
          <p:cNvSpPr/>
          <p:nvPr/>
        </p:nvSpPr>
        <p:spPr>
          <a:xfrm>
            <a:off x="9601200" y="6291072"/>
            <a:ext cx="402336" cy="0"/>
          </a:xfrm>
          <a:prstGeom prst="line">
            <a:avLst/>
          </a:prstGeom>
          <a:noFill/>
          <a:ln w="15875">
            <a:solidFill>
              <a:srgbClr val="2E75B6"/>
            </a:solidFill>
            <a:prstDash val="solid"/>
            <a:tailEnd type="triangle"/>
          </a:ln>
        </p:spPr>
      </p:sp>
      <p:sp>
        <p:nvSpPr>
          <p:cNvPr id="223" name="Text 145"/>
          <p:cNvSpPr/>
          <p:nvPr/>
        </p:nvSpPr>
        <p:spPr>
          <a:xfrm>
            <a:off x="10076688" y="6217920"/>
            <a:ext cx="1828800" cy="146304"/>
          </a:xfrm>
          <a:prstGeom prst="rect">
            <a:avLst/>
          </a:prstGeom>
          <a:noFill/>
          <a:ln/>
        </p:spPr>
        <p:txBody>
          <a:bodyPr wrap="square" lIns="0" tIns="0" rIns="0" bIns="0" rtlCol="0" anchor="ctr"/>
          <a:lstStyle/>
          <a:p>
            <a:pPr marL="0" indent="0">
              <a:buNone/>
            </a:pPr>
            <a:r>
              <a:rPr lang="en-US" sz="650" dirty="0">
                <a:solidFill>
                  <a:srgbClr val="3B3B3B"/>
                </a:solidFill>
                <a:latin typeface="Arial" pitchFamily="34" charset="0"/>
                <a:ea typeface="Arial" pitchFamily="34" charset="-122"/>
                <a:cs typeface="Arial" pitchFamily="34" charset="-120"/>
              </a:rPr>
              <a:t>Response Flow</a:t>
            </a:r>
            <a:endParaRPr lang="en-US" sz="650" dirty="0"/>
          </a:p>
        </p:txBody>
      </p:sp>
      <p:sp>
        <p:nvSpPr>
          <p:cNvPr id="224" name="Shape 146"/>
          <p:cNvSpPr/>
          <p:nvPr/>
        </p:nvSpPr>
        <p:spPr>
          <a:xfrm>
            <a:off x="9601200" y="6437376"/>
            <a:ext cx="402336" cy="0"/>
          </a:xfrm>
          <a:prstGeom prst="line">
            <a:avLst/>
          </a:prstGeom>
          <a:noFill/>
          <a:ln w="15875">
            <a:solidFill>
              <a:srgbClr val="C0392B"/>
            </a:solidFill>
            <a:prstDash val="solid"/>
            <a:tailEnd type="triangle"/>
          </a:ln>
        </p:spPr>
      </p:sp>
      <p:sp>
        <p:nvSpPr>
          <p:cNvPr id="225" name="Text 147"/>
          <p:cNvSpPr/>
          <p:nvPr/>
        </p:nvSpPr>
        <p:spPr>
          <a:xfrm>
            <a:off x="10076688" y="6364224"/>
            <a:ext cx="1828800" cy="146304"/>
          </a:xfrm>
          <a:prstGeom prst="rect">
            <a:avLst/>
          </a:prstGeom>
          <a:noFill/>
          <a:ln/>
        </p:spPr>
        <p:txBody>
          <a:bodyPr wrap="square" lIns="0" tIns="0" rIns="0" bIns="0" rtlCol="0" anchor="ctr"/>
          <a:lstStyle/>
          <a:p>
            <a:pPr marL="0" indent="0">
              <a:buNone/>
            </a:pPr>
            <a:r>
              <a:rPr lang="en-US" sz="650" dirty="0">
                <a:solidFill>
                  <a:srgbClr val="3B3B3B"/>
                </a:solidFill>
                <a:latin typeface="Arial" pitchFamily="34" charset="0"/>
                <a:ea typeface="Arial" pitchFamily="34" charset="-122"/>
                <a:cs typeface="Arial" pitchFamily="34" charset="-120"/>
              </a:rPr>
              <a:t>Governance / Control</a:t>
            </a:r>
            <a:endParaRPr lang="en-US" sz="650" dirty="0"/>
          </a:p>
        </p:txBody>
      </p:sp>
      <p:sp>
        <p:nvSpPr>
          <p:cNvPr id="226" name="Shape 148"/>
          <p:cNvSpPr/>
          <p:nvPr/>
        </p:nvSpPr>
        <p:spPr>
          <a:xfrm>
            <a:off x="1170432" y="1609344"/>
            <a:ext cx="128016" cy="0"/>
          </a:xfrm>
          <a:prstGeom prst="line">
            <a:avLst/>
          </a:prstGeom>
          <a:noFill/>
          <a:ln w="12700">
            <a:solidFill>
              <a:srgbClr val="2F2F2F"/>
            </a:solidFill>
            <a:prstDash val="solid"/>
            <a:tailEnd type="triangle"/>
          </a:ln>
        </p:spPr>
      </p:sp>
      <p:sp>
        <p:nvSpPr>
          <p:cNvPr id="227" name="Shape 149"/>
          <p:cNvSpPr/>
          <p:nvPr/>
        </p:nvSpPr>
        <p:spPr>
          <a:xfrm>
            <a:off x="2578608" y="950976"/>
            <a:ext cx="128016" cy="0"/>
          </a:xfrm>
          <a:prstGeom prst="line">
            <a:avLst/>
          </a:prstGeom>
          <a:noFill/>
          <a:ln w="12700">
            <a:solidFill>
              <a:srgbClr val="2F2F2F"/>
            </a:solidFill>
            <a:prstDash val="solid"/>
            <a:tailEnd type="triangle"/>
          </a:ln>
        </p:spPr>
      </p:sp>
      <p:sp>
        <p:nvSpPr>
          <p:cNvPr id="228" name="Shape 150"/>
          <p:cNvSpPr/>
          <p:nvPr/>
        </p:nvSpPr>
        <p:spPr>
          <a:xfrm>
            <a:off x="5340096" y="1426464"/>
            <a:ext cx="0" cy="109728"/>
          </a:xfrm>
          <a:prstGeom prst="line">
            <a:avLst/>
          </a:prstGeom>
          <a:noFill/>
          <a:ln w="12700">
            <a:solidFill>
              <a:srgbClr val="2F2F2F"/>
            </a:solidFill>
            <a:prstDash val="solid"/>
            <a:tailEnd type="triangle"/>
          </a:ln>
        </p:spPr>
      </p:sp>
      <p:sp>
        <p:nvSpPr>
          <p:cNvPr id="229" name="Shape 151"/>
          <p:cNvSpPr/>
          <p:nvPr/>
        </p:nvSpPr>
        <p:spPr>
          <a:xfrm>
            <a:off x="7973568" y="2432304"/>
            <a:ext cx="109728" cy="0"/>
          </a:xfrm>
          <a:prstGeom prst="line">
            <a:avLst/>
          </a:prstGeom>
          <a:noFill/>
          <a:ln w="12700">
            <a:solidFill>
              <a:srgbClr val="2F2F2F"/>
            </a:solidFill>
            <a:prstDash val="solid"/>
            <a:tailEnd type="triangle"/>
          </a:ln>
        </p:spPr>
      </p:sp>
      <p:sp>
        <p:nvSpPr>
          <p:cNvPr id="230" name="Shape 152"/>
          <p:cNvSpPr/>
          <p:nvPr/>
        </p:nvSpPr>
        <p:spPr>
          <a:xfrm>
            <a:off x="3931920" y="3328416"/>
            <a:ext cx="0" cy="109728"/>
          </a:xfrm>
          <a:prstGeom prst="line">
            <a:avLst/>
          </a:prstGeom>
          <a:noFill/>
          <a:ln w="12700">
            <a:solidFill>
              <a:srgbClr val="3F8F5B"/>
            </a:solidFill>
            <a:prstDash val="solid"/>
            <a:headEnd type="triangle"/>
            <a:tailEnd type="triangle"/>
          </a:ln>
        </p:spPr>
      </p:sp>
      <p:sp>
        <p:nvSpPr>
          <p:cNvPr id="231" name="Shape 153"/>
          <p:cNvSpPr/>
          <p:nvPr/>
        </p:nvSpPr>
        <p:spPr>
          <a:xfrm>
            <a:off x="8613648" y="3328416"/>
            <a:ext cx="0" cy="109728"/>
          </a:xfrm>
          <a:prstGeom prst="line">
            <a:avLst/>
          </a:prstGeom>
          <a:noFill/>
          <a:ln w="12700">
            <a:solidFill>
              <a:srgbClr val="2F2F2F"/>
            </a:solidFill>
            <a:prstDash val="solid"/>
            <a:headEnd type="triangle"/>
            <a:tailEnd type="triangle"/>
          </a:ln>
        </p:spPr>
      </p:sp>
      <p:sp>
        <p:nvSpPr>
          <p:cNvPr id="232" name="Shape 154"/>
          <p:cNvSpPr/>
          <p:nvPr/>
        </p:nvSpPr>
        <p:spPr>
          <a:xfrm>
            <a:off x="1938528" y="2395728"/>
            <a:ext cx="0" cy="493776"/>
          </a:xfrm>
          <a:prstGeom prst="line">
            <a:avLst/>
          </a:prstGeom>
          <a:noFill/>
          <a:ln w="12700">
            <a:solidFill>
              <a:srgbClr val="3F8F5B"/>
            </a:solidFill>
            <a:prstDash val="solid"/>
            <a:headEnd type="triangle"/>
            <a:tailEnd type="triangle"/>
          </a:ln>
        </p:spPr>
      </p:sp>
      <p:sp>
        <p:nvSpPr>
          <p:cNvPr id="233" name="Shape 155"/>
          <p:cNvSpPr/>
          <p:nvPr/>
        </p:nvSpPr>
        <p:spPr>
          <a:xfrm>
            <a:off x="2578608" y="3200400"/>
            <a:ext cx="128016" cy="0"/>
          </a:xfrm>
          <a:prstGeom prst="line">
            <a:avLst/>
          </a:prstGeom>
          <a:noFill/>
          <a:ln w="12700">
            <a:solidFill>
              <a:srgbClr val="3F8F5B"/>
            </a:solidFill>
            <a:prstDash val="solid"/>
            <a:tailEnd type="triangle"/>
          </a:ln>
        </p:spPr>
      </p:sp>
      <p:sp>
        <p:nvSpPr>
          <p:cNvPr id="234" name="Shape 156"/>
          <p:cNvSpPr/>
          <p:nvPr/>
        </p:nvSpPr>
        <p:spPr>
          <a:xfrm>
            <a:off x="1609344" y="3785616"/>
            <a:ext cx="0" cy="786384"/>
          </a:xfrm>
          <a:prstGeom prst="line">
            <a:avLst/>
          </a:prstGeom>
          <a:noFill/>
          <a:ln w="12700">
            <a:solidFill>
              <a:srgbClr val="3F8F5B"/>
            </a:solidFill>
            <a:prstDash val="solid"/>
          </a:ln>
        </p:spPr>
      </p:sp>
      <p:sp>
        <p:nvSpPr>
          <p:cNvPr id="235" name="Shape 157"/>
          <p:cNvSpPr/>
          <p:nvPr/>
        </p:nvSpPr>
        <p:spPr>
          <a:xfrm>
            <a:off x="1609344" y="4572000"/>
            <a:ext cx="859536" cy="0"/>
          </a:xfrm>
          <a:prstGeom prst="line">
            <a:avLst/>
          </a:prstGeom>
          <a:noFill/>
          <a:ln w="12700">
            <a:solidFill>
              <a:srgbClr val="3F8F5B"/>
            </a:solidFill>
            <a:prstDash val="solid"/>
            <a:tailEnd type="triangle"/>
          </a:ln>
        </p:spPr>
      </p:sp>
      <p:sp>
        <p:nvSpPr>
          <p:cNvPr id="236" name="Shape 158"/>
          <p:cNvSpPr/>
          <p:nvPr/>
        </p:nvSpPr>
        <p:spPr>
          <a:xfrm>
            <a:off x="3931920" y="4224528"/>
            <a:ext cx="0" cy="109728"/>
          </a:xfrm>
          <a:prstGeom prst="line">
            <a:avLst/>
          </a:prstGeom>
          <a:noFill/>
          <a:ln w="12700">
            <a:solidFill>
              <a:srgbClr val="2E75B6"/>
            </a:solidFill>
            <a:prstDash val="solid"/>
            <a:tailEnd type="triangle"/>
          </a:ln>
        </p:spPr>
      </p:sp>
      <p:sp>
        <p:nvSpPr>
          <p:cNvPr id="237" name="Shape 159"/>
          <p:cNvSpPr/>
          <p:nvPr/>
        </p:nvSpPr>
        <p:spPr>
          <a:xfrm>
            <a:off x="10607040" y="4169664"/>
            <a:ext cx="0" cy="146304"/>
          </a:xfrm>
          <a:prstGeom prst="line">
            <a:avLst/>
          </a:prstGeom>
          <a:noFill/>
          <a:ln w="12700">
            <a:solidFill>
              <a:srgbClr val="C0392B"/>
            </a:solidFill>
            <a:prstDash val="solid"/>
            <a:tailEnd type="triangle"/>
          </a:ln>
        </p:spPr>
      </p:sp>
      <p:sp>
        <p:nvSpPr>
          <p:cNvPr id="238" name="Shape 160"/>
          <p:cNvSpPr/>
          <p:nvPr/>
        </p:nvSpPr>
        <p:spPr>
          <a:xfrm>
            <a:off x="8869680" y="4572000"/>
            <a:ext cx="146304" cy="0"/>
          </a:xfrm>
          <a:prstGeom prst="line">
            <a:avLst/>
          </a:prstGeom>
          <a:noFill/>
          <a:ln w="12700">
            <a:solidFill>
              <a:srgbClr val="C0392B"/>
            </a:solidFill>
            <a:prstDash val="solid"/>
            <a:headEnd type="triangle"/>
          </a:ln>
        </p:spPr>
      </p:sp>
      <p:sp>
        <p:nvSpPr>
          <p:cNvPr id="239" name="Shape 161"/>
          <p:cNvSpPr/>
          <p:nvPr/>
        </p:nvSpPr>
        <p:spPr>
          <a:xfrm>
            <a:off x="3657600" y="4809744"/>
            <a:ext cx="0" cy="128016"/>
          </a:xfrm>
          <a:prstGeom prst="line">
            <a:avLst/>
          </a:prstGeom>
          <a:noFill/>
          <a:ln w="12700">
            <a:solidFill>
              <a:srgbClr val="2F2F2F"/>
            </a:solidFill>
            <a:prstDash val="solid"/>
            <a:tailEnd type="triangle"/>
          </a:ln>
        </p:spPr>
      </p:sp>
      <p:sp>
        <p:nvSpPr>
          <p:cNvPr id="240" name="Shape 162"/>
          <p:cNvSpPr/>
          <p:nvPr/>
        </p:nvSpPr>
        <p:spPr>
          <a:xfrm>
            <a:off x="3657600" y="5559552"/>
            <a:ext cx="0" cy="109728"/>
          </a:xfrm>
          <a:prstGeom prst="line">
            <a:avLst/>
          </a:prstGeom>
          <a:noFill/>
          <a:ln w="12700">
            <a:solidFill>
              <a:srgbClr val="2F2F2F"/>
            </a:solidFill>
            <a:prstDash val="solid"/>
            <a:tailEnd type="triangle"/>
          </a:ln>
        </p:spPr>
      </p:sp>
      <p:sp>
        <p:nvSpPr>
          <p:cNvPr id="241" name="Shape 163"/>
          <p:cNvSpPr/>
          <p:nvPr/>
        </p:nvSpPr>
        <p:spPr>
          <a:xfrm>
            <a:off x="2395728" y="6099048"/>
            <a:ext cx="256032" cy="0"/>
          </a:xfrm>
          <a:prstGeom prst="line">
            <a:avLst/>
          </a:prstGeom>
          <a:noFill/>
          <a:ln w="12700">
            <a:solidFill>
              <a:srgbClr val="2F2F2F"/>
            </a:solidFill>
            <a:prstDash val="solid"/>
            <a:headEnd type="triangle"/>
            <a:tailEnd type="triangle"/>
          </a:ln>
        </p:spPr>
      </p:sp>
      <p:sp>
        <p:nvSpPr>
          <p:cNvPr id="242" name="Shape 164"/>
          <p:cNvSpPr/>
          <p:nvPr/>
        </p:nvSpPr>
        <p:spPr>
          <a:xfrm>
            <a:off x="9144000" y="2432304"/>
            <a:ext cx="109728" cy="0"/>
          </a:xfrm>
          <a:prstGeom prst="line">
            <a:avLst/>
          </a:prstGeom>
          <a:noFill/>
          <a:ln w="12700">
            <a:solidFill>
              <a:srgbClr val="2F2F2F"/>
            </a:solidFill>
            <a:prstDash val="solid"/>
          </a:ln>
        </p:spPr>
      </p:sp>
      <p:sp>
        <p:nvSpPr>
          <p:cNvPr id="243" name="Shape 165"/>
          <p:cNvSpPr/>
          <p:nvPr/>
        </p:nvSpPr>
        <p:spPr>
          <a:xfrm>
            <a:off x="9253728" y="1033272"/>
            <a:ext cx="0" cy="2743200"/>
          </a:xfrm>
          <a:prstGeom prst="line">
            <a:avLst/>
          </a:prstGeom>
          <a:noFill/>
          <a:ln w="12700">
            <a:solidFill>
              <a:srgbClr val="2F2F2F"/>
            </a:solidFill>
            <a:prstDash val="solid"/>
          </a:ln>
        </p:spPr>
      </p:sp>
      <p:sp>
        <p:nvSpPr>
          <p:cNvPr id="244" name="Shape 166"/>
          <p:cNvSpPr/>
          <p:nvPr/>
        </p:nvSpPr>
        <p:spPr>
          <a:xfrm>
            <a:off x="9253728" y="1028700"/>
            <a:ext cx="164592" cy="0"/>
          </a:xfrm>
          <a:prstGeom prst="line">
            <a:avLst/>
          </a:prstGeom>
          <a:noFill/>
          <a:ln w="12700">
            <a:solidFill>
              <a:srgbClr val="2F2F2F"/>
            </a:solidFill>
            <a:prstDash val="solid"/>
            <a:tailEnd type="triangle"/>
          </a:ln>
        </p:spPr>
      </p:sp>
      <p:sp>
        <p:nvSpPr>
          <p:cNvPr id="245" name="Shape 167"/>
          <p:cNvSpPr/>
          <p:nvPr/>
        </p:nvSpPr>
        <p:spPr>
          <a:xfrm>
            <a:off x="9253728" y="1714500"/>
            <a:ext cx="164592" cy="0"/>
          </a:xfrm>
          <a:prstGeom prst="line">
            <a:avLst/>
          </a:prstGeom>
          <a:noFill/>
          <a:ln w="12700">
            <a:solidFill>
              <a:srgbClr val="2F2F2F"/>
            </a:solidFill>
            <a:prstDash val="solid"/>
            <a:tailEnd type="triangle"/>
          </a:ln>
        </p:spPr>
      </p:sp>
      <p:sp>
        <p:nvSpPr>
          <p:cNvPr id="246" name="Shape 168"/>
          <p:cNvSpPr/>
          <p:nvPr/>
        </p:nvSpPr>
        <p:spPr>
          <a:xfrm>
            <a:off x="9253728" y="2400300"/>
            <a:ext cx="164592" cy="0"/>
          </a:xfrm>
          <a:prstGeom prst="line">
            <a:avLst/>
          </a:prstGeom>
          <a:noFill/>
          <a:ln w="12700">
            <a:solidFill>
              <a:srgbClr val="2F2F2F"/>
            </a:solidFill>
            <a:prstDash val="solid"/>
            <a:tailEnd type="triangle"/>
          </a:ln>
        </p:spPr>
      </p:sp>
      <p:sp>
        <p:nvSpPr>
          <p:cNvPr id="247" name="Shape 169"/>
          <p:cNvSpPr/>
          <p:nvPr/>
        </p:nvSpPr>
        <p:spPr>
          <a:xfrm>
            <a:off x="9253728" y="3086100"/>
            <a:ext cx="164592" cy="0"/>
          </a:xfrm>
          <a:prstGeom prst="line">
            <a:avLst/>
          </a:prstGeom>
          <a:noFill/>
          <a:ln w="12700">
            <a:solidFill>
              <a:srgbClr val="2F2F2F"/>
            </a:solidFill>
            <a:prstDash val="solid"/>
            <a:tailEnd type="triangle"/>
          </a:ln>
        </p:spPr>
      </p:sp>
      <p:sp>
        <p:nvSpPr>
          <p:cNvPr id="248" name="Shape 170"/>
          <p:cNvSpPr/>
          <p:nvPr/>
        </p:nvSpPr>
        <p:spPr>
          <a:xfrm>
            <a:off x="9253728" y="3771900"/>
            <a:ext cx="164592" cy="0"/>
          </a:xfrm>
          <a:prstGeom prst="line">
            <a:avLst/>
          </a:prstGeom>
          <a:noFill/>
          <a:ln w="12700">
            <a:solidFill>
              <a:srgbClr val="2F2F2F"/>
            </a:solidFill>
            <a:prstDash val="solid"/>
            <a:tailEnd type="triangle"/>
          </a:ln>
        </p:spPr>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810000" y="59436"/>
            <a:ext cx="4572000" cy="155448"/>
          </a:xfrm>
          <a:prstGeom prst="rect">
            <a:avLst/>
          </a:prstGeom>
          <a:noFill/>
          <a:ln/>
        </p:spPr>
        <p:txBody>
          <a:bodyPr wrap="square" lIns="0" tIns="0" rIns="0" bIns="0" rtlCol="0" anchor="ctr"/>
          <a:lstStyle/>
          <a:p>
            <a:pPr algn="ctr"/>
            <a:r>
              <a:rPr lang="en-US" sz="975" b="1" kern="0" spc="-15" dirty="0">
                <a:solidFill>
                  <a:srgbClr val="0B2545"/>
                </a:solidFill>
                <a:latin typeface="Arial" pitchFamily="34" charset="0"/>
                <a:ea typeface="Arial" pitchFamily="34" charset="-122"/>
                <a:cs typeface="Arial" pitchFamily="34" charset="-120"/>
              </a:rPr>
              <a:t>PRODUCTION-GRADE ENTERPRISE AGENTIC RAG ON AZURE</a:t>
            </a:r>
            <a:endParaRPr lang="en-US" sz="975" dirty="0"/>
          </a:p>
        </p:txBody>
      </p:sp>
      <p:sp>
        <p:nvSpPr>
          <p:cNvPr id="3" name="Text 1"/>
          <p:cNvSpPr/>
          <p:nvPr/>
        </p:nvSpPr>
        <p:spPr>
          <a:xfrm>
            <a:off x="3810000" y="237744"/>
            <a:ext cx="4572000" cy="109728"/>
          </a:xfrm>
          <a:prstGeom prst="rect">
            <a:avLst/>
          </a:prstGeom>
          <a:noFill/>
          <a:ln/>
        </p:spPr>
        <p:txBody>
          <a:bodyPr wrap="square" lIns="0" tIns="0" rIns="0" bIns="0" rtlCol="0" anchor="ctr"/>
          <a:lstStyle/>
          <a:p>
            <a:pPr algn="ctr"/>
            <a:r>
              <a:rPr lang="en-US" sz="625" b="1" dirty="0">
                <a:solidFill>
                  <a:srgbClr val="1F6FB2"/>
                </a:solidFill>
                <a:latin typeface="Arial" pitchFamily="34" charset="0"/>
                <a:ea typeface="Arial" pitchFamily="34" charset="-122"/>
                <a:cs typeface="Arial" pitchFamily="34" charset="-120"/>
              </a:rPr>
              <a:t>INGEST   •   ROUTE   •   REACT (ITERATIVE)   •   GOVERN   •   OBSERVE</a:t>
            </a:r>
            <a:endParaRPr lang="en-US" sz="625" dirty="0"/>
          </a:p>
        </p:txBody>
      </p:sp>
      <p:sp>
        <p:nvSpPr>
          <p:cNvPr id="4" name="Text 2"/>
          <p:cNvSpPr/>
          <p:nvPr/>
        </p:nvSpPr>
        <p:spPr>
          <a:xfrm>
            <a:off x="3810000" y="347472"/>
            <a:ext cx="4572000" cy="73152"/>
          </a:xfrm>
          <a:prstGeom prst="rect">
            <a:avLst/>
          </a:prstGeom>
          <a:noFill/>
          <a:ln/>
        </p:spPr>
        <p:txBody>
          <a:bodyPr wrap="square" lIns="0" tIns="0" rIns="0" bIns="0" rtlCol="0" anchor="ctr"/>
          <a:lstStyle/>
          <a:p>
            <a:pPr algn="ctr"/>
            <a:r>
              <a:rPr lang="en-US" sz="400" i="1" dirty="0">
                <a:solidFill>
                  <a:srgbClr val="6B7683"/>
                </a:solidFill>
                <a:latin typeface="Arial" pitchFamily="34" charset="0"/>
                <a:ea typeface="Arial" pitchFamily="34" charset="-122"/>
                <a:cs typeface="Arial" pitchFamily="34" charset="-120"/>
              </a:rPr>
              <a:t>Ball Corporation — Beverage Packaging Manufacturing &amp; Supply Chain</a:t>
            </a:r>
            <a:endParaRPr lang="en-US" sz="400" dirty="0"/>
          </a:p>
        </p:txBody>
      </p:sp>
      <p:sp>
        <p:nvSpPr>
          <p:cNvPr id="5" name="Shape 3"/>
          <p:cNvSpPr/>
          <p:nvPr/>
        </p:nvSpPr>
        <p:spPr>
          <a:xfrm>
            <a:off x="3883152" y="438912"/>
            <a:ext cx="4425696" cy="585216"/>
          </a:xfrm>
          <a:prstGeom prst="roundRect">
            <a:avLst>
              <a:gd name="adj" fmla="val 3906"/>
            </a:avLst>
          </a:prstGeom>
          <a:solidFill>
            <a:srgbClr val="FFFFFF"/>
          </a:solidFill>
          <a:ln w="12700">
            <a:solidFill>
              <a:srgbClr val="C9D6E4"/>
            </a:solidFill>
            <a:prstDash val="solid"/>
          </a:ln>
        </p:spPr>
      </p:sp>
      <p:sp>
        <p:nvSpPr>
          <p:cNvPr id="6" name="Text 4"/>
          <p:cNvSpPr/>
          <p:nvPr/>
        </p:nvSpPr>
        <p:spPr>
          <a:xfrm>
            <a:off x="3947160" y="466344"/>
            <a:ext cx="1828800" cy="91440"/>
          </a:xfrm>
          <a:prstGeom prst="rect">
            <a:avLst/>
          </a:prstGeom>
          <a:noFill/>
          <a:ln/>
        </p:spPr>
        <p:txBody>
          <a:bodyPr wrap="square" lIns="0" tIns="0" rIns="0" bIns="0" rtlCol="0" anchor="ctr"/>
          <a:lstStyle/>
          <a:p>
            <a:r>
              <a:rPr lang="en-US" sz="500" b="1" dirty="0">
                <a:solidFill>
                  <a:srgbClr val="2E8B57"/>
                </a:solidFill>
                <a:latin typeface="Arial" pitchFamily="34" charset="0"/>
                <a:ea typeface="Arial" pitchFamily="34" charset="-122"/>
                <a:cs typeface="Arial" pitchFamily="34" charset="-120"/>
              </a:rPr>
              <a:t>1. USER &amp; CHANNELS</a:t>
            </a:r>
            <a:endParaRPr lang="en-US" sz="500" dirty="0"/>
          </a:p>
        </p:txBody>
      </p:sp>
      <p:sp>
        <p:nvSpPr>
          <p:cNvPr id="7" name="Shape 5"/>
          <p:cNvSpPr/>
          <p:nvPr/>
        </p:nvSpPr>
        <p:spPr>
          <a:xfrm>
            <a:off x="3947160" y="557784"/>
            <a:ext cx="2112264" cy="420624"/>
          </a:xfrm>
          <a:prstGeom prst="roundRect">
            <a:avLst>
              <a:gd name="adj" fmla="val 4348"/>
            </a:avLst>
          </a:prstGeom>
          <a:solidFill>
            <a:srgbClr val="EDF7F0"/>
          </a:solidFill>
          <a:ln w="12700">
            <a:solidFill>
              <a:srgbClr val="BEDFC9"/>
            </a:solidFill>
            <a:prstDash val="solid"/>
          </a:ln>
        </p:spPr>
      </p:sp>
      <p:pic>
        <p:nvPicPr>
          <p:cNvPr id="8" name="Image 0" descr="/sessions/zealous-intelligent-mayer/mnt/outputs/icons4/c_web.png"/>
          <p:cNvPicPr>
            <a:picLocks noChangeAspect="1"/>
          </p:cNvPicPr>
          <p:nvPr/>
        </p:nvPicPr>
        <p:blipFill>
          <a:blip r:embed="rId3"/>
          <a:stretch>
            <a:fillRect/>
          </a:stretch>
        </p:blipFill>
        <p:spPr>
          <a:xfrm>
            <a:off x="4069461" y="603504"/>
            <a:ext cx="109728" cy="109728"/>
          </a:xfrm>
          <a:prstGeom prst="rect">
            <a:avLst/>
          </a:prstGeom>
        </p:spPr>
      </p:pic>
      <p:sp>
        <p:nvSpPr>
          <p:cNvPr id="9" name="Text 6"/>
          <p:cNvSpPr/>
          <p:nvPr/>
        </p:nvSpPr>
        <p:spPr>
          <a:xfrm>
            <a:off x="3979164" y="726948"/>
            <a:ext cx="290322" cy="109728"/>
          </a:xfrm>
          <a:prstGeom prst="rect">
            <a:avLst/>
          </a:prstGeom>
          <a:noFill/>
          <a:ln/>
        </p:spPr>
        <p:txBody>
          <a:bodyPr wrap="square" lIns="0" tIns="0" rIns="0" bIns="0" rtlCol="0" anchor="ctr"/>
          <a:lstStyle/>
          <a:p>
            <a:pPr algn="ctr"/>
            <a:r>
              <a:rPr lang="en-US" sz="270" dirty="0">
                <a:solidFill>
                  <a:srgbClr val="333333"/>
                </a:solidFill>
                <a:latin typeface="Arial" pitchFamily="34" charset="0"/>
                <a:ea typeface="Arial" pitchFamily="34" charset="-122"/>
                <a:cs typeface="Arial" pitchFamily="34" charset="-120"/>
              </a:rPr>
              <a:t>Plant Ops</a:t>
            </a:r>
            <a:endParaRPr lang="en-US" sz="270" dirty="0"/>
          </a:p>
          <a:p>
            <a:pPr algn="ctr"/>
            <a:r>
              <a:rPr lang="en-US" sz="270" dirty="0">
                <a:solidFill>
                  <a:srgbClr val="333333"/>
                </a:solidFill>
                <a:latin typeface="Arial" pitchFamily="34" charset="0"/>
                <a:ea typeface="Arial" pitchFamily="34" charset="-122"/>
                <a:cs typeface="Arial" pitchFamily="34" charset="-120"/>
              </a:rPr>
              <a:t>Portal</a:t>
            </a:r>
            <a:endParaRPr lang="en-US" sz="270" dirty="0"/>
          </a:p>
        </p:txBody>
      </p:sp>
      <p:pic>
        <p:nvPicPr>
          <p:cNvPr id="10" name="Image 1" descr="/sessions/zealous-intelligent-mayer/mnt/outputs/icons4/c_mob.png"/>
          <p:cNvPicPr>
            <a:picLocks noChangeAspect="1"/>
          </p:cNvPicPr>
          <p:nvPr/>
        </p:nvPicPr>
        <p:blipFill>
          <a:blip r:embed="rId4"/>
          <a:stretch>
            <a:fillRect/>
          </a:stretch>
        </p:blipFill>
        <p:spPr>
          <a:xfrm>
            <a:off x="4368927" y="603504"/>
            <a:ext cx="109728" cy="109728"/>
          </a:xfrm>
          <a:prstGeom prst="rect">
            <a:avLst/>
          </a:prstGeom>
        </p:spPr>
      </p:pic>
      <p:sp>
        <p:nvSpPr>
          <p:cNvPr id="11" name="Text 7"/>
          <p:cNvSpPr/>
          <p:nvPr/>
        </p:nvSpPr>
        <p:spPr>
          <a:xfrm>
            <a:off x="4278630" y="726948"/>
            <a:ext cx="290322" cy="109728"/>
          </a:xfrm>
          <a:prstGeom prst="rect">
            <a:avLst/>
          </a:prstGeom>
          <a:noFill/>
          <a:ln/>
        </p:spPr>
        <p:txBody>
          <a:bodyPr wrap="square" lIns="0" tIns="0" rIns="0" bIns="0" rtlCol="0" anchor="ctr"/>
          <a:lstStyle/>
          <a:p>
            <a:pPr algn="ctr"/>
            <a:r>
              <a:rPr lang="en-US" sz="270" dirty="0">
                <a:solidFill>
                  <a:srgbClr val="333333"/>
                </a:solidFill>
                <a:latin typeface="Arial" pitchFamily="34" charset="0"/>
                <a:ea typeface="Arial" pitchFamily="34" charset="-122"/>
                <a:cs typeface="Arial" pitchFamily="34" charset="-120"/>
              </a:rPr>
              <a:t>Mobile</a:t>
            </a:r>
            <a:endParaRPr lang="en-US" sz="270" dirty="0"/>
          </a:p>
          <a:p>
            <a:pPr algn="ctr"/>
            <a:r>
              <a:rPr lang="en-US" sz="270" dirty="0">
                <a:solidFill>
                  <a:srgbClr val="333333"/>
                </a:solidFill>
                <a:latin typeface="Arial" pitchFamily="34" charset="0"/>
                <a:ea typeface="Arial" pitchFamily="34" charset="-122"/>
                <a:cs typeface="Arial" pitchFamily="34" charset="-120"/>
              </a:rPr>
              <a:t>(Line Ops)</a:t>
            </a:r>
            <a:endParaRPr lang="en-US" sz="270" dirty="0"/>
          </a:p>
        </p:txBody>
      </p:sp>
      <p:pic>
        <p:nvPicPr>
          <p:cNvPr id="12" name="Image 2" descr="/sessions/zealous-intelligent-mayer/mnt/outputs/icons4/c_chat.png"/>
          <p:cNvPicPr>
            <a:picLocks noChangeAspect="1"/>
          </p:cNvPicPr>
          <p:nvPr/>
        </p:nvPicPr>
        <p:blipFill>
          <a:blip r:embed="rId5"/>
          <a:stretch>
            <a:fillRect/>
          </a:stretch>
        </p:blipFill>
        <p:spPr>
          <a:xfrm>
            <a:off x="4668393" y="603504"/>
            <a:ext cx="109728" cy="109728"/>
          </a:xfrm>
          <a:prstGeom prst="rect">
            <a:avLst/>
          </a:prstGeom>
        </p:spPr>
      </p:pic>
      <p:sp>
        <p:nvSpPr>
          <p:cNvPr id="13" name="Text 8"/>
          <p:cNvSpPr/>
          <p:nvPr/>
        </p:nvSpPr>
        <p:spPr>
          <a:xfrm>
            <a:off x="4578096" y="726948"/>
            <a:ext cx="290322" cy="109728"/>
          </a:xfrm>
          <a:prstGeom prst="rect">
            <a:avLst/>
          </a:prstGeom>
          <a:noFill/>
          <a:ln/>
        </p:spPr>
        <p:txBody>
          <a:bodyPr wrap="square" lIns="0" tIns="0" rIns="0" bIns="0" rtlCol="0" anchor="ctr"/>
          <a:lstStyle/>
          <a:p>
            <a:pPr algn="ctr"/>
            <a:r>
              <a:rPr lang="en-US" sz="270" dirty="0">
                <a:solidFill>
                  <a:srgbClr val="333333"/>
                </a:solidFill>
                <a:latin typeface="Arial" pitchFamily="34" charset="0"/>
                <a:ea typeface="Arial" pitchFamily="34" charset="-122"/>
                <a:cs typeface="Arial" pitchFamily="34" charset="-120"/>
              </a:rPr>
              <a:t>Chat / Bot</a:t>
            </a:r>
            <a:endParaRPr lang="en-US" sz="270" dirty="0"/>
          </a:p>
        </p:txBody>
      </p:sp>
      <p:pic>
        <p:nvPicPr>
          <p:cNvPr id="14" name="Image 3" descr="/sessions/zealous-intelligent-mayer/mnt/outputs/icons4/c_teams.png"/>
          <p:cNvPicPr>
            <a:picLocks noChangeAspect="1"/>
          </p:cNvPicPr>
          <p:nvPr/>
        </p:nvPicPr>
        <p:blipFill>
          <a:blip r:embed="rId6"/>
          <a:stretch>
            <a:fillRect/>
          </a:stretch>
        </p:blipFill>
        <p:spPr>
          <a:xfrm>
            <a:off x="4967859" y="603504"/>
            <a:ext cx="109728" cy="109728"/>
          </a:xfrm>
          <a:prstGeom prst="rect">
            <a:avLst/>
          </a:prstGeom>
        </p:spPr>
      </p:pic>
      <p:sp>
        <p:nvSpPr>
          <p:cNvPr id="15" name="Text 9"/>
          <p:cNvSpPr/>
          <p:nvPr/>
        </p:nvSpPr>
        <p:spPr>
          <a:xfrm>
            <a:off x="4877562" y="726948"/>
            <a:ext cx="290322" cy="109728"/>
          </a:xfrm>
          <a:prstGeom prst="rect">
            <a:avLst/>
          </a:prstGeom>
          <a:noFill/>
          <a:ln/>
        </p:spPr>
        <p:txBody>
          <a:bodyPr wrap="square" lIns="0" tIns="0" rIns="0" bIns="0" rtlCol="0" anchor="ctr"/>
          <a:lstStyle/>
          <a:p>
            <a:pPr algn="ctr"/>
            <a:r>
              <a:rPr lang="en-US" sz="270" dirty="0">
                <a:solidFill>
                  <a:srgbClr val="333333"/>
                </a:solidFill>
                <a:latin typeface="Arial" pitchFamily="34" charset="0"/>
                <a:ea typeface="Arial" pitchFamily="34" charset="-122"/>
                <a:cs typeface="Arial" pitchFamily="34" charset="-120"/>
              </a:rPr>
              <a:t>Microsoft</a:t>
            </a:r>
            <a:endParaRPr lang="en-US" sz="270" dirty="0"/>
          </a:p>
          <a:p>
            <a:pPr algn="ctr"/>
            <a:r>
              <a:rPr lang="en-US" sz="270" dirty="0">
                <a:solidFill>
                  <a:srgbClr val="333333"/>
                </a:solidFill>
                <a:latin typeface="Arial" pitchFamily="34" charset="0"/>
                <a:ea typeface="Arial" pitchFamily="34" charset="-122"/>
                <a:cs typeface="Arial" pitchFamily="34" charset="-120"/>
              </a:rPr>
              <a:t>Teams</a:t>
            </a:r>
            <a:endParaRPr lang="en-US" sz="270" dirty="0"/>
          </a:p>
        </p:txBody>
      </p:sp>
      <p:sp>
        <p:nvSpPr>
          <p:cNvPr id="16" name="Shape 10"/>
          <p:cNvSpPr/>
          <p:nvPr/>
        </p:nvSpPr>
        <p:spPr>
          <a:xfrm>
            <a:off x="5199888" y="603504"/>
            <a:ext cx="0" cy="301752"/>
          </a:xfrm>
          <a:prstGeom prst="line">
            <a:avLst/>
          </a:prstGeom>
          <a:noFill/>
          <a:ln w="12700">
            <a:solidFill>
              <a:srgbClr val="BEDFC9"/>
            </a:solidFill>
            <a:prstDash val="solid"/>
          </a:ln>
        </p:spPr>
      </p:sp>
      <p:pic>
        <p:nvPicPr>
          <p:cNvPr id="17" name="Image 4" descr="/sessions/zealous-intelligent-mayer/mnt/outputs/icons4/c_api.png"/>
          <p:cNvPicPr>
            <a:picLocks noChangeAspect="1"/>
          </p:cNvPicPr>
          <p:nvPr/>
        </p:nvPicPr>
        <p:blipFill>
          <a:blip r:embed="rId7"/>
          <a:stretch>
            <a:fillRect/>
          </a:stretch>
        </p:blipFill>
        <p:spPr>
          <a:xfrm>
            <a:off x="5308092" y="603504"/>
            <a:ext cx="109728" cy="109728"/>
          </a:xfrm>
          <a:prstGeom prst="rect">
            <a:avLst/>
          </a:prstGeom>
        </p:spPr>
      </p:pic>
      <p:sp>
        <p:nvSpPr>
          <p:cNvPr id="18" name="Text 11"/>
          <p:cNvSpPr/>
          <p:nvPr/>
        </p:nvSpPr>
        <p:spPr>
          <a:xfrm>
            <a:off x="5231892" y="726948"/>
            <a:ext cx="262128" cy="109728"/>
          </a:xfrm>
          <a:prstGeom prst="rect">
            <a:avLst/>
          </a:prstGeom>
          <a:noFill/>
          <a:ln/>
        </p:spPr>
        <p:txBody>
          <a:bodyPr wrap="square" lIns="0" tIns="0" rIns="0" bIns="0" rtlCol="0" anchor="ctr"/>
          <a:lstStyle/>
          <a:p>
            <a:pPr algn="ctr"/>
            <a:r>
              <a:rPr lang="en-US" sz="270" dirty="0">
                <a:solidFill>
                  <a:srgbClr val="333333"/>
                </a:solidFill>
                <a:latin typeface="Arial" pitchFamily="34" charset="0"/>
                <a:ea typeface="Arial" pitchFamily="34" charset="-122"/>
                <a:cs typeface="Arial" pitchFamily="34" charset="-120"/>
              </a:rPr>
              <a:t>APIs / SDKs</a:t>
            </a:r>
            <a:endParaRPr lang="en-US" sz="270" dirty="0"/>
          </a:p>
        </p:txBody>
      </p:sp>
      <p:pic>
        <p:nvPicPr>
          <p:cNvPr id="19" name="Image 5" descr="/sessions/zealous-intelligent-mayer/mnt/outputs/icons4/c_mail.png"/>
          <p:cNvPicPr>
            <a:picLocks noChangeAspect="1"/>
          </p:cNvPicPr>
          <p:nvPr/>
        </p:nvPicPr>
        <p:blipFill>
          <a:blip r:embed="rId8"/>
          <a:stretch>
            <a:fillRect/>
          </a:stretch>
        </p:blipFill>
        <p:spPr>
          <a:xfrm>
            <a:off x="5579364" y="603504"/>
            <a:ext cx="109728" cy="109728"/>
          </a:xfrm>
          <a:prstGeom prst="rect">
            <a:avLst/>
          </a:prstGeom>
        </p:spPr>
      </p:pic>
      <p:sp>
        <p:nvSpPr>
          <p:cNvPr id="20" name="Text 12"/>
          <p:cNvSpPr/>
          <p:nvPr/>
        </p:nvSpPr>
        <p:spPr>
          <a:xfrm>
            <a:off x="5503164" y="726948"/>
            <a:ext cx="262128" cy="109728"/>
          </a:xfrm>
          <a:prstGeom prst="rect">
            <a:avLst/>
          </a:prstGeom>
          <a:noFill/>
          <a:ln/>
        </p:spPr>
        <p:txBody>
          <a:bodyPr wrap="square" lIns="0" tIns="0" rIns="0" bIns="0" rtlCol="0" anchor="ctr"/>
          <a:lstStyle/>
          <a:p>
            <a:pPr algn="ctr"/>
            <a:r>
              <a:rPr lang="en-US" sz="270" dirty="0">
                <a:solidFill>
                  <a:srgbClr val="333333"/>
                </a:solidFill>
                <a:latin typeface="Arial" pitchFamily="34" charset="0"/>
                <a:ea typeface="Arial" pitchFamily="34" charset="-122"/>
                <a:cs typeface="Arial" pitchFamily="34" charset="-120"/>
              </a:rPr>
              <a:t>Email</a:t>
            </a:r>
            <a:endParaRPr lang="en-US" sz="270" dirty="0"/>
          </a:p>
        </p:txBody>
      </p:sp>
      <p:pic>
        <p:nvPicPr>
          <p:cNvPr id="21" name="Image 6" descr="/sessions/zealous-intelligent-mayer/mnt/outputs/icons4/c_power.png"/>
          <p:cNvPicPr>
            <a:picLocks noChangeAspect="1"/>
          </p:cNvPicPr>
          <p:nvPr/>
        </p:nvPicPr>
        <p:blipFill>
          <a:blip r:embed="rId9"/>
          <a:stretch>
            <a:fillRect/>
          </a:stretch>
        </p:blipFill>
        <p:spPr>
          <a:xfrm>
            <a:off x="5850636" y="603504"/>
            <a:ext cx="109728" cy="109728"/>
          </a:xfrm>
          <a:prstGeom prst="rect">
            <a:avLst/>
          </a:prstGeom>
        </p:spPr>
      </p:pic>
      <p:sp>
        <p:nvSpPr>
          <p:cNvPr id="22" name="Text 13"/>
          <p:cNvSpPr/>
          <p:nvPr/>
        </p:nvSpPr>
        <p:spPr>
          <a:xfrm>
            <a:off x="5774436" y="726948"/>
            <a:ext cx="262128" cy="109728"/>
          </a:xfrm>
          <a:prstGeom prst="rect">
            <a:avLst/>
          </a:prstGeom>
          <a:noFill/>
          <a:ln/>
        </p:spPr>
        <p:txBody>
          <a:bodyPr wrap="square" lIns="0" tIns="0" rIns="0" bIns="0" rtlCol="0" anchor="ctr"/>
          <a:lstStyle/>
          <a:p>
            <a:pPr algn="ctr"/>
            <a:r>
              <a:rPr lang="en-US" sz="270" dirty="0">
                <a:solidFill>
                  <a:srgbClr val="333333"/>
                </a:solidFill>
                <a:latin typeface="Arial" pitchFamily="34" charset="0"/>
                <a:ea typeface="Arial" pitchFamily="34" charset="-122"/>
                <a:cs typeface="Arial" pitchFamily="34" charset="-120"/>
              </a:rPr>
              <a:t>Power Apps</a:t>
            </a:r>
            <a:endParaRPr lang="en-US" sz="270" dirty="0"/>
          </a:p>
        </p:txBody>
      </p:sp>
      <p:sp>
        <p:nvSpPr>
          <p:cNvPr id="23" name="Shape 14"/>
          <p:cNvSpPr/>
          <p:nvPr/>
        </p:nvSpPr>
        <p:spPr>
          <a:xfrm>
            <a:off x="6224016" y="557784"/>
            <a:ext cx="420624" cy="420624"/>
          </a:xfrm>
          <a:prstGeom prst="roundRect">
            <a:avLst>
              <a:gd name="adj" fmla="val 4348"/>
            </a:avLst>
          </a:prstGeom>
          <a:solidFill>
            <a:srgbClr val="FFFFFF"/>
          </a:solidFill>
          <a:ln w="12700">
            <a:solidFill>
              <a:srgbClr val="C9D6E4"/>
            </a:solidFill>
            <a:prstDash val="solid"/>
          </a:ln>
        </p:spPr>
      </p:sp>
      <p:pic>
        <p:nvPicPr>
          <p:cNvPr id="24" name="Image 7" descr="/sessions/zealous-intelligent-mayer/mnt/outputs/icons4/az_fd.png"/>
          <p:cNvPicPr>
            <a:picLocks noChangeAspect="1"/>
          </p:cNvPicPr>
          <p:nvPr/>
        </p:nvPicPr>
        <p:blipFill>
          <a:blip r:embed="rId10"/>
          <a:stretch>
            <a:fillRect/>
          </a:stretch>
        </p:blipFill>
        <p:spPr>
          <a:xfrm>
            <a:off x="6370320" y="612648"/>
            <a:ext cx="128016" cy="128016"/>
          </a:xfrm>
          <a:prstGeom prst="rect">
            <a:avLst/>
          </a:prstGeom>
        </p:spPr>
      </p:pic>
      <p:sp>
        <p:nvSpPr>
          <p:cNvPr id="25" name="Text 15"/>
          <p:cNvSpPr/>
          <p:nvPr/>
        </p:nvSpPr>
        <p:spPr>
          <a:xfrm>
            <a:off x="6237732" y="768096"/>
            <a:ext cx="393192" cy="128016"/>
          </a:xfrm>
          <a:prstGeom prst="rect">
            <a:avLst/>
          </a:prstGeom>
          <a:noFill/>
          <a:ln/>
        </p:spPr>
        <p:txBody>
          <a:bodyPr wrap="square" lIns="0" tIns="0" rIns="0" bIns="0" rtlCol="0" anchor="ctr"/>
          <a:lstStyle/>
          <a:p>
            <a:pPr algn="ctr"/>
            <a:r>
              <a:rPr lang="en-US" sz="280" b="1" dirty="0">
                <a:solidFill>
                  <a:srgbClr val="333333"/>
                </a:solidFill>
                <a:latin typeface="Arial" pitchFamily="34" charset="0"/>
                <a:ea typeface="Arial" pitchFamily="34" charset="-122"/>
                <a:cs typeface="Arial" pitchFamily="34" charset="-120"/>
              </a:rPr>
              <a:t>Azure</a:t>
            </a:r>
            <a:endParaRPr lang="en-US" sz="280" dirty="0"/>
          </a:p>
          <a:p>
            <a:pPr algn="ctr"/>
            <a:r>
              <a:rPr lang="en-US" sz="280" b="1" dirty="0">
                <a:solidFill>
                  <a:srgbClr val="333333"/>
                </a:solidFill>
                <a:latin typeface="Arial" pitchFamily="34" charset="0"/>
                <a:ea typeface="Arial" pitchFamily="34" charset="-122"/>
                <a:cs typeface="Arial" pitchFamily="34" charset="-120"/>
              </a:rPr>
              <a:t>Front Door</a:t>
            </a:r>
            <a:endParaRPr lang="en-US" sz="280" dirty="0"/>
          </a:p>
        </p:txBody>
      </p:sp>
      <p:sp>
        <p:nvSpPr>
          <p:cNvPr id="26" name="Shape 16"/>
          <p:cNvSpPr/>
          <p:nvPr/>
        </p:nvSpPr>
        <p:spPr>
          <a:xfrm>
            <a:off x="6658356" y="768096"/>
            <a:ext cx="45720" cy="0"/>
          </a:xfrm>
          <a:prstGeom prst="line">
            <a:avLst/>
          </a:prstGeom>
          <a:noFill/>
          <a:ln w="12700">
            <a:solidFill>
              <a:srgbClr val="2F2F2F"/>
            </a:solidFill>
            <a:prstDash val="solid"/>
            <a:tailEnd type="triangle"/>
          </a:ln>
        </p:spPr>
      </p:sp>
      <p:sp>
        <p:nvSpPr>
          <p:cNvPr id="27" name="Shape 17"/>
          <p:cNvSpPr/>
          <p:nvPr/>
        </p:nvSpPr>
        <p:spPr>
          <a:xfrm>
            <a:off x="6717792" y="557784"/>
            <a:ext cx="420624" cy="420624"/>
          </a:xfrm>
          <a:prstGeom prst="roundRect">
            <a:avLst>
              <a:gd name="adj" fmla="val 4348"/>
            </a:avLst>
          </a:prstGeom>
          <a:solidFill>
            <a:srgbClr val="FFFFFF"/>
          </a:solidFill>
          <a:ln w="12700">
            <a:solidFill>
              <a:srgbClr val="C9D6E4"/>
            </a:solidFill>
            <a:prstDash val="solid"/>
          </a:ln>
        </p:spPr>
      </p:sp>
      <p:pic>
        <p:nvPicPr>
          <p:cNvPr id="28" name="Image 8" descr="/sessions/zealous-intelligent-mayer/mnt/outputs/icons4/az_waf.png"/>
          <p:cNvPicPr>
            <a:picLocks noChangeAspect="1"/>
          </p:cNvPicPr>
          <p:nvPr/>
        </p:nvPicPr>
        <p:blipFill>
          <a:blip r:embed="rId11"/>
          <a:stretch>
            <a:fillRect/>
          </a:stretch>
        </p:blipFill>
        <p:spPr>
          <a:xfrm>
            <a:off x="6864096" y="612648"/>
            <a:ext cx="128016" cy="128016"/>
          </a:xfrm>
          <a:prstGeom prst="rect">
            <a:avLst/>
          </a:prstGeom>
        </p:spPr>
      </p:pic>
      <p:sp>
        <p:nvSpPr>
          <p:cNvPr id="29" name="Text 18"/>
          <p:cNvSpPr/>
          <p:nvPr/>
        </p:nvSpPr>
        <p:spPr>
          <a:xfrm>
            <a:off x="6731508" y="768096"/>
            <a:ext cx="393192" cy="128016"/>
          </a:xfrm>
          <a:prstGeom prst="rect">
            <a:avLst/>
          </a:prstGeom>
          <a:noFill/>
          <a:ln/>
        </p:spPr>
        <p:txBody>
          <a:bodyPr wrap="square" lIns="0" tIns="0" rIns="0" bIns="0" rtlCol="0" anchor="ctr"/>
          <a:lstStyle/>
          <a:p>
            <a:pPr algn="ctr"/>
            <a:r>
              <a:rPr lang="en-US" sz="280" b="1" dirty="0">
                <a:solidFill>
                  <a:srgbClr val="333333"/>
                </a:solidFill>
                <a:latin typeface="Arial" pitchFamily="34" charset="0"/>
                <a:ea typeface="Arial" pitchFamily="34" charset="-122"/>
                <a:cs typeface="Arial" pitchFamily="34" charset="-120"/>
              </a:rPr>
              <a:t>Azure WAF</a:t>
            </a:r>
            <a:endParaRPr lang="en-US" sz="280" dirty="0"/>
          </a:p>
        </p:txBody>
      </p:sp>
      <p:sp>
        <p:nvSpPr>
          <p:cNvPr id="30" name="Shape 19"/>
          <p:cNvSpPr/>
          <p:nvPr/>
        </p:nvSpPr>
        <p:spPr>
          <a:xfrm>
            <a:off x="7152132" y="768096"/>
            <a:ext cx="45720" cy="0"/>
          </a:xfrm>
          <a:prstGeom prst="line">
            <a:avLst/>
          </a:prstGeom>
          <a:noFill/>
          <a:ln w="12700">
            <a:solidFill>
              <a:srgbClr val="2F2F2F"/>
            </a:solidFill>
            <a:prstDash val="solid"/>
            <a:tailEnd type="triangle"/>
          </a:ln>
        </p:spPr>
      </p:sp>
      <p:sp>
        <p:nvSpPr>
          <p:cNvPr id="31" name="Shape 20"/>
          <p:cNvSpPr/>
          <p:nvPr/>
        </p:nvSpPr>
        <p:spPr>
          <a:xfrm>
            <a:off x="7211568" y="557784"/>
            <a:ext cx="484632" cy="420624"/>
          </a:xfrm>
          <a:prstGeom prst="roundRect">
            <a:avLst>
              <a:gd name="adj" fmla="val 4348"/>
            </a:avLst>
          </a:prstGeom>
          <a:solidFill>
            <a:srgbClr val="FFFFFF"/>
          </a:solidFill>
          <a:ln w="12700">
            <a:solidFill>
              <a:srgbClr val="C9D6E4"/>
            </a:solidFill>
            <a:prstDash val="solid"/>
          </a:ln>
        </p:spPr>
      </p:sp>
      <p:pic>
        <p:nvPicPr>
          <p:cNvPr id="32" name="Image 9" descr="/sessions/zealous-intelligent-mayer/mnt/outputs/icons4/az_apim.png"/>
          <p:cNvPicPr>
            <a:picLocks noChangeAspect="1"/>
          </p:cNvPicPr>
          <p:nvPr/>
        </p:nvPicPr>
        <p:blipFill>
          <a:blip r:embed="rId12"/>
          <a:stretch>
            <a:fillRect/>
          </a:stretch>
        </p:blipFill>
        <p:spPr>
          <a:xfrm>
            <a:off x="7389876" y="612648"/>
            <a:ext cx="128016" cy="128016"/>
          </a:xfrm>
          <a:prstGeom prst="rect">
            <a:avLst/>
          </a:prstGeom>
        </p:spPr>
      </p:pic>
      <p:sp>
        <p:nvSpPr>
          <p:cNvPr id="33" name="Text 21"/>
          <p:cNvSpPr/>
          <p:nvPr/>
        </p:nvSpPr>
        <p:spPr>
          <a:xfrm>
            <a:off x="7225284" y="768096"/>
            <a:ext cx="457200" cy="128016"/>
          </a:xfrm>
          <a:prstGeom prst="rect">
            <a:avLst/>
          </a:prstGeom>
          <a:noFill/>
          <a:ln/>
        </p:spPr>
        <p:txBody>
          <a:bodyPr wrap="square" lIns="0" tIns="0" rIns="0" bIns="0" rtlCol="0" anchor="ctr"/>
          <a:lstStyle/>
          <a:p>
            <a:pPr algn="ctr"/>
            <a:r>
              <a:rPr lang="en-US" sz="280" b="1" dirty="0">
                <a:solidFill>
                  <a:srgbClr val="333333"/>
                </a:solidFill>
                <a:latin typeface="Arial" pitchFamily="34" charset="0"/>
                <a:ea typeface="Arial" pitchFamily="34" charset="-122"/>
                <a:cs typeface="Arial" pitchFamily="34" charset="-120"/>
              </a:rPr>
              <a:t>Azure API</a:t>
            </a:r>
            <a:endParaRPr lang="en-US" sz="280" dirty="0"/>
          </a:p>
          <a:p>
            <a:pPr algn="ctr"/>
            <a:r>
              <a:rPr lang="en-US" sz="280" b="1" dirty="0">
                <a:solidFill>
                  <a:srgbClr val="333333"/>
                </a:solidFill>
                <a:latin typeface="Arial" pitchFamily="34" charset="0"/>
                <a:ea typeface="Arial" pitchFamily="34" charset="-122"/>
                <a:cs typeface="Arial" pitchFamily="34" charset="-120"/>
              </a:rPr>
              <a:t>Management</a:t>
            </a:r>
            <a:endParaRPr lang="en-US" sz="280" dirty="0"/>
          </a:p>
        </p:txBody>
      </p:sp>
      <p:sp>
        <p:nvSpPr>
          <p:cNvPr id="34" name="Shape 22"/>
          <p:cNvSpPr/>
          <p:nvPr/>
        </p:nvSpPr>
        <p:spPr>
          <a:xfrm>
            <a:off x="7709916" y="768096"/>
            <a:ext cx="45720" cy="0"/>
          </a:xfrm>
          <a:prstGeom prst="line">
            <a:avLst/>
          </a:prstGeom>
          <a:noFill/>
          <a:ln w="12700">
            <a:solidFill>
              <a:srgbClr val="2F2F2F"/>
            </a:solidFill>
            <a:prstDash val="solid"/>
            <a:tailEnd type="triangle"/>
          </a:ln>
        </p:spPr>
      </p:sp>
      <p:sp>
        <p:nvSpPr>
          <p:cNvPr id="35" name="Shape 23"/>
          <p:cNvSpPr/>
          <p:nvPr/>
        </p:nvSpPr>
        <p:spPr>
          <a:xfrm>
            <a:off x="7769352" y="557784"/>
            <a:ext cx="521208" cy="420624"/>
          </a:xfrm>
          <a:prstGeom prst="roundRect">
            <a:avLst>
              <a:gd name="adj" fmla="val 4348"/>
            </a:avLst>
          </a:prstGeom>
          <a:solidFill>
            <a:srgbClr val="FFFFFF"/>
          </a:solidFill>
          <a:ln w="12700">
            <a:solidFill>
              <a:srgbClr val="C9D6E4"/>
            </a:solidFill>
            <a:prstDash val="solid"/>
          </a:ln>
        </p:spPr>
      </p:sp>
      <p:pic>
        <p:nvPicPr>
          <p:cNvPr id="36" name="Image 10" descr="/sessions/zealous-intelligent-mayer/mnt/outputs/icons4/az_id.png"/>
          <p:cNvPicPr>
            <a:picLocks noChangeAspect="1"/>
          </p:cNvPicPr>
          <p:nvPr/>
        </p:nvPicPr>
        <p:blipFill>
          <a:blip r:embed="rId13"/>
          <a:stretch>
            <a:fillRect/>
          </a:stretch>
        </p:blipFill>
        <p:spPr>
          <a:xfrm>
            <a:off x="7965948" y="612648"/>
            <a:ext cx="128016" cy="128016"/>
          </a:xfrm>
          <a:prstGeom prst="rect">
            <a:avLst/>
          </a:prstGeom>
        </p:spPr>
      </p:pic>
      <p:sp>
        <p:nvSpPr>
          <p:cNvPr id="37" name="Text 24"/>
          <p:cNvSpPr/>
          <p:nvPr/>
        </p:nvSpPr>
        <p:spPr>
          <a:xfrm>
            <a:off x="7783068" y="768096"/>
            <a:ext cx="493776" cy="128016"/>
          </a:xfrm>
          <a:prstGeom prst="rect">
            <a:avLst/>
          </a:prstGeom>
          <a:noFill/>
          <a:ln/>
        </p:spPr>
        <p:txBody>
          <a:bodyPr wrap="square" lIns="0" tIns="0" rIns="0" bIns="0" rtlCol="0" anchor="ctr"/>
          <a:lstStyle/>
          <a:p>
            <a:pPr algn="ctr"/>
            <a:r>
              <a:rPr lang="en-US" sz="280" b="1" dirty="0">
                <a:solidFill>
                  <a:srgbClr val="333333"/>
                </a:solidFill>
                <a:latin typeface="Arial" pitchFamily="34" charset="0"/>
                <a:ea typeface="Arial" pitchFamily="34" charset="-122"/>
                <a:cs typeface="Arial" pitchFamily="34" charset="-120"/>
              </a:rPr>
              <a:t>Microsoft Entra ID</a:t>
            </a:r>
            <a:endParaRPr lang="en-US" sz="280" dirty="0"/>
          </a:p>
          <a:p>
            <a:pPr algn="ctr"/>
            <a:r>
              <a:rPr lang="en-US" sz="280" b="1" dirty="0">
                <a:solidFill>
                  <a:srgbClr val="333333"/>
                </a:solidFill>
                <a:latin typeface="Arial" pitchFamily="34" charset="0"/>
                <a:ea typeface="Arial" pitchFamily="34" charset="-122"/>
                <a:cs typeface="Arial" pitchFamily="34" charset="-120"/>
              </a:rPr>
              <a:t>(AuthN / AuthZ)</a:t>
            </a:r>
            <a:endParaRPr lang="en-US" sz="280" dirty="0"/>
          </a:p>
        </p:txBody>
      </p:sp>
      <p:sp>
        <p:nvSpPr>
          <p:cNvPr id="38" name="Shape 25"/>
          <p:cNvSpPr/>
          <p:nvPr/>
        </p:nvSpPr>
        <p:spPr>
          <a:xfrm>
            <a:off x="6077712" y="768096"/>
            <a:ext cx="132588" cy="0"/>
          </a:xfrm>
          <a:prstGeom prst="line">
            <a:avLst/>
          </a:prstGeom>
          <a:noFill/>
          <a:ln w="12700">
            <a:solidFill>
              <a:srgbClr val="2F2F2F"/>
            </a:solidFill>
            <a:prstDash val="solid"/>
            <a:tailEnd type="triangle"/>
          </a:ln>
        </p:spPr>
      </p:sp>
      <p:sp>
        <p:nvSpPr>
          <p:cNvPr id="39" name="Shape 26"/>
          <p:cNvSpPr/>
          <p:nvPr/>
        </p:nvSpPr>
        <p:spPr>
          <a:xfrm>
            <a:off x="3883152" y="1060704"/>
            <a:ext cx="4425696" cy="1591056"/>
          </a:xfrm>
          <a:prstGeom prst="roundRect">
            <a:avLst>
              <a:gd name="adj" fmla="val 1437"/>
            </a:avLst>
          </a:prstGeom>
          <a:solidFill>
            <a:srgbClr val="FFFFFF"/>
          </a:solidFill>
          <a:ln w="12700">
            <a:solidFill>
              <a:srgbClr val="C9D6E4"/>
            </a:solidFill>
            <a:prstDash val="solid"/>
          </a:ln>
        </p:spPr>
      </p:sp>
      <p:sp>
        <p:nvSpPr>
          <p:cNvPr id="40" name="Text 27"/>
          <p:cNvSpPr/>
          <p:nvPr/>
        </p:nvSpPr>
        <p:spPr>
          <a:xfrm>
            <a:off x="3947160" y="1088136"/>
            <a:ext cx="2468880" cy="91440"/>
          </a:xfrm>
          <a:prstGeom prst="rect">
            <a:avLst/>
          </a:prstGeom>
          <a:noFill/>
          <a:ln/>
        </p:spPr>
        <p:txBody>
          <a:bodyPr wrap="square" lIns="0" tIns="0" rIns="0" bIns="0" rtlCol="0" anchor="ctr"/>
          <a:lstStyle/>
          <a:p>
            <a:r>
              <a:rPr lang="en-US" sz="500" b="1" dirty="0">
                <a:solidFill>
                  <a:srgbClr val="1F6FB2"/>
                </a:solidFill>
                <a:latin typeface="Arial" pitchFamily="34" charset="0"/>
                <a:ea typeface="Arial" pitchFamily="34" charset="-122"/>
                <a:cs typeface="Arial" pitchFamily="34" charset="-120"/>
              </a:rPr>
              <a:t>2. AGENT ORCHESTRATION</a:t>
            </a:r>
            <a:endParaRPr lang="en-US" sz="500" dirty="0"/>
          </a:p>
        </p:txBody>
      </p:sp>
      <p:sp>
        <p:nvSpPr>
          <p:cNvPr id="41" name="Text 28"/>
          <p:cNvSpPr/>
          <p:nvPr/>
        </p:nvSpPr>
        <p:spPr>
          <a:xfrm>
            <a:off x="4916424" y="1092708"/>
            <a:ext cx="640080" cy="82296"/>
          </a:xfrm>
          <a:prstGeom prst="rect">
            <a:avLst/>
          </a:prstGeom>
          <a:noFill/>
          <a:ln/>
        </p:spPr>
        <p:txBody>
          <a:bodyPr wrap="square" lIns="0" tIns="0" rIns="0" bIns="0" rtlCol="0" anchor="ctr"/>
          <a:lstStyle/>
          <a:p>
            <a:r>
              <a:rPr lang="en-US" sz="375" b="1" dirty="0">
                <a:solidFill>
                  <a:srgbClr val="6B7683"/>
                </a:solidFill>
                <a:latin typeface="Arial" pitchFamily="34" charset="0"/>
                <a:ea typeface="Arial" pitchFamily="34" charset="-122"/>
                <a:cs typeface="Arial" pitchFamily="34" charset="-120"/>
              </a:rPr>
              <a:t>(CONTROL PLANE)</a:t>
            </a:r>
            <a:endParaRPr lang="en-US" sz="375" dirty="0"/>
          </a:p>
        </p:txBody>
      </p:sp>
      <p:sp>
        <p:nvSpPr>
          <p:cNvPr id="42" name="Shape 29"/>
          <p:cNvSpPr/>
          <p:nvPr/>
        </p:nvSpPr>
        <p:spPr>
          <a:xfrm>
            <a:off x="3947160" y="1344168"/>
            <a:ext cx="713232" cy="640080"/>
          </a:xfrm>
          <a:prstGeom prst="roundRect">
            <a:avLst>
              <a:gd name="adj" fmla="val 2857"/>
            </a:avLst>
          </a:prstGeom>
          <a:solidFill>
            <a:srgbClr val="EAF3FB"/>
          </a:solidFill>
          <a:ln w="12700">
            <a:solidFill>
              <a:srgbClr val="BBD6EC"/>
            </a:solidFill>
            <a:prstDash val="solid"/>
          </a:ln>
        </p:spPr>
      </p:sp>
      <p:sp>
        <p:nvSpPr>
          <p:cNvPr id="43" name="Text 30"/>
          <p:cNvSpPr/>
          <p:nvPr/>
        </p:nvSpPr>
        <p:spPr>
          <a:xfrm>
            <a:off x="3965448" y="1380744"/>
            <a:ext cx="676656" cy="118872"/>
          </a:xfrm>
          <a:prstGeom prst="rect">
            <a:avLst/>
          </a:prstGeom>
          <a:noFill/>
          <a:ln/>
        </p:spPr>
        <p:txBody>
          <a:bodyPr wrap="square" lIns="0" tIns="0" rIns="0" bIns="0" rtlCol="0" anchor="ctr"/>
          <a:lstStyle/>
          <a:p>
            <a:pPr algn="ctr"/>
            <a:r>
              <a:rPr lang="en-US" sz="310" b="1" dirty="0">
                <a:solidFill>
                  <a:srgbClr val="0B2545"/>
                </a:solidFill>
                <a:latin typeface="Arial" pitchFamily="34" charset="0"/>
                <a:ea typeface="Arial" pitchFamily="34" charset="-122"/>
                <a:cs typeface="Arial" pitchFamily="34" charset="-120"/>
              </a:rPr>
              <a:t>INTENT UNDERSTANDING</a:t>
            </a:r>
            <a:endParaRPr lang="en-US" sz="310" dirty="0"/>
          </a:p>
          <a:p>
            <a:pPr algn="ctr"/>
            <a:r>
              <a:rPr lang="en-US" sz="310" b="1" dirty="0">
                <a:solidFill>
                  <a:srgbClr val="0B2545"/>
                </a:solidFill>
                <a:latin typeface="Arial" pitchFamily="34" charset="0"/>
                <a:ea typeface="Arial" pitchFamily="34" charset="-122"/>
                <a:cs typeface="Arial" pitchFamily="34" charset="-120"/>
              </a:rPr>
              <a:t>&amp; GOAL PARSING</a:t>
            </a:r>
            <a:endParaRPr lang="en-US" sz="310" dirty="0"/>
          </a:p>
        </p:txBody>
      </p:sp>
      <p:pic>
        <p:nvPicPr>
          <p:cNvPr id="44" name="Image 11" descr="/sessions/zealous-intelligent-mayer/mnt/outputs/icons4/s2_intent.png"/>
          <p:cNvPicPr>
            <a:picLocks noChangeAspect="1"/>
          </p:cNvPicPr>
          <p:nvPr/>
        </p:nvPicPr>
        <p:blipFill>
          <a:blip r:embed="rId14"/>
          <a:stretch>
            <a:fillRect/>
          </a:stretch>
        </p:blipFill>
        <p:spPr>
          <a:xfrm>
            <a:off x="4230624" y="1563624"/>
            <a:ext cx="146304" cy="146304"/>
          </a:xfrm>
          <a:prstGeom prst="rect">
            <a:avLst/>
          </a:prstGeom>
        </p:spPr>
      </p:pic>
      <p:sp>
        <p:nvSpPr>
          <p:cNvPr id="45" name="Text 31"/>
          <p:cNvSpPr/>
          <p:nvPr/>
        </p:nvSpPr>
        <p:spPr>
          <a:xfrm>
            <a:off x="3965448" y="1764792"/>
            <a:ext cx="676656" cy="128016"/>
          </a:xfrm>
          <a:prstGeom prst="rect">
            <a:avLst/>
          </a:prstGeom>
          <a:noFill/>
          <a:ln/>
        </p:spPr>
        <p:txBody>
          <a:bodyPr wrap="square" lIns="0" tIns="0" rIns="0" bIns="0" rtlCol="0" anchor="ctr"/>
          <a:lstStyle/>
          <a:p>
            <a:pPr algn="ctr"/>
            <a:r>
              <a:rPr lang="en-US" sz="290" dirty="0">
                <a:solidFill>
                  <a:srgbClr val="333333"/>
                </a:solidFill>
                <a:latin typeface="Arial" pitchFamily="34" charset="0"/>
                <a:ea typeface="Arial" pitchFamily="34" charset="-122"/>
                <a:cs typeface="Arial" pitchFamily="34" charset="-120"/>
              </a:rPr>
              <a:t>Azure OpenAI (GPT-4.1)</a:t>
            </a:r>
            <a:endParaRPr lang="en-US" sz="290" dirty="0"/>
          </a:p>
          <a:p>
            <a:pPr algn="ctr"/>
            <a:r>
              <a:rPr lang="en-US" sz="290" dirty="0">
                <a:solidFill>
                  <a:srgbClr val="333333"/>
                </a:solidFill>
                <a:latin typeface="Arial" pitchFamily="34" charset="0"/>
                <a:ea typeface="Arial" pitchFamily="34" charset="-122"/>
                <a:cs typeface="Arial" pitchFamily="34" charset="-120"/>
              </a:rPr>
              <a:t>or Ball fine-tuned model</a:t>
            </a:r>
            <a:endParaRPr lang="en-US" sz="290" dirty="0"/>
          </a:p>
        </p:txBody>
      </p:sp>
      <p:sp>
        <p:nvSpPr>
          <p:cNvPr id="46" name="Shape 32"/>
          <p:cNvSpPr/>
          <p:nvPr/>
        </p:nvSpPr>
        <p:spPr>
          <a:xfrm>
            <a:off x="4706112" y="1271016"/>
            <a:ext cx="2724912" cy="987552"/>
          </a:xfrm>
          <a:prstGeom prst="roundRect">
            <a:avLst>
              <a:gd name="adj" fmla="val 2315"/>
            </a:avLst>
          </a:prstGeom>
          <a:solidFill>
            <a:srgbClr val="FFFFFF">
              <a:alpha val="0"/>
            </a:srgbClr>
          </a:solidFill>
          <a:ln w="12700">
            <a:solidFill>
              <a:srgbClr val="1F6FB2"/>
            </a:solidFill>
            <a:prstDash val="dash"/>
          </a:ln>
        </p:spPr>
      </p:sp>
      <p:sp>
        <p:nvSpPr>
          <p:cNvPr id="47" name="Text 33"/>
          <p:cNvSpPr/>
          <p:nvPr/>
        </p:nvSpPr>
        <p:spPr>
          <a:xfrm>
            <a:off x="4706112" y="1298448"/>
            <a:ext cx="2724912" cy="82296"/>
          </a:xfrm>
          <a:prstGeom prst="rect">
            <a:avLst/>
          </a:prstGeom>
          <a:noFill/>
          <a:ln/>
        </p:spPr>
        <p:txBody>
          <a:bodyPr wrap="square" lIns="0" tIns="0" rIns="0" bIns="0" rtlCol="0" anchor="ctr"/>
          <a:lstStyle/>
          <a:p>
            <a:pPr algn="ctr"/>
            <a:r>
              <a:rPr lang="en-US" sz="425" b="1" dirty="0">
                <a:solidFill>
                  <a:srgbClr val="1B5E96"/>
                </a:solidFill>
                <a:latin typeface="Arial" pitchFamily="34" charset="0"/>
                <a:ea typeface="Arial" pitchFamily="34" charset="-122"/>
                <a:cs typeface="Arial" pitchFamily="34" charset="-120"/>
              </a:rPr>
              <a:t>REACT LOOP (ITERATIVE UNTIL GOAL ACHIEVED)</a:t>
            </a:r>
            <a:endParaRPr lang="en-US" sz="425" dirty="0"/>
          </a:p>
        </p:txBody>
      </p:sp>
      <p:sp>
        <p:nvSpPr>
          <p:cNvPr id="48" name="Shape 34"/>
          <p:cNvSpPr/>
          <p:nvPr/>
        </p:nvSpPr>
        <p:spPr>
          <a:xfrm>
            <a:off x="4760976" y="1399032"/>
            <a:ext cx="612648" cy="466344"/>
          </a:xfrm>
          <a:prstGeom prst="roundRect">
            <a:avLst>
              <a:gd name="adj" fmla="val 3922"/>
            </a:avLst>
          </a:prstGeom>
          <a:solidFill>
            <a:srgbClr val="FFFFFF"/>
          </a:solidFill>
          <a:ln w="12700">
            <a:solidFill>
              <a:srgbClr val="BBD6EC"/>
            </a:solidFill>
            <a:prstDash val="solid"/>
          </a:ln>
        </p:spPr>
      </p:sp>
      <p:sp>
        <p:nvSpPr>
          <p:cNvPr id="49" name="Shape 35"/>
          <p:cNvSpPr/>
          <p:nvPr/>
        </p:nvSpPr>
        <p:spPr>
          <a:xfrm>
            <a:off x="4792980" y="1431036"/>
            <a:ext cx="77724" cy="77724"/>
          </a:xfrm>
          <a:prstGeom prst="roundRect">
            <a:avLst>
              <a:gd name="adj" fmla="val 50000"/>
            </a:avLst>
          </a:prstGeom>
          <a:solidFill>
            <a:srgbClr val="1B5E96"/>
          </a:solidFill>
          <a:ln/>
        </p:spPr>
      </p:sp>
      <p:sp>
        <p:nvSpPr>
          <p:cNvPr id="50" name="Text 36"/>
          <p:cNvSpPr/>
          <p:nvPr/>
        </p:nvSpPr>
        <p:spPr>
          <a:xfrm>
            <a:off x="4792980" y="1435608"/>
            <a:ext cx="77724" cy="68580"/>
          </a:xfrm>
          <a:prstGeom prst="rect">
            <a:avLst/>
          </a:prstGeom>
          <a:noFill/>
          <a:ln/>
        </p:spPr>
        <p:txBody>
          <a:bodyPr wrap="square" lIns="0" tIns="0" rIns="0" bIns="0" rtlCol="0" anchor="ctr"/>
          <a:lstStyle/>
          <a:p>
            <a:pPr algn="ctr"/>
            <a:r>
              <a:rPr lang="en-US" sz="300" b="1" dirty="0">
                <a:solidFill>
                  <a:srgbClr val="FFFFFF"/>
                </a:solidFill>
                <a:latin typeface="Arial" pitchFamily="34" charset="0"/>
                <a:ea typeface="Arial" pitchFamily="34" charset="-122"/>
                <a:cs typeface="Arial" pitchFamily="34" charset="-120"/>
              </a:rPr>
              <a:t>1</a:t>
            </a:r>
            <a:endParaRPr lang="en-US" sz="300" dirty="0"/>
          </a:p>
        </p:txBody>
      </p:sp>
      <p:sp>
        <p:nvSpPr>
          <p:cNvPr id="51" name="Text 37"/>
          <p:cNvSpPr/>
          <p:nvPr/>
        </p:nvSpPr>
        <p:spPr>
          <a:xfrm>
            <a:off x="4888992" y="1431036"/>
            <a:ext cx="457200" cy="77724"/>
          </a:xfrm>
          <a:prstGeom prst="rect">
            <a:avLst/>
          </a:prstGeom>
          <a:noFill/>
          <a:ln/>
        </p:spPr>
        <p:txBody>
          <a:bodyPr wrap="square" lIns="0" tIns="0" rIns="0" bIns="0" rtlCol="0" anchor="ctr"/>
          <a:lstStyle/>
          <a:p>
            <a:r>
              <a:rPr lang="en-US" sz="350" b="1" dirty="0">
                <a:solidFill>
                  <a:srgbClr val="0B2545"/>
                </a:solidFill>
                <a:latin typeface="Arial" pitchFamily="34" charset="0"/>
                <a:ea typeface="Arial" pitchFamily="34" charset="-122"/>
                <a:cs typeface="Arial" pitchFamily="34" charset="-120"/>
              </a:rPr>
              <a:t>RETRIEVE</a:t>
            </a:r>
            <a:endParaRPr lang="en-US" sz="350" dirty="0"/>
          </a:p>
        </p:txBody>
      </p:sp>
      <p:pic>
        <p:nvPicPr>
          <p:cNvPr id="52" name="Image 12" descr="/sessions/zealous-intelligent-mayer/mnt/outputs/icons4/s2_ret.png"/>
          <p:cNvPicPr>
            <a:picLocks noChangeAspect="1"/>
          </p:cNvPicPr>
          <p:nvPr/>
        </p:nvPicPr>
        <p:blipFill>
          <a:blip r:embed="rId15"/>
          <a:stretch>
            <a:fillRect/>
          </a:stretch>
        </p:blipFill>
        <p:spPr>
          <a:xfrm>
            <a:off x="4797552" y="1563624"/>
            <a:ext cx="109728" cy="109728"/>
          </a:xfrm>
          <a:prstGeom prst="rect">
            <a:avLst/>
          </a:prstGeom>
        </p:spPr>
      </p:pic>
      <p:sp>
        <p:nvSpPr>
          <p:cNvPr id="53" name="Text 38"/>
          <p:cNvSpPr/>
          <p:nvPr/>
        </p:nvSpPr>
        <p:spPr>
          <a:xfrm>
            <a:off x="4925568" y="1545336"/>
            <a:ext cx="420624" cy="283464"/>
          </a:xfrm>
          <a:prstGeom prst="rect">
            <a:avLst/>
          </a:prstGeom>
          <a:noFill/>
          <a:ln/>
        </p:spPr>
        <p:txBody>
          <a:bodyPr wrap="square" lIns="0" tIns="0" rIns="0" bIns="0" rtlCol="0" anchor="ctr"/>
          <a:lstStyle/>
          <a:p>
            <a:pPr>
              <a:lnSpc>
                <a:spcPct val="102000"/>
              </a:lnSpc>
            </a:pPr>
            <a:r>
              <a:rPr lang="en-US" sz="280" dirty="0">
                <a:solidFill>
                  <a:srgbClr val="333333"/>
                </a:solidFill>
                <a:latin typeface="Arial" pitchFamily="34" charset="0"/>
                <a:ea typeface="Arial" pitchFamily="34" charset="-122"/>
                <a:cs typeface="Arial" pitchFamily="34" charset="-120"/>
              </a:rPr>
              <a:t>Hybrid Search</a:t>
            </a:r>
            <a:endParaRPr lang="en-US" sz="280" dirty="0"/>
          </a:p>
          <a:p>
            <a:pPr>
              <a:lnSpc>
                <a:spcPct val="102000"/>
              </a:lnSpc>
            </a:pPr>
            <a:r>
              <a:rPr lang="en-US" sz="280" dirty="0">
                <a:solidFill>
                  <a:srgbClr val="333333"/>
                </a:solidFill>
                <a:latin typeface="Arial" pitchFamily="34" charset="0"/>
                <a:ea typeface="Arial" pitchFamily="34" charset="-122"/>
                <a:cs typeface="Arial" pitchFamily="34" charset="-120"/>
              </a:rPr>
              <a:t>(Vector + BM25)</a:t>
            </a:r>
            <a:endParaRPr lang="en-US" sz="280" dirty="0"/>
          </a:p>
          <a:p>
            <a:pPr>
              <a:lnSpc>
                <a:spcPct val="102000"/>
              </a:lnSpc>
            </a:pPr>
            <a:r>
              <a:rPr lang="en-US" sz="280" dirty="0">
                <a:solidFill>
                  <a:srgbClr val="333333"/>
                </a:solidFill>
                <a:latin typeface="Arial" pitchFamily="34" charset="0"/>
                <a:ea typeface="Arial" pitchFamily="34" charset="-122"/>
                <a:cs typeface="Arial" pitchFamily="34" charset="-120"/>
              </a:rPr>
              <a:t>Filters · Reranking</a:t>
            </a:r>
            <a:endParaRPr lang="en-US" sz="280" dirty="0"/>
          </a:p>
        </p:txBody>
      </p:sp>
      <p:sp>
        <p:nvSpPr>
          <p:cNvPr id="54" name="Shape 39"/>
          <p:cNvSpPr/>
          <p:nvPr/>
        </p:nvSpPr>
        <p:spPr>
          <a:xfrm>
            <a:off x="5387340" y="1632204"/>
            <a:ext cx="45720" cy="0"/>
          </a:xfrm>
          <a:prstGeom prst="line">
            <a:avLst/>
          </a:prstGeom>
          <a:noFill/>
          <a:ln w="12700">
            <a:solidFill>
              <a:srgbClr val="2F2F2F"/>
            </a:solidFill>
            <a:prstDash val="solid"/>
            <a:tailEnd type="triangle"/>
          </a:ln>
        </p:spPr>
      </p:sp>
      <p:sp>
        <p:nvSpPr>
          <p:cNvPr id="55" name="Shape 40"/>
          <p:cNvSpPr/>
          <p:nvPr/>
        </p:nvSpPr>
        <p:spPr>
          <a:xfrm>
            <a:off x="5446776" y="1399032"/>
            <a:ext cx="630936" cy="466344"/>
          </a:xfrm>
          <a:prstGeom prst="roundRect">
            <a:avLst>
              <a:gd name="adj" fmla="val 3922"/>
            </a:avLst>
          </a:prstGeom>
          <a:solidFill>
            <a:srgbClr val="FFFFFF"/>
          </a:solidFill>
          <a:ln w="12700">
            <a:solidFill>
              <a:srgbClr val="BBD6EC"/>
            </a:solidFill>
            <a:prstDash val="solid"/>
          </a:ln>
        </p:spPr>
      </p:sp>
      <p:sp>
        <p:nvSpPr>
          <p:cNvPr id="56" name="Shape 41"/>
          <p:cNvSpPr/>
          <p:nvPr/>
        </p:nvSpPr>
        <p:spPr>
          <a:xfrm>
            <a:off x="5478780" y="1431036"/>
            <a:ext cx="77724" cy="77724"/>
          </a:xfrm>
          <a:prstGeom prst="roundRect">
            <a:avLst>
              <a:gd name="adj" fmla="val 50000"/>
            </a:avLst>
          </a:prstGeom>
          <a:solidFill>
            <a:srgbClr val="1B5E96"/>
          </a:solidFill>
          <a:ln/>
        </p:spPr>
      </p:sp>
      <p:sp>
        <p:nvSpPr>
          <p:cNvPr id="57" name="Text 42"/>
          <p:cNvSpPr/>
          <p:nvPr/>
        </p:nvSpPr>
        <p:spPr>
          <a:xfrm>
            <a:off x="5478780" y="1435608"/>
            <a:ext cx="77724" cy="68580"/>
          </a:xfrm>
          <a:prstGeom prst="rect">
            <a:avLst/>
          </a:prstGeom>
          <a:noFill/>
          <a:ln/>
        </p:spPr>
        <p:txBody>
          <a:bodyPr wrap="square" lIns="0" tIns="0" rIns="0" bIns="0" rtlCol="0" anchor="ctr"/>
          <a:lstStyle/>
          <a:p>
            <a:pPr algn="ctr"/>
            <a:r>
              <a:rPr lang="en-US" sz="300" b="1" dirty="0">
                <a:solidFill>
                  <a:srgbClr val="FFFFFF"/>
                </a:solidFill>
                <a:latin typeface="Arial" pitchFamily="34" charset="0"/>
                <a:ea typeface="Arial" pitchFamily="34" charset="-122"/>
                <a:cs typeface="Arial" pitchFamily="34" charset="-120"/>
              </a:rPr>
              <a:t>2</a:t>
            </a:r>
            <a:endParaRPr lang="en-US" sz="300" dirty="0"/>
          </a:p>
        </p:txBody>
      </p:sp>
      <p:sp>
        <p:nvSpPr>
          <p:cNvPr id="58" name="Text 43"/>
          <p:cNvSpPr/>
          <p:nvPr/>
        </p:nvSpPr>
        <p:spPr>
          <a:xfrm>
            <a:off x="5574792" y="1431036"/>
            <a:ext cx="475488" cy="77724"/>
          </a:xfrm>
          <a:prstGeom prst="rect">
            <a:avLst/>
          </a:prstGeom>
          <a:noFill/>
          <a:ln/>
        </p:spPr>
        <p:txBody>
          <a:bodyPr wrap="square" lIns="0" tIns="0" rIns="0" bIns="0" rtlCol="0" anchor="ctr"/>
          <a:lstStyle/>
          <a:p>
            <a:r>
              <a:rPr lang="en-US" sz="350" b="1" dirty="0">
                <a:solidFill>
                  <a:srgbClr val="0B2545"/>
                </a:solidFill>
                <a:latin typeface="Arial" pitchFamily="34" charset="0"/>
                <a:ea typeface="Arial" pitchFamily="34" charset="-122"/>
                <a:cs typeface="Arial" pitchFamily="34" charset="-120"/>
              </a:rPr>
              <a:t>REASON &amp; PLAN</a:t>
            </a:r>
            <a:endParaRPr lang="en-US" sz="350" dirty="0"/>
          </a:p>
        </p:txBody>
      </p:sp>
      <p:pic>
        <p:nvPicPr>
          <p:cNvPr id="59" name="Image 13" descr="/sessions/zealous-intelligent-mayer/mnt/outputs/icons4/s2_reason.png"/>
          <p:cNvPicPr>
            <a:picLocks noChangeAspect="1"/>
          </p:cNvPicPr>
          <p:nvPr/>
        </p:nvPicPr>
        <p:blipFill>
          <a:blip r:embed="rId16"/>
          <a:stretch>
            <a:fillRect/>
          </a:stretch>
        </p:blipFill>
        <p:spPr>
          <a:xfrm>
            <a:off x="5483352" y="1563624"/>
            <a:ext cx="109728" cy="109728"/>
          </a:xfrm>
          <a:prstGeom prst="rect">
            <a:avLst/>
          </a:prstGeom>
        </p:spPr>
      </p:pic>
      <p:sp>
        <p:nvSpPr>
          <p:cNvPr id="60" name="Text 44"/>
          <p:cNvSpPr/>
          <p:nvPr/>
        </p:nvSpPr>
        <p:spPr>
          <a:xfrm>
            <a:off x="5611368" y="1545336"/>
            <a:ext cx="438912" cy="283464"/>
          </a:xfrm>
          <a:prstGeom prst="rect">
            <a:avLst/>
          </a:prstGeom>
          <a:noFill/>
          <a:ln/>
        </p:spPr>
        <p:txBody>
          <a:bodyPr wrap="square" lIns="0" tIns="0" rIns="0" bIns="0" rtlCol="0" anchor="ctr"/>
          <a:lstStyle/>
          <a:p>
            <a:pPr>
              <a:lnSpc>
                <a:spcPct val="102000"/>
              </a:lnSpc>
            </a:pPr>
            <a:r>
              <a:rPr lang="en-US" sz="280" dirty="0">
                <a:solidFill>
                  <a:srgbClr val="333333"/>
                </a:solidFill>
                <a:latin typeface="Arial" pitchFamily="34" charset="0"/>
                <a:ea typeface="Arial" pitchFamily="34" charset="-122"/>
                <a:cs typeface="Arial" pitchFamily="34" charset="-120"/>
              </a:rPr>
              <a:t>Decide next action</a:t>
            </a:r>
            <a:endParaRPr lang="en-US" sz="280" dirty="0"/>
          </a:p>
          <a:p>
            <a:pPr>
              <a:lnSpc>
                <a:spcPct val="102000"/>
              </a:lnSpc>
            </a:pPr>
            <a:r>
              <a:rPr lang="en-US" sz="280" dirty="0">
                <a:solidFill>
                  <a:srgbClr val="333333"/>
                </a:solidFill>
                <a:latin typeface="Arial" pitchFamily="34" charset="0"/>
                <a:ea typeface="Arial" pitchFamily="34" charset="-122"/>
                <a:cs typeface="Arial" pitchFamily="34" charset="-120"/>
              </a:rPr>
              <a:t>(Thought / Plan)</a:t>
            </a:r>
            <a:endParaRPr lang="en-US" sz="280" dirty="0"/>
          </a:p>
        </p:txBody>
      </p:sp>
      <p:sp>
        <p:nvSpPr>
          <p:cNvPr id="61" name="Shape 45"/>
          <p:cNvSpPr/>
          <p:nvPr/>
        </p:nvSpPr>
        <p:spPr>
          <a:xfrm>
            <a:off x="6091428" y="1632204"/>
            <a:ext cx="45720" cy="0"/>
          </a:xfrm>
          <a:prstGeom prst="line">
            <a:avLst/>
          </a:prstGeom>
          <a:noFill/>
          <a:ln w="12700">
            <a:solidFill>
              <a:srgbClr val="2F2F2F"/>
            </a:solidFill>
            <a:prstDash val="solid"/>
            <a:tailEnd type="triangle"/>
          </a:ln>
        </p:spPr>
      </p:sp>
      <p:sp>
        <p:nvSpPr>
          <p:cNvPr id="62" name="Shape 46"/>
          <p:cNvSpPr/>
          <p:nvPr/>
        </p:nvSpPr>
        <p:spPr>
          <a:xfrm>
            <a:off x="6150864" y="1399032"/>
            <a:ext cx="594360" cy="466344"/>
          </a:xfrm>
          <a:prstGeom prst="roundRect">
            <a:avLst>
              <a:gd name="adj" fmla="val 3922"/>
            </a:avLst>
          </a:prstGeom>
          <a:solidFill>
            <a:srgbClr val="FFFFFF"/>
          </a:solidFill>
          <a:ln w="12700">
            <a:solidFill>
              <a:srgbClr val="BBD6EC"/>
            </a:solidFill>
            <a:prstDash val="solid"/>
          </a:ln>
        </p:spPr>
      </p:sp>
      <p:sp>
        <p:nvSpPr>
          <p:cNvPr id="63" name="Shape 47"/>
          <p:cNvSpPr/>
          <p:nvPr/>
        </p:nvSpPr>
        <p:spPr>
          <a:xfrm>
            <a:off x="6182868" y="1431036"/>
            <a:ext cx="77724" cy="77724"/>
          </a:xfrm>
          <a:prstGeom prst="roundRect">
            <a:avLst>
              <a:gd name="adj" fmla="val 50000"/>
            </a:avLst>
          </a:prstGeom>
          <a:solidFill>
            <a:srgbClr val="1B5E96"/>
          </a:solidFill>
          <a:ln/>
        </p:spPr>
      </p:sp>
      <p:sp>
        <p:nvSpPr>
          <p:cNvPr id="64" name="Text 48"/>
          <p:cNvSpPr/>
          <p:nvPr/>
        </p:nvSpPr>
        <p:spPr>
          <a:xfrm>
            <a:off x="6182868" y="1435608"/>
            <a:ext cx="77724" cy="68580"/>
          </a:xfrm>
          <a:prstGeom prst="rect">
            <a:avLst/>
          </a:prstGeom>
          <a:noFill/>
          <a:ln/>
        </p:spPr>
        <p:txBody>
          <a:bodyPr wrap="square" lIns="0" tIns="0" rIns="0" bIns="0" rtlCol="0" anchor="ctr"/>
          <a:lstStyle/>
          <a:p>
            <a:pPr algn="ctr"/>
            <a:r>
              <a:rPr lang="en-US" sz="300" b="1" dirty="0">
                <a:solidFill>
                  <a:srgbClr val="FFFFFF"/>
                </a:solidFill>
                <a:latin typeface="Arial" pitchFamily="34" charset="0"/>
                <a:ea typeface="Arial" pitchFamily="34" charset="-122"/>
                <a:cs typeface="Arial" pitchFamily="34" charset="-120"/>
              </a:rPr>
              <a:t>3</a:t>
            </a:r>
            <a:endParaRPr lang="en-US" sz="300" dirty="0"/>
          </a:p>
        </p:txBody>
      </p:sp>
      <p:sp>
        <p:nvSpPr>
          <p:cNvPr id="65" name="Text 49"/>
          <p:cNvSpPr/>
          <p:nvPr/>
        </p:nvSpPr>
        <p:spPr>
          <a:xfrm>
            <a:off x="6278880" y="1431036"/>
            <a:ext cx="438912" cy="77724"/>
          </a:xfrm>
          <a:prstGeom prst="rect">
            <a:avLst/>
          </a:prstGeom>
          <a:noFill/>
          <a:ln/>
        </p:spPr>
        <p:txBody>
          <a:bodyPr wrap="square" lIns="0" tIns="0" rIns="0" bIns="0" rtlCol="0" anchor="ctr"/>
          <a:lstStyle/>
          <a:p>
            <a:r>
              <a:rPr lang="en-US" sz="350" b="1" dirty="0">
                <a:solidFill>
                  <a:srgbClr val="0B2545"/>
                </a:solidFill>
                <a:latin typeface="Arial" pitchFamily="34" charset="0"/>
                <a:ea typeface="Arial" pitchFamily="34" charset="-122"/>
                <a:cs typeface="Arial" pitchFamily="34" charset="-120"/>
              </a:rPr>
              <a:t>ACT</a:t>
            </a:r>
            <a:endParaRPr lang="en-US" sz="350" dirty="0"/>
          </a:p>
        </p:txBody>
      </p:sp>
      <p:pic>
        <p:nvPicPr>
          <p:cNvPr id="66" name="Image 14" descr="/sessions/zealous-intelligent-mayer/mnt/outputs/icons4/s2_act.png"/>
          <p:cNvPicPr>
            <a:picLocks noChangeAspect="1"/>
          </p:cNvPicPr>
          <p:nvPr/>
        </p:nvPicPr>
        <p:blipFill>
          <a:blip r:embed="rId17"/>
          <a:stretch>
            <a:fillRect/>
          </a:stretch>
        </p:blipFill>
        <p:spPr>
          <a:xfrm>
            <a:off x="6187440" y="1563624"/>
            <a:ext cx="109728" cy="109728"/>
          </a:xfrm>
          <a:prstGeom prst="rect">
            <a:avLst/>
          </a:prstGeom>
        </p:spPr>
      </p:pic>
      <p:sp>
        <p:nvSpPr>
          <p:cNvPr id="67" name="Text 50"/>
          <p:cNvSpPr/>
          <p:nvPr/>
        </p:nvSpPr>
        <p:spPr>
          <a:xfrm>
            <a:off x="6315456" y="1545336"/>
            <a:ext cx="402336" cy="283464"/>
          </a:xfrm>
          <a:prstGeom prst="rect">
            <a:avLst/>
          </a:prstGeom>
          <a:noFill/>
          <a:ln/>
        </p:spPr>
        <p:txBody>
          <a:bodyPr wrap="square" lIns="0" tIns="0" rIns="0" bIns="0" rtlCol="0" anchor="ctr"/>
          <a:lstStyle/>
          <a:p>
            <a:pPr>
              <a:lnSpc>
                <a:spcPct val="102000"/>
              </a:lnSpc>
            </a:pPr>
            <a:r>
              <a:rPr lang="en-US" sz="280" dirty="0">
                <a:solidFill>
                  <a:srgbClr val="333333"/>
                </a:solidFill>
                <a:latin typeface="Arial" pitchFamily="34" charset="0"/>
                <a:ea typeface="Arial" pitchFamily="34" charset="-122"/>
                <a:cs typeface="Arial" pitchFamily="34" charset="-120"/>
              </a:rPr>
              <a:t>SAP / MES / PI</a:t>
            </a:r>
            <a:endParaRPr lang="en-US" sz="280" dirty="0"/>
          </a:p>
          <a:p>
            <a:pPr>
              <a:lnSpc>
                <a:spcPct val="102000"/>
              </a:lnSpc>
            </a:pPr>
            <a:r>
              <a:rPr lang="en-US" sz="280" dirty="0">
                <a:solidFill>
                  <a:srgbClr val="333333"/>
                </a:solidFill>
                <a:latin typeface="Arial" pitchFamily="34" charset="0"/>
                <a:ea typeface="Arial" pitchFamily="34" charset="-122"/>
                <a:cs typeface="Arial" pitchFamily="34" charset="-120"/>
              </a:rPr>
              <a:t>Tool execution</a:t>
            </a:r>
            <a:endParaRPr lang="en-US" sz="280" dirty="0"/>
          </a:p>
        </p:txBody>
      </p:sp>
      <p:sp>
        <p:nvSpPr>
          <p:cNvPr id="68" name="Shape 51"/>
          <p:cNvSpPr/>
          <p:nvPr/>
        </p:nvSpPr>
        <p:spPr>
          <a:xfrm>
            <a:off x="6758940" y="1632204"/>
            <a:ext cx="45720" cy="0"/>
          </a:xfrm>
          <a:prstGeom prst="line">
            <a:avLst/>
          </a:prstGeom>
          <a:noFill/>
          <a:ln w="12700">
            <a:solidFill>
              <a:srgbClr val="2F2F2F"/>
            </a:solidFill>
            <a:prstDash val="solid"/>
            <a:tailEnd type="triangle"/>
          </a:ln>
        </p:spPr>
      </p:sp>
      <p:sp>
        <p:nvSpPr>
          <p:cNvPr id="69" name="Shape 52"/>
          <p:cNvSpPr/>
          <p:nvPr/>
        </p:nvSpPr>
        <p:spPr>
          <a:xfrm>
            <a:off x="6818376" y="1399032"/>
            <a:ext cx="557784" cy="466344"/>
          </a:xfrm>
          <a:prstGeom prst="roundRect">
            <a:avLst>
              <a:gd name="adj" fmla="val 3922"/>
            </a:avLst>
          </a:prstGeom>
          <a:solidFill>
            <a:srgbClr val="FFFFFF"/>
          </a:solidFill>
          <a:ln w="12700">
            <a:solidFill>
              <a:srgbClr val="BBD6EC"/>
            </a:solidFill>
            <a:prstDash val="solid"/>
          </a:ln>
        </p:spPr>
      </p:sp>
      <p:sp>
        <p:nvSpPr>
          <p:cNvPr id="70" name="Shape 53"/>
          <p:cNvSpPr/>
          <p:nvPr/>
        </p:nvSpPr>
        <p:spPr>
          <a:xfrm>
            <a:off x="6850380" y="1431036"/>
            <a:ext cx="77724" cy="77724"/>
          </a:xfrm>
          <a:prstGeom prst="roundRect">
            <a:avLst>
              <a:gd name="adj" fmla="val 50000"/>
            </a:avLst>
          </a:prstGeom>
          <a:solidFill>
            <a:srgbClr val="1B5E96"/>
          </a:solidFill>
          <a:ln/>
        </p:spPr>
      </p:sp>
      <p:sp>
        <p:nvSpPr>
          <p:cNvPr id="71" name="Text 54"/>
          <p:cNvSpPr/>
          <p:nvPr/>
        </p:nvSpPr>
        <p:spPr>
          <a:xfrm>
            <a:off x="6850380" y="1435608"/>
            <a:ext cx="77724" cy="68580"/>
          </a:xfrm>
          <a:prstGeom prst="rect">
            <a:avLst/>
          </a:prstGeom>
          <a:noFill/>
          <a:ln/>
        </p:spPr>
        <p:txBody>
          <a:bodyPr wrap="square" lIns="0" tIns="0" rIns="0" bIns="0" rtlCol="0" anchor="ctr"/>
          <a:lstStyle/>
          <a:p>
            <a:pPr algn="ctr"/>
            <a:r>
              <a:rPr lang="en-US" sz="300" b="1" dirty="0">
                <a:solidFill>
                  <a:srgbClr val="FFFFFF"/>
                </a:solidFill>
                <a:latin typeface="Arial" pitchFamily="34" charset="0"/>
                <a:ea typeface="Arial" pitchFamily="34" charset="-122"/>
                <a:cs typeface="Arial" pitchFamily="34" charset="-120"/>
              </a:rPr>
              <a:t>4</a:t>
            </a:r>
            <a:endParaRPr lang="en-US" sz="300" dirty="0"/>
          </a:p>
        </p:txBody>
      </p:sp>
      <p:sp>
        <p:nvSpPr>
          <p:cNvPr id="72" name="Text 55"/>
          <p:cNvSpPr/>
          <p:nvPr/>
        </p:nvSpPr>
        <p:spPr>
          <a:xfrm>
            <a:off x="6946392" y="1431036"/>
            <a:ext cx="402336" cy="77724"/>
          </a:xfrm>
          <a:prstGeom prst="rect">
            <a:avLst/>
          </a:prstGeom>
          <a:noFill/>
          <a:ln/>
        </p:spPr>
        <p:txBody>
          <a:bodyPr wrap="square" lIns="0" tIns="0" rIns="0" bIns="0" rtlCol="0" anchor="ctr"/>
          <a:lstStyle/>
          <a:p>
            <a:r>
              <a:rPr lang="en-US" sz="350" b="1" dirty="0">
                <a:solidFill>
                  <a:srgbClr val="0B2545"/>
                </a:solidFill>
                <a:latin typeface="Arial" pitchFamily="34" charset="0"/>
                <a:ea typeface="Arial" pitchFamily="34" charset="-122"/>
                <a:cs typeface="Arial" pitchFamily="34" charset="-120"/>
              </a:rPr>
              <a:t>OBSERVE</a:t>
            </a:r>
            <a:endParaRPr lang="en-US" sz="350" dirty="0"/>
          </a:p>
        </p:txBody>
      </p:sp>
      <p:pic>
        <p:nvPicPr>
          <p:cNvPr id="73" name="Image 15" descr="/sessions/zealous-intelligent-mayer/mnt/outputs/icons4/s2_obs.png"/>
          <p:cNvPicPr>
            <a:picLocks noChangeAspect="1"/>
          </p:cNvPicPr>
          <p:nvPr/>
        </p:nvPicPr>
        <p:blipFill>
          <a:blip r:embed="rId18"/>
          <a:stretch>
            <a:fillRect/>
          </a:stretch>
        </p:blipFill>
        <p:spPr>
          <a:xfrm>
            <a:off x="6854952" y="1563624"/>
            <a:ext cx="109728" cy="109728"/>
          </a:xfrm>
          <a:prstGeom prst="rect">
            <a:avLst/>
          </a:prstGeom>
        </p:spPr>
      </p:pic>
      <p:sp>
        <p:nvSpPr>
          <p:cNvPr id="74" name="Text 56"/>
          <p:cNvSpPr/>
          <p:nvPr/>
        </p:nvSpPr>
        <p:spPr>
          <a:xfrm>
            <a:off x="6982968" y="1545336"/>
            <a:ext cx="365760" cy="283464"/>
          </a:xfrm>
          <a:prstGeom prst="rect">
            <a:avLst/>
          </a:prstGeom>
          <a:noFill/>
          <a:ln/>
        </p:spPr>
        <p:txBody>
          <a:bodyPr wrap="square" lIns="0" tIns="0" rIns="0" bIns="0" rtlCol="0" anchor="ctr"/>
          <a:lstStyle/>
          <a:p>
            <a:pPr>
              <a:lnSpc>
                <a:spcPct val="102000"/>
              </a:lnSpc>
            </a:pPr>
            <a:r>
              <a:rPr lang="en-US" sz="280" dirty="0">
                <a:solidFill>
                  <a:srgbClr val="333333"/>
                </a:solidFill>
                <a:latin typeface="Arial" pitchFamily="34" charset="0"/>
                <a:ea typeface="Arial" pitchFamily="34" charset="-122"/>
                <a:cs typeface="Arial" pitchFamily="34" charset="-120"/>
              </a:rPr>
              <a:t>Capture result &amp;</a:t>
            </a:r>
            <a:endParaRPr lang="en-US" sz="280" dirty="0"/>
          </a:p>
          <a:p>
            <a:pPr>
              <a:lnSpc>
                <a:spcPct val="102000"/>
              </a:lnSpc>
            </a:pPr>
            <a:r>
              <a:rPr lang="en-US" sz="280" dirty="0">
                <a:solidFill>
                  <a:srgbClr val="333333"/>
                </a:solidFill>
                <a:latin typeface="Arial" pitchFamily="34" charset="0"/>
                <a:ea typeface="Arial" pitchFamily="34" charset="-122"/>
                <a:cs typeface="Arial" pitchFamily="34" charset="-120"/>
              </a:rPr>
              <a:t>update context</a:t>
            </a:r>
            <a:endParaRPr lang="en-US" sz="280" dirty="0"/>
          </a:p>
        </p:txBody>
      </p:sp>
      <p:sp>
        <p:nvSpPr>
          <p:cNvPr id="75" name="Shape 57"/>
          <p:cNvSpPr/>
          <p:nvPr/>
        </p:nvSpPr>
        <p:spPr>
          <a:xfrm>
            <a:off x="5702808" y="1920240"/>
            <a:ext cx="758952" cy="246888"/>
          </a:xfrm>
          <a:prstGeom prst="roundRect">
            <a:avLst>
              <a:gd name="adj" fmla="val 7407"/>
            </a:avLst>
          </a:prstGeom>
          <a:solidFill>
            <a:srgbClr val="FFFFFF"/>
          </a:solidFill>
          <a:ln w="12700">
            <a:solidFill>
              <a:srgbClr val="BBD6EC"/>
            </a:solidFill>
            <a:prstDash val="solid"/>
          </a:ln>
        </p:spPr>
      </p:sp>
      <p:pic>
        <p:nvPicPr>
          <p:cNvPr id="76" name="Image 16" descr="/sessions/zealous-intelligent-mayer/mnt/outputs/icons4/s2_eval.png"/>
          <p:cNvPicPr>
            <a:picLocks noChangeAspect="1"/>
          </p:cNvPicPr>
          <p:nvPr/>
        </p:nvPicPr>
        <p:blipFill>
          <a:blip r:embed="rId19"/>
          <a:stretch>
            <a:fillRect/>
          </a:stretch>
        </p:blipFill>
        <p:spPr>
          <a:xfrm>
            <a:off x="5739384" y="1984248"/>
            <a:ext cx="109728" cy="109728"/>
          </a:xfrm>
          <a:prstGeom prst="rect">
            <a:avLst/>
          </a:prstGeom>
        </p:spPr>
      </p:pic>
      <p:sp>
        <p:nvSpPr>
          <p:cNvPr id="77" name="Shape 58"/>
          <p:cNvSpPr/>
          <p:nvPr/>
        </p:nvSpPr>
        <p:spPr>
          <a:xfrm>
            <a:off x="5876544" y="1943100"/>
            <a:ext cx="77724" cy="77724"/>
          </a:xfrm>
          <a:prstGeom prst="roundRect">
            <a:avLst>
              <a:gd name="adj" fmla="val 50000"/>
            </a:avLst>
          </a:prstGeom>
          <a:solidFill>
            <a:srgbClr val="1B5E96"/>
          </a:solidFill>
          <a:ln/>
        </p:spPr>
      </p:sp>
      <p:sp>
        <p:nvSpPr>
          <p:cNvPr id="78" name="Text 59"/>
          <p:cNvSpPr/>
          <p:nvPr/>
        </p:nvSpPr>
        <p:spPr>
          <a:xfrm>
            <a:off x="5876544" y="1947672"/>
            <a:ext cx="77724" cy="68580"/>
          </a:xfrm>
          <a:prstGeom prst="rect">
            <a:avLst/>
          </a:prstGeom>
          <a:noFill/>
          <a:ln/>
        </p:spPr>
        <p:txBody>
          <a:bodyPr wrap="square" lIns="0" tIns="0" rIns="0" bIns="0" rtlCol="0" anchor="ctr"/>
          <a:lstStyle/>
          <a:p>
            <a:pPr algn="ctr"/>
            <a:r>
              <a:rPr lang="en-US" sz="300" b="1" dirty="0">
                <a:solidFill>
                  <a:srgbClr val="FFFFFF"/>
                </a:solidFill>
                <a:latin typeface="Arial" pitchFamily="34" charset="0"/>
                <a:ea typeface="Arial" pitchFamily="34" charset="-122"/>
                <a:cs typeface="Arial" pitchFamily="34" charset="-120"/>
              </a:rPr>
              <a:t>5</a:t>
            </a:r>
            <a:endParaRPr lang="en-US" sz="300" dirty="0"/>
          </a:p>
        </p:txBody>
      </p:sp>
      <p:sp>
        <p:nvSpPr>
          <p:cNvPr id="79" name="Text 60"/>
          <p:cNvSpPr/>
          <p:nvPr/>
        </p:nvSpPr>
        <p:spPr>
          <a:xfrm>
            <a:off x="5972556" y="1943100"/>
            <a:ext cx="411480" cy="77724"/>
          </a:xfrm>
          <a:prstGeom prst="rect">
            <a:avLst/>
          </a:prstGeom>
          <a:noFill/>
          <a:ln/>
        </p:spPr>
        <p:txBody>
          <a:bodyPr wrap="square" lIns="0" tIns="0" rIns="0" bIns="0" rtlCol="0" anchor="ctr"/>
          <a:lstStyle/>
          <a:p>
            <a:r>
              <a:rPr lang="en-US" sz="350" b="1" dirty="0">
                <a:solidFill>
                  <a:srgbClr val="0B2545"/>
                </a:solidFill>
                <a:latin typeface="Arial" pitchFamily="34" charset="0"/>
                <a:ea typeface="Arial" pitchFamily="34" charset="-122"/>
                <a:cs typeface="Arial" pitchFamily="34" charset="-120"/>
              </a:rPr>
              <a:t>EVALUATE</a:t>
            </a:r>
            <a:endParaRPr lang="en-US" sz="350" dirty="0"/>
          </a:p>
        </p:txBody>
      </p:sp>
      <p:sp>
        <p:nvSpPr>
          <p:cNvPr id="80" name="Text 61"/>
          <p:cNvSpPr/>
          <p:nvPr/>
        </p:nvSpPr>
        <p:spPr>
          <a:xfrm>
            <a:off x="5876544" y="2029968"/>
            <a:ext cx="557784" cy="118872"/>
          </a:xfrm>
          <a:prstGeom prst="rect">
            <a:avLst/>
          </a:prstGeom>
          <a:noFill/>
          <a:ln/>
        </p:spPr>
        <p:txBody>
          <a:bodyPr wrap="square" lIns="0" tIns="0" rIns="0" bIns="0" rtlCol="0" anchor="ctr"/>
          <a:lstStyle/>
          <a:p>
            <a:r>
              <a:rPr lang="en-US" sz="280" dirty="0">
                <a:solidFill>
                  <a:srgbClr val="333333"/>
                </a:solidFill>
                <a:latin typeface="Arial" pitchFamily="34" charset="0"/>
                <a:ea typeface="Arial" pitchFamily="34" charset="-122"/>
                <a:cs typeface="Arial" pitchFamily="34" charset="-120"/>
              </a:rPr>
              <a:t>Goal achieved?</a:t>
            </a:r>
            <a:endParaRPr lang="en-US" sz="280" dirty="0"/>
          </a:p>
          <a:p>
            <a:r>
              <a:rPr lang="en-US" sz="280" dirty="0">
                <a:solidFill>
                  <a:srgbClr val="333333"/>
                </a:solidFill>
                <a:latin typeface="Arial" pitchFamily="34" charset="0"/>
                <a:ea typeface="Arial" pitchFamily="34" charset="-122"/>
                <a:cs typeface="Arial" pitchFamily="34" charset="-120"/>
              </a:rPr>
              <a:t>Validate &amp; Score</a:t>
            </a:r>
            <a:endParaRPr lang="en-US" sz="280" dirty="0"/>
          </a:p>
        </p:txBody>
      </p:sp>
      <p:sp>
        <p:nvSpPr>
          <p:cNvPr id="81" name="Shape 62"/>
          <p:cNvSpPr/>
          <p:nvPr/>
        </p:nvSpPr>
        <p:spPr>
          <a:xfrm>
            <a:off x="7097268" y="1865376"/>
            <a:ext cx="0" cy="178308"/>
          </a:xfrm>
          <a:prstGeom prst="line">
            <a:avLst/>
          </a:prstGeom>
          <a:noFill/>
          <a:ln w="12700">
            <a:solidFill>
              <a:srgbClr val="2F2F2F"/>
            </a:solidFill>
            <a:prstDash val="dash"/>
          </a:ln>
        </p:spPr>
      </p:sp>
      <p:sp>
        <p:nvSpPr>
          <p:cNvPr id="82" name="Shape 63"/>
          <p:cNvSpPr/>
          <p:nvPr/>
        </p:nvSpPr>
        <p:spPr>
          <a:xfrm>
            <a:off x="6475476" y="2043684"/>
            <a:ext cx="621792" cy="0"/>
          </a:xfrm>
          <a:prstGeom prst="line">
            <a:avLst/>
          </a:prstGeom>
          <a:noFill/>
          <a:ln w="12700">
            <a:solidFill>
              <a:srgbClr val="2F2F2F"/>
            </a:solidFill>
            <a:prstDash val="dash"/>
            <a:headEnd type="triangle"/>
          </a:ln>
        </p:spPr>
      </p:sp>
      <p:sp>
        <p:nvSpPr>
          <p:cNvPr id="83" name="Shape 64"/>
          <p:cNvSpPr/>
          <p:nvPr/>
        </p:nvSpPr>
        <p:spPr>
          <a:xfrm>
            <a:off x="5085588" y="2043684"/>
            <a:ext cx="603504" cy="0"/>
          </a:xfrm>
          <a:prstGeom prst="line">
            <a:avLst/>
          </a:prstGeom>
          <a:noFill/>
          <a:ln w="12700">
            <a:solidFill>
              <a:srgbClr val="C0392B"/>
            </a:solidFill>
            <a:prstDash val="dash"/>
          </a:ln>
        </p:spPr>
      </p:sp>
      <p:sp>
        <p:nvSpPr>
          <p:cNvPr id="84" name="Shape 65"/>
          <p:cNvSpPr/>
          <p:nvPr/>
        </p:nvSpPr>
        <p:spPr>
          <a:xfrm>
            <a:off x="5085588" y="1865376"/>
            <a:ext cx="0" cy="178308"/>
          </a:xfrm>
          <a:prstGeom prst="line">
            <a:avLst/>
          </a:prstGeom>
          <a:noFill/>
          <a:ln w="12700">
            <a:solidFill>
              <a:srgbClr val="C0392B"/>
            </a:solidFill>
            <a:prstDash val="dash"/>
            <a:headEnd type="triangle"/>
          </a:ln>
        </p:spPr>
      </p:sp>
      <p:sp>
        <p:nvSpPr>
          <p:cNvPr id="85" name="Text 66"/>
          <p:cNvSpPr/>
          <p:nvPr/>
        </p:nvSpPr>
        <p:spPr>
          <a:xfrm>
            <a:off x="5291328" y="1970532"/>
            <a:ext cx="182880" cy="64008"/>
          </a:xfrm>
          <a:prstGeom prst="rect">
            <a:avLst/>
          </a:prstGeom>
          <a:noFill/>
          <a:ln/>
        </p:spPr>
        <p:txBody>
          <a:bodyPr wrap="square" lIns="0" tIns="0" rIns="0" bIns="0" rtlCol="0" anchor="ctr"/>
          <a:lstStyle/>
          <a:p>
            <a:pPr algn="ctr"/>
            <a:r>
              <a:rPr lang="en-US" sz="325" b="1" dirty="0">
                <a:solidFill>
                  <a:srgbClr val="C0392B"/>
                </a:solidFill>
                <a:latin typeface="Arial" pitchFamily="34" charset="0"/>
                <a:ea typeface="Arial" pitchFamily="34" charset="-122"/>
                <a:cs typeface="Arial" pitchFamily="34" charset="-120"/>
              </a:rPr>
              <a:t>NO</a:t>
            </a:r>
            <a:endParaRPr lang="en-US" sz="325" dirty="0"/>
          </a:p>
        </p:txBody>
      </p:sp>
      <p:sp>
        <p:nvSpPr>
          <p:cNvPr id="86" name="Shape 67"/>
          <p:cNvSpPr/>
          <p:nvPr/>
        </p:nvSpPr>
        <p:spPr>
          <a:xfrm>
            <a:off x="6082284" y="2176272"/>
            <a:ext cx="0" cy="137160"/>
          </a:xfrm>
          <a:prstGeom prst="line">
            <a:avLst/>
          </a:prstGeom>
          <a:noFill/>
          <a:ln w="12700">
            <a:solidFill>
              <a:srgbClr val="2E8B57"/>
            </a:solidFill>
            <a:prstDash val="solid"/>
            <a:tailEnd type="triangle"/>
          </a:ln>
        </p:spPr>
      </p:sp>
      <p:sp>
        <p:nvSpPr>
          <p:cNvPr id="87" name="Text 68"/>
          <p:cNvSpPr/>
          <p:nvPr/>
        </p:nvSpPr>
        <p:spPr>
          <a:xfrm>
            <a:off x="6123432" y="2203704"/>
            <a:ext cx="182880" cy="64008"/>
          </a:xfrm>
          <a:prstGeom prst="rect">
            <a:avLst/>
          </a:prstGeom>
          <a:noFill/>
          <a:ln/>
        </p:spPr>
        <p:txBody>
          <a:bodyPr wrap="square" lIns="0" tIns="0" rIns="0" bIns="0" rtlCol="0" anchor="ctr"/>
          <a:lstStyle/>
          <a:p>
            <a:r>
              <a:rPr lang="en-US" sz="325" b="1" dirty="0">
                <a:solidFill>
                  <a:srgbClr val="2E8B57"/>
                </a:solidFill>
                <a:latin typeface="Arial" pitchFamily="34" charset="0"/>
                <a:ea typeface="Arial" pitchFamily="34" charset="-122"/>
                <a:cs typeface="Arial" pitchFamily="34" charset="-120"/>
              </a:rPr>
              <a:t>YES</a:t>
            </a:r>
            <a:endParaRPr lang="en-US" sz="325" dirty="0"/>
          </a:p>
        </p:txBody>
      </p:sp>
      <p:sp>
        <p:nvSpPr>
          <p:cNvPr id="88" name="Shape 69"/>
          <p:cNvSpPr/>
          <p:nvPr/>
        </p:nvSpPr>
        <p:spPr>
          <a:xfrm>
            <a:off x="5702808" y="2322576"/>
            <a:ext cx="786384" cy="201168"/>
          </a:xfrm>
          <a:prstGeom prst="roundRect">
            <a:avLst>
              <a:gd name="adj" fmla="val 9091"/>
            </a:avLst>
          </a:prstGeom>
          <a:solidFill>
            <a:srgbClr val="FFFFFF"/>
          </a:solidFill>
          <a:ln w="12700">
            <a:solidFill>
              <a:srgbClr val="BEDFC9"/>
            </a:solidFill>
            <a:prstDash val="solid"/>
          </a:ln>
        </p:spPr>
      </p:sp>
      <p:pic>
        <p:nvPicPr>
          <p:cNvPr id="89" name="Image 17" descr="/sessions/zealous-intelligent-mayer/mnt/outputs/icons4/s2_final.png"/>
          <p:cNvPicPr>
            <a:picLocks noChangeAspect="1"/>
          </p:cNvPicPr>
          <p:nvPr/>
        </p:nvPicPr>
        <p:blipFill>
          <a:blip r:embed="rId20"/>
          <a:stretch>
            <a:fillRect/>
          </a:stretch>
        </p:blipFill>
        <p:spPr>
          <a:xfrm>
            <a:off x="5739384" y="2368296"/>
            <a:ext cx="100584" cy="100584"/>
          </a:xfrm>
          <a:prstGeom prst="rect">
            <a:avLst/>
          </a:prstGeom>
        </p:spPr>
      </p:pic>
      <p:sp>
        <p:nvSpPr>
          <p:cNvPr id="90" name="Text 70"/>
          <p:cNvSpPr/>
          <p:nvPr/>
        </p:nvSpPr>
        <p:spPr>
          <a:xfrm>
            <a:off x="5867400" y="2340864"/>
            <a:ext cx="594360" cy="68580"/>
          </a:xfrm>
          <a:prstGeom prst="rect">
            <a:avLst/>
          </a:prstGeom>
          <a:noFill/>
          <a:ln/>
        </p:spPr>
        <p:txBody>
          <a:bodyPr wrap="square" lIns="0" tIns="0" rIns="0" bIns="0" rtlCol="0" anchor="ctr"/>
          <a:lstStyle/>
          <a:p>
            <a:r>
              <a:rPr lang="en-US" sz="350" b="1" dirty="0">
                <a:solidFill>
                  <a:srgbClr val="2E8B57"/>
                </a:solidFill>
                <a:latin typeface="Arial" pitchFamily="34" charset="0"/>
                <a:ea typeface="Arial" pitchFamily="34" charset="-122"/>
                <a:cs typeface="Arial" pitchFamily="34" charset="-120"/>
              </a:rPr>
              <a:t>FINAL ANSWER</a:t>
            </a:r>
            <a:endParaRPr lang="en-US" sz="350" dirty="0"/>
          </a:p>
        </p:txBody>
      </p:sp>
      <p:sp>
        <p:nvSpPr>
          <p:cNvPr id="91" name="Text 71"/>
          <p:cNvSpPr/>
          <p:nvPr/>
        </p:nvSpPr>
        <p:spPr>
          <a:xfrm>
            <a:off x="5867400" y="2414016"/>
            <a:ext cx="594360" cy="64008"/>
          </a:xfrm>
          <a:prstGeom prst="rect">
            <a:avLst/>
          </a:prstGeom>
          <a:noFill/>
          <a:ln/>
        </p:spPr>
        <p:txBody>
          <a:bodyPr wrap="square" lIns="0" tIns="0" rIns="0" bIns="0" rtlCol="0" anchor="ctr"/>
          <a:lstStyle/>
          <a:p>
            <a:r>
              <a:rPr lang="en-US" sz="280" dirty="0">
                <a:solidFill>
                  <a:srgbClr val="333333"/>
                </a:solidFill>
                <a:latin typeface="Arial" pitchFamily="34" charset="0"/>
                <a:ea typeface="Arial" pitchFamily="34" charset="-122"/>
                <a:cs typeface="Arial" pitchFamily="34" charset="-120"/>
              </a:rPr>
              <a:t>Respond to plant / planner</a:t>
            </a:r>
            <a:endParaRPr lang="en-US" sz="280" dirty="0"/>
          </a:p>
        </p:txBody>
      </p:sp>
      <p:sp>
        <p:nvSpPr>
          <p:cNvPr id="92" name="Shape 72"/>
          <p:cNvSpPr/>
          <p:nvPr/>
        </p:nvSpPr>
        <p:spPr>
          <a:xfrm>
            <a:off x="7476744" y="1133856"/>
            <a:ext cx="813816" cy="1344168"/>
          </a:xfrm>
          <a:prstGeom prst="roundRect">
            <a:avLst>
              <a:gd name="adj" fmla="val 2247"/>
            </a:avLst>
          </a:prstGeom>
          <a:solidFill>
            <a:srgbClr val="EAF3FB"/>
          </a:solidFill>
          <a:ln w="12700">
            <a:solidFill>
              <a:srgbClr val="BBD6EC"/>
            </a:solidFill>
            <a:prstDash val="solid"/>
          </a:ln>
        </p:spPr>
      </p:sp>
      <p:pic>
        <p:nvPicPr>
          <p:cNvPr id="93" name="Image 18" descr="/sessions/zealous-intelligent-mayer/mnt/outputs/icons4/fdry.png"/>
          <p:cNvPicPr>
            <a:picLocks noChangeAspect="1"/>
          </p:cNvPicPr>
          <p:nvPr/>
        </p:nvPicPr>
        <p:blipFill>
          <a:blip r:embed="rId21"/>
          <a:stretch>
            <a:fillRect/>
          </a:stretch>
        </p:blipFill>
        <p:spPr>
          <a:xfrm>
            <a:off x="7513320" y="1170432"/>
            <a:ext cx="91440" cy="91440"/>
          </a:xfrm>
          <a:prstGeom prst="rect">
            <a:avLst/>
          </a:prstGeom>
        </p:spPr>
      </p:pic>
      <p:sp>
        <p:nvSpPr>
          <p:cNvPr id="94" name="Text 73"/>
          <p:cNvSpPr/>
          <p:nvPr/>
        </p:nvSpPr>
        <p:spPr>
          <a:xfrm>
            <a:off x="7632192" y="1161288"/>
            <a:ext cx="630936" cy="118872"/>
          </a:xfrm>
          <a:prstGeom prst="rect">
            <a:avLst/>
          </a:prstGeom>
          <a:noFill/>
          <a:ln/>
        </p:spPr>
        <p:txBody>
          <a:bodyPr wrap="square" lIns="0" tIns="0" rIns="0" bIns="0" rtlCol="0" anchor="ctr"/>
          <a:lstStyle/>
          <a:p>
            <a:r>
              <a:rPr lang="en-US" sz="350" b="1" dirty="0">
                <a:solidFill>
                  <a:srgbClr val="1B5E96"/>
                </a:solidFill>
                <a:latin typeface="Arial" pitchFamily="34" charset="0"/>
                <a:ea typeface="Arial" pitchFamily="34" charset="-122"/>
                <a:cs typeface="Arial" pitchFamily="34" charset="-120"/>
              </a:rPr>
              <a:t>AZURE AI FOUNDRY</a:t>
            </a:r>
            <a:endParaRPr lang="en-US" sz="350" dirty="0"/>
          </a:p>
          <a:p>
            <a:r>
              <a:rPr lang="en-US" sz="350" b="1" dirty="0">
                <a:solidFill>
                  <a:srgbClr val="1B5E96"/>
                </a:solidFill>
                <a:latin typeface="Arial" pitchFamily="34" charset="0"/>
                <a:ea typeface="Arial" pitchFamily="34" charset="-122"/>
                <a:cs typeface="Arial" pitchFamily="34" charset="-120"/>
              </a:rPr>
              <a:t>AGENT SERVICE</a:t>
            </a:r>
            <a:endParaRPr lang="en-US" sz="350" dirty="0"/>
          </a:p>
        </p:txBody>
      </p:sp>
      <p:pic>
        <p:nvPicPr>
          <p:cNvPr id="95" name="Image 19" descr="/sessions/zealous-intelligent-mayer/mnt/outputs/icons4/f1.png"/>
          <p:cNvPicPr>
            <a:picLocks noChangeAspect="1"/>
          </p:cNvPicPr>
          <p:nvPr/>
        </p:nvPicPr>
        <p:blipFill>
          <a:blip r:embed="rId5"/>
          <a:stretch>
            <a:fillRect/>
          </a:stretch>
        </p:blipFill>
        <p:spPr>
          <a:xfrm>
            <a:off x="7522464" y="1362456"/>
            <a:ext cx="73152" cy="73152"/>
          </a:xfrm>
          <a:prstGeom prst="rect">
            <a:avLst/>
          </a:prstGeom>
        </p:spPr>
      </p:pic>
      <p:sp>
        <p:nvSpPr>
          <p:cNvPr id="96" name="Text 74"/>
          <p:cNvSpPr/>
          <p:nvPr/>
        </p:nvSpPr>
        <p:spPr>
          <a:xfrm>
            <a:off x="7623048" y="1323594"/>
            <a:ext cx="621792" cy="59436"/>
          </a:xfrm>
          <a:prstGeom prst="rect">
            <a:avLst/>
          </a:prstGeom>
          <a:noFill/>
          <a:ln/>
        </p:spPr>
        <p:txBody>
          <a:bodyPr wrap="square" lIns="0" tIns="0" rIns="0" bIns="0" rtlCol="0" anchor="ctr"/>
          <a:lstStyle/>
          <a:p>
            <a:r>
              <a:rPr lang="en-US" sz="300" b="1" dirty="0">
                <a:solidFill>
                  <a:srgbClr val="333333"/>
                </a:solidFill>
                <a:latin typeface="Arial" pitchFamily="34" charset="0"/>
                <a:ea typeface="Arial" pitchFamily="34" charset="-122"/>
                <a:cs typeface="Arial" pitchFamily="34" charset="-120"/>
              </a:rPr>
              <a:t>Agent Threads</a:t>
            </a:r>
            <a:endParaRPr lang="en-US" sz="300" dirty="0"/>
          </a:p>
        </p:txBody>
      </p:sp>
      <p:sp>
        <p:nvSpPr>
          <p:cNvPr id="97" name="Text 75"/>
          <p:cNvSpPr/>
          <p:nvPr/>
        </p:nvSpPr>
        <p:spPr>
          <a:xfrm>
            <a:off x="7623048" y="1383030"/>
            <a:ext cx="621792" cy="91440"/>
          </a:xfrm>
          <a:prstGeom prst="rect">
            <a:avLst/>
          </a:prstGeom>
          <a:noFill/>
          <a:ln/>
        </p:spPr>
        <p:txBody>
          <a:bodyPr wrap="square" lIns="0" tIns="0" rIns="0" bIns="0" rtlCol="0" anchor="ctr"/>
          <a:lstStyle/>
          <a:p>
            <a:r>
              <a:rPr lang="en-US" sz="260" dirty="0">
                <a:solidFill>
                  <a:srgbClr val="6B7683"/>
                </a:solidFill>
                <a:latin typeface="Arial" pitchFamily="34" charset="0"/>
                <a:ea typeface="Arial" pitchFamily="34" charset="-122"/>
                <a:cs typeface="Arial" pitchFamily="34" charset="-120"/>
              </a:rPr>
              <a:t>(Session Management)</a:t>
            </a:r>
            <a:endParaRPr lang="en-US" sz="260" dirty="0"/>
          </a:p>
        </p:txBody>
      </p:sp>
      <p:pic>
        <p:nvPicPr>
          <p:cNvPr id="98" name="Image 20" descr="/sessions/zealous-intelligent-mayer/mnt/outputs/icons4/f2.png"/>
          <p:cNvPicPr>
            <a:picLocks noChangeAspect="1"/>
          </p:cNvPicPr>
          <p:nvPr/>
        </p:nvPicPr>
        <p:blipFill>
          <a:blip r:embed="rId22"/>
          <a:stretch>
            <a:fillRect/>
          </a:stretch>
        </p:blipFill>
        <p:spPr>
          <a:xfrm>
            <a:off x="7522464" y="1527048"/>
            <a:ext cx="73152" cy="73152"/>
          </a:xfrm>
          <a:prstGeom prst="rect">
            <a:avLst/>
          </a:prstGeom>
        </p:spPr>
      </p:pic>
      <p:sp>
        <p:nvSpPr>
          <p:cNvPr id="99" name="Text 76"/>
          <p:cNvSpPr/>
          <p:nvPr/>
        </p:nvSpPr>
        <p:spPr>
          <a:xfrm>
            <a:off x="7623048" y="1488186"/>
            <a:ext cx="621792" cy="59436"/>
          </a:xfrm>
          <a:prstGeom prst="rect">
            <a:avLst/>
          </a:prstGeom>
          <a:noFill/>
          <a:ln/>
        </p:spPr>
        <p:txBody>
          <a:bodyPr wrap="square" lIns="0" tIns="0" rIns="0" bIns="0" rtlCol="0" anchor="ctr"/>
          <a:lstStyle/>
          <a:p>
            <a:r>
              <a:rPr lang="en-US" sz="300" b="1" dirty="0">
                <a:solidFill>
                  <a:srgbClr val="333333"/>
                </a:solidFill>
                <a:latin typeface="Arial" pitchFamily="34" charset="0"/>
                <a:ea typeface="Arial" pitchFamily="34" charset="-122"/>
                <a:cs typeface="Arial" pitchFamily="34" charset="-120"/>
              </a:rPr>
              <a:t>Prompt Flow</a:t>
            </a:r>
            <a:endParaRPr lang="en-US" sz="300" dirty="0"/>
          </a:p>
        </p:txBody>
      </p:sp>
      <p:sp>
        <p:nvSpPr>
          <p:cNvPr id="100" name="Text 77"/>
          <p:cNvSpPr/>
          <p:nvPr/>
        </p:nvSpPr>
        <p:spPr>
          <a:xfrm>
            <a:off x="7623048" y="1547622"/>
            <a:ext cx="621792" cy="91440"/>
          </a:xfrm>
          <a:prstGeom prst="rect">
            <a:avLst/>
          </a:prstGeom>
          <a:noFill/>
          <a:ln/>
        </p:spPr>
        <p:txBody>
          <a:bodyPr wrap="square" lIns="0" tIns="0" rIns="0" bIns="0" rtlCol="0" anchor="ctr"/>
          <a:lstStyle/>
          <a:p>
            <a:r>
              <a:rPr lang="en-US" sz="260" dirty="0">
                <a:solidFill>
                  <a:srgbClr val="6B7683"/>
                </a:solidFill>
                <a:latin typeface="Arial" pitchFamily="34" charset="0"/>
                <a:ea typeface="Arial" pitchFamily="34" charset="-122"/>
                <a:cs typeface="Arial" pitchFamily="34" charset="-120"/>
              </a:rPr>
              <a:t>(Prompt Management)</a:t>
            </a:r>
            <a:endParaRPr lang="en-US" sz="260" dirty="0"/>
          </a:p>
        </p:txBody>
      </p:sp>
      <p:pic>
        <p:nvPicPr>
          <p:cNvPr id="101" name="Image 21" descr="/sessions/zealous-intelligent-mayer/mnt/outputs/icons4/f3.png"/>
          <p:cNvPicPr>
            <a:picLocks noChangeAspect="1"/>
          </p:cNvPicPr>
          <p:nvPr/>
        </p:nvPicPr>
        <p:blipFill>
          <a:blip r:embed="rId23"/>
          <a:stretch>
            <a:fillRect/>
          </a:stretch>
        </p:blipFill>
        <p:spPr>
          <a:xfrm>
            <a:off x="7522464" y="1691640"/>
            <a:ext cx="73152" cy="73152"/>
          </a:xfrm>
          <a:prstGeom prst="rect">
            <a:avLst/>
          </a:prstGeom>
        </p:spPr>
      </p:pic>
      <p:sp>
        <p:nvSpPr>
          <p:cNvPr id="102" name="Text 78"/>
          <p:cNvSpPr/>
          <p:nvPr/>
        </p:nvSpPr>
        <p:spPr>
          <a:xfrm>
            <a:off x="7623048" y="1652778"/>
            <a:ext cx="621792" cy="59436"/>
          </a:xfrm>
          <a:prstGeom prst="rect">
            <a:avLst/>
          </a:prstGeom>
          <a:noFill/>
          <a:ln/>
        </p:spPr>
        <p:txBody>
          <a:bodyPr wrap="square" lIns="0" tIns="0" rIns="0" bIns="0" rtlCol="0" anchor="ctr"/>
          <a:lstStyle/>
          <a:p>
            <a:r>
              <a:rPr lang="en-US" sz="300" b="1" dirty="0">
                <a:solidFill>
                  <a:srgbClr val="333333"/>
                </a:solidFill>
                <a:latin typeface="Arial" pitchFamily="34" charset="0"/>
                <a:ea typeface="Arial" pitchFamily="34" charset="-122"/>
                <a:cs typeface="Arial" pitchFamily="34" charset="-120"/>
              </a:rPr>
              <a:t>Tool Registry</a:t>
            </a:r>
            <a:endParaRPr lang="en-US" sz="300" dirty="0"/>
          </a:p>
        </p:txBody>
      </p:sp>
      <p:sp>
        <p:nvSpPr>
          <p:cNvPr id="103" name="Text 79"/>
          <p:cNvSpPr/>
          <p:nvPr/>
        </p:nvSpPr>
        <p:spPr>
          <a:xfrm>
            <a:off x="7623048" y="1712214"/>
            <a:ext cx="621792" cy="91440"/>
          </a:xfrm>
          <a:prstGeom prst="rect">
            <a:avLst/>
          </a:prstGeom>
          <a:noFill/>
          <a:ln/>
        </p:spPr>
        <p:txBody>
          <a:bodyPr wrap="square" lIns="0" tIns="0" rIns="0" bIns="0" rtlCol="0" anchor="ctr"/>
          <a:lstStyle/>
          <a:p>
            <a:r>
              <a:rPr lang="en-US" sz="260" dirty="0">
                <a:solidFill>
                  <a:srgbClr val="6B7683"/>
                </a:solidFill>
                <a:latin typeface="Arial" pitchFamily="34" charset="0"/>
                <a:ea typeface="Arial" pitchFamily="34" charset="-122"/>
                <a:cs typeface="Arial" pitchFamily="34" charset="-120"/>
              </a:rPr>
              <a:t>(SAP · MES · PI tools)</a:t>
            </a:r>
            <a:endParaRPr lang="en-US" sz="260" dirty="0"/>
          </a:p>
        </p:txBody>
      </p:sp>
      <p:pic>
        <p:nvPicPr>
          <p:cNvPr id="104" name="Image 22" descr="/sessions/zealous-intelligent-mayer/mnt/outputs/icons4/f4.png"/>
          <p:cNvPicPr>
            <a:picLocks noChangeAspect="1"/>
          </p:cNvPicPr>
          <p:nvPr/>
        </p:nvPicPr>
        <p:blipFill>
          <a:blip r:embed="rId24"/>
          <a:stretch>
            <a:fillRect/>
          </a:stretch>
        </p:blipFill>
        <p:spPr>
          <a:xfrm>
            <a:off x="7522464" y="1856232"/>
            <a:ext cx="73152" cy="73152"/>
          </a:xfrm>
          <a:prstGeom prst="rect">
            <a:avLst/>
          </a:prstGeom>
        </p:spPr>
      </p:pic>
      <p:sp>
        <p:nvSpPr>
          <p:cNvPr id="105" name="Text 80"/>
          <p:cNvSpPr/>
          <p:nvPr/>
        </p:nvSpPr>
        <p:spPr>
          <a:xfrm>
            <a:off x="7623048" y="1817370"/>
            <a:ext cx="621792" cy="59436"/>
          </a:xfrm>
          <a:prstGeom prst="rect">
            <a:avLst/>
          </a:prstGeom>
          <a:noFill/>
          <a:ln/>
        </p:spPr>
        <p:txBody>
          <a:bodyPr wrap="square" lIns="0" tIns="0" rIns="0" bIns="0" rtlCol="0" anchor="ctr"/>
          <a:lstStyle/>
          <a:p>
            <a:r>
              <a:rPr lang="en-US" sz="300" b="1" dirty="0">
                <a:solidFill>
                  <a:srgbClr val="333333"/>
                </a:solidFill>
                <a:latin typeface="Arial" pitchFamily="34" charset="0"/>
                <a:ea typeface="Arial" pitchFamily="34" charset="-122"/>
                <a:cs typeface="Arial" pitchFamily="34" charset="-120"/>
              </a:rPr>
              <a:t>Guardrails</a:t>
            </a:r>
            <a:endParaRPr lang="en-US" sz="300" dirty="0"/>
          </a:p>
        </p:txBody>
      </p:sp>
      <p:sp>
        <p:nvSpPr>
          <p:cNvPr id="106" name="Text 81"/>
          <p:cNvSpPr/>
          <p:nvPr/>
        </p:nvSpPr>
        <p:spPr>
          <a:xfrm>
            <a:off x="7623048" y="1876806"/>
            <a:ext cx="621792" cy="91440"/>
          </a:xfrm>
          <a:prstGeom prst="rect">
            <a:avLst/>
          </a:prstGeom>
          <a:noFill/>
          <a:ln/>
        </p:spPr>
        <p:txBody>
          <a:bodyPr wrap="square" lIns="0" tIns="0" rIns="0" bIns="0" rtlCol="0" anchor="ctr"/>
          <a:lstStyle/>
          <a:p>
            <a:r>
              <a:rPr lang="en-US" sz="260" dirty="0">
                <a:solidFill>
                  <a:srgbClr val="6B7683"/>
                </a:solidFill>
                <a:latin typeface="Arial" pitchFamily="34" charset="0"/>
                <a:ea typeface="Arial" pitchFamily="34" charset="-122"/>
                <a:cs typeface="Arial" pitchFamily="34" charset="-120"/>
              </a:rPr>
              <a:t>(Content Safety)</a:t>
            </a:r>
            <a:endParaRPr lang="en-US" sz="260" dirty="0"/>
          </a:p>
        </p:txBody>
      </p:sp>
      <p:pic>
        <p:nvPicPr>
          <p:cNvPr id="107" name="Image 23" descr="/sessions/zealous-intelligent-mayer/mnt/outputs/icons4/f5.png"/>
          <p:cNvPicPr>
            <a:picLocks noChangeAspect="1"/>
          </p:cNvPicPr>
          <p:nvPr/>
        </p:nvPicPr>
        <p:blipFill>
          <a:blip r:embed="rId25"/>
          <a:stretch>
            <a:fillRect/>
          </a:stretch>
        </p:blipFill>
        <p:spPr>
          <a:xfrm>
            <a:off x="7522464" y="2020824"/>
            <a:ext cx="73152" cy="73152"/>
          </a:xfrm>
          <a:prstGeom prst="rect">
            <a:avLst/>
          </a:prstGeom>
        </p:spPr>
      </p:pic>
      <p:sp>
        <p:nvSpPr>
          <p:cNvPr id="108" name="Text 82"/>
          <p:cNvSpPr/>
          <p:nvPr/>
        </p:nvSpPr>
        <p:spPr>
          <a:xfrm>
            <a:off x="7623048" y="1981962"/>
            <a:ext cx="621792" cy="59436"/>
          </a:xfrm>
          <a:prstGeom prst="rect">
            <a:avLst/>
          </a:prstGeom>
          <a:noFill/>
          <a:ln/>
        </p:spPr>
        <p:txBody>
          <a:bodyPr wrap="square" lIns="0" tIns="0" rIns="0" bIns="0" rtlCol="0" anchor="ctr"/>
          <a:lstStyle/>
          <a:p>
            <a:r>
              <a:rPr lang="en-US" sz="300" b="1" dirty="0">
                <a:solidFill>
                  <a:srgbClr val="333333"/>
                </a:solidFill>
                <a:latin typeface="Arial" pitchFamily="34" charset="0"/>
                <a:ea typeface="Arial" pitchFamily="34" charset="-122"/>
                <a:cs typeface="Arial" pitchFamily="34" charset="-120"/>
              </a:rPr>
              <a:t>Memory Management</a:t>
            </a:r>
            <a:endParaRPr lang="en-US" sz="300" dirty="0"/>
          </a:p>
        </p:txBody>
      </p:sp>
      <p:sp>
        <p:nvSpPr>
          <p:cNvPr id="109" name="Text 83"/>
          <p:cNvSpPr/>
          <p:nvPr/>
        </p:nvSpPr>
        <p:spPr>
          <a:xfrm>
            <a:off x="7623048" y="2041398"/>
            <a:ext cx="621792" cy="91440"/>
          </a:xfrm>
          <a:prstGeom prst="rect">
            <a:avLst/>
          </a:prstGeom>
          <a:noFill/>
          <a:ln/>
        </p:spPr>
        <p:txBody>
          <a:bodyPr wrap="square" lIns="0" tIns="0" rIns="0" bIns="0" rtlCol="0" anchor="ctr"/>
          <a:lstStyle/>
          <a:p>
            <a:r>
              <a:rPr lang="en-US" sz="260" dirty="0">
                <a:solidFill>
                  <a:srgbClr val="6B7683"/>
                </a:solidFill>
                <a:latin typeface="Arial" pitchFamily="34" charset="0"/>
                <a:ea typeface="Arial" pitchFamily="34" charset="-122"/>
                <a:cs typeface="Arial" pitchFamily="34" charset="-120"/>
              </a:rPr>
              <a:t>(Threads &amp; state)</a:t>
            </a:r>
            <a:endParaRPr lang="en-US" sz="260" dirty="0"/>
          </a:p>
        </p:txBody>
      </p:sp>
      <p:pic>
        <p:nvPicPr>
          <p:cNvPr id="110" name="Image 24" descr="/sessions/zealous-intelligent-mayer/mnt/outputs/icons4/f6.png"/>
          <p:cNvPicPr>
            <a:picLocks noChangeAspect="1"/>
          </p:cNvPicPr>
          <p:nvPr/>
        </p:nvPicPr>
        <p:blipFill>
          <a:blip r:embed="rId26"/>
          <a:stretch>
            <a:fillRect/>
          </a:stretch>
        </p:blipFill>
        <p:spPr>
          <a:xfrm>
            <a:off x="7522464" y="2185416"/>
            <a:ext cx="73152" cy="73152"/>
          </a:xfrm>
          <a:prstGeom prst="rect">
            <a:avLst/>
          </a:prstGeom>
        </p:spPr>
      </p:pic>
      <p:sp>
        <p:nvSpPr>
          <p:cNvPr id="111" name="Text 84"/>
          <p:cNvSpPr/>
          <p:nvPr/>
        </p:nvSpPr>
        <p:spPr>
          <a:xfrm>
            <a:off x="7623048" y="2146554"/>
            <a:ext cx="621792" cy="59436"/>
          </a:xfrm>
          <a:prstGeom prst="rect">
            <a:avLst/>
          </a:prstGeom>
          <a:noFill/>
          <a:ln/>
        </p:spPr>
        <p:txBody>
          <a:bodyPr wrap="square" lIns="0" tIns="0" rIns="0" bIns="0" rtlCol="0" anchor="ctr"/>
          <a:lstStyle/>
          <a:p>
            <a:r>
              <a:rPr lang="en-US" sz="300" b="1" dirty="0">
                <a:solidFill>
                  <a:srgbClr val="333333"/>
                </a:solidFill>
                <a:latin typeface="Arial" pitchFamily="34" charset="0"/>
                <a:ea typeface="Arial" pitchFamily="34" charset="-122"/>
                <a:cs typeface="Arial" pitchFamily="34" charset="-120"/>
              </a:rPr>
              <a:t>Agent Observability</a:t>
            </a:r>
            <a:endParaRPr lang="en-US" sz="300" dirty="0"/>
          </a:p>
        </p:txBody>
      </p:sp>
      <p:sp>
        <p:nvSpPr>
          <p:cNvPr id="112" name="Text 85"/>
          <p:cNvSpPr/>
          <p:nvPr/>
        </p:nvSpPr>
        <p:spPr>
          <a:xfrm>
            <a:off x="7623048" y="2205990"/>
            <a:ext cx="621792" cy="91440"/>
          </a:xfrm>
          <a:prstGeom prst="rect">
            <a:avLst/>
          </a:prstGeom>
          <a:noFill/>
          <a:ln/>
        </p:spPr>
        <p:txBody>
          <a:bodyPr wrap="square" lIns="0" tIns="0" rIns="0" bIns="0" rtlCol="0" anchor="ctr"/>
          <a:lstStyle/>
          <a:p>
            <a:r>
              <a:rPr lang="en-US" sz="260" dirty="0">
                <a:solidFill>
                  <a:srgbClr val="6B7683"/>
                </a:solidFill>
                <a:latin typeface="Arial" pitchFamily="34" charset="0"/>
                <a:ea typeface="Arial" pitchFamily="34" charset="-122"/>
                <a:cs typeface="Arial" pitchFamily="34" charset="-120"/>
              </a:rPr>
              <a:t>(Traces &amp; metrics)</a:t>
            </a:r>
            <a:endParaRPr lang="en-US" sz="260" dirty="0"/>
          </a:p>
        </p:txBody>
      </p:sp>
      <p:pic>
        <p:nvPicPr>
          <p:cNvPr id="113" name="Image 25" descr="/sessions/zealous-intelligent-mayer/mnt/outputs/icons4/f7.png"/>
          <p:cNvPicPr>
            <a:picLocks noChangeAspect="1"/>
          </p:cNvPicPr>
          <p:nvPr/>
        </p:nvPicPr>
        <p:blipFill>
          <a:blip r:embed="rId27"/>
          <a:stretch>
            <a:fillRect/>
          </a:stretch>
        </p:blipFill>
        <p:spPr>
          <a:xfrm>
            <a:off x="7522464" y="2350008"/>
            <a:ext cx="73152" cy="73152"/>
          </a:xfrm>
          <a:prstGeom prst="rect">
            <a:avLst/>
          </a:prstGeom>
        </p:spPr>
      </p:pic>
      <p:sp>
        <p:nvSpPr>
          <p:cNvPr id="114" name="Text 86"/>
          <p:cNvSpPr/>
          <p:nvPr/>
        </p:nvSpPr>
        <p:spPr>
          <a:xfrm>
            <a:off x="7623048" y="2311146"/>
            <a:ext cx="621792" cy="59436"/>
          </a:xfrm>
          <a:prstGeom prst="rect">
            <a:avLst/>
          </a:prstGeom>
          <a:noFill/>
          <a:ln/>
        </p:spPr>
        <p:txBody>
          <a:bodyPr wrap="square" lIns="0" tIns="0" rIns="0" bIns="0" rtlCol="0" anchor="ctr"/>
          <a:lstStyle/>
          <a:p>
            <a:r>
              <a:rPr lang="en-US" sz="300" b="1" dirty="0">
                <a:solidFill>
                  <a:srgbClr val="333333"/>
                </a:solidFill>
                <a:latin typeface="Arial" pitchFamily="34" charset="0"/>
                <a:ea typeface="Arial" pitchFamily="34" charset="-122"/>
                <a:cs typeface="Arial" pitchFamily="34" charset="-120"/>
              </a:rPr>
              <a:t>Planner &amp; Multi-Agent</a:t>
            </a:r>
            <a:endParaRPr lang="en-US" sz="300" dirty="0"/>
          </a:p>
        </p:txBody>
      </p:sp>
      <p:sp>
        <p:nvSpPr>
          <p:cNvPr id="115" name="Text 87"/>
          <p:cNvSpPr/>
          <p:nvPr/>
        </p:nvSpPr>
        <p:spPr>
          <a:xfrm>
            <a:off x="7623048" y="2370582"/>
            <a:ext cx="621792" cy="91440"/>
          </a:xfrm>
          <a:prstGeom prst="rect">
            <a:avLst/>
          </a:prstGeom>
          <a:noFill/>
          <a:ln/>
        </p:spPr>
        <p:txBody>
          <a:bodyPr wrap="square" lIns="0" tIns="0" rIns="0" bIns="0" rtlCol="0" anchor="ctr"/>
          <a:lstStyle/>
          <a:p>
            <a:r>
              <a:rPr lang="en-US" sz="260" dirty="0">
                <a:solidFill>
                  <a:srgbClr val="6B7683"/>
                </a:solidFill>
                <a:latin typeface="Arial" pitchFamily="34" charset="0"/>
                <a:ea typeface="Arial" pitchFamily="34" charset="-122"/>
                <a:cs typeface="Arial" pitchFamily="34" charset="-120"/>
              </a:rPr>
              <a:t>(Collaboration)</a:t>
            </a:r>
            <a:endParaRPr lang="en-US" sz="260" dirty="0"/>
          </a:p>
        </p:txBody>
      </p:sp>
      <p:sp>
        <p:nvSpPr>
          <p:cNvPr id="116" name="Text 88"/>
          <p:cNvSpPr/>
          <p:nvPr/>
        </p:nvSpPr>
        <p:spPr>
          <a:xfrm>
            <a:off x="4998720" y="2542032"/>
            <a:ext cx="1645920" cy="73152"/>
          </a:xfrm>
          <a:prstGeom prst="rect">
            <a:avLst/>
          </a:prstGeom>
          <a:noFill/>
          <a:ln/>
        </p:spPr>
        <p:txBody>
          <a:bodyPr wrap="square" lIns="0" tIns="0" rIns="0" bIns="0" rtlCol="0" anchor="ctr"/>
          <a:lstStyle/>
          <a:p>
            <a:pPr algn="ctr"/>
            <a:r>
              <a:rPr lang="en-US" sz="350" b="1" dirty="0">
                <a:solidFill>
                  <a:srgbClr val="7B4FA8"/>
                </a:solidFill>
                <a:latin typeface="Arial" pitchFamily="34" charset="0"/>
                <a:ea typeface="Arial" pitchFamily="34" charset="-122"/>
                <a:cs typeface="Arial" pitchFamily="34" charset="-120"/>
              </a:rPr>
              <a:t>Model Invocation (Via Dynamic Model Router)</a:t>
            </a:r>
            <a:endParaRPr lang="en-US" sz="350" dirty="0"/>
          </a:p>
        </p:txBody>
      </p:sp>
      <p:sp>
        <p:nvSpPr>
          <p:cNvPr id="117" name="Shape 89"/>
          <p:cNvSpPr/>
          <p:nvPr/>
        </p:nvSpPr>
        <p:spPr>
          <a:xfrm>
            <a:off x="3883152" y="2688336"/>
            <a:ext cx="1472184" cy="1645920"/>
          </a:xfrm>
          <a:prstGeom prst="roundRect">
            <a:avLst>
              <a:gd name="adj" fmla="val 1553"/>
            </a:avLst>
          </a:prstGeom>
          <a:solidFill>
            <a:srgbClr val="FFFFFF"/>
          </a:solidFill>
          <a:ln w="12700">
            <a:solidFill>
              <a:srgbClr val="C9D6E4"/>
            </a:solidFill>
            <a:prstDash val="solid"/>
          </a:ln>
        </p:spPr>
      </p:sp>
      <p:sp>
        <p:nvSpPr>
          <p:cNvPr id="118" name="Shape 90"/>
          <p:cNvSpPr/>
          <p:nvPr/>
        </p:nvSpPr>
        <p:spPr>
          <a:xfrm>
            <a:off x="5401056" y="2688336"/>
            <a:ext cx="1463040" cy="1645920"/>
          </a:xfrm>
          <a:prstGeom prst="roundRect">
            <a:avLst>
              <a:gd name="adj" fmla="val 1563"/>
            </a:avLst>
          </a:prstGeom>
          <a:solidFill>
            <a:srgbClr val="FFFFFF"/>
          </a:solidFill>
          <a:ln w="12700">
            <a:solidFill>
              <a:srgbClr val="C9D6E4"/>
            </a:solidFill>
            <a:prstDash val="solid"/>
          </a:ln>
        </p:spPr>
      </p:sp>
      <p:sp>
        <p:nvSpPr>
          <p:cNvPr id="119" name="Shape 91"/>
          <p:cNvSpPr/>
          <p:nvPr/>
        </p:nvSpPr>
        <p:spPr>
          <a:xfrm>
            <a:off x="6909816" y="2688336"/>
            <a:ext cx="1399032" cy="1645920"/>
          </a:xfrm>
          <a:prstGeom prst="roundRect">
            <a:avLst>
              <a:gd name="adj" fmla="val 1634"/>
            </a:avLst>
          </a:prstGeom>
          <a:solidFill>
            <a:srgbClr val="FFFFFF"/>
          </a:solidFill>
          <a:ln w="12700">
            <a:solidFill>
              <a:srgbClr val="C9D6E4"/>
            </a:solidFill>
            <a:prstDash val="solid"/>
          </a:ln>
        </p:spPr>
      </p:sp>
      <p:sp>
        <p:nvSpPr>
          <p:cNvPr id="120" name="Text 92"/>
          <p:cNvSpPr/>
          <p:nvPr/>
        </p:nvSpPr>
        <p:spPr>
          <a:xfrm>
            <a:off x="3919728" y="2715768"/>
            <a:ext cx="1399032" cy="91440"/>
          </a:xfrm>
          <a:prstGeom prst="rect">
            <a:avLst/>
          </a:prstGeom>
          <a:noFill/>
          <a:ln/>
        </p:spPr>
        <p:txBody>
          <a:bodyPr wrap="square" lIns="0" tIns="0" rIns="0" bIns="0" rtlCol="0" anchor="ctr"/>
          <a:lstStyle/>
          <a:p>
            <a:pPr algn="ctr"/>
            <a:r>
              <a:rPr lang="en-US" sz="390" b="1" dirty="0">
                <a:solidFill>
                  <a:srgbClr val="2E8B57"/>
                </a:solidFill>
                <a:latin typeface="Arial" pitchFamily="34" charset="0"/>
                <a:ea typeface="Arial" pitchFamily="34" charset="-122"/>
                <a:cs typeface="Arial" pitchFamily="34" charset="-120"/>
              </a:rPr>
              <a:t>3. ENTERPRISE TOOL &amp; INTEGRATION LAYER</a:t>
            </a:r>
            <a:endParaRPr lang="en-US" sz="390" dirty="0"/>
          </a:p>
        </p:txBody>
      </p:sp>
      <p:sp>
        <p:nvSpPr>
          <p:cNvPr id="121" name="Shape 93"/>
          <p:cNvSpPr/>
          <p:nvPr/>
        </p:nvSpPr>
        <p:spPr>
          <a:xfrm>
            <a:off x="3928872" y="2825496"/>
            <a:ext cx="1380744" cy="347472"/>
          </a:xfrm>
          <a:prstGeom prst="roundRect">
            <a:avLst>
              <a:gd name="adj" fmla="val 5263"/>
            </a:avLst>
          </a:prstGeom>
          <a:solidFill>
            <a:srgbClr val="EDF7F0"/>
          </a:solidFill>
          <a:ln w="12700">
            <a:solidFill>
              <a:srgbClr val="BEDFC9"/>
            </a:solidFill>
            <a:prstDash val="solid"/>
          </a:ln>
        </p:spPr>
      </p:sp>
      <p:sp>
        <p:nvSpPr>
          <p:cNvPr id="122" name="Text 94"/>
          <p:cNvSpPr/>
          <p:nvPr/>
        </p:nvSpPr>
        <p:spPr>
          <a:xfrm>
            <a:off x="3965448" y="2843784"/>
            <a:ext cx="1307592" cy="64008"/>
          </a:xfrm>
          <a:prstGeom prst="rect">
            <a:avLst/>
          </a:prstGeom>
          <a:noFill/>
          <a:ln/>
        </p:spPr>
        <p:txBody>
          <a:bodyPr wrap="square" lIns="0" tIns="0" rIns="0" bIns="0" rtlCol="0" anchor="ctr"/>
          <a:lstStyle/>
          <a:p>
            <a:r>
              <a:rPr lang="en-US" sz="310" b="1" dirty="0">
                <a:solidFill>
                  <a:srgbClr val="2E8B57"/>
                </a:solidFill>
                <a:latin typeface="Arial" pitchFamily="34" charset="0"/>
                <a:ea typeface="Arial" pitchFamily="34" charset="-122"/>
                <a:cs typeface="Arial" pitchFamily="34" charset="-120"/>
              </a:rPr>
              <a:t>Azure Services</a:t>
            </a:r>
            <a:endParaRPr lang="en-US" sz="310" dirty="0"/>
          </a:p>
        </p:txBody>
      </p:sp>
      <p:pic>
        <p:nvPicPr>
          <p:cNvPr id="123" name="Image 26" descr="/sessions/zealous-intelligent-mayer/mnt/outputs/icons4/t_fn.png"/>
          <p:cNvPicPr>
            <a:picLocks noChangeAspect="1"/>
          </p:cNvPicPr>
          <p:nvPr/>
        </p:nvPicPr>
        <p:blipFill>
          <a:blip r:embed="rId28"/>
          <a:stretch>
            <a:fillRect/>
          </a:stretch>
        </p:blipFill>
        <p:spPr>
          <a:xfrm>
            <a:off x="4035857" y="2926080"/>
            <a:ext cx="91440" cy="91440"/>
          </a:xfrm>
          <a:prstGeom prst="rect">
            <a:avLst/>
          </a:prstGeom>
        </p:spPr>
      </p:pic>
      <p:sp>
        <p:nvSpPr>
          <p:cNvPr id="124" name="Text 95"/>
          <p:cNvSpPr/>
          <p:nvPr/>
        </p:nvSpPr>
        <p:spPr>
          <a:xfrm>
            <a:off x="3951732" y="3031236"/>
            <a:ext cx="259690"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Azure</a:t>
            </a:r>
            <a:endParaRPr lang="en-US" sz="245" dirty="0"/>
          </a:p>
          <a:p>
            <a:pPr algn="ctr"/>
            <a:r>
              <a:rPr lang="en-US" sz="245" dirty="0">
                <a:solidFill>
                  <a:srgbClr val="333333"/>
                </a:solidFill>
                <a:latin typeface="Arial" pitchFamily="34" charset="0"/>
                <a:ea typeface="Arial" pitchFamily="34" charset="-122"/>
                <a:cs typeface="Arial" pitchFamily="34" charset="-120"/>
              </a:rPr>
              <a:t>Functions</a:t>
            </a:r>
            <a:endParaRPr lang="en-US" sz="245" dirty="0"/>
          </a:p>
        </p:txBody>
      </p:sp>
      <p:pic>
        <p:nvPicPr>
          <p:cNvPr id="125" name="Image 27" descr="/sessions/zealous-intelligent-mayer/mnt/outputs/icons4/t_la.png"/>
          <p:cNvPicPr>
            <a:picLocks noChangeAspect="1"/>
          </p:cNvPicPr>
          <p:nvPr/>
        </p:nvPicPr>
        <p:blipFill>
          <a:blip r:embed="rId29"/>
          <a:stretch>
            <a:fillRect/>
          </a:stretch>
        </p:blipFill>
        <p:spPr>
          <a:xfrm>
            <a:off x="4304691" y="2926080"/>
            <a:ext cx="91440" cy="91440"/>
          </a:xfrm>
          <a:prstGeom prst="rect">
            <a:avLst/>
          </a:prstGeom>
        </p:spPr>
      </p:pic>
      <p:sp>
        <p:nvSpPr>
          <p:cNvPr id="126" name="Text 96"/>
          <p:cNvSpPr/>
          <p:nvPr/>
        </p:nvSpPr>
        <p:spPr>
          <a:xfrm>
            <a:off x="4220566" y="3031236"/>
            <a:ext cx="259690"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Logic</a:t>
            </a:r>
            <a:endParaRPr lang="en-US" sz="245" dirty="0"/>
          </a:p>
          <a:p>
            <a:pPr algn="ctr"/>
            <a:r>
              <a:rPr lang="en-US" sz="245" dirty="0">
                <a:solidFill>
                  <a:srgbClr val="333333"/>
                </a:solidFill>
                <a:latin typeface="Arial" pitchFamily="34" charset="0"/>
                <a:ea typeface="Arial" pitchFamily="34" charset="-122"/>
                <a:cs typeface="Arial" pitchFamily="34" charset="-120"/>
              </a:rPr>
              <a:t>Apps</a:t>
            </a:r>
            <a:endParaRPr lang="en-US" sz="245" dirty="0"/>
          </a:p>
        </p:txBody>
      </p:sp>
      <p:pic>
        <p:nvPicPr>
          <p:cNvPr id="127" name="Image 28" descr="/sessions/zealous-intelligent-mayer/mnt/outputs/icons4/t_pa.png"/>
          <p:cNvPicPr>
            <a:picLocks noChangeAspect="1"/>
          </p:cNvPicPr>
          <p:nvPr/>
        </p:nvPicPr>
        <p:blipFill>
          <a:blip r:embed="rId30"/>
          <a:stretch>
            <a:fillRect/>
          </a:stretch>
        </p:blipFill>
        <p:spPr>
          <a:xfrm>
            <a:off x="4573524" y="2926080"/>
            <a:ext cx="91440" cy="91440"/>
          </a:xfrm>
          <a:prstGeom prst="rect">
            <a:avLst/>
          </a:prstGeom>
        </p:spPr>
      </p:pic>
      <p:sp>
        <p:nvSpPr>
          <p:cNvPr id="128" name="Text 97"/>
          <p:cNvSpPr/>
          <p:nvPr/>
        </p:nvSpPr>
        <p:spPr>
          <a:xfrm>
            <a:off x="4489399" y="3031236"/>
            <a:ext cx="259690"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Power</a:t>
            </a:r>
            <a:endParaRPr lang="en-US" sz="245" dirty="0"/>
          </a:p>
          <a:p>
            <a:pPr algn="ctr"/>
            <a:r>
              <a:rPr lang="en-US" sz="245" dirty="0">
                <a:solidFill>
                  <a:srgbClr val="333333"/>
                </a:solidFill>
                <a:latin typeface="Arial" pitchFamily="34" charset="0"/>
                <a:ea typeface="Arial" pitchFamily="34" charset="-122"/>
                <a:cs typeface="Arial" pitchFamily="34" charset="-120"/>
              </a:rPr>
              <a:t>Automate</a:t>
            </a:r>
            <a:endParaRPr lang="en-US" sz="245" dirty="0"/>
          </a:p>
        </p:txBody>
      </p:sp>
      <p:pic>
        <p:nvPicPr>
          <p:cNvPr id="129" name="Image 29" descr="/sessions/zealous-intelligent-mayer/mnt/outputs/icons4/t_sql.png"/>
          <p:cNvPicPr>
            <a:picLocks noChangeAspect="1"/>
          </p:cNvPicPr>
          <p:nvPr/>
        </p:nvPicPr>
        <p:blipFill>
          <a:blip r:embed="rId31"/>
          <a:stretch>
            <a:fillRect/>
          </a:stretch>
        </p:blipFill>
        <p:spPr>
          <a:xfrm>
            <a:off x="4842358" y="2926080"/>
            <a:ext cx="91440" cy="91440"/>
          </a:xfrm>
          <a:prstGeom prst="rect">
            <a:avLst/>
          </a:prstGeom>
        </p:spPr>
      </p:pic>
      <p:sp>
        <p:nvSpPr>
          <p:cNvPr id="130" name="Text 98"/>
          <p:cNvSpPr/>
          <p:nvPr/>
        </p:nvSpPr>
        <p:spPr>
          <a:xfrm>
            <a:off x="4758233" y="3031236"/>
            <a:ext cx="259690"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Azure</a:t>
            </a:r>
            <a:endParaRPr lang="en-US" sz="245" dirty="0"/>
          </a:p>
          <a:p>
            <a:pPr algn="ctr"/>
            <a:r>
              <a:rPr lang="en-US" sz="245" dirty="0">
                <a:solidFill>
                  <a:srgbClr val="333333"/>
                </a:solidFill>
                <a:latin typeface="Arial" pitchFamily="34" charset="0"/>
                <a:ea typeface="Arial" pitchFamily="34" charset="-122"/>
                <a:cs typeface="Arial" pitchFamily="34" charset="-120"/>
              </a:rPr>
              <a:t>SQL</a:t>
            </a:r>
            <a:endParaRPr lang="en-US" sz="245" dirty="0"/>
          </a:p>
        </p:txBody>
      </p:sp>
      <p:pic>
        <p:nvPicPr>
          <p:cNvPr id="131" name="Image 30" descr="/sessions/zealous-intelligent-mayer/mnt/outputs/icons4/t_cos.png"/>
          <p:cNvPicPr>
            <a:picLocks noChangeAspect="1"/>
          </p:cNvPicPr>
          <p:nvPr/>
        </p:nvPicPr>
        <p:blipFill>
          <a:blip r:embed="rId32"/>
          <a:stretch>
            <a:fillRect/>
          </a:stretch>
        </p:blipFill>
        <p:spPr>
          <a:xfrm>
            <a:off x="5111191" y="2926080"/>
            <a:ext cx="91440" cy="91440"/>
          </a:xfrm>
          <a:prstGeom prst="rect">
            <a:avLst/>
          </a:prstGeom>
        </p:spPr>
      </p:pic>
      <p:sp>
        <p:nvSpPr>
          <p:cNvPr id="132" name="Text 99"/>
          <p:cNvSpPr/>
          <p:nvPr/>
        </p:nvSpPr>
        <p:spPr>
          <a:xfrm>
            <a:off x="5027067" y="3031236"/>
            <a:ext cx="259690"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Cosmos</a:t>
            </a:r>
            <a:endParaRPr lang="en-US" sz="245" dirty="0"/>
          </a:p>
          <a:p>
            <a:pPr algn="ctr"/>
            <a:r>
              <a:rPr lang="en-US" sz="245" dirty="0">
                <a:solidFill>
                  <a:srgbClr val="333333"/>
                </a:solidFill>
                <a:latin typeface="Arial" pitchFamily="34" charset="0"/>
                <a:ea typeface="Arial" pitchFamily="34" charset="-122"/>
                <a:cs typeface="Arial" pitchFamily="34" charset="-120"/>
              </a:rPr>
              <a:t>DB</a:t>
            </a:r>
            <a:endParaRPr lang="en-US" sz="245" dirty="0"/>
          </a:p>
        </p:txBody>
      </p:sp>
      <p:sp>
        <p:nvSpPr>
          <p:cNvPr id="133" name="Shape 100"/>
          <p:cNvSpPr/>
          <p:nvPr/>
        </p:nvSpPr>
        <p:spPr>
          <a:xfrm>
            <a:off x="3928872" y="3209544"/>
            <a:ext cx="1380744" cy="347472"/>
          </a:xfrm>
          <a:prstGeom prst="roundRect">
            <a:avLst>
              <a:gd name="adj" fmla="val 5263"/>
            </a:avLst>
          </a:prstGeom>
          <a:solidFill>
            <a:srgbClr val="EDF7F0"/>
          </a:solidFill>
          <a:ln w="12700">
            <a:solidFill>
              <a:srgbClr val="BEDFC9"/>
            </a:solidFill>
            <a:prstDash val="solid"/>
          </a:ln>
        </p:spPr>
      </p:sp>
      <p:sp>
        <p:nvSpPr>
          <p:cNvPr id="134" name="Text 101"/>
          <p:cNvSpPr/>
          <p:nvPr/>
        </p:nvSpPr>
        <p:spPr>
          <a:xfrm>
            <a:off x="3965448" y="3227832"/>
            <a:ext cx="1307592" cy="64008"/>
          </a:xfrm>
          <a:prstGeom prst="rect">
            <a:avLst/>
          </a:prstGeom>
          <a:noFill/>
          <a:ln/>
        </p:spPr>
        <p:txBody>
          <a:bodyPr wrap="square" lIns="0" tIns="0" rIns="0" bIns="0" rtlCol="0" anchor="ctr"/>
          <a:lstStyle/>
          <a:p>
            <a:r>
              <a:rPr lang="en-US" sz="310" b="1" dirty="0">
                <a:solidFill>
                  <a:srgbClr val="2E8B57"/>
                </a:solidFill>
                <a:latin typeface="Arial" pitchFamily="34" charset="0"/>
                <a:ea typeface="Arial" pitchFamily="34" charset="-122"/>
                <a:cs typeface="Arial" pitchFamily="34" charset="-120"/>
              </a:rPr>
              <a:t>Ball Enterprise Systems</a:t>
            </a:r>
            <a:endParaRPr lang="en-US" sz="310" dirty="0"/>
          </a:p>
        </p:txBody>
      </p:sp>
      <p:pic>
        <p:nvPicPr>
          <p:cNvPr id="135" name="Image 31" descr="/sessions/zealous-intelligent-mayer/mnt/outputs/icons4/t_sap.png"/>
          <p:cNvPicPr>
            <a:picLocks noChangeAspect="1"/>
          </p:cNvPicPr>
          <p:nvPr/>
        </p:nvPicPr>
        <p:blipFill>
          <a:blip r:embed="rId33"/>
          <a:stretch>
            <a:fillRect/>
          </a:stretch>
        </p:blipFill>
        <p:spPr>
          <a:xfrm>
            <a:off x="4035857" y="3310128"/>
            <a:ext cx="91440" cy="91440"/>
          </a:xfrm>
          <a:prstGeom prst="rect">
            <a:avLst/>
          </a:prstGeom>
        </p:spPr>
      </p:pic>
      <p:sp>
        <p:nvSpPr>
          <p:cNvPr id="136" name="Text 102"/>
          <p:cNvSpPr/>
          <p:nvPr/>
        </p:nvSpPr>
        <p:spPr>
          <a:xfrm>
            <a:off x="3951732" y="3415284"/>
            <a:ext cx="259690"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SAP</a:t>
            </a:r>
            <a:endParaRPr lang="en-US" sz="245" dirty="0"/>
          </a:p>
          <a:p>
            <a:pPr algn="ctr"/>
            <a:r>
              <a:rPr lang="en-US" sz="245" dirty="0">
                <a:solidFill>
                  <a:srgbClr val="333333"/>
                </a:solidFill>
                <a:latin typeface="Arial" pitchFamily="34" charset="0"/>
                <a:ea typeface="Arial" pitchFamily="34" charset="-122"/>
                <a:cs typeface="Arial" pitchFamily="34" charset="-120"/>
              </a:rPr>
              <a:t>S/4HANA</a:t>
            </a:r>
            <a:endParaRPr lang="en-US" sz="245" dirty="0"/>
          </a:p>
        </p:txBody>
      </p:sp>
      <p:pic>
        <p:nvPicPr>
          <p:cNvPr id="137" name="Image 32" descr="/sessions/zealous-intelligent-mayer/mnt/outputs/icons4/t_pi.png"/>
          <p:cNvPicPr>
            <a:picLocks noChangeAspect="1"/>
          </p:cNvPicPr>
          <p:nvPr/>
        </p:nvPicPr>
        <p:blipFill>
          <a:blip r:embed="rId34"/>
          <a:stretch>
            <a:fillRect/>
          </a:stretch>
        </p:blipFill>
        <p:spPr>
          <a:xfrm>
            <a:off x="4304691" y="3310128"/>
            <a:ext cx="91440" cy="91440"/>
          </a:xfrm>
          <a:prstGeom prst="rect">
            <a:avLst/>
          </a:prstGeom>
        </p:spPr>
      </p:pic>
      <p:sp>
        <p:nvSpPr>
          <p:cNvPr id="138" name="Text 103"/>
          <p:cNvSpPr/>
          <p:nvPr/>
        </p:nvSpPr>
        <p:spPr>
          <a:xfrm>
            <a:off x="4220566" y="3415284"/>
            <a:ext cx="259690"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AVEVA PI</a:t>
            </a:r>
            <a:endParaRPr lang="en-US" sz="245" dirty="0"/>
          </a:p>
          <a:p>
            <a:pPr algn="ctr"/>
            <a:r>
              <a:rPr lang="en-US" sz="245" dirty="0">
                <a:solidFill>
                  <a:srgbClr val="333333"/>
                </a:solidFill>
                <a:latin typeface="Arial" pitchFamily="34" charset="0"/>
                <a:ea typeface="Arial" pitchFamily="34" charset="-122"/>
                <a:cs typeface="Arial" pitchFamily="34" charset="-120"/>
              </a:rPr>
              <a:t>Historian</a:t>
            </a:r>
            <a:endParaRPr lang="en-US" sz="245" dirty="0"/>
          </a:p>
        </p:txBody>
      </p:sp>
      <p:pic>
        <p:nvPicPr>
          <p:cNvPr id="139" name="Image 33" descr="/sessions/zealous-intelligent-mayer/mnt/outputs/icons4/t_ft.png"/>
          <p:cNvPicPr>
            <a:picLocks noChangeAspect="1"/>
          </p:cNvPicPr>
          <p:nvPr/>
        </p:nvPicPr>
        <p:blipFill>
          <a:blip r:embed="rId35"/>
          <a:stretch>
            <a:fillRect/>
          </a:stretch>
        </p:blipFill>
        <p:spPr>
          <a:xfrm>
            <a:off x="4573524" y="3310128"/>
            <a:ext cx="91440" cy="91440"/>
          </a:xfrm>
          <a:prstGeom prst="rect">
            <a:avLst/>
          </a:prstGeom>
        </p:spPr>
      </p:pic>
      <p:sp>
        <p:nvSpPr>
          <p:cNvPr id="140" name="Text 104"/>
          <p:cNvSpPr/>
          <p:nvPr/>
        </p:nvSpPr>
        <p:spPr>
          <a:xfrm>
            <a:off x="4489399" y="3415284"/>
            <a:ext cx="259690"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FactoryTalk</a:t>
            </a:r>
            <a:endParaRPr lang="en-US" sz="245" dirty="0"/>
          </a:p>
          <a:p>
            <a:pPr algn="ctr"/>
            <a:r>
              <a:rPr lang="en-US" sz="245" dirty="0">
                <a:solidFill>
                  <a:srgbClr val="333333"/>
                </a:solidFill>
                <a:latin typeface="Arial" pitchFamily="34" charset="0"/>
                <a:ea typeface="Arial" pitchFamily="34" charset="-122"/>
                <a:cs typeface="Arial" pitchFamily="34" charset="-120"/>
              </a:rPr>
              <a:t>MES</a:t>
            </a:r>
            <a:endParaRPr lang="en-US" sz="245" dirty="0"/>
          </a:p>
        </p:txBody>
      </p:sp>
      <p:pic>
        <p:nvPicPr>
          <p:cNvPr id="141" name="Image 34" descr="/sessions/zealous-intelligent-mayer/mnt/outputs/icons4/t_sf.png"/>
          <p:cNvPicPr>
            <a:picLocks noChangeAspect="1"/>
          </p:cNvPicPr>
          <p:nvPr/>
        </p:nvPicPr>
        <p:blipFill>
          <a:blip r:embed="rId36"/>
          <a:stretch>
            <a:fillRect/>
          </a:stretch>
        </p:blipFill>
        <p:spPr>
          <a:xfrm>
            <a:off x="4842358" y="3310128"/>
            <a:ext cx="91440" cy="91440"/>
          </a:xfrm>
          <a:prstGeom prst="rect">
            <a:avLst/>
          </a:prstGeom>
        </p:spPr>
      </p:pic>
      <p:sp>
        <p:nvSpPr>
          <p:cNvPr id="142" name="Text 105"/>
          <p:cNvSpPr/>
          <p:nvPr/>
        </p:nvSpPr>
        <p:spPr>
          <a:xfrm>
            <a:off x="4758233" y="3415284"/>
            <a:ext cx="259690"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Salesforce</a:t>
            </a:r>
            <a:endParaRPr lang="en-US" sz="245" dirty="0"/>
          </a:p>
          <a:p>
            <a:pPr algn="ctr"/>
            <a:r>
              <a:rPr lang="en-US" sz="245" dirty="0">
                <a:solidFill>
                  <a:srgbClr val="333333"/>
                </a:solidFill>
                <a:latin typeface="Arial" pitchFamily="34" charset="0"/>
                <a:ea typeface="Arial" pitchFamily="34" charset="-122"/>
                <a:cs typeface="Arial" pitchFamily="34" charset="-120"/>
              </a:rPr>
              <a:t>CRM</a:t>
            </a:r>
            <a:endParaRPr lang="en-US" sz="245" dirty="0"/>
          </a:p>
        </p:txBody>
      </p:sp>
      <p:pic>
        <p:nvPicPr>
          <p:cNvPr id="143" name="Image 35" descr="/sessions/zealous-intelligent-mayer/mnt/outputs/icons4/t_coupa.png"/>
          <p:cNvPicPr>
            <a:picLocks noChangeAspect="1"/>
          </p:cNvPicPr>
          <p:nvPr/>
        </p:nvPicPr>
        <p:blipFill>
          <a:blip r:embed="rId37"/>
          <a:stretch>
            <a:fillRect/>
          </a:stretch>
        </p:blipFill>
        <p:spPr>
          <a:xfrm>
            <a:off x="5111191" y="3310128"/>
            <a:ext cx="91440" cy="91440"/>
          </a:xfrm>
          <a:prstGeom prst="rect">
            <a:avLst/>
          </a:prstGeom>
        </p:spPr>
      </p:pic>
      <p:sp>
        <p:nvSpPr>
          <p:cNvPr id="144" name="Text 106"/>
          <p:cNvSpPr/>
          <p:nvPr/>
        </p:nvSpPr>
        <p:spPr>
          <a:xfrm>
            <a:off x="5027067" y="3415284"/>
            <a:ext cx="259690"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Coupa /</a:t>
            </a:r>
            <a:endParaRPr lang="en-US" sz="245" dirty="0"/>
          </a:p>
          <a:p>
            <a:pPr algn="ctr"/>
            <a:r>
              <a:rPr lang="en-US" sz="245" dirty="0">
                <a:solidFill>
                  <a:srgbClr val="333333"/>
                </a:solidFill>
                <a:latin typeface="Arial" pitchFamily="34" charset="0"/>
                <a:ea typeface="Arial" pitchFamily="34" charset="-122"/>
                <a:cs typeface="Arial" pitchFamily="34" charset="-120"/>
              </a:rPr>
              <a:t>Ariba</a:t>
            </a:r>
            <a:endParaRPr lang="en-US" sz="245" dirty="0"/>
          </a:p>
        </p:txBody>
      </p:sp>
      <p:sp>
        <p:nvSpPr>
          <p:cNvPr id="145" name="Shape 107"/>
          <p:cNvSpPr/>
          <p:nvPr/>
        </p:nvSpPr>
        <p:spPr>
          <a:xfrm>
            <a:off x="3928872" y="3593592"/>
            <a:ext cx="1380744" cy="347472"/>
          </a:xfrm>
          <a:prstGeom prst="roundRect">
            <a:avLst>
              <a:gd name="adj" fmla="val 5263"/>
            </a:avLst>
          </a:prstGeom>
          <a:solidFill>
            <a:srgbClr val="EDF7F0"/>
          </a:solidFill>
          <a:ln w="12700">
            <a:solidFill>
              <a:srgbClr val="BEDFC9"/>
            </a:solidFill>
            <a:prstDash val="solid"/>
          </a:ln>
        </p:spPr>
      </p:sp>
      <p:sp>
        <p:nvSpPr>
          <p:cNvPr id="146" name="Text 108"/>
          <p:cNvSpPr/>
          <p:nvPr/>
        </p:nvSpPr>
        <p:spPr>
          <a:xfrm>
            <a:off x="3965448" y="3611880"/>
            <a:ext cx="1307592" cy="64008"/>
          </a:xfrm>
          <a:prstGeom prst="rect">
            <a:avLst/>
          </a:prstGeom>
          <a:noFill/>
          <a:ln/>
        </p:spPr>
        <p:txBody>
          <a:bodyPr wrap="square" lIns="0" tIns="0" rIns="0" bIns="0" rtlCol="0" anchor="ctr"/>
          <a:lstStyle/>
          <a:p>
            <a:r>
              <a:rPr lang="en-US" sz="310" b="1" dirty="0">
                <a:solidFill>
                  <a:srgbClr val="2E8B57"/>
                </a:solidFill>
                <a:latin typeface="Arial" pitchFamily="34" charset="0"/>
                <a:ea typeface="Arial" pitchFamily="34" charset="-122"/>
                <a:cs typeface="Arial" pitchFamily="34" charset="-120"/>
              </a:rPr>
              <a:t>APIs &amp; Connectivity</a:t>
            </a:r>
            <a:endParaRPr lang="en-US" sz="310" dirty="0"/>
          </a:p>
        </p:txBody>
      </p:sp>
      <p:pic>
        <p:nvPicPr>
          <p:cNvPr id="147" name="Image 36" descr="/sessions/zealous-intelligent-mayer/mnt/outputs/icons4/t_rest.png"/>
          <p:cNvPicPr>
            <a:picLocks noChangeAspect="1"/>
          </p:cNvPicPr>
          <p:nvPr/>
        </p:nvPicPr>
        <p:blipFill>
          <a:blip r:embed="rId38"/>
          <a:stretch>
            <a:fillRect/>
          </a:stretch>
        </p:blipFill>
        <p:spPr>
          <a:xfrm>
            <a:off x="4035857" y="3694176"/>
            <a:ext cx="91440" cy="91440"/>
          </a:xfrm>
          <a:prstGeom prst="rect">
            <a:avLst/>
          </a:prstGeom>
        </p:spPr>
      </p:pic>
      <p:sp>
        <p:nvSpPr>
          <p:cNvPr id="148" name="Text 109"/>
          <p:cNvSpPr/>
          <p:nvPr/>
        </p:nvSpPr>
        <p:spPr>
          <a:xfrm>
            <a:off x="3951732" y="3799332"/>
            <a:ext cx="259690"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REST</a:t>
            </a:r>
            <a:endParaRPr lang="en-US" sz="245" dirty="0"/>
          </a:p>
          <a:p>
            <a:pPr algn="ctr"/>
            <a:r>
              <a:rPr lang="en-US" sz="245" dirty="0">
                <a:solidFill>
                  <a:srgbClr val="333333"/>
                </a:solidFill>
                <a:latin typeface="Arial" pitchFamily="34" charset="0"/>
                <a:ea typeface="Arial" pitchFamily="34" charset="-122"/>
                <a:cs typeface="Arial" pitchFamily="34" charset="-120"/>
              </a:rPr>
              <a:t>APIs</a:t>
            </a:r>
            <a:endParaRPr lang="en-US" sz="245" dirty="0"/>
          </a:p>
        </p:txBody>
      </p:sp>
      <p:pic>
        <p:nvPicPr>
          <p:cNvPr id="149" name="Image 37" descr="/sessions/zealous-intelligent-mayer/mnt/outputs/icons4/t_graph.png"/>
          <p:cNvPicPr>
            <a:picLocks noChangeAspect="1"/>
          </p:cNvPicPr>
          <p:nvPr/>
        </p:nvPicPr>
        <p:blipFill>
          <a:blip r:embed="rId39"/>
          <a:stretch>
            <a:fillRect/>
          </a:stretch>
        </p:blipFill>
        <p:spPr>
          <a:xfrm>
            <a:off x="4304691" y="3694176"/>
            <a:ext cx="91440" cy="91440"/>
          </a:xfrm>
          <a:prstGeom prst="rect">
            <a:avLst/>
          </a:prstGeom>
        </p:spPr>
      </p:pic>
      <p:sp>
        <p:nvSpPr>
          <p:cNvPr id="150" name="Text 110"/>
          <p:cNvSpPr/>
          <p:nvPr/>
        </p:nvSpPr>
        <p:spPr>
          <a:xfrm>
            <a:off x="4220566" y="3799332"/>
            <a:ext cx="259690"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Microsoft</a:t>
            </a:r>
            <a:endParaRPr lang="en-US" sz="245" dirty="0"/>
          </a:p>
          <a:p>
            <a:pPr algn="ctr"/>
            <a:r>
              <a:rPr lang="en-US" sz="245" dirty="0">
                <a:solidFill>
                  <a:srgbClr val="333333"/>
                </a:solidFill>
                <a:latin typeface="Arial" pitchFamily="34" charset="0"/>
                <a:ea typeface="Arial" pitchFamily="34" charset="-122"/>
                <a:cs typeface="Arial" pitchFamily="34" charset="-120"/>
              </a:rPr>
              <a:t>Graph</a:t>
            </a:r>
            <a:endParaRPr lang="en-US" sz="245" dirty="0"/>
          </a:p>
        </p:txBody>
      </p:sp>
      <p:pic>
        <p:nvPicPr>
          <p:cNvPr id="151" name="Image 38" descr="/sessions/zealous-intelligent-mayer/mnt/outputs/icons4/t_sp.png"/>
          <p:cNvPicPr>
            <a:picLocks noChangeAspect="1"/>
          </p:cNvPicPr>
          <p:nvPr/>
        </p:nvPicPr>
        <p:blipFill>
          <a:blip r:embed="rId40"/>
          <a:stretch>
            <a:fillRect/>
          </a:stretch>
        </p:blipFill>
        <p:spPr>
          <a:xfrm>
            <a:off x="4573524" y="3694176"/>
            <a:ext cx="91440" cy="91440"/>
          </a:xfrm>
          <a:prstGeom prst="rect">
            <a:avLst/>
          </a:prstGeom>
        </p:spPr>
      </p:pic>
      <p:sp>
        <p:nvSpPr>
          <p:cNvPr id="152" name="Text 111"/>
          <p:cNvSpPr/>
          <p:nvPr/>
        </p:nvSpPr>
        <p:spPr>
          <a:xfrm>
            <a:off x="4489399" y="3799332"/>
            <a:ext cx="259690"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Share-</a:t>
            </a:r>
            <a:endParaRPr lang="en-US" sz="245" dirty="0"/>
          </a:p>
          <a:p>
            <a:pPr algn="ctr"/>
            <a:r>
              <a:rPr lang="en-US" sz="245" dirty="0">
                <a:solidFill>
                  <a:srgbClr val="333333"/>
                </a:solidFill>
                <a:latin typeface="Arial" pitchFamily="34" charset="0"/>
                <a:ea typeface="Arial" pitchFamily="34" charset="-122"/>
                <a:cs typeface="Arial" pitchFamily="34" charset="-120"/>
              </a:rPr>
              <a:t>Point</a:t>
            </a:r>
            <a:endParaRPr lang="en-US" sz="245" dirty="0"/>
          </a:p>
        </p:txBody>
      </p:sp>
      <p:pic>
        <p:nvPicPr>
          <p:cNvPr id="153" name="Image 39" descr="/sessions/zealous-intelligent-mayer/mnt/outputs/icons4/t_tm.png"/>
          <p:cNvPicPr>
            <a:picLocks noChangeAspect="1"/>
          </p:cNvPicPr>
          <p:nvPr/>
        </p:nvPicPr>
        <p:blipFill>
          <a:blip r:embed="rId41"/>
          <a:stretch>
            <a:fillRect/>
          </a:stretch>
        </p:blipFill>
        <p:spPr>
          <a:xfrm>
            <a:off x="4842358" y="3694176"/>
            <a:ext cx="91440" cy="91440"/>
          </a:xfrm>
          <a:prstGeom prst="rect">
            <a:avLst/>
          </a:prstGeom>
        </p:spPr>
      </p:pic>
      <p:sp>
        <p:nvSpPr>
          <p:cNvPr id="154" name="Text 112"/>
          <p:cNvSpPr/>
          <p:nvPr/>
        </p:nvSpPr>
        <p:spPr>
          <a:xfrm>
            <a:off x="4758233" y="3799332"/>
            <a:ext cx="259690"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Teams</a:t>
            </a:r>
            <a:endParaRPr lang="en-US" sz="245" dirty="0"/>
          </a:p>
        </p:txBody>
      </p:sp>
      <p:pic>
        <p:nvPicPr>
          <p:cNvPr id="155" name="Image 40" descr="/sessions/zealous-intelligent-mayer/mnt/outputs/icons4/t_smtp.png"/>
          <p:cNvPicPr>
            <a:picLocks noChangeAspect="1"/>
          </p:cNvPicPr>
          <p:nvPr/>
        </p:nvPicPr>
        <p:blipFill>
          <a:blip r:embed="rId42"/>
          <a:stretch>
            <a:fillRect/>
          </a:stretch>
        </p:blipFill>
        <p:spPr>
          <a:xfrm>
            <a:off x="5111191" y="3694176"/>
            <a:ext cx="91440" cy="91440"/>
          </a:xfrm>
          <a:prstGeom prst="rect">
            <a:avLst/>
          </a:prstGeom>
        </p:spPr>
      </p:pic>
      <p:sp>
        <p:nvSpPr>
          <p:cNvPr id="156" name="Text 113"/>
          <p:cNvSpPr/>
          <p:nvPr/>
        </p:nvSpPr>
        <p:spPr>
          <a:xfrm>
            <a:off x="5027067" y="3799332"/>
            <a:ext cx="259690"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Email /</a:t>
            </a:r>
            <a:endParaRPr lang="en-US" sz="245" dirty="0"/>
          </a:p>
          <a:p>
            <a:pPr algn="ctr"/>
            <a:r>
              <a:rPr lang="en-US" sz="245" dirty="0">
                <a:solidFill>
                  <a:srgbClr val="333333"/>
                </a:solidFill>
                <a:latin typeface="Arial" pitchFamily="34" charset="0"/>
                <a:ea typeface="Arial" pitchFamily="34" charset="-122"/>
                <a:cs typeface="Arial" pitchFamily="34" charset="-120"/>
              </a:rPr>
              <a:t>SMTP</a:t>
            </a:r>
            <a:endParaRPr lang="en-US" sz="245" dirty="0"/>
          </a:p>
        </p:txBody>
      </p:sp>
      <p:sp>
        <p:nvSpPr>
          <p:cNvPr id="157" name="Shape 114"/>
          <p:cNvSpPr/>
          <p:nvPr/>
        </p:nvSpPr>
        <p:spPr>
          <a:xfrm>
            <a:off x="3928872" y="3977640"/>
            <a:ext cx="1380744" cy="329184"/>
          </a:xfrm>
          <a:prstGeom prst="roundRect">
            <a:avLst>
              <a:gd name="adj" fmla="val 5556"/>
            </a:avLst>
          </a:prstGeom>
          <a:solidFill>
            <a:srgbClr val="EDF7F0"/>
          </a:solidFill>
          <a:ln w="12700">
            <a:solidFill>
              <a:srgbClr val="BEDFC9"/>
            </a:solidFill>
            <a:prstDash val="solid"/>
          </a:ln>
        </p:spPr>
      </p:sp>
      <p:sp>
        <p:nvSpPr>
          <p:cNvPr id="158" name="Text 115"/>
          <p:cNvSpPr/>
          <p:nvPr/>
        </p:nvSpPr>
        <p:spPr>
          <a:xfrm>
            <a:off x="3965448" y="3995928"/>
            <a:ext cx="1307592" cy="64008"/>
          </a:xfrm>
          <a:prstGeom prst="rect">
            <a:avLst/>
          </a:prstGeom>
          <a:noFill/>
          <a:ln/>
        </p:spPr>
        <p:txBody>
          <a:bodyPr wrap="square" lIns="0" tIns="0" rIns="0" bIns="0" rtlCol="0" anchor="ctr"/>
          <a:lstStyle/>
          <a:p>
            <a:r>
              <a:rPr lang="en-US" sz="310" b="1" dirty="0">
                <a:solidFill>
                  <a:srgbClr val="2E8B57"/>
                </a:solidFill>
                <a:latin typeface="Arial" pitchFamily="34" charset="0"/>
                <a:ea typeface="Arial" pitchFamily="34" charset="-122"/>
                <a:cs typeface="Arial" pitchFamily="34" charset="-120"/>
              </a:rPr>
              <a:t>Other Connectors</a:t>
            </a:r>
            <a:endParaRPr lang="en-US" sz="310" dirty="0"/>
          </a:p>
        </p:txBody>
      </p:sp>
      <p:pic>
        <p:nvPicPr>
          <p:cNvPr id="159" name="Image 41" descr="/sessions/zealous-intelligent-mayer/mnt/outputs/icons4/t_s3.png"/>
          <p:cNvPicPr>
            <a:picLocks noChangeAspect="1"/>
          </p:cNvPicPr>
          <p:nvPr/>
        </p:nvPicPr>
        <p:blipFill>
          <a:blip r:embed="rId43"/>
          <a:stretch>
            <a:fillRect/>
          </a:stretch>
        </p:blipFill>
        <p:spPr>
          <a:xfrm>
            <a:off x="4069461" y="4078224"/>
            <a:ext cx="91440" cy="91440"/>
          </a:xfrm>
          <a:prstGeom prst="rect">
            <a:avLst/>
          </a:prstGeom>
        </p:spPr>
      </p:pic>
      <p:sp>
        <p:nvSpPr>
          <p:cNvPr id="160" name="Text 116"/>
          <p:cNvSpPr/>
          <p:nvPr/>
        </p:nvSpPr>
        <p:spPr>
          <a:xfrm>
            <a:off x="3951732" y="4183380"/>
            <a:ext cx="326898"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S3 / Third</a:t>
            </a:r>
            <a:endParaRPr lang="en-US" sz="245" dirty="0"/>
          </a:p>
          <a:p>
            <a:pPr algn="ctr"/>
            <a:r>
              <a:rPr lang="en-US" sz="245" dirty="0">
                <a:solidFill>
                  <a:srgbClr val="333333"/>
                </a:solidFill>
                <a:latin typeface="Arial" pitchFamily="34" charset="0"/>
                <a:ea typeface="Arial" pitchFamily="34" charset="-122"/>
                <a:cs typeface="Arial" pitchFamily="34" charset="-120"/>
              </a:rPr>
              <a:t>Party</a:t>
            </a:r>
            <a:endParaRPr lang="en-US" sz="245" dirty="0"/>
          </a:p>
        </p:txBody>
      </p:sp>
      <p:pic>
        <p:nvPicPr>
          <p:cNvPr id="161" name="Image 42" descr="/sessions/zealous-intelligent-mayer/mnt/outputs/icons4/t_sql.png"/>
          <p:cNvPicPr>
            <a:picLocks noChangeAspect="1"/>
          </p:cNvPicPr>
          <p:nvPr/>
        </p:nvPicPr>
        <p:blipFill>
          <a:blip r:embed="rId31"/>
          <a:stretch>
            <a:fillRect/>
          </a:stretch>
        </p:blipFill>
        <p:spPr>
          <a:xfrm>
            <a:off x="4405503" y="4078224"/>
            <a:ext cx="91440" cy="91440"/>
          </a:xfrm>
          <a:prstGeom prst="rect">
            <a:avLst/>
          </a:prstGeom>
        </p:spPr>
      </p:pic>
      <p:sp>
        <p:nvSpPr>
          <p:cNvPr id="162" name="Text 117"/>
          <p:cNvSpPr/>
          <p:nvPr/>
        </p:nvSpPr>
        <p:spPr>
          <a:xfrm>
            <a:off x="4287774" y="4183380"/>
            <a:ext cx="326898"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Plant</a:t>
            </a:r>
            <a:endParaRPr lang="en-US" sz="245" dirty="0"/>
          </a:p>
          <a:p>
            <a:pPr algn="ctr"/>
            <a:r>
              <a:rPr lang="en-US" sz="245" dirty="0">
                <a:solidFill>
                  <a:srgbClr val="333333"/>
                </a:solidFill>
                <a:latin typeface="Arial" pitchFamily="34" charset="0"/>
                <a:ea typeface="Arial" pitchFamily="34" charset="-122"/>
                <a:cs typeface="Arial" pitchFamily="34" charset="-120"/>
              </a:rPr>
              <a:t>Databases</a:t>
            </a:r>
            <a:endParaRPr lang="en-US" sz="245" dirty="0"/>
          </a:p>
        </p:txBody>
      </p:sp>
      <p:pic>
        <p:nvPicPr>
          <p:cNvPr id="163" name="Image 43" descr="/sessions/zealous-intelligent-mayer/mnt/outputs/icons4/t_web.png"/>
          <p:cNvPicPr>
            <a:picLocks noChangeAspect="1"/>
          </p:cNvPicPr>
          <p:nvPr/>
        </p:nvPicPr>
        <p:blipFill>
          <a:blip r:embed="rId44"/>
          <a:stretch>
            <a:fillRect/>
          </a:stretch>
        </p:blipFill>
        <p:spPr>
          <a:xfrm>
            <a:off x="4741545" y="4078224"/>
            <a:ext cx="91440" cy="91440"/>
          </a:xfrm>
          <a:prstGeom prst="rect">
            <a:avLst/>
          </a:prstGeom>
        </p:spPr>
      </p:pic>
      <p:sp>
        <p:nvSpPr>
          <p:cNvPr id="164" name="Text 118"/>
          <p:cNvSpPr/>
          <p:nvPr/>
        </p:nvSpPr>
        <p:spPr>
          <a:xfrm>
            <a:off x="4623816" y="4183380"/>
            <a:ext cx="326898"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Web /</a:t>
            </a:r>
            <a:endParaRPr lang="en-US" sz="245" dirty="0"/>
          </a:p>
          <a:p>
            <a:pPr algn="ctr"/>
            <a:r>
              <a:rPr lang="en-US" sz="245" dirty="0">
                <a:solidFill>
                  <a:srgbClr val="333333"/>
                </a:solidFill>
                <a:latin typeface="Arial" pitchFamily="34" charset="0"/>
                <a:ea typeface="Arial" pitchFamily="34" charset="-122"/>
                <a:cs typeface="Arial" pitchFamily="34" charset="-120"/>
              </a:rPr>
              <a:t>APIs</a:t>
            </a:r>
            <a:endParaRPr lang="en-US" sz="245" dirty="0"/>
          </a:p>
        </p:txBody>
      </p:sp>
      <p:pic>
        <p:nvPicPr>
          <p:cNvPr id="165" name="Image 44" descr="/sessions/zealous-intelligent-mayer/mnt/outputs/icons4/t_cos.png"/>
          <p:cNvPicPr>
            <a:picLocks noChangeAspect="1"/>
          </p:cNvPicPr>
          <p:nvPr/>
        </p:nvPicPr>
        <p:blipFill>
          <a:blip r:embed="rId32"/>
          <a:stretch>
            <a:fillRect/>
          </a:stretch>
        </p:blipFill>
        <p:spPr>
          <a:xfrm>
            <a:off x="5077587" y="4078224"/>
            <a:ext cx="91440" cy="91440"/>
          </a:xfrm>
          <a:prstGeom prst="rect">
            <a:avLst/>
          </a:prstGeom>
        </p:spPr>
      </p:pic>
      <p:sp>
        <p:nvSpPr>
          <p:cNvPr id="166" name="Text 119"/>
          <p:cNvSpPr/>
          <p:nvPr/>
        </p:nvSpPr>
        <p:spPr>
          <a:xfrm>
            <a:off x="4959858" y="4183380"/>
            <a:ext cx="326898"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Legacy</a:t>
            </a:r>
            <a:endParaRPr lang="en-US" sz="245" dirty="0"/>
          </a:p>
          <a:p>
            <a:pPr algn="ctr"/>
            <a:r>
              <a:rPr lang="en-US" sz="245" dirty="0">
                <a:solidFill>
                  <a:srgbClr val="333333"/>
                </a:solidFill>
                <a:latin typeface="Arial" pitchFamily="34" charset="0"/>
                <a:ea typeface="Arial" pitchFamily="34" charset="-122"/>
                <a:cs typeface="Arial" pitchFamily="34" charset="-120"/>
              </a:rPr>
              <a:t>DCS / PLC</a:t>
            </a:r>
            <a:endParaRPr lang="en-US" sz="245" dirty="0"/>
          </a:p>
        </p:txBody>
      </p:sp>
      <p:sp>
        <p:nvSpPr>
          <p:cNvPr id="167" name="Text 120"/>
          <p:cNvSpPr/>
          <p:nvPr/>
        </p:nvSpPr>
        <p:spPr>
          <a:xfrm>
            <a:off x="5437632" y="2715768"/>
            <a:ext cx="1389888" cy="91440"/>
          </a:xfrm>
          <a:prstGeom prst="rect">
            <a:avLst/>
          </a:prstGeom>
          <a:noFill/>
          <a:ln/>
        </p:spPr>
        <p:txBody>
          <a:bodyPr wrap="square" lIns="0" tIns="0" rIns="0" bIns="0" rtlCol="0" anchor="ctr"/>
          <a:lstStyle/>
          <a:p>
            <a:pPr algn="ctr"/>
            <a:r>
              <a:rPr lang="en-US" sz="390" b="1" dirty="0">
                <a:solidFill>
                  <a:srgbClr val="1F6FB2"/>
                </a:solidFill>
                <a:latin typeface="Arial" pitchFamily="34" charset="0"/>
                <a:ea typeface="Arial" pitchFamily="34" charset="-122"/>
                <a:cs typeface="Arial" pitchFamily="34" charset="-120"/>
              </a:rPr>
              <a:t>4. MODEL ROUTING LAYER (TASK → MODEL)</a:t>
            </a:r>
            <a:endParaRPr lang="en-US" sz="390" dirty="0"/>
          </a:p>
        </p:txBody>
      </p:sp>
      <p:sp>
        <p:nvSpPr>
          <p:cNvPr id="168" name="Text 121"/>
          <p:cNvSpPr/>
          <p:nvPr/>
        </p:nvSpPr>
        <p:spPr>
          <a:xfrm>
            <a:off x="5437632" y="2798064"/>
            <a:ext cx="1389888" cy="64008"/>
          </a:xfrm>
          <a:prstGeom prst="rect">
            <a:avLst/>
          </a:prstGeom>
          <a:noFill/>
          <a:ln/>
        </p:spPr>
        <p:txBody>
          <a:bodyPr wrap="square" lIns="0" tIns="0" rIns="0" bIns="0" rtlCol="0" anchor="ctr"/>
          <a:lstStyle/>
          <a:p>
            <a:pPr algn="ctr"/>
            <a:r>
              <a:rPr lang="en-US" sz="320" b="1" dirty="0">
                <a:solidFill>
                  <a:srgbClr val="1B5E96"/>
                </a:solidFill>
                <a:latin typeface="Arial" pitchFamily="34" charset="0"/>
                <a:ea typeface="Arial" pitchFamily="34" charset="-122"/>
                <a:cs typeface="Arial" pitchFamily="34" charset="-120"/>
              </a:rPr>
              <a:t>Azure AI Foundry / Azure OpenAI Service</a:t>
            </a:r>
            <a:endParaRPr lang="en-US" sz="320" dirty="0"/>
          </a:p>
        </p:txBody>
      </p:sp>
      <p:sp>
        <p:nvSpPr>
          <p:cNvPr id="169" name="Shape 122"/>
          <p:cNvSpPr/>
          <p:nvPr/>
        </p:nvSpPr>
        <p:spPr>
          <a:xfrm>
            <a:off x="5446776" y="2862072"/>
            <a:ext cx="1371600" cy="173736"/>
          </a:xfrm>
          <a:prstGeom prst="roundRect">
            <a:avLst>
              <a:gd name="adj" fmla="val 10526"/>
            </a:avLst>
          </a:prstGeom>
          <a:solidFill>
            <a:srgbClr val="F4EFFA"/>
          </a:solidFill>
          <a:ln w="12700">
            <a:solidFill>
              <a:srgbClr val="D6C4E8"/>
            </a:solidFill>
            <a:prstDash val="solid"/>
          </a:ln>
        </p:spPr>
      </p:sp>
      <p:pic>
        <p:nvPicPr>
          <p:cNvPr id="170" name="Image 45" descr="/sessions/zealous-intelligent-mayer/mnt/outputs/icons4/m1.png"/>
          <p:cNvPicPr>
            <a:picLocks noChangeAspect="1"/>
          </p:cNvPicPr>
          <p:nvPr/>
        </p:nvPicPr>
        <p:blipFill>
          <a:blip r:embed="rId45"/>
          <a:stretch>
            <a:fillRect/>
          </a:stretch>
        </p:blipFill>
        <p:spPr>
          <a:xfrm>
            <a:off x="5483352" y="2903220"/>
            <a:ext cx="91440" cy="91440"/>
          </a:xfrm>
          <a:prstGeom prst="rect">
            <a:avLst/>
          </a:prstGeom>
        </p:spPr>
      </p:pic>
      <p:sp>
        <p:nvSpPr>
          <p:cNvPr id="171" name="Text 123"/>
          <p:cNvSpPr/>
          <p:nvPr/>
        </p:nvSpPr>
        <p:spPr>
          <a:xfrm>
            <a:off x="5611368" y="2882646"/>
            <a:ext cx="1170432" cy="64008"/>
          </a:xfrm>
          <a:prstGeom prst="rect">
            <a:avLst/>
          </a:prstGeom>
          <a:noFill/>
          <a:ln/>
        </p:spPr>
        <p:txBody>
          <a:bodyPr wrap="square" lIns="0" tIns="0" rIns="0" bIns="0" rtlCol="0" anchor="ctr"/>
          <a:lstStyle/>
          <a:p>
            <a:r>
              <a:rPr lang="en-US" sz="290" b="1" dirty="0">
                <a:solidFill>
                  <a:srgbClr val="7B4FA8"/>
                </a:solidFill>
                <a:latin typeface="Arial" pitchFamily="34" charset="0"/>
                <a:ea typeface="Arial" pitchFamily="34" charset="-122"/>
                <a:cs typeface="Arial" pitchFamily="34" charset="-120"/>
              </a:rPr>
              <a:t>Reasoning / Planning / Multi-step</a:t>
            </a:r>
            <a:endParaRPr lang="en-US" sz="290" dirty="0"/>
          </a:p>
        </p:txBody>
      </p:sp>
      <p:sp>
        <p:nvSpPr>
          <p:cNvPr id="172" name="Text 124"/>
          <p:cNvSpPr/>
          <p:nvPr/>
        </p:nvSpPr>
        <p:spPr>
          <a:xfrm>
            <a:off x="5611368" y="2946654"/>
            <a:ext cx="1170432" cy="64008"/>
          </a:xfrm>
          <a:prstGeom prst="rect">
            <a:avLst/>
          </a:prstGeom>
          <a:noFill/>
          <a:ln/>
        </p:spPr>
        <p:txBody>
          <a:bodyPr wrap="square" lIns="0" tIns="0" rIns="0" bIns="0" rtlCol="0" anchor="ctr"/>
          <a:lstStyle/>
          <a:p>
            <a:r>
              <a:rPr lang="en-US" sz="280" dirty="0">
                <a:solidFill>
                  <a:srgbClr val="333333"/>
                </a:solidFill>
                <a:latin typeface="Arial" pitchFamily="34" charset="0"/>
                <a:ea typeface="Arial" pitchFamily="34" charset="-122"/>
                <a:cs typeface="Arial" pitchFamily="34" charset="-120"/>
              </a:rPr>
              <a:t>GPT-4.1 / o3 / o4-mini</a:t>
            </a:r>
            <a:endParaRPr lang="en-US" sz="280" dirty="0"/>
          </a:p>
        </p:txBody>
      </p:sp>
      <p:sp>
        <p:nvSpPr>
          <p:cNvPr id="173" name="Shape 125"/>
          <p:cNvSpPr/>
          <p:nvPr/>
        </p:nvSpPr>
        <p:spPr>
          <a:xfrm>
            <a:off x="5446776" y="3058668"/>
            <a:ext cx="1371600" cy="173736"/>
          </a:xfrm>
          <a:prstGeom prst="roundRect">
            <a:avLst>
              <a:gd name="adj" fmla="val 10526"/>
            </a:avLst>
          </a:prstGeom>
          <a:solidFill>
            <a:srgbClr val="EAF3FB"/>
          </a:solidFill>
          <a:ln w="12700">
            <a:solidFill>
              <a:srgbClr val="BBD6EC"/>
            </a:solidFill>
            <a:prstDash val="solid"/>
          </a:ln>
        </p:spPr>
      </p:sp>
      <p:pic>
        <p:nvPicPr>
          <p:cNvPr id="174" name="Image 46" descr="/sessions/zealous-intelligent-mayer/mnt/outputs/icons4/m2.png"/>
          <p:cNvPicPr>
            <a:picLocks noChangeAspect="1"/>
          </p:cNvPicPr>
          <p:nvPr/>
        </p:nvPicPr>
        <p:blipFill>
          <a:blip r:embed="rId46"/>
          <a:stretch>
            <a:fillRect/>
          </a:stretch>
        </p:blipFill>
        <p:spPr>
          <a:xfrm>
            <a:off x="5483352" y="3099816"/>
            <a:ext cx="91440" cy="91440"/>
          </a:xfrm>
          <a:prstGeom prst="rect">
            <a:avLst/>
          </a:prstGeom>
        </p:spPr>
      </p:pic>
      <p:sp>
        <p:nvSpPr>
          <p:cNvPr id="175" name="Text 126"/>
          <p:cNvSpPr/>
          <p:nvPr/>
        </p:nvSpPr>
        <p:spPr>
          <a:xfrm>
            <a:off x="5611368" y="3079242"/>
            <a:ext cx="1170432" cy="64008"/>
          </a:xfrm>
          <a:prstGeom prst="rect">
            <a:avLst/>
          </a:prstGeom>
          <a:noFill/>
          <a:ln/>
        </p:spPr>
        <p:txBody>
          <a:bodyPr wrap="square" lIns="0" tIns="0" rIns="0" bIns="0" rtlCol="0" anchor="ctr"/>
          <a:lstStyle/>
          <a:p>
            <a:r>
              <a:rPr lang="en-US" sz="290" b="1" dirty="0">
                <a:solidFill>
                  <a:srgbClr val="1B5E96"/>
                </a:solidFill>
                <a:latin typeface="Arial" pitchFamily="34" charset="0"/>
                <a:ea typeface="Arial" pitchFamily="34" charset="-122"/>
                <a:cs typeface="Arial" pitchFamily="34" charset="-120"/>
              </a:rPr>
              <a:t>Extraction / Classification / JSON</a:t>
            </a:r>
            <a:endParaRPr lang="en-US" sz="290" dirty="0"/>
          </a:p>
        </p:txBody>
      </p:sp>
      <p:sp>
        <p:nvSpPr>
          <p:cNvPr id="176" name="Text 127"/>
          <p:cNvSpPr/>
          <p:nvPr/>
        </p:nvSpPr>
        <p:spPr>
          <a:xfrm>
            <a:off x="5611368" y="3143250"/>
            <a:ext cx="1170432" cy="64008"/>
          </a:xfrm>
          <a:prstGeom prst="rect">
            <a:avLst/>
          </a:prstGeom>
          <a:noFill/>
          <a:ln/>
        </p:spPr>
        <p:txBody>
          <a:bodyPr wrap="square" lIns="0" tIns="0" rIns="0" bIns="0" rtlCol="0" anchor="ctr"/>
          <a:lstStyle/>
          <a:p>
            <a:r>
              <a:rPr lang="en-US" sz="280" dirty="0">
                <a:solidFill>
                  <a:srgbClr val="333333"/>
                </a:solidFill>
                <a:latin typeface="Arial" pitchFamily="34" charset="0"/>
                <a:ea typeface="Arial" pitchFamily="34" charset="-122"/>
                <a:cs typeface="Arial" pitchFamily="34" charset="-120"/>
              </a:rPr>
              <a:t>GPT-4o / o4-mini</a:t>
            </a:r>
            <a:endParaRPr lang="en-US" sz="280" dirty="0"/>
          </a:p>
        </p:txBody>
      </p:sp>
      <p:sp>
        <p:nvSpPr>
          <p:cNvPr id="177" name="Shape 128"/>
          <p:cNvSpPr/>
          <p:nvPr/>
        </p:nvSpPr>
        <p:spPr>
          <a:xfrm>
            <a:off x="5446776" y="3255264"/>
            <a:ext cx="1371600" cy="173736"/>
          </a:xfrm>
          <a:prstGeom prst="roundRect">
            <a:avLst>
              <a:gd name="adj" fmla="val 10526"/>
            </a:avLst>
          </a:prstGeom>
          <a:solidFill>
            <a:srgbClr val="EDF7F0"/>
          </a:solidFill>
          <a:ln w="12700">
            <a:solidFill>
              <a:srgbClr val="BEDFC9"/>
            </a:solidFill>
            <a:prstDash val="solid"/>
          </a:ln>
        </p:spPr>
      </p:sp>
      <p:pic>
        <p:nvPicPr>
          <p:cNvPr id="178" name="Image 47" descr="/sessions/zealous-intelligent-mayer/mnt/outputs/icons4/m3.png"/>
          <p:cNvPicPr>
            <a:picLocks noChangeAspect="1"/>
          </p:cNvPicPr>
          <p:nvPr/>
        </p:nvPicPr>
        <p:blipFill>
          <a:blip r:embed="rId40"/>
          <a:stretch>
            <a:fillRect/>
          </a:stretch>
        </p:blipFill>
        <p:spPr>
          <a:xfrm>
            <a:off x="5483352" y="3296412"/>
            <a:ext cx="91440" cy="91440"/>
          </a:xfrm>
          <a:prstGeom prst="rect">
            <a:avLst/>
          </a:prstGeom>
        </p:spPr>
      </p:pic>
      <p:sp>
        <p:nvSpPr>
          <p:cNvPr id="179" name="Text 129"/>
          <p:cNvSpPr/>
          <p:nvPr/>
        </p:nvSpPr>
        <p:spPr>
          <a:xfrm>
            <a:off x="5611368" y="3275838"/>
            <a:ext cx="1170432" cy="64008"/>
          </a:xfrm>
          <a:prstGeom prst="rect">
            <a:avLst/>
          </a:prstGeom>
          <a:noFill/>
          <a:ln/>
        </p:spPr>
        <p:txBody>
          <a:bodyPr wrap="square" lIns="0" tIns="0" rIns="0" bIns="0" rtlCol="0" anchor="ctr"/>
          <a:lstStyle/>
          <a:p>
            <a:r>
              <a:rPr lang="en-US" sz="290" b="1" dirty="0">
                <a:solidFill>
                  <a:srgbClr val="2E8B57"/>
                </a:solidFill>
                <a:latin typeface="Arial" pitchFamily="34" charset="0"/>
                <a:ea typeface="Arial" pitchFamily="34" charset="-122"/>
                <a:cs typeface="Arial" pitchFamily="34" charset="-120"/>
              </a:rPr>
              <a:t>Summarization / Long Documents</a:t>
            </a:r>
            <a:endParaRPr lang="en-US" sz="290" dirty="0"/>
          </a:p>
        </p:txBody>
      </p:sp>
      <p:sp>
        <p:nvSpPr>
          <p:cNvPr id="180" name="Text 130"/>
          <p:cNvSpPr/>
          <p:nvPr/>
        </p:nvSpPr>
        <p:spPr>
          <a:xfrm>
            <a:off x="5611368" y="3339846"/>
            <a:ext cx="1170432" cy="64008"/>
          </a:xfrm>
          <a:prstGeom prst="rect">
            <a:avLst/>
          </a:prstGeom>
          <a:noFill/>
          <a:ln/>
        </p:spPr>
        <p:txBody>
          <a:bodyPr wrap="square" lIns="0" tIns="0" rIns="0" bIns="0" rtlCol="0" anchor="ctr"/>
          <a:lstStyle/>
          <a:p>
            <a:r>
              <a:rPr lang="en-US" sz="280" dirty="0">
                <a:solidFill>
                  <a:srgbClr val="333333"/>
                </a:solidFill>
                <a:latin typeface="Arial" pitchFamily="34" charset="0"/>
                <a:ea typeface="Arial" pitchFamily="34" charset="-122"/>
                <a:cs typeface="Arial" pitchFamily="34" charset="-120"/>
              </a:rPr>
              <a:t>GPT-4.1 / o4-mini / Phi-4</a:t>
            </a:r>
            <a:endParaRPr lang="en-US" sz="280" dirty="0"/>
          </a:p>
        </p:txBody>
      </p:sp>
      <p:sp>
        <p:nvSpPr>
          <p:cNvPr id="181" name="Shape 131"/>
          <p:cNvSpPr/>
          <p:nvPr/>
        </p:nvSpPr>
        <p:spPr>
          <a:xfrm>
            <a:off x="5446776" y="3451860"/>
            <a:ext cx="1371600" cy="173736"/>
          </a:xfrm>
          <a:prstGeom prst="roundRect">
            <a:avLst>
              <a:gd name="adj" fmla="val 10526"/>
            </a:avLst>
          </a:prstGeom>
          <a:solidFill>
            <a:srgbClr val="FDF7EE"/>
          </a:solidFill>
          <a:ln w="12700">
            <a:solidFill>
              <a:srgbClr val="EBD3AE"/>
            </a:solidFill>
            <a:prstDash val="solid"/>
          </a:ln>
        </p:spPr>
      </p:sp>
      <p:pic>
        <p:nvPicPr>
          <p:cNvPr id="182" name="Image 48" descr="/sessions/zealous-intelligent-mayer/mnt/outputs/icons4/m4.png"/>
          <p:cNvPicPr>
            <a:picLocks noChangeAspect="1"/>
          </p:cNvPicPr>
          <p:nvPr/>
        </p:nvPicPr>
        <p:blipFill>
          <a:blip r:embed="rId47"/>
          <a:stretch>
            <a:fillRect/>
          </a:stretch>
        </p:blipFill>
        <p:spPr>
          <a:xfrm>
            <a:off x="5483352" y="3493008"/>
            <a:ext cx="91440" cy="91440"/>
          </a:xfrm>
          <a:prstGeom prst="rect">
            <a:avLst/>
          </a:prstGeom>
        </p:spPr>
      </p:pic>
      <p:sp>
        <p:nvSpPr>
          <p:cNvPr id="183" name="Text 132"/>
          <p:cNvSpPr/>
          <p:nvPr/>
        </p:nvSpPr>
        <p:spPr>
          <a:xfrm>
            <a:off x="5611368" y="3472434"/>
            <a:ext cx="1170432" cy="64008"/>
          </a:xfrm>
          <a:prstGeom prst="rect">
            <a:avLst/>
          </a:prstGeom>
          <a:noFill/>
          <a:ln/>
        </p:spPr>
        <p:txBody>
          <a:bodyPr wrap="square" lIns="0" tIns="0" rIns="0" bIns="0" rtlCol="0" anchor="ctr"/>
          <a:lstStyle/>
          <a:p>
            <a:r>
              <a:rPr lang="en-US" sz="290" b="1" dirty="0">
                <a:solidFill>
                  <a:srgbClr val="D98A2B"/>
                </a:solidFill>
                <a:latin typeface="Arial" pitchFamily="34" charset="0"/>
                <a:ea typeface="Arial" pitchFamily="34" charset="-122"/>
                <a:cs typeface="Arial" pitchFamily="34" charset="-120"/>
              </a:rPr>
              <a:t>Embeddings / Retrieval</a:t>
            </a:r>
            <a:endParaRPr lang="en-US" sz="290" dirty="0"/>
          </a:p>
        </p:txBody>
      </p:sp>
      <p:sp>
        <p:nvSpPr>
          <p:cNvPr id="184" name="Text 133"/>
          <p:cNvSpPr/>
          <p:nvPr/>
        </p:nvSpPr>
        <p:spPr>
          <a:xfrm>
            <a:off x="5611368" y="3536442"/>
            <a:ext cx="1170432" cy="64008"/>
          </a:xfrm>
          <a:prstGeom prst="rect">
            <a:avLst/>
          </a:prstGeom>
          <a:noFill/>
          <a:ln/>
        </p:spPr>
        <p:txBody>
          <a:bodyPr wrap="square" lIns="0" tIns="0" rIns="0" bIns="0" rtlCol="0" anchor="ctr"/>
          <a:lstStyle/>
          <a:p>
            <a:r>
              <a:rPr lang="en-US" sz="280" dirty="0">
                <a:solidFill>
                  <a:srgbClr val="333333"/>
                </a:solidFill>
                <a:latin typeface="Arial" pitchFamily="34" charset="0"/>
                <a:ea typeface="Arial" pitchFamily="34" charset="-122"/>
                <a:cs typeface="Arial" pitchFamily="34" charset="-120"/>
              </a:rPr>
              <a:t>text-embedding-3-large / ada-002</a:t>
            </a:r>
            <a:endParaRPr lang="en-US" sz="280" dirty="0"/>
          </a:p>
        </p:txBody>
      </p:sp>
      <p:sp>
        <p:nvSpPr>
          <p:cNvPr id="185" name="Shape 134"/>
          <p:cNvSpPr/>
          <p:nvPr/>
        </p:nvSpPr>
        <p:spPr>
          <a:xfrm>
            <a:off x="5446776" y="3648456"/>
            <a:ext cx="1371600" cy="173736"/>
          </a:xfrm>
          <a:prstGeom prst="roundRect">
            <a:avLst>
              <a:gd name="adj" fmla="val 10526"/>
            </a:avLst>
          </a:prstGeom>
          <a:solidFill>
            <a:srgbClr val="EAF7F8"/>
          </a:solidFill>
          <a:ln w="12700">
            <a:solidFill>
              <a:srgbClr val="AFDDE1"/>
            </a:solidFill>
            <a:prstDash val="solid"/>
          </a:ln>
        </p:spPr>
      </p:sp>
      <p:pic>
        <p:nvPicPr>
          <p:cNvPr id="186" name="Image 49" descr="/sessions/zealous-intelligent-mayer/mnt/outputs/icons4/m5.png"/>
          <p:cNvPicPr>
            <a:picLocks noChangeAspect="1"/>
          </p:cNvPicPr>
          <p:nvPr/>
        </p:nvPicPr>
        <p:blipFill>
          <a:blip r:embed="rId48"/>
          <a:stretch>
            <a:fillRect/>
          </a:stretch>
        </p:blipFill>
        <p:spPr>
          <a:xfrm>
            <a:off x="5483352" y="3689604"/>
            <a:ext cx="91440" cy="91440"/>
          </a:xfrm>
          <a:prstGeom prst="rect">
            <a:avLst/>
          </a:prstGeom>
        </p:spPr>
      </p:pic>
      <p:sp>
        <p:nvSpPr>
          <p:cNvPr id="187" name="Text 135"/>
          <p:cNvSpPr/>
          <p:nvPr/>
        </p:nvSpPr>
        <p:spPr>
          <a:xfrm>
            <a:off x="5611368" y="3669030"/>
            <a:ext cx="1170432" cy="64008"/>
          </a:xfrm>
          <a:prstGeom prst="rect">
            <a:avLst/>
          </a:prstGeom>
          <a:noFill/>
          <a:ln/>
        </p:spPr>
        <p:txBody>
          <a:bodyPr wrap="square" lIns="0" tIns="0" rIns="0" bIns="0" rtlCol="0" anchor="ctr"/>
          <a:lstStyle/>
          <a:p>
            <a:r>
              <a:rPr lang="en-US" sz="290" b="1" dirty="0">
                <a:solidFill>
                  <a:srgbClr val="0E9AA7"/>
                </a:solidFill>
                <a:latin typeface="Arial" pitchFamily="34" charset="0"/>
                <a:ea typeface="Arial" pitchFamily="34" charset="-122"/>
                <a:cs typeface="Arial" pitchFamily="34" charset="-120"/>
              </a:rPr>
              <a:t>Vision / Multimodal (can &amp; label defects)</a:t>
            </a:r>
            <a:endParaRPr lang="en-US" sz="290" dirty="0"/>
          </a:p>
        </p:txBody>
      </p:sp>
      <p:sp>
        <p:nvSpPr>
          <p:cNvPr id="188" name="Text 136"/>
          <p:cNvSpPr/>
          <p:nvPr/>
        </p:nvSpPr>
        <p:spPr>
          <a:xfrm>
            <a:off x="5611368" y="3733038"/>
            <a:ext cx="1170432" cy="64008"/>
          </a:xfrm>
          <a:prstGeom prst="rect">
            <a:avLst/>
          </a:prstGeom>
          <a:noFill/>
          <a:ln/>
        </p:spPr>
        <p:txBody>
          <a:bodyPr wrap="square" lIns="0" tIns="0" rIns="0" bIns="0" rtlCol="0" anchor="ctr"/>
          <a:lstStyle/>
          <a:p>
            <a:r>
              <a:rPr lang="en-US" sz="280" dirty="0">
                <a:solidFill>
                  <a:srgbClr val="333333"/>
                </a:solidFill>
                <a:latin typeface="Arial" pitchFamily="34" charset="0"/>
                <a:ea typeface="Arial" pitchFamily="34" charset="-122"/>
                <a:cs typeface="Arial" pitchFamily="34" charset="-120"/>
              </a:rPr>
              <a:t>GPT-4o / GPT-4.1 (Vision)</a:t>
            </a:r>
            <a:endParaRPr lang="en-US" sz="280" dirty="0"/>
          </a:p>
        </p:txBody>
      </p:sp>
      <p:sp>
        <p:nvSpPr>
          <p:cNvPr id="189" name="Shape 137"/>
          <p:cNvSpPr/>
          <p:nvPr/>
        </p:nvSpPr>
        <p:spPr>
          <a:xfrm>
            <a:off x="5446776" y="3845052"/>
            <a:ext cx="1371600" cy="173736"/>
          </a:xfrm>
          <a:prstGeom prst="roundRect">
            <a:avLst>
              <a:gd name="adj" fmla="val 10526"/>
            </a:avLst>
          </a:prstGeom>
          <a:solidFill>
            <a:srgbClr val="F4EFFA"/>
          </a:solidFill>
          <a:ln w="12700">
            <a:solidFill>
              <a:srgbClr val="D6C4E8"/>
            </a:solidFill>
            <a:prstDash val="solid"/>
          </a:ln>
        </p:spPr>
      </p:sp>
      <p:pic>
        <p:nvPicPr>
          <p:cNvPr id="190" name="Image 50" descr="/sessions/zealous-intelligent-mayer/mnt/outputs/icons4/m6.png"/>
          <p:cNvPicPr>
            <a:picLocks noChangeAspect="1"/>
          </p:cNvPicPr>
          <p:nvPr/>
        </p:nvPicPr>
        <p:blipFill>
          <a:blip r:embed="rId49"/>
          <a:stretch>
            <a:fillRect/>
          </a:stretch>
        </p:blipFill>
        <p:spPr>
          <a:xfrm>
            <a:off x="5483352" y="3886200"/>
            <a:ext cx="91440" cy="91440"/>
          </a:xfrm>
          <a:prstGeom prst="rect">
            <a:avLst/>
          </a:prstGeom>
        </p:spPr>
      </p:pic>
      <p:sp>
        <p:nvSpPr>
          <p:cNvPr id="191" name="Text 138"/>
          <p:cNvSpPr/>
          <p:nvPr/>
        </p:nvSpPr>
        <p:spPr>
          <a:xfrm>
            <a:off x="5611368" y="3865626"/>
            <a:ext cx="1170432" cy="64008"/>
          </a:xfrm>
          <a:prstGeom prst="rect">
            <a:avLst/>
          </a:prstGeom>
          <a:noFill/>
          <a:ln/>
        </p:spPr>
        <p:txBody>
          <a:bodyPr wrap="square" lIns="0" tIns="0" rIns="0" bIns="0" rtlCol="0" anchor="ctr"/>
          <a:lstStyle/>
          <a:p>
            <a:r>
              <a:rPr lang="en-US" sz="290" b="1" dirty="0">
                <a:solidFill>
                  <a:srgbClr val="7B4FA8"/>
                </a:solidFill>
                <a:latin typeface="Arial" pitchFamily="34" charset="0"/>
                <a:ea typeface="Arial" pitchFamily="34" charset="-122"/>
                <a:cs typeface="Arial" pitchFamily="34" charset="-120"/>
              </a:rPr>
              <a:t>Open Source Models (Optional)</a:t>
            </a:r>
            <a:endParaRPr lang="en-US" sz="290" dirty="0"/>
          </a:p>
        </p:txBody>
      </p:sp>
      <p:sp>
        <p:nvSpPr>
          <p:cNvPr id="192" name="Text 139"/>
          <p:cNvSpPr/>
          <p:nvPr/>
        </p:nvSpPr>
        <p:spPr>
          <a:xfrm>
            <a:off x="5611368" y="3929634"/>
            <a:ext cx="1170432" cy="64008"/>
          </a:xfrm>
          <a:prstGeom prst="rect">
            <a:avLst/>
          </a:prstGeom>
          <a:noFill/>
          <a:ln/>
        </p:spPr>
        <p:txBody>
          <a:bodyPr wrap="square" lIns="0" tIns="0" rIns="0" bIns="0" rtlCol="0" anchor="ctr"/>
          <a:lstStyle/>
          <a:p>
            <a:r>
              <a:rPr lang="en-US" sz="280" dirty="0">
                <a:solidFill>
                  <a:srgbClr val="333333"/>
                </a:solidFill>
                <a:latin typeface="Arial" pitchFamily="34" charset="0"/>
                <a:ea typeface="Arial" pitchFamily="34" charset="-122"/>
                <a:cs typeface="Arial" pitchFamily="34" charset="-120"/>
              </a:rPr>
              <a:t>Phi-4 / Mistral / Llama / DeepSeek</a:t>
            </a:r>
            <a:endParaRPr lang="en-US" sz="280" dirty="0"/>
          </a:p>
        </p:txBody>
      </p:sp>
      <p:sp>
        <p:nvSpPr>
          <p:cNvPr id="193" name="Shape 140"/>
          <p:cNvSpPr/>
          <p:nvPr/>
        </p:nvSpPr>
        <p:spPr>
          <a:xfrm>
            <a:off x="5446776" y="4078224"/>
            <a:ext cx="1371600" cy="219456"/>
          </a:xfrm>
          <a:prstGeom prst="roundRect">
            <a:avLst>
              <a:gd name="adj" fmla="val 8333"/>
            </a:avLst>
          </a:prstGeom>
          <a:solidFill>
            <a:srgbClr val="FFFFFF"/>
          </a:solidFill>
          <a:ln w="12700">
            <a:solidFill>
              <a:srgbClr val="BBD6EC"/>
            </a:solidFill>
            <a:prstDash val="solid"/>
          </a:ln>
        </p:spPr>
      </p:sp>
      <p:pic>
        <p:nvPicPr>
          <p:cNvPr id="194" name="Image 51" descr="/sessions/zealous-intelligent-mayer/mnt/outputs/icons4/m_router.png"/>
          <p:cNvPicPr>
            <a:picLocks noChangeAspect="1"/>
          </p:cNvPicPr>
          <p:nvPr/>
        </p:nvPicPr>
        <p:blipFill>
          <a:blip r:embed="rId50"/>
          <a:stretch>
            <a:fillRect/>
          </a:stretch>
        </p:blipFill>
        <p:spPr>
          <a:xfrm>
            <a:off x="5483352" y="4142232"/>
            <a:ext cx="100584" cy="100584"/>
          </a:xfrm>
          <a:prstGeom prst="rect">
            <a:avLst/>
          </a:prstGeom>
        </p:spPr>
      </p:pic>
      <p:sp>
        <p:nvSpPr>
          <p:cNvPr id="195" name="Text 141"/>
          <p:cNvSpPr/>
          <p:nvPr/>
        </p:nvSpPr>
        <p:spPr>
          <a:xfrm>
            <a:off x="5620512" y="4105656"/>
            <a:ext cx="1161288" cy="64008"/>
          </a:xfrm>
          <a:prstGeom prst="rect">
            <a:avLst/>
          </a:prstGeom>
          <a:noFill/>
          <a:ln/>
        </p:spPr>
        <p:txBody>
          <a:bodyPr wrap="square" lIns="0" tIns="0" rIns="0" bIns="0" rtlCol="0" anchor="ctr"/>
          <a:lstStyle/>
          <a:p>
            <a:r>
              <a:rPr lang="en-US" sz="320" b="1" dirty="0">
                <a:solidFill>
                  <a:srgbClr val="1B5E96"/>
                </a:solidFill>
                <a:latin typeface="Arial" pitchFamily="34" charset="0"/>
                <a:ea typeface="Arial" pitchFamily="34" charset="-122"/>
                <a:cs typeface="Arial" pitchFamily="34" charset="-120"/>
              </a:rPr>
              <a:t>Dynamic Model Router</a:t>
            </a:r>
            <a:endParaRPr lang="en-US" sz="320" dirty="0"/>
          </a:p>
        </p:txBody>
      </p:sp>
      <p:sp>
        <p:nvSpPr>
          <p:cNvPr id="196" name="Text 142"/>
          <p:cNvSpPr/>
          <p:nvPr/>
        </p:nvSpPr>
        <p:spPr>
          <a:xfrm>
            <a:off x="5620512" y="4174236"/>
            <a:ext cx="1161288" cy="109728"/>
          </a:xfrm>
          <a:prstGeom prst="rect">
            <a:avLst/>
          </a:prstGeom>
          <a:noFill/>
          <a:ln/>
        </p:spPr>
        <p:txBody>
          <a:bodyPr wrap="square" lIns="0" tIns="0" rIns="0" bIns="0" rtlCol="0" anchor="ctr"/>
          <a:lstStyle/>
          <a:p>
            <a:r>
              <a:rPr lang="en-US" sz="270" dirty="0">
                <a:solidFill>
                  <a:srgbClr val="333333"/>
                </a:solidFill>
                <a:latin typeface="Arial" pitchFamily="34" charset="0"/>
                <a:ea typeface="Arial" pitchFamily="34" charset="-122"/>
                <a:cs typeface="Arial" pitchFamily="34" charset="-120"/>
              </a:rPr>
              <a:t>Selects best model by task, cost, latency, context length &amp; quality</a:t>
            </a:r>
            <a:endParaRPr lang="en-US" sz="270" dirty="0"/>
          </a:p>
        </p:txBody>
      </p:sp>
      <p:sp>
        <p:nvSpPr>
          <p:cNvPr id="197" name="Text 143"/>
          <p:cNvSpPr/>
          <p:nvPr/>
        </p:nvSpPr>
        <p:spPr>
          <a:xfrm>
            <a:off x="6946392" y="2715768"/>
            <a:ext cx="1325880" cy="91440"/>
          </a:xfrm>
          <a:prstGeom prst="rect">
            <a:avLst/>
          </a:prstGeom>
          <a:noFill/>
          <a:ln/>
        </p:spPr>
        <p:txBody>
          <a:bodyPr wrap="square" lIns="0" tIns="0" rIns="0" bIns="0" rtlCol="0" anchor="ctr"/>
          <a:lstStyle/>
          <a:p>
            <a:pPr algn="ctr"/>
            <a:r>
              <a:rPr lang="en-US" sz="390" b="1" dirty="0">
                <a:solidFill>
                  <a:srgbClr val="7B4FA8"/>
                </a:solidFill>
                <a:latin typeface="Arial" pitchFamily="34" charset="0"/>
                <a:ea typeface="Arial" pitchFamily="34" charset="-122"/>
                <a:cs typeface="Arial" pitchFamily="34" charset="-120"/>
              </a:rPr>
              <a:t>5. AGENT MEMORY LAYER</a:t>
            </a:r>
            <a:endParaRPr lang="en-US" sz="390" dirty="0"/>
          </a:p>
        </p:txBody>
      </p:sp>
      <p:sp>
        <p:nvSpPr>
          <p:cNvPr id="198" name="Shape 144"/>
          <p:cNvSpPr/>
          <p:nvPr/>
        </p:nvSpPr>
        <p:spPr>
          <a:xfrm>
            <a:off x="6946392" y="2834640"/>
            <a:ext cx="1325880" cy="192024"/>
          </a:xfrm>
          <a:prstGeom prst="roundRect">
            <a:avLst>
              <a:gd name="adj" fmla="val 9524"/>
            </a:avLst>
          </a:prstGeom>
          <a:solidFill>
            <a:srgbClr val="FFFFFF"/>
          </a:solidFill>
          <a:ln w="12700">
            <a:solidFill>
              <a:srgbClr val="D6C4E8"/>
            </a:solidFill>
            <a:prstDash val="solid"/>
          </a:ln>
        </p:spPr>
      </p:sp>
      <p:pic>
        <p:nvPicPr>
          <p:cNvPr id="199" name="Image 52" descr="/sessions/zealous-intelligent-mayer/mnt/outputs/icons4/mm1.png"/>
          <p:cNvPicPr>
            <a:picLocks noChangeAspect="1"/>
          </p:cNvPicPr>
          <p:nvPr/>
        </p:nvPicPr>
        <p:blipFill>
          <a:blip r:embed="rId51"/>
          <a:stretch>
            <a:fillRect/>
          </a:stretch>
        </p:blipFill>
        <p:spPr>
          <a:xfrm>
            <a:off x="6992112" y="2880360"/>
            <a:ext cx="100584" cy="100584"/>
          </a:xfrm>
          <a:prstGeom prst="rect">
            <a:avLst/>
          </a:prstGeom>
        </p:spPr>
      </p:pic>
      <p:sp>
        <p:nvSpPr>
          <p:cNvPr id="200" name="Text 145"/>
          <p:cNvSpPr/>
          <p:nvPr/>
        </p:nvSpPr>
        <p:spPr>
          <a:xfrm>
            <a:off x="7129272" y="2862072"/>
            <a:ext cx="1106424" cy="64008"/>
          </a:xfrm>
          <a:prstGeom prst="rect">
            <a:avLst/>
          </a:prstGeom>
          <a:noFill/>
          <a:ln/>
        </p:spPr>
        <p:txBody>
          <a:bodyPr wrap="square" lIns="0" tIns="0" rIns="0" bIns="0" rtlCol="0" anchor="ctr"/>
          <a:lstStyle/>
          <a:p>
            <a:r>
              <a:rPr lang="en-US" sz="310" b="1" dirty="0">
                <a:solidFill>
                  <a:srgbClr val="0B2545"/>
                </a:solidFill>
                <a:latin typeface="Arial" pitchFamily="34" charset="0"/>
                <a:ea typeface="Arial" pitchFamily="34" charset="-122"/>
                <a:cs typeface="Arial" pitchFamily="34" charset="-120"/>
              </a:rPr>
              <a:t>Conversation Memory</a:t>
            </a:r>
            <a:endParaRPr lang="en-US" sz="310" dirty="0"/>
          </a:p>
        </p:txBody>
      </p:sp>
      <p:sp>
        <p:nvSpPr>
          <p:cNvPr id="201" name="Text 146"/>
          <p:cNvSpPr/>
          <p:nvPr/>
        </p:nvSpPr>
        <p:spPr>
          <a:xfrm>
            <a:off x="7129272" y="2930652"/>
            <a:ext cx="1106424" cy="64008"/>
          </a:xfrm>
          <a:prstGeom prst="rect">
            <a:avLst/>
          </a:prstGeom>
          <a:noFill/>
          <a:ln/>
        </p:spPr>
        <p:txBody>
          <a:bodyPr wrap="square" lIns="0" tIns="0" rIns="0" bIns="0" rtlCol="0" anchor="ctr"/>
          <a:lstStyle/>
          <a:p>
            <a:r>
              <a:rPr lang="en-US" sz="270" dirty="0">
                <a:solidFill>
                  <a:srgbClr val="6B7683"/>
                </a:solidFill>
                <a:latin typeface="Arial" pitchFamily="34" charset="0"/>
                <a:ea typeface="Arial" pitchFamily="34" charset="-122"/>
                <a:cs typeface="Arial" pitchFamily="34" charset="-120"/>
              </a:rPr>
              <a:t>(Short-term context)</a:t>
            </a:r>
            <a:endParaRPr lang="en-US" sz="270" dirty="0"/>
          </a:p>
        </p:txBody>
      </p:sp>
      <p:sp>
        <p:nvSpPr>
          <p:cNvPr id="202" name="Shape 147"/>
          <p:cNvSpPr/>
          <p:nvPr/>
        </p:nvSpPr>
        <p:spPr>
          <a:xfrm>
            <a:off x="6946392" y="3054096"/>
            <a:ext cx="1325880" cy="192024"/>
          </a:xfrm>
          <a:prstGeom prst="roundRect">
            <a:avLst>
              <a:gd name="adj" fmla="val 9524"/>
            </a:avLst>
          </a:prstGeom>
          <a:solidFill>
            <a:srgbClr val="FFFFFF"/>
          </a:solidFill>
          <a:ln w="12700">
            <a:solidFill>
              <a:srgbClr val="D6C4E8"/>
            </a:solidFill>
            <a:prstDash val="solid"/>
          </a:ln>
        </p:spPr>
      </p:sp>
      <p:pic>
        <p:nvPicPr>
          <p:cNvPr id="203" name="Image 53" descr="/sessions/zealous-intelligent-mayer/mnt/outputs/icons4/mm2.png"/>
          <p:cNvPicPr>
            <a:picLocks noChangeAspect="1"/>
          </p:cNvPicPr>
          <p:nvPr/>
        </p:nvPicPr>
        <p:blipFill>
          <a:blip r:embed="rId52"/>
          <a:stretch>
            <a:fillRect/>
          </a:stretch>
        </p:blipFill>
        <p:spPr>
          <a:xfrm>
            <a:off x="6992112" y="3099816"/>
            <a:ext cx="100584" cy="100584"/>
          </a:xfrm>
          <a:prstGeom prst="rect">
            <a:avLst/>
          </a:prstGeom>
        </p:spPr>
      </p:pic>
      <p:sp>
        <p:nvSpPr>
          <p:cNvPr id="204" name="Text 148"/>
          <p:cNvSpPr/>
          <p:nvPr/>
        </p:nvSpPr>
        <p:spPr>
          <a:xfrm>
            <a:off x="7129272" y="3081528"/>
            <a:ext cx="1106424" cy="64008"/>
          </a:xfrm>
          <a:prstGeom prst="rect">
            <a:avLst/>
          </a:prstGeom>
          <a:noFill/>
          <a:ln/>
        </p:spPr>
        <p:txBody>
          <a:bodyPr wrap="square" lIns="0" tIns="0" rIns="0" bIns="0" rtlCol="0" anchor="ctr"/>
          <a:lstStyle/>
          <a:p>
            <a:r>
              <a:rPr lang="en-US" sz="310" b="1" dirty="0">
                <a:solidFill>
                  <a:srgbClr val="0B2545"/>
                </a:solidFill>
                <a:latin typeface="Arial" pitchFamily="34" charset="0"/>
                <a:ea typeface="Arial" pitchFamily="34" charset="-122"/>
                <a:cs typeface="Arial" pitchFamily="34" charset="-120"/>
              </a:rPr>
              <a:t>Semantic Memory</a:t>
            </a:r>
            <a:endParaRPr lang="en-US" sz="310" dirty="0"/>
          </a:p>
        </p:txBody>
      </p:sp>
      <p:sp>
        <p:nvSpPr>
          <p:cNvPr id="205" name="Text 149"/>
          <p:cNvSpPr/>
          <p:nvPr/>
        </p:nvSpPr>
        <p:spPr>
          <a:xfrm>
            <a:off x="7129272" y="3150108"/>
            <a:ext cx="1106424" cy="64008"/>
          </a:xfrm>
          <a:prstGeom prst="rect">
            <a:avLst/>
          </a:prstGeom>
          <a:noFill/>
          <a:ln/>
        </p:spPr>
        <p:txBody>
          <a:bodyPr wrap="square" lIns="0" tIns="0" rIns="0" bIns="0" rtlCol="0" anchor="ctr"/>
          <a:lstStyle/>
          <a:p>
            <a:r>
              <a:rPr lang="en-US" sz="270" dirty="0">
                <a:solidFill>
                  <a:srgbClr val="6B7683"/>
                </a:solidFill>
                <a:latin typeface="Arial" pitchFamily="34" charset="0"/>
                <a:ea typeface="Arial" pitchFamily="34" charset="-122"/>
                <a:cs typeface="Arial" pitchFamily="34" charset="-120"/>
              </a:rPr>
              <a:t>(Specs, SOPs, defect history)</a:t>
            </a:r>
            <a:endParaRPr lang="en-US" sz="270" dirty="0"/>
          </a:p>
        </p:txBody>
      </p:sp>
      <p:sp>
        <p:nvSpPr>
          <p:cNvPr id="206" name="Shape 150"/>
          <p:cNvSpPr/>
          <p:nvPr/>
        </p:nvSpPr>
        <p:spPr>
          <a:xfrm>
            <a:off x="6946392" y="3273552"/>
            <a:ext cx="1325880" cy="192024"/>
          </a:xfrm>
          <a:prstGeom prst="roundRect">
            <a:avLst>
              <a:gd name="adj" fmla="val 9524"/>
            </a:avLst>
          </a:prstGeom>
          <a:solidFill>
            <a:srgbClr val="FFFFFF"/>
          </a:solidFill>
          <a:ln w="12700">
            <a:solidFill>
              <a:srgbClr val="D6C4E8"/>
            </a:solidFill>
            <a:prstDash val="solid"/>
          </a:ln>
        </p:spPr>
      </p:sp>
      <p:pic>
        <p:nvPicPr>
          <p:cNvPr id="207" name="Image 54" descr="/sessions/zealous-intelligent-mayer/mnt/outputs/icons4/mm3.png"/>
          <p:cNvPicPr>
            <a:picLocks noChangeAspect="1"/>
          </p:cNvPicPr>
          <p:nvPr/>
        </p:nvPicPr>
        <p:blipFill>
          <a:blip r:embed="rId53"/>
          <a:stretch>
            <a:fillRect/>
          </a:stretch>
        </p:blipFill>
        <p:spPr>
          <a:xfrm>
            <a:off x="6992112" y="3319272"/>
            <a:ext cx="100584" cy="100584"/>
          </a:xfrm>
          <a:prstGeom prst="rect">
            <a:avLst/>
          </a:prstGeom>
        </p:spPr>
      </p:pic>
      <p:sp>
        <p:nvSpPr>
          <p:cNvPr id="208" name="Text 151"/>
          <p:cNvSpPr/>
          <p:nvPr/>
        </p:nvSpPr>
        <p:spPr>
          <a:xfrm>
            <a:off x="7129272" y="3300984"/>
            <a:ext cx="1106424" cy="64008"/>
          </a:xfrm>
          <a:prstGeom prst="rect">
            <a:avLst/>
          </a:prstGeom>
          <a:noFill/>
          <a:ln/>
        </p:spPr>
        <p:txBody>
          <a:bodyPr wrap="square" lIns="0" tIns="0" rIns="0" bIns="0" rtlCol="0" anchor="ctr"/>
          <a:lstStyle/>
          <a:p>
            <a:r>
              <a:rPr lang="en-US" sz="310" b="1" dirty="0">
                <a:solidFill>
                  <a:srgbClr val="0B2545"/>
                </a:solidFill>
                <a:latin typeface="Arial" pitchFamily="34" charset="0"/>
                <a:ea typeface="Arial" pitchFamily="34" charset="-122"/>
                <a:cs typeface="Arial" pitchFamily="34" charset="-120"/>
              </a:rPr>
              <a:t>User Profile Memory</a:t>
            </a:r>
            <a:endParaRPr lang="en-US" sz="310" dirty="0"/>
          </a:p>
        </p:txBody>
      </p:sp>
      <p:sp>
        <p:nvSpPr>
          <p:cNvPr id="209" name="Text 152"/>
          <p:cNvSpPr/>
          <p:nvPr/>
        </p:nvSpPr>
        <p:spPr>
          <a:xfrm>
            <a:off x="7129272" y="3369564"/>
            <a:ext cx="1106424" cy="64008"/>
          </a:xfrm>
          <a:prstGeom prst="rect">
            <a:avLst/>
          </a:prstGeom>
          <a:noFill/>
          <a:ln/>
        </p:spPr>
        <p:txBody>
          <a:bodyPr wrap="square" lIns="0" tIns="0" rIns="0" bIns="0" rtlCol="0" anchor="ctr"/>
          <a:lstStyle/>
          <a:p>
            <a:r>
              <a:rPr lang="en-US" sz="270" dirty="0">
                <a:solidFill>
                  <a:srgbClr val="6B7683"/>
                </a:solidFill>
                <a:latin typeface="Arial" pitchFamily="34" charset="0"/>
                <a:ea typeface="Arial" pitchFamily="34" charset="-122"/>
                <a:cs typeface="Arial" pitchFamily="34" charset="-120"/>
              </a:rPr>
              <a:t>(Role, plant, line, shift)</a:t>
            </a:r>
            <a:endParaRPr lang="en-US" sz="270" dirty="0"/>
          </a:p>
        </p:txBody>
      </p:sp>
      <p:sp>
        <p:nvSpPr>
          <p:cNvPr id="210" name="Shape 153"/>
          <p:cNvSpPr/>
          <p:nvPr/>
        </p:nvSpPr>
        <p:spPr>
          <a:xfrm>
            <a:off x="6946392" y="3493008"/>
            <a:ext cx="1325880" cy="192024"/>
          </a:xfrm>
          <a:prstGeom prst="roundRect">
            <a:avLst>
              <a:gd name="adj" fmla="val 9524"/>
            </a:avLst>
          </a:prstGeom>
          <a:solidFill>
            <a:srgbClr val="FFFFFF"/>
          </a:solidFill>
          <a:ln w="12700">
            <a:solidFill>
              <a:srgbClr val="D6C4E8"/>
            </a:solidFill>
            <a:prstDash val="solid"/>
          </a:ln>
        </p:spPr>
      </p:sp>
      <p:pic>
        <p:nvPicPr>
          <p:cNvPr id="211" name="Image 55" descr="/sessions/zealous-intelligent-mayer/mnt/outputs/icons4/mm4.png"/>
          <p:cNvPicPr>
            <a:picLocks noChangeAspect="1"/>
          </p:cNvPicPr>
          <p:nvPr/>
        </p:nvPicPr>
        <p:blipFill>
          <a:blip r:embed="rId54"/>
          <a:stretch>
            <a:fillRect/>
          </a:stretch>
        </p:blipFill>
        <p:spPr>
          <a:xfrm>
            <a:off x="6992112" y="3538728"/>
            <a:ext cx="100584" cy="100584"/>
          </a:xfrm>
          <a:prstGeom prst="rect">
            <a:avLst/>
          </a:prstGeom>
        </p:spPr>
      </p:pic>
      <p:sp>
        <p:nvSpPr>
          <p:cNvPr id="212" name="Text 154"/>
          <p:cNvSpPr/>
          <p:nvPr/>
        </p:nvSpPr>
        <p:spPr>
          <a:xfrm>
            <a:off x="7129272" y="3520440"/>
            <a:ext cx="1106424" cy="64008"/>
          </a:xfrm>
          <a:prstGeom prst="rect">
            <a:avLst/>
          </a:prstGeom>
          <a:noFill/>
          <a:ln/>
        </p:spPr>
        <p:txBody>
          <a:bodyPr wrap="square" lIns="0" tIns="0" rIns="0" bIns="0" rtlCol="0" anchor="ctr"/>
          <a:lstStyle/>
          <a:p>
            <a:r>
              <a:rPr lang="en-US" sz="310" b="1" dirty="0">
                <a:solidFill>
                  <a:srgbClr val="0B2545"/>
                </a:solidFill>
                <a:latin typeface="Arial" pitchFamily="34" charset="0"/>
                <a:ea typeface="Arial" pitchFamily="34" charset="-122"/>
                <a:cs typeface="Arial" pitchFamily="34" charset="-120"/>
              </a:rPr>
              <a:t>Task / Workflow Memory</a:t>
            </a:r>
            <a:endParaRPr lang="en-US" sz="310" dirty="0"/>
          </a:p>
        </p:txBody>
      </p:sp>
      <p:sp>
        <p:nvSpPr>
          <p:cNvPr id="213" name="Text 155"/>
          <p:cNvSpPr/>
          <p:nvPr/>
        </p:nvSpPr>
        <p:spPr>
          <a:xfrm>
            <a:off x="7129272" y="3589020"/>
            <a:ext cx="1106424" cy="64008"/>
          </a:xfrm>
          <a:prstGeom prst="rect">
            <a:avLst/>
          </a:prstGeom>
          <a:noFill/>
          <a:ln/>
        </p:spPr>
        <p:txBody>
          <a:bodyPr wrap="square" lIns="0" tIns="0" rIns="0" bIns="0" rtlCol="0" anchor="ctr"/>
          <a:lstStyle/>
          <a:p>
            <a:r>
              <a:rPr lang="en-US" sz="270" dirty="0">
                <a:solidFill>
                  <a:srgbClr val="6B7683"/>
                </a:solidFill>
                <a:latin typeface="Arial" pitchFamily="34" charset="0"/>
                <a:ea typeface="Arial" pitchFamily="34" charset="-122"/>
                <a:cs typeface="Arial" pitchFamily="34" charset="-120"/>
              </a:rPr>
              <a:t>(State, checkpoints, steps)</a:t>
            </a:r>
            <a:endParaRPr lang="en-US" sz="270" dirty="0"/>
          </a:p>
        </p:txBody>
      </p:sp>
      <p:sp>
        <p:nvSpPr>
          <p:cNvPr id="214" name="Shape 156"/>
          <p:cNvSpPr/>
          <p:nvPr/>
        </p:nvSpPr>
        <p:spPr>
          <a:xfrm>
            <a:off x="6946392" y="3712464"/>
            <a:ext cx="1325880" cy="192024"/>
          </a:xfrm>
          <a:prstGeom prst="roundRect">
            <a:avLst>
              <a:gd name="adj" fmla="val 9524"/>
            </a:avLst>
          </a:prstGeom>
          <a:solidFill>
            <a:srgbClr val="FFFFFF"/>
          </a:solidFill>
          <a:ln w="12700">
            <a:solidFill>
              <a:srgbClr val="D6C4E8"/>
            </a:solidFill>
            <a:prstDash val="solid"/>
          </a:ln>
        </p:spPr>
      </p:sp>
      <p:pic>
        <p:nvPicPr>
          <p:cNvPr id="215" name="Image 56" descr="/sessions/zealous-intelligent-mayer/mnt/outputs/icons4/mm5.png"/>
          <p:cNvPicPr>
            <a:picLocks noChangeAspect="1"/>
          </p:cNvPicPr>
          <p:nvPr/>
        </p:nvPicPr>
        <p:blipFill>
          <a:blip r:embed="rId55"/>
          <a:stretch>
            <a:fillRect/>
          </a:stretch>
        </p:blipFill>
        <p:spPr>
          <a:xfrm>
            <a:off x="6992112" y="3758184"/>
            <a:ext cx="100584" cy="100584"/>
          </a:xfrm>
          <a:prstGeom prst="rect">
            <a:avLst/>
          </a:prstGeom>
        </p:spPr>
      </p:pic>
      <p:sp>
        <p:nvSpPr>
          <p:cNvPr id="216" name="Text 157"/>
          <p:cNvSpPr/>
          <p:nvPr/>
        </p:nvSpPr>
        <p:spPr>
          <a:xfrm>
            <a:off x="7129272" y="3739896"/>
            <a:ext cx="1106424" cy="64008"/>
          </a:xfrm>
          <a:prstGeom prst="rect">
            <a:avLst/>
          </a:prstGeom>
          <a:noFill/>
          <a:ln/>
        </p:spPr>
        <p:txBody>
          <a:bodyPr wrap="square" lIns="0" tIns="0" rIns="0" bIns="0" rtlCol="0" anchor="ctr"/>
          <a:lstStyle/>
          <a:p>
            <a:r>
              <a:rPr lang="en-US" sz="310" b="1" dirty="0">
                <a:solidFill>
                  <a:srgbClr val="0B2545"/>
                </a:solidFill>
                <a:latin typeface="Arial" pitchFamily="34" charset="0"/>
                <a:ea typeface="Arial" pitchFamily="34" charset="-122"/>
                <a:cs typeface="Arial" pitchFamily="34" charset="-120"/>
              </a:rPr>
              <a:t>Session Cache</a:t>
            </a:r>
            <a:endParaRPr lang="en-US" sz="310" dirty="0"/>
          </a:p>
        </p:txBody>
      </p:sp>
      <p:sp>
        <p:nvSpPr>
          <p:cNvPr id="217" name="Text 158"/>
          <p:cNvSpPr/>
          <p:nvPr/>
        </p:nvSpPr>
        <p:spPr>
          <a:xfrm>
            <a:off x="7129272" y="3808476"/>
            <a:ext cx="1106424" cy="64008"/>
          </a:xfrm>
          <a:prstGeom prst="rect">
            <a:avLst/>
          </a:prstGeom>
          <a:noFill/>
          <a:ln/>
        </p:spPr>
        <p:txBody>
          <a:bodyPr wrap="square" lIns="0" tIns="0" rIns="0" bIns="0" rtlCol="0" anchor="ctr"/>
          <a:lstStyle/>
          <a:p>
            <a:r>
              <a:rPr lang="en-US" sz="270" dirty="0">
                <a:solidFill>
                  <a:srgbClr val="6B7683"/>
                </a:solidFill>
                <a:latin typeface="Arial" pitchFamily="34" charset="0"/>
                <a:ea typeface="Arial" pitchFamily="34" charset="-122"/>
                <a:cs typeface="Arial" pitchFamily="34" charset="-120"/>
              </a:rPr>
              <a:t>(Fast access to session data)</a:t>
            </a:r>
            <a:endParaRPr lang="en-US" sz="270" dirty="0"/>
          </a:p>
        </p:txBody>
      </p:sp>
      <p:sp>
        <p:nvSpPr>
          <p:cNvPr id="218" name="Text 159"/>
          <p:cNvSpPr/>
          <p:nvPr/>
        </p:nvSpPr>
        <p:spPr>
          <a:xfrm>
            <a:off x="6964680" y="3959352"/>
            <a:ext cx="1280160" cy="64008"/>
          </a:xfrm>
          <a:prstGeom prst="rect">
            <a:avLst/>
          </a:prstGeom>
          <a:noFill/>
          <a:ln/>
        </p:spPr>
        <p:txBody>
          <a:bodyPr wrap="square" lIns="0" tIns="0" rIns="0" bIns="0" rtlCol="0" anchor="ctr"/>
          <a:lstStyle/>
          <a:p>
            <a:r>
              <a:rPr lang="en-US" sz="320" b="1" dirty="0">
                <a:solidFill>
                  <a:srgbClr val="D98A2B"/>
                </a:solidFill>
                <a:latin typeface="Arial" pitchFamily="34" charset="0"/>
                <a:ea typeface="Arial" pitchFamily="34" charset="-122"/>
                <a:cs typeface="Arial" pitchFamily="34" charset="-120"/>
              </a:rPr>
              <a:t>Storage Options</a:t>
            </a:r>
            <a:endParaRPr lang="en-US" sz="320" dirty="0"/>
          </a:p>
        </p:txBody>
      </p:sp>
      <p:pic>
        <p:nvPicPr>
          <p:cNvPr id="219" name="Image 57" descr="/sessions/zealous-intelligent-mayer/mnt/outputs/icons4/st1.png"/>
          <p:cNvPicPr>
            <a:picLocks noChangeAspect="1"/>
          </p:cNvPicPr>
          <p:nvPr/>
        </p:nvPicPr>
        <p:blipFill>
          <a:blip r:embed="rId25"/>
          <a:stretch>
            <a:fillRect/>
          </a:stretch>
        </p:blipFill>
        <p:spPr>
          <a:xfrm>
            <a:off x="7073265" y="4050792"/>
            <a:ext cx="91440" cy="91440"/>
          </a:xfrm>
          <a:prstGeom prst="rect">
            <a:avLst/>
          </a:prstGeom>
        </p:spPr>
      </p:pic>
      <p:sp>
        <p:nvSpPr>
          <p:cNvPr id="220" name="Text 160"/>
          <p:cNvSpPr/>
          <p:nvPr/>
        </p:nvSpPr>
        <p:spPr>
          <a:xfrm>
            <a:off x="6960108" y="4155948"/>
            <a:ext cx="317754"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Cosmos DB</a:t>
            </a:r>
            <a:endParaRPr lang="en-US" sz="245" dirty="0"/>
          </a:p>
          <a:p>
            <a:pPr algn="ctr"/>
            <a:r>
              <a:rPr lang="en-US" sz="245" dirty="0">
                <a:solidFill>
                  <a:srgbClr val="333333"/>
                </a:solidFill>
                <a:latin typeface="Arial" pitchFamily="34" charset="0"/>
                <a:ea typeface="Arial" pitchFamily="34" charset="-122"/>
                <a:cs typeface="Arial" pitchFamily="34" charset="-120"/>
              </a:rPr>
              <a:t>(NoSQL)</a:t>
            </a:r>
            <a:endParaRPr lang="en-US" sz="245" dirty="0"/>
          </a:p>
        </p:txBody>
      </p:sp>
      <p:pic>
        <p:nvPicPr>
          <p:cNvPr id="221" name="Image 58" descr="/sessions/zealous-intelligent-mayer/mnt/outputs/icons4/st2.png"/>
          <p:cNvPicPr>
            <a:picLocks noChangeAspect="1"/>
          </p:cNvPicPr>
          <p:nvPr/>
        </p:nvPicPr>
        <p:blipFill>
          <a:blip r:embed="rId56"/>
          <a:stretch>
            <a:fillRect/>
          </a:stretch>
        </p:blipFill>
        <p:spPr>
          <a:xfrm>
            <a:off x="7400163" y="4050792"/>
            <a:ext cx="91440" cy="91440"/>
          </a:xfrm>
          <a:prstGeom prst="rect">
            <a:avLst/>
          </a:prstGeom>
        </p:spPr>
      </p:pic>
      <p:sp>
        <p:nvSpPr>
          <p:cNvPr id="222" name="Text 161"/>
          <p:cNvSpPr/>
          <p:nvPr/>
        </p:nvSpPr>
        <p:spPr>
          <a:xfrm>
            <a:off x="7287006" y="4155948"/>
            <a:ext cx="317754"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Azure Cache</a:t>
            </a:r>
            <a:endParaRPr lang="en-US" sz="245" dirty="0"/>
          </a:p>
          <a:p>
            <a:pPr algn="ctr"/>
            <a:r>
              <a:rPr lang="en-US" sz="245" dirty="0">
                <a:solidFill>
                  <a:srgbClr val="333333"/>
                </a:solidFill>
                <a:latin typeface="Arial" pitchFamily="34" charset="0"/>
                <a:ea typeface="Arial" pitchFamily="34" charset="-122"/>
                <a:cs typeface="Arial" pitchFamily="34" charset="-120"/>
              </a:rPr>
              <a:t>for Redis</a:t>
            </a:r>
            <a:endParaRPr lang="en-US" sz="245" dirty="0"/>
          </a:p>
        </p:txBody>
      </p:sp>
      <p:pic>
        <p:nvPicPr>
          <p:cNvPr id="223" name="Image 59" descr="/sessions/zealous-intelligent-mayer/mnt/outputs/icons4/st3.png"/>
          <p:cNvPicPr>
            <a:picLocks noChangeAspect="1"/>
          </p:cNvPicPr>
          <p:nvPr/>
        </p:nvPicPr>
        <p:blipFill>
          <a:blip r:embed="rId15"/>
          <a:stretch>
            <a:fillRect/>
          </a:stretch>
        </p:blipFill>
        <p:spPr>
          <a:xfrm>
            <a:off x="7727061" y="4050792"/>
            <a:ext cx="91440" cy="91440"/>
          </a:xfrm>
          <a:prstGeom prst="rect">
            <a:avLst/>
          </a:prstGeom>
        </p:spPr>
      </p:pic>
      <p:sp>
        <p:nvSpPr>
          <p:cNvPr id="224" name="Text 162"/>
          <p:cNvSpPr/>
          <p:nvPr/>
        </p:nvSpPr>
        <p:spPr>
          <a:xfrm>
            <a:off x="7613904" y="4155948"/>
            <a:ext cx="317754"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Azure AI Search</a:t>
            </a:r>
            <a:endParaRPr lang="en-US" sz="245" dirty="0"/>
          </a:p>
          <a:p>
            <a:pPr algn="ctr"/>
            <a:r>
              <a:rPr lang="en-US" sz="245" dirty="0">
                <a:solidFill>
                  <a:srgbClr val="333333"/>
                </a:solidFill>
                <a:latin typeface="Arial" pitchFamily="34" charset="0"/>
                <a:ea typeface="Arial" pitchFamily="34" charset="-122"/>
                <a:cs typeface="Arial" pitchFamily="34" charset="-120"/>
              </a:rPr>
              <a:t>(Vector Store)</a:t>
            </a:r>
            <a:endParaRPr lang="en-US" sz="245" dirty="0"/>
          </a:p>
        </p:txBody>
      </p:sp>
      <p:pic>
        <p:nvPicPr>
          <p:cNvPr id="225" name="Image 60" descr="/sessions/zealous-intelligent-mayer/mnt/outputs/icons4/st4.png"/>
          <p:cNvPicPr>
            <a:picLocks noChangeAspect="1"/>
          </p:cNvPicPr>
          <p:nvPr/>
        </p:nvPicPr>
        <p:blipFill>
          <a:blip r:embed="rId57"/>
          <a:stretch>
            <a:fillRect/>
          </a:stretch>
        </p:blipFill>
        <p:spPr>
          <a:xfrm>
            <a:off x="8053959" y="4050792"/>
            <a:ext cx="91440" cy="91440"/>
          </a:xfrm>
          <a:prstGeom prst="rect">
            <a:avLst/>
          </a:prstGeom>
        </p:spPr>
      </p:pic>
      <p:sp>
        <p:nvSpPr>
          <p:cNvPr id="226" name="Text 163"/>
          <p:cNvSpPr/>
          <p:nvPr/>
        </p:nvSpPr>
        <p:spPr>
          <a:xfrm>
            <a:off x="7940802" y="4155948"/>
            <a:ext cx="317754"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Blob Storage</a:t>
            </a:r>
            <a:endParaRPr lang="en-US" sz="245" dirty="0"/>
          </a:p>
          <a:p>
            <a:pPr algn="ctr"/>
            <a:r>
              <a:rPr lang="en-US" sz="245" dirty="0">
                <a:solidFill>
                  <a:srgbClr val="333333"/>
                </a:solidFill>
                <a:latin typeface="Arial" pitchFamily="34" charset="0"/>
                <a:ea typeface="Arial" pitchFamily="34" charset="-122"/>
                <a:cs typeface="Arial" pitchFamily="34" charset="-120"/>
              </a:rPr>
              <a:t>(Archive)</a:t>
            </a:r>
            <a:endParaRPr lang="en-US" sz="245" dirty="0"/>
          </a:p>
        </p:txBody>
      </p:sp>
      <p:sp>
        <p:nvSpPr>
          <p:cNvPr id="227" name="Shape 164"/>
          <p:cNvSpPr/>
          <p:nvPr/>
        </p:nvSpPr>
        <p:spPr>
          <a:xfrm>
            <a:off x="3883152" y="4379976"/>
            <a:ext cx="4425696" cy="1005840"/>
          </a:xfrm>
          <a:prstGeom prst="roundRect">
            <a:avLst>
              <a:gd name="adj" fmla="val 2273"/>
            </a:avLst>
          </a:prstGeom>
          <a:solidFill>
            <a:srgbClr val="FFFFFF"/>
          </a:solidFill>
          <a:ln w="12700">
            <a:solidFill>
              <a:srgbClr val="C9D6E4"/>
            </a:solidFill>
            <a:prstDash val="solid"/>
          </a:ln>
        </p:spPr>
      </p:sp>
      <p:sp>
        <p:nvSpPr>
          <p:cNvPr id="228" name="Text 165"/>
          <p:cNvSpPr/>
          <p:nvPr/>
        </p:nvSpPr>
        <p:spPr>
          <a:xfrm>
            <a:off x="3947160" y="4407408"/>
            <a:ext cx="1828800" cy="91440"/>
          </a:xfrm>
          <a:prstGeom prst="rect">
            <a:avLst/>
          </a:prstGeom>
          <a:noFill/>
          <a:ln/>
        </p:spPr>
        <p:txBody>
          <a:bodyPr wrap="square" lIns="0" tIns="0" rIns="0" bIns="0" rtlCol="0" anchor="ctr"/>
          <a:lstStyle/>
          <a:p>
            <a:r>
              <a:rPr lang="en-US" sz="500" b="1" dirty="0">
                <a:solidFill>
                  <a:srgbClr val="1F6FB2"/>
                </a:solidFill>
                <a:latin typeface="Arial" pitchFamily="34" charset="0"/>
                <a:ea typeface="Arial" pitchFamily="34" charset="-122"/>
                <a:cs typeface="Arial" pitchFamily="34" charset="-120"/>
              </a:rPr>
              <a:t>6. KNOWLEDGE &amp; DATA LAYER</a:t>
            </a:r>
            <a:endParaRPr lang="en-US" sz="500" dirty="0"/>
          </a:p>
        </p:txBody>
      </p:sp>
      <p:sp>
        <p:nvSpPr>
          <p:cNvPr id="229" name="Shape 166"/>
          <p:cNvSpPr/>
          <p:nvPr/>
        </p:nvSpPr>
        <p:spPr>
          <a:xfrm>
            <a:off x="3938016" y="4507992"/>
            <a:ext cx="795528" cy="804672"/>
          </a:xfrm>
          <a:prstGeom prst="roundRect">
            <a:avLst>
              <a:gd name="adj" fmla="val 2299"/>
            </a:avLst>
          </a:prstGeom>
          <a:solidFill>
            <a:srgbClr val="EAF3FB"/>
          </a:solidFill>
          <a:ln w="12700">
            <a:solidFill>
              <a:srgbClr val="BBD6EC"/>
            </a:solidFill>
            <a:prstDash val="solid"/>
          </a:ln>
        </p:spPr>
      </p:sp>
      <p:sp>
        <p:nvSpPr>
          <p:cNvPr id="230" name="Text 167"/>
          <p:cNvSpPr/>
          <p:nvPr/>
        </p:nvSpPr>
        <p:spPr>
          <a:xfrm>
            <a:off x="3956304" y="4535424"/>
            <a:ext cx="758952" cy="64008"/>
          </a:xfrm>
          <a:prstGeom prst="rect">
            <a:avLst/>
          </a:prstGeom>
          <a:noFill/>
          <a:ln/>
        </p:spPr>
        <p:txBody>
          <a:bodyPr wrap="square" lIns="0" tIns="0" rIns="0" bIns="0" rtlCol="0" anchor="ctr"/>
          <a:lstStyle/>
          <a:p>
            <a:pPr algn="ctr"/>
            <a:r>
              <a:rPr lang="en-US" sz="310" b="1" dirty="0">
                <a:solidFill>
                  <a:srgbClr val="1B5E96"/>
                </a:solidFill>
                <a:latin typeface="Arial" pitchFamily="34" charset="0"/>
                <a:ea typeface="Arial" pitchFamily="34" charset="-122"/>
                <a:cs typeface="Arial" pitchFamily="34" charset="-120"/>
              </a:rPr>
              <a:t>Data Sources</a:t>
            </a:r>
            <a:endParaRPr lang="en-US" sz="310" dirty="0"/>
          </a:p>
        </p:txBody>
      </p:sp>
      <p:sp>
        <p:nvSpPr>
          <p:cNvPr id="231" name="Shape 168"/>
          <p:cNvSpPr/>
          <p:nvPr/>
        </p:nvSpPr>
        <p:spPr>
          <a:xfrm>
            <a:off x="4742688" y="4910328"/>
            <a:ext cx="45720" cy="0"/>
          </a:xfrm>
          <a:prstGeom prst="line">
            <a:avLst/>
          </a:prstGeom>
          <a:noFill/>
          <a:ln w="12700">
            <a:solidFill>
              <a:srgbClr val="2F2F2F"/>
            </a:solidFill>
            <a:prstDash val="solid"/>
            <a:tailEnd type="triangle"/>
          </a:ln>
        </p:spPr>
      </p:sp>
      <p:sp>
        <p:nvSpPr>
          <p:cNvPr id="232" name="Shape 169"/>
          <p:cNvSpPr/>
          <p:nvPr/>
        </p:nvSpPr>
        <p:spPr>
          <a:xfrm>
            <a:off x="4797552" y="4507992"/>
            <a:ext cx="859536" cy="804672"/>
          </a:xfrm>
          <a:prstGeom prst="roundRect">
            <a:avLst>
              <a:gd name="adj" fmla="val 2273"/>
            </a:avLst>
          </a:prstGeom>
          <a:solidFill>
            <a:srgbClr val="EAF3FB"/>
          </a:solidFill>
          <a:ln w="12700">
            <a:solidFill>
              <a:srgbClr val="BBD6EC"/>
            </a:solidFill>
            <a:prstDash val="solid"/>
          </a:ln>
        </p:spPr>
      </p:sp>
      <p:sp>
        <p:nvSpPr>
          <p:cNvPr id="233" name="Text 170"/>
          <p:cNvSpPr/>
          <p:nvPr/>
        </p:nvSpPr>
        <p:spPr>
          <a:xfrm>
            <a:off x="4815840" y="4535424"/>
            <a:ext cx="822960" cy="64008"/>
          </a:xfrm>
          <a:prstGeom prst="rect">
            <a:avLst/>
          </a:prstGeom>
          <a:noFill/>
          <a:ln/>
        </p:spPr>
        <p:txBody>
          <a:bodyPr wrap="square" lIns="0" tIns="0" rIns="0" bIns="0" rtlCol="0" anchor="ctr"/>
          <a:lstStyle/>
          <a:p>
            <a:pPr algn="ctr"/>
            <a:r>
              <a:rPr lang="en-US" sz="310" b="1" dirty="0">
                <a:solidFill>
                  <a:srgbClr val="1B5E96"/>
                </a:solidFill>
                <a:latin typeface="Arial" pitchFamily="34" charset="0"/>
                <a:ea typeface="Arial" pitchFamily="34" charset="-122"/>
                <a:cs typeface="Arial" pitchFamily="34" charset="-120"/>
              </a:rPr>
              <a:t>Ingestion &amp; Processing</a:t>
            </a:r>
            <a:endParaRPr lang="en-US" sz="310" dirty="0"/>
          </a:p>
        </p:txBody>
      </p:sp>
      <p:sp>
        <p:nvSpPr>
          <p:cNvPr id="234" name="Shape 171"/>
          <p:cNvSpPr/>
          <p:nvPr/>
        </p:nvSpPr>
        <p:spPr>
          <a:xfrm>
            <a:off x="5666232" y="4910328"/>
            <a:ext cx="45720" cy="0"/>
          </a:xfrm>
          <a:prstGeom prst="line">
            <a:avLst/>
          </a:prstGeom>
          <a:noFill/>
          <a:ln w="12700">
            <a:solidFill>
              <a:srgbClr val="2F2F2F"/>
            </a:solidFill>
            <a:prstDash val="solid"/>
            <a:tailEnd type="triangle"/>
          </a:ln>
        </p:spPr>
      </p:sp>
      <p:sp>
        <p:nvSpPr>
          <p:cNvPr id="235" name="Shape 172"/>
          <p:cNvSpPr/>
          <p:nvPr/>
        </p:nvSpPr>
        <p:spPr>
          <a:xfrm>
            <a:off x="5721096" y="4507992"/>
            <a:ext cx="868680" cy="804672"/>
          </a:xfrm>
          <a:prstGeom prst="roundRect">
            <a:avLst>
              <a:gd name="adj" fmla="val 2273"/>
            </a:avLst>
          </a:prstGeom>
          <a:solidFill>
            <a:srgbClr val="EAF3FB"/>
          </a:solidFill>
          <a:ln w="12700">
            <a:solidFill>
              <a:srgbClr val="BBD6EC"/>
            </a:solidFill>
            <a:prstDash val="solid"/>
          </a:ln>
        </p:spPr>
      </p:sp>
      <p:sp>
        <p:nvSpPr>
          <p:cNvPr id="236" name="Text 173"/>
          <p:cNvSpPr/>
          <p:nvPr/>
        </p:nvSpPr>
        <p:spPr>
          <a:xfrm>
            <a:off x="5739384" y="4535424"/>
            <a:ext cx="832104" cy="64008"/>
          </a:xfrm>
          <a:prstGeom prst="rect">
            <a:avLst/>
          </a:prstGeom>
          <a:noFill/>
          <a:ln/>
        </p:spPr>
        <p:txBody>
          <a:bodyPr wrap="square" lIns="0" tIns="0" rIns="0" bIns="0" rtlCol="0" anchor="ctr"/>
          <a:lstStyle/>
          <a:p>
            <a:pPr algn="ctr"/>
            <a:r>
              <a:rPr lang="en-US" sz="310" b="1" dirty="0">
                <a:solidFill>
                  <a:srgbClr val="1B5E96"/>
                </a:solidFill>
                <a:latin typeface="Arial" pitchFamily="34" charset="0"/>
                <a:ea typeface="Arial" pitchFamily="34" charset="-122"/>
                <a:cs typeface="Arial" pitchFamily="34" charset="-120"/>
              </a:rPr>
              <a:t>Enrichment &amp; Understanding</a:t>
            </a:r>
            <a:endParaRPr lang="en-US" sz="310" dirty="0"/>
          </a:p>
        </p:txBody>
      </p:sp>
      <p:sp>
        <p:nvSpPr>
          <p:cNvPr id="237" name="Shape 174"/>
          <p:cNvSpPr/>
          <p:nvPr/>
        </p:nvSpPr>
        <p:spPr>
          <a:xfrm>
            <a:off x="6598920" y="4910328"/>
            <a:ext cx="27432" cy="0"/>
          </a:xfrm>
          <a:prstGeom prst="line">
            <a:avLst/>
          </a:prstGeom>
          <a:noFill/>
          <a:ln w="12700">
            <a:solidFill>
              <a:srgbClr val="2F2F2F"/>
            </a:solidFill>
            <a:prstDash val="solid"/>
            <a:tailEnd type="triangle"/>
          </a:ln>
        </p:spPr>
      </p:sp>
      <p:sp>
        <p:nvSpPr>
          <p:cNvPr id="238" name="Shape 175"/>
          <p:cNvSpPr/>
          <p:nvPr/>
        </p:nvSpPr>
        <p:spPr>
          <a:xfrm>
            <a:off x="6635496" y="4507992"/>
            <a:ext cx="804672" cy="804672"/>
          </a:xfrm>
          <a:prstGeom prst="roundRect">
            <a:avLst>
              <a:gd name="adj" fmla="val 2273"/>
            </a:avLst>
          </a:prstGeom>
          <a:solidFill>
            <a:srgbClr val="EAF3FB"/>
          </a:solidFill>
          <a:ln w="12700">
            <a:solidFill>
              <a:srgbClr val="BBD6EC"/>
            </a:solidFill>
            <a:prstDash val="solid"/>
          </a:ln>
        </p:spPr>
      </p:sp>
      <p:sp>
        <p:nvSpPr>
          <p:cNvPr id="239" name="Text 176"/>
          <p:cNvSpPr/>
          <p:nvPr/>
        </p:nvSpPr>
        <p:spPr>
          <a:xfrm>
            <a:off x="6653784" y="4535424"/>
            <a:ext cx="768096" cy="64008"/>
          </a:xfrm>
          <a:prstGeom prst="rect">
            <a:avLst/>
          </a:prstGeom>
          <a:noFill/>
          <a:ln/>
        </p:spPr>
        <p:txBody>
          <a:bodyPr wrap="square" lIns="0" tIns="0" rIns="0" bIns="0" rtlCol="0" anchor="ctr"/>
          <a:lstStyle/>
          <a:p>
            <a:pPr algn="ctr"/>
            <a:r>
              <a:rPr lang="en-US" sz="310" b="1" dirty="0">
                <a:solidFill>
                  <a:srgbClr val="1B5E96"/>
                </a:solidFill>
                <a:latin typeface="Arial" pitchFamily="34" charset="0"/>
                <a:ea typeface="Arial" pitchFamily="34" charset="-122"/>
                <a:cs typeface="Arial" pitchFamily="34" charset="-120"/>
              </a:rPr>
              <a:t>Storage &amp; Indexing</a:t>
            </a:r>
            <a:endParaRPr lang="en-US" sz="310" dirty="0"/>
          </a:p>
        </p:txBody>
      </p:sp>
      <p:sp>
        <p:nvSpPr>
          <p:cNvPr id="240" name="Shape 177"/>
          <p:cNvSpPr/>
          <p:nvPr/>
        </p:nvSpPr>
        <p:spPr>
          <a:xfrm>
            <a:off x="7449312" y="4910328"/>
            <a:ext cx="36576" cy="0"/>
          </a:xfrm>
          <a:prstGeom prst="line">
            <a:avLst/>
          </a:prstGeom>
          <a:noFill/>
          <a:ln w="12700">
            <a:solidFill>
              <a:srgbClr val="2F2F2F"/>
            </a:solidFill>
            <a:prstDash val="solid"/>
            <a:tailEnd type="triangle"/>
          </a:ln>
        </p:spPr>
      </p:sp>
      <p:sp>
        <p:nvSpPr>
          <p:cNvPr id="241" name="Shape 178"/>
          <p:cNvSpPr/>
          <p:nvPr/>
        </p:nvSpPr>
        <p:spPr>
          <a:xfrm>
            <a:off x="7495032" y="4507992"/>
            <a:ext cx="786384" cy="804672"/>
          </a:xfrm>
          <a:prstGeom prst="roundRect">
            <a:avLst>
              <a:gd name="adj" fmla="val 2326"/>
            </a:avLst>
          </a:prstGeom>
          <a:solidFill>
            <a:srgbClr val="EAF3FB"/>
          </a:solidFill>
          <a:ln w="12700">
            <a:solidFill>
              <a:srgbClr val="BBD6EC"/>
            </a:solidFill>
            <a:prstDash val="solid"/>
          </a:ln>
        </p:spPr>
      </p:sp>
      <p:sp>
        <p:nvSpPr>
          <p:cNvPr id="242" name="Text 179"/>
          <p:cNvSpPr/>
          <p:nvPr/>
        </p:nvSpPr>
        <p:spPr>
          <a:xfrm>
            <a:off x="7513320" y="4535424"/>
            <a:ext cx="749808" cy="64008"/>
          </a:xfrm>
          <a:prstGeom prst="rect">
            <a:avLst/>
          </a:prstGeom>
          <a:noFill/>
          <a:ln/>
        </p:spPr>
        <p:txBody>
          <a:bodyPr wrap="square" lIns="0" tIns="0" rIns="0" bIns="0" rtlCol="0" anchor="ctr"/>
          <a:lstStyle/>
          <a:p>
            <a:pPr algn="ctr"/>
            <a:r>
              <a:rPr lang="en-US" sz="310" b="1" dirty="0">
                <a:solidFill>
                  <a:srgbClr val="1B5E96"/>
                </a:solidFill>
                <a:latin typeface="Arial" pitchFamily="34" charset="0"/>
                <a:ea typeface="Arial" pitchFamily="34" charset="-122"/>
                <a:cs typeface="Arial" pitchFamily="34" charset="-120"/>
              </a:rPr>
              <a:t>Catalog &amp; Governance</a:t>
            </a:r>
            <a:endParaRPr lang="en-US" sz="310" dirty="0"/>
          </a:p>
        </p:txBody>
      </p:sp>
      <p:pic>
        <p:nvPicPr>
          <p:cNvPr id="243" name="Image 61" descr="/sessions/zealous-intelligent-mayer/mnt/outputs/icons4/d1.png"/>
          <p:cNvPicPr>
            <a:picLocks noChangeAspect="1"/>
          </p:cNvPicPr>
          <p:nvPr/>
        </p:nvPicPr>
        <p:blipFill>
          <a:blip r:embed="rId57"/>
          <a:stretch>
            <a:fillRect/>
          </a:stretch>
        </p:blipFill>
        <p:spPr>
          <a:xfrm>
            <a:off x="3965448" y="4649724"/>
            <a:ext cx="68580" cy="68580"/>
          </a:xfrm>
          <a:prstGeom prst="rect">
            <a:avLst/>
          </a:prstGeom>
        </p:spPr>
      </p:pic>
      <p:sp>
        <p:nvSpPr>
          <p:cNvPr id="244" name="Text 180"/>
          <p:cNvSpPr/>
          <p:nvPr/>
        </p:nvSpPr>
        <p:spPr>
          <a:xfrm>
            <a:off x="4061460" y="4626864"/>
            <a:ext cx="644652" cy="114300"/>
          </a:xfrm>
          <a:prstGeom prst="rect">
            <a:avLst/>
          </a:prstGeom>
          <a:noFill/>
          <a:ln/>
        </p:spPr>
        <p:txBody>
          <a:bodyPr wrap="square" lIns="0" tIns="0" rIns="0" bIns="0" rtlCol="0" anchor="ctr"/>
          <a:lstStyle/>
          <a:p>
            <a:r>
              <a:rPr lang="en-US" sz="270" dirty="0">
                <a:solidFill>
                  <a:srgbClr val="333333"/>
                </a:solidFill>
                <a:latin typeface="Arial" pitchFamily="34" charset="0"/>
                <a:ea typeface="Arial" pitchFamily="34" charset="-122"/>
                <a:cs typeface="Arial" pitchFamily="34" charset="-120"/>
              </a:rPr>
              <a:t>Blob Storage / ADLS</a:t>
            </a:r>
            <a:endParaRPr lang="en-US" sz="270" dirty="0"/>
          </a:p>
        </p:txBody>
      </p:sp>
      <p:pic>
        <p:nvPicPr>
          <p:cNvPr id="245" name="Image 62" descr="/sessions/zealous-intelligent-mayer/mnt/outputs/icons4/d2.png"/>
          <p:cNvPicPr>
            <a:picLocks noChangeAspect="1"/>
          </p:cNvPicPr>
          <p:nvPr/>
        </p:nvPicPr>
        <p:blipFill>
          <a:blip r:embed="rId58"/>
          <a:stretch>
            <a:fillRect/>
          </a:stretch>
        </p:blipFill>
        <p:spPr>
          <a:xfrm>
            <a:off x="3965448" y="4764024"/>
            <a:ext cx="68580" cy="68580"/>
          </a:xfrm>
          <a:prstGeom prst="rect">
            <a:avLst/>
          </a:prstGeom>
        </p:spPr>
      </p:pic>
      <p:sp>
        <p:nvSpPr>
          <p:cNvPr id="246" name="Text 181"/>
          <p:cNvSpPr/>
          <p:nvPr/>
        </p:nvSpPr>
        <p:spPr>
          <a:xfrm>
            <a:off x="4061460" y="4741164"/>
            <a:ext cx="644652" cy="114300"/>
          </a:xfrm>
          <a:prstGeom prst="rect">
            <a:avLst/>
          </a:prstGeom>
          <a:noFill/>
          <a:ln/>
        </p:spPr>
        <p:txBody>
          <a:bodyPr wrap="square" lIns="0" tIns="0" rIns="0" bIns="0" rtlCol="0" anchor="ctr"/>
          <a:lstStyle/>
          <a:p>
            <a:r>
              <a:rPr lang="en-US" sz="270" dirty="0">
                <a:solidFill>
                  <a:srgbClr val="333333"/>
                </a:solidFill>
                <a:latin typeface="Arial" pitchFamily="34" charset="0"/>
                <a:ea typeface="Arial" pitchFamily="34" charset="-122"/>
                <a:cs typeface="Arial" pitchFamily="34" charset="-120"/>
              </a:rPr>
              <a:t>SharePoint / OneDrive</a:t>
            </a:r>
            <a:endParaRPr lang="en-US" sz="270" dirty="0"/>
          </a:p>
        </p:txBody>
      </p:sp>
      <p:pic>
        <p:nvPicPr>
          <p:cNvPr id="247" name="Image 63" descr="/sessions/zealous-intelligent-mayer/mnt/outputs/icons4/d3.png"/>
          <p:cNvPicPr>
            <a:picLocks noChangeAspect="1"/>
          </p:cNvPicPr>
          <p:nvPr/>
        </p:nvPicPr>
        <p:blipFill>
          <a:blip r:embed="rId59"/>
          <a:stretch>
            <a:fillRect/>
          </a:stretch>
        </p:blipFill>
        <p:spPr>
          <a:xfrm>
            <a:off x="3965448" y="4878324"/>
            <a:ext cx="68580" cy="68580"/>
          </a:xfrm>
          <a:prstGeom prst="rect">
            <a:avLst/>
          </a:prstGeom>
        </p:spPr>
      </p:pic>
      <p:sp>
        <p:nvSpPr>
          <p:cNvPr id="248" name="Text 182"/>
          <p:cNvSpPr/>
          <p:nvPr/>
        </p:nvSpPr>
        <p:spPr>
          <a:xfrm>
            <a:off x="4061460" y="4855464"/>
            <a:ext cx="644652" cy="114300"/>
          </a:xfrm>
          <a:prstGeom prst="rect">
            <a:avLst/>
          </a:prstGeom>
          <a:noFill/>
          <a:ln/>
        </p:spPr>
        <p:txBody>
          <a:bodyPr wrap="square" lIns="0" tIns="0" rIns="0" bIns="0" rtlCol="0" anchor="ctr"/>
          <a:lstStyle/>
          <a:p>
            <a:r>
              <a:rPr lang="en-US" sz="270" dirty="0">
                <a:solidFill>
                  <a:srgbClr val="333333"/>
                </a:solidFill>
                <a:latin typeface="Arial" pitchFamily="34" charset="0"/>
                <a:ea typeface="Arial" pitchFamily="34" charset="-122"/>
                <a:cs typeface="Arial" pitchFamily="34" charset="-120"/>
              </a:rPr>
              <a:t>Plant Wiki / SOPs</a:t>
            </a:r>
            <a:endParaRPr lang="en-US" sz="270" dirty="0"/>
          </a:p>
        </p:txBody>
      </p:sp>
      <p:pic>
        <p:nvPicPr>
          <p:cNvPr id="249" name="Image 64" descr="/sessions/zealous-intelligent-mayer/mnt/outputs/icons4/d4.png"/>
          <p:cNvPicPr>
            <a:picLocks noChangeAspect="1"/>
          </p:cNvPicPr>
          <p:nvPr/>
        </p:nvPicPr>
        <p:blipFill>
          <a:blip r:embed="rId25"/>
          <a:stretch>
            <a:fillRect/>
          </a:stretch>
        </p:blipFill>
        <p:spPr>
          <a:xfrm>
            <a:off x="3965448" y="4992624"/>
            <a:ext cx="68580" cy="68580"/>
          </a:xfrm>
          <a:prstGeom prst="rect">
            <a:avLst/>
          </a:prstGeom>
        </p:spPr>
      </p:pic>
      <p:sp>
        <p:nvSpPr>
          <p:cNvPr id="250" name="Text 183"/>
          <p:cNvSpPr/>
          <p:nvPr/>
        </p:nvSpPr>
        <p:spPr>
          <a:xfrm>
            <a:off x="4061460" y="4969764"/>
            <a:ext cx="644652" cy="114300"/>
          </a:xfrm>
          <a:prstGeom prst="rect">
            <a:avLst/>
          </a:prstGeom>
          <a:noFill/>
          <a:ln/>
        </p:spPr>
        <p:txBody>
          <a:bodyPr wrap="square" lIns="0" tIns="0" rIns="0" bIns="0" rtlCol="0" anchor="ctr"/>
          <a:lstStyle/>
          <a:p>
            <a:r>
              <a:rPr lang="en-US" sz="270" dirty="0">
                <a:solidFill>
                  <a:srgbClr val="333333"/>
                </a:solidFill>
                <a:latin typeface="Arial" pitchFamily="34" charset="0"/>
                <a:ea typeface="Arial" pitchFamily="34" charset="-122"/>
                <a:cs typeface="Arial" pitchFamily="34" charset="-120"/>
              </a:rPr>
              <a:t>SAP &amp; MES databases</a:t>
            </a:r>
            <a:endParaRPr lang="en-US" sz="270" dirty="0"/>
          </a:p>
        </p:txBody>
      </p:sp>
      <p:pic>
        <p:nvPicPr>
          <p:cNvPr id="251" name="Image 65" descr="/sessions/zealous-intelligent-mayer/mnt/outputs/icons4/d5.png"/>
          <p:cNvPicPr>
            <a:picLocks noChangeAspect="1"/>
          </p:cNvPicPr>
          <p:nvPr/>
        </p:nvPicPr>
        <p:blipFill>
          <a:blip r:embed="rId60"/>
          <a:stretch>
            <a:fillRect/>
          </a:stretch>
        </p:blipFill>
        <p:spPr>
          <a:xfrm>
            <a:off x="3965448" y="5106924"/>
            <a:ext cx="68580" cy="68580"/>
          </a:xfrm>
          <a:prstGeom prst="rect">
            <a:avLst/>
          </a:prstGeom>
        </p:spPr>
      </p:pic>
      <p:sp>
        <p:nvSpPr>
          <p:cNvPr id="252" name="Text 184"/>
          <p:cNvSpPr/>
          <p:nvPr/>
        </p:nvSpPr>
        <p:spPr>
          <a:xfrm>
            <a:off x="4061460" y="5084064"/>
            <a:ext cx="644652" cy="114300"/>
          </a:xfrm>
          <a:prstGeom prst="rect">
            <a:avLst/>
          </a:prstGeom>
          <a:noFill/>
          <a:ln/>
        </p:spPr>
        <p:txBody>
          <a:bodyPr wrap="square" lIns="0" tIns="0" rIns="0" bIns="0" rtlCol="0" anchor="ctr"/>
          <a:lstStyle/>
          <a:p>
            <a:r>
              <a:rPr lang="en-US" sz="270" dirty="0">
                <a:solidFill>
                  <a:srgbClr val="333333"/>
                </a:solidFill>
                <a:latin typeface="Arial" pitchFamily="34" charset="0"/>
                <a:ea typeface="Arial" pitchFamily="34" charset="-122"/>
                <a:cs typeface="Arial" pitchFamily="34" charset="-120"/>
              </a:rPr>
              <a:t>AVEVA PI historian</a:t>
            </a:r>
            <a:endParaRPr lang="en-US" sz="270" dirty="0"/>
          </a:p>
        </p:txBody>
      </p:sp>
      <p:pic>
        <p:nvPicPr>
          <p:cNvPr id="253" name="Image 66" descr="/sessions/zealous-intelligent-mayer/mnt/outputs/icons4/d6.png"/>
          <p:cNvPicPr>
            <a:picLocks noChangeAspect="1"/>
          </p:cNvPicPr>
          <p:nvPr/>
        </p:nvPicPr>
        <p:blipFill>
          <a:blip r:embed="rId61"/>
          <a:stretch>
            <a:fillRect/>
          </a:stretch>
        </p:blipFill>
        <p:spPr>
          <a:xfrm>
            <a:off x="3965448" y="5221224"/>
            <a:ext cx="68580" cy="68580"/>
          </a:xfrm>
          <a:prstGeom prst="rect">
            <a:avLst/>
          </a:prstGeom>
        </p:spPr>
      </p:pic>
      <p:sp>
        <p:nvSpPr>
          <p:cNvPr id="254" name="Text 185"/>
          <p:cNvSpPr/>
          <p:nvPr/>
        </p:nvSpPr>
        <p:spPr>
          <a:xfrm>
            <a:off x="4061460" y="5198364"/>
            <a:ext cx="644652" cy="114300"/>
          </a:xfrm>
          <a:prstGeom prst="rect">
            <a:avLst/>
          </a:prstGeom>
          <a:noFill/>
          <a:ln/>
        </p:spPr>
        <p:txBody>
          <a:bodyPr wrap="square" lIns="0" tIns="0" rIns="0" bIns="0" rtlCol="0" anchor="ctr"/>
          <a:lstStyle/>
          <a:p>
            <a:r>
              <a:rPr lang="en-US" sz="270" dirty="0">
                <a:solidFill>
                  <a:srgbClr val="333333"/>
                </a:solidFill>
                <a:latin typeface="Arial" pitchFamily="34" charset="0"/>
                <a:ea typeface="Arial" pitchFamily="34" charset="-122"/>
                <a:cs typeface="Arial" pitchFamily="34" charset="-120"/>
              </a:rPr>
              <a:t>Specs, COAs, deviation</a:t>
            </a:r>
            <a:endParaRPr lang="en-US" sz="270" dirty="0"/>
          </a:p>
          <a:p>
            <a:r>
              <a:rPr lang="en-US" sz="270" dirty="0">
                <a:solidFill>
                  <a:srgbClr val="333333"/>
                </a:solidFill>
                <a:latin typeface="Arial" pitchFamily="34" charset="0"/>
                <a:ea typeface="Arial" pitchFamily="34" charset="-122"/>
                <a:cs typeface="Arial" pitchFamily="34" charset="-120"/>
              </a:rPr>
              <a:t>reports (PDF, Excel, images)</a:t>
            </a:r>
            <a:endParaRPr lang="en-US" sz="270" dirty="0"/>
          </a:p>
        </p:txBody>
      </p:sp>
      <p:pic>
        <p:nvPicPr>
          <p:cNvPr id="255" name="Image 67" descr="/sessions/zealous-intelligent-mayer/mnt/outputs/icons4/ig1.png"/>
          <p:cNvPicPr>
            <a:picLocks noChangeAspect="1"/>
          </p:cNvPicPr>
          <p:nvPr/>
        </p:nvPicPr>
        <p:blipFill>
          <a:blip r:embed="rId62"/>
          <a:stretch>
            <a:fillRect/>
          </a:stretch>
        </p:blipFill>
        <p:spPr>
          <a:xfrm>
            <a:off x="4834128" y="4681728"/>
            <a:ext cx="73152" cy="73152"/>
          </a:xfrm>
          <a:prstGeom prst="rect">
            <a:avLst/>
          </a:prstGeom>
        </p:spPr>
      </p:pic>
      <p:sp>
        <p:nvSpPr>
          <p:cNvPr id="256" name="Text 186"/>
          <p:cNvSpPr/>
          <p:nvPr/>
        </p:nvSpPr>
        <p:spPr>
          <a:xfrm>
            <a:off x="4934712" y="4642866"/>
            <a:ext cx="694944" cy="59436"/>
          </a:xfrm>
          <a:prstGeom prst="rect">
            <a:avLst/>
          </a:prstGeom>
          <a:noFill/>
          <a:ln/>
        </p:spPr>
        <p:txBody>
          <a:bodyPr wrap="square" lIns="0" tIns="0" rIns="0" bIns="0" rtlCol="0" anchor="ctr"/>
          <a:lstStyle/>
          <a:p>
            <a:r>
              <a:rPr lang="en-US" sz="280" b="1" dirty="0">
                <a:solidFill>
                  <a:srgbClr val="333333"/>
                </a:solidFill>
                <a:latin typeface="Arial" pitchFamily="34" charset="0"/>
                <a:ea typeface="Arial" pitchFamily="34" charset="-122"/>
                <a:cs typeface="Arial" pitchFamily="34" charset="-120"/>
              </a:rPr>
              <a:t>Azure Document Intelligence</a:t>
            </a:r>
            <a:endParaRPr lang="en-US" sz="280" dirty="0"/>
          </a:p>
        </p:txBody>
      </p:sp>
      <p:sp>
        <p:nvSpPr>
          <p:cNvPr id="257" name="Text 187"/>
          <p:cNvSpPr/>
          <p:nvPr/>
        </p:nvSpPr>
        <p:spPr>
          <a:xfrm>
            <a:off x="4934712" y="4702302"/>
            <a:ext cx="694944" cy="91440"/>
          </a:xfrm>
          <a:prstGeom prst="rect">
            <a:avLst/>
          </a:prstGeom>
          <a:noFill/>
          <a:ln/>
        </p:spPr>
        <p:txBody>
          <a:bodyPr wrap="square" lIns="0" tIns="0" rIns="0" bIns="0" rtlCol="0" anchor="ctr"/>
          <a:lstStyle/>
          <a:p>
            <a:r>
              <a:rPr lang="en-US" sz="250" dirty="0">
                <a:solidFill>
                  <a:srgbClr val="6B7683"/>
                </a:solidFill>
                <a:latin typeface="Arial" pitchFamily="34" charset="0"/>
                <a:ea typeface="Arial" pitchFamily="34" charset="-122"/>
                <a:cs typeface="Arial" pitchFamily="34" charset="-120"/>
              </a:rPr>
              <a:t>(OCR, layout, forms)</a:t>
            </a:r>
            <a:endParaRPr lang="en-US" sz="250" dirty="0"/>
          </a:p>
        </p:txBody>
      </p:sp>
      <p:pic>
        <p:nvPicPr>
          <p:cNvPr id="258" name="Image 68" descr="/sessions/zealous-intelligent-mayer/mnt/outputs/icons4/ig2.png"/>
          <p:cNvPicPr>
            <a:picLocks noChangeAspect="1"/>
          </p:cNvPicPr>
          <p:nvPr/>
        </p:nvPicPr>
        <p:blipFill>
          <a:blip r:embed="rId22"/>
          <a:stretch>
            <a:fillRect/>
          </a:stretch>
        </p:blipFill>
        <p:spPr>
          <a:xfrm>
            <a:off x="4834128" y="4846320"/>
            <a:ext cx="73152" cy="73152"/>
          </a:xfrm>
          <a:prstGeom prst="rect">
            <a:avLst/>
          </a:prstGeom>
        </p:spPr>
      </p:pic>
      <p:sp>
        <p:nvSpPr>
          <p:cNvPr id="259" name="Text 188"/>
          <p:cNvSpPr/>
          <p:nvPr/>
        </p:nvSpPr>
        <p:spPr>
          <a:xfrm>
            <a:off x="4934712" y="4807458"/>
            <a:ext cx="694944" cy="59436"/>
          </a:xfrm>
          <a:prstGeom prst="rect">
            <a:avLst/>
          </a:prstGeom>
          <a:noFill/>
          <a:ln/>
        </p:spPr>
        <p:txBody>
          <a:bodyPr wrap="square" lIns="0" tIns="0" rIns="0" bIns="0" rtlCol="0" anchor="ctr"/>
          <a:lstStyle/>
          <a:p>
            <a:r>
              <a:rPr lang="en-US" sz="280" b="1" dirty="0">
                <a:solidFill>
                  <a:srgbClr val="333333"/>
                </a:solidFill>
                <a:latin typeface="Arial" pitchFamily="34" charset="0"/>
                <a:ea typeface="Arial" pitchFamily="34" charset="-122"/>
                <a:cs typeface="Arial" pitchFamily="34" charset="-120"/>
              </a:rPr>
              <a:t>Azure Data Factory</a:t>
            </a:r>
            <a:endParaRPr lang="en-US" sz="280" dirty="0"/>
          </a:p>
        </p:txBody>
      </p:sp>
      <p:sp>
        <p:nvSpPr>
          <p:cNvPr id="260" name="Text 189"/>
          <p:cNvSpPr/>
          <p:nvPr/>
        </p:nvSpPr>
        <p:spPr>
          <a:xfrm>
            <a:off x="4934712" y="4866894"/>
            <a:ext cx="694944" cy="91440"/>
          </a:xfrm>
          <a:prstGeom prst="rect">
            <a:avLst/>
          </a:prstGeom>
          <a:noFill/>
          <a:ln/>
        </p:spPr>
        <p:txBody>
          <a:bodyPr wrap="square" lIns="0" tIns="0" rIns="0" bIns="0" rtlCol="0" anchor="ctr"/>
          <a:lstStyle/>
          <a:p>
            <a:r>
              <a:rPr lang="en-US" sz="250" dirty="0">
                <a:solidFill>
                  <a:srgbClr val="6B7683"/>
                </a:solidFill>
                <a:latin typeface="Arial" pitchFamily="34" charset="0"/>
                <a:ea typeface="Arial" pitchFamily="34" charset="-122"/>
                <a:cs typeface="Arial" pitchFamily="34" charset="-120"/>
              </a:rPr>
              <a:t>(Orchestration)</a:t>
            </a:r>
            <a:endParaRPr lang="en-US" sz="250" dirty="0"/>
          </a:p>
        </p:txBody>
      </p:sp>
      <p:pic>
        <p:nvPicPr>
          <p:cNvPr id="261" name="Image 69" descr="/sessions/zealous-intelligent-mayer/mnt/outputs/icons4/ig3.png"/>
          <p:cNvPicPr>
            <a:picLocks noChangeAspect="1"/>
          </p:cNvPicPr>
          <p:nvPr/>
        </p:nvPicPr>
        <p:blipFill>
          <a:blip r:embed="rId63"/>
          <a:stretch>
            <a:fillRect/>
          </a:stretch>
        </p:blipFill>
        <p:spPr>
          <a:xfrm>
            <a:off x="4834128" y="5010912"/>
            <a:ext cx="73152" cy="73152"/>
          </a:xfrm>
          <a:prstGeom prst="rect">
            <a:avLst/>
          </a:prstGeom>
        </p:spPr>
      </p:pic>
      <p:sp>
        <p:nvSpPr>
          <p:cNvPr id="262" name="Text 190"/>
          <p:cNvSpPr/>
          <p:nvPr/>
        </p:nvSpPr>
        <p:spPr>
          <a:xfrm>
            <a:off x="4934712" y="4972050"/>
            <a:ext cx="694944" cy="59436"/>
          </a:xfrm>
          <a:prstGeom prst="rect">
            <a:avLst/>
          </a:prstGeom>
          <a:noFill/>
          <a:ln/>
        </p:spPr>
        <p:txBody>
          <a:bodyPr wrap="square" lIns="0" tIns="0" rIns="0" bIns="0" rtlCol="0" anchor="ctr"/>
          <a:lstStyle/>
          <a:p>
            <a:r>
              <a:rPr lang="en-US" sz="280" b="1" dirty="0">
                <a:solidFill>
                  <a:srgbClr val="333333"/>
                </a:solidFill>
                <a:latin typeface="Arial" pitchFamily="34" charset="0"/>
                <a:ea typeface="Arial" pitchFamily="34" charset="-122"/>
                <a:cs typeface="Arial" pitchFamily="34" charset="-120"/>
              </a:rPr>
              <a:t>Azure Functions</a:t>
            </a:r>
            <a:endParaRPr lang="en-US" sz="280" dirty="0"/>
          </a:p>
        </p:txBody>
      </p:sp>
      <p:sp>
        <p:nvSpPr>
          <p:cNvPr id="263" name="Text 191"/>
          <p:cNvSpPr/>
          <p:nvPr/>
        </p:nvSpPr>
        <p:spPr>
          <a:xfrm>
            <a:off x="4934712" y="5031486"/>
            <a:ext cx="694944" cy="91440"/>
          </a:xfrm>
          <a:prstGeom prst="rect">
            <a:avLst/>
          </a:prstGeom>
          <a:noFill/>
          <a:ln/>
        </p:spPr>
        <p:txBody>
          <a:bodyPr wrap="square" lIns="0" tIns="0" rIns="0" bIns="0" rtlCol="0" anchor="ctr"/>
          <a:lstStyle/>
          <a:p>
            <a:r>
              <a:rPr lang="en-US" sz="250" dirty="0">
                <a:solidFill>
                  <a:srgbClr val="6B7683"/>
                </a:solidFill>
                <a:latin typeface="Arial" pitchFamily="34" charset="0"/>
                <a:ea typeface="Arial" pitchFamily="34" charset="-122"/>
                <a:cs typeface="Arial" pitchFamily="34" charset="-120"/>
              </a:rPr>
              <a:t>(Transform, chunk)</a:t>
            </a:r>
            <a:endParaRPr lang="en-US" sz="250" dirty="0"/>
          </a:p>
        </p:txBody>
      </p:sp>
      <p:pic>
        <p:nvPicPr>
          <p:cNvPr id="264" name="Image 70" descr="/sessions/zealous-intelligent-mayer/mnt/outputs/icons4/ig4.png"/>
          <p:cNvPicPr>
            <a:picLocks noChangeAspect="1"/>
          </p:cNvPicPr>
          <p:nvPr/>
        </p:nvPicPr>
        <p:blipFill>
          <a:blip r:embed="rId64"/>
          <a:stretch>
            <a:fillRect/>
          </a:stretch>
        </p:blipFill>
        <p:spPr>
          <a:xfrm>
            <a:off x="4834128" y="5175504"/>
            <a:ext cx="73152" cy="73152"/>
          </a:xfrm>
          <a:prstGeom prst="rect">
            <a:avLst/>
          </a:prstGeom>
        </p:spPr>
      </p:pic>
      <p:sp>
        <p:nvSpPr>
          <p:cNvPr id="265" name="Text 192"/>
          <p:cNvSpPr/>
          <p:nvPr/>
        </p:nvSpPr>
        <p:spPr>
          <a:xfrm>
            <a:off x="4934712" y="5136642"/>
            <a:ext cx="694944" cy="59436"/>
          </a:xfrm>
          <a:prstGeom prst="rect">
            <a:avLst/>
          </a:prstGeom>
          <a:noFill/>
          <a:ln/>
        </p:spPr>
        <p:txBody>
          <a:bodyPr wrap="square" lIns="0" tIns="0" rIns="0" bIns="0" rtlCol="0" anchor="ctr"/>
          <a:lstStyle/>
          <a:p>
            <a:r>
              <a:rPr lang="en-US" sz="280" b="1" dirty="0">
                <a:solidFill>
                  <a:srgbClr val="333333"/>
                </a:solidFill>
                <a:latin typeface="Arial" pitchFamily="34" charset="0"/>
                <a:ea typeface="Arial" pitchFamily="34" charset="-122"/>
                <a:cs typeface="Arial" pitchFamily="34" charset="-120"/>
              </a:rPr>
              <a:t>Logic Apps</a:t>
            </a:r>
            <a:endParaRPr lang="en-US" sz="280" dirty="0"/>
          </a:p>
        </p:txBody>
      </p:sp>
      <p:sp>
        <p:nvSpPr>
          <p:cNvPr id="266" name="Text 193"/>
          <p:cNvSpPr/>
          <p:nvPr/>
        </p:nvSpPr>
        <p:spPr>
          <a:xfrm>
            <a:off x="4934712" y="5196078"/>
            <a:ext cx="694944" cy="91440"/>
          </a:xfrm>
          <a:prstGeom prst="rect">
            <a:avLst/>
          </a:prstGeom>
          <a:noFill/>
          <a:ln/>
        </p:spPr>
        <p:txBody>
          <a:bodyPr wrap="square" lIns="0" tIns="0" rIns="0" bIns="0" rtlCol="0" anchor="ctr"/>
          <a:lstStyle/>
          <a:p>
            <a:r>
              <a:rPr lang="en-US" sz="250" dirty="0">
                <a:solidFill>
                  <a:srgbClr val="6B7683"/>
                </a:solidFill>
                <a:latin typeface="Arial" pitchFamily="34" charset="0"/>
                <a:ea typeface="Arial" pitchFamily="34" charset="-122"/>
                <a:cs typeface="Arial" pitchFamily="34" charset="-120"/>
              </a:rPr>
              <a:t>(Connectors, ETL)</a:t>
            </a:r>
            <a:endParaRPr lang="en-US" sz="250" dirty="0"/>
          </a:p>
        </p:txBody>
      </p:sp>
      <p:pic>
        <p:nvPicPr>
          <p:cNvPr id="267" name="Image 71" descr="/sessions/zealous-intelligent-mayer/mnt/outputs/icons4/en1.png"/>
          <p:cNvPicPr>
            <a:picLocks noChangeAspect="1"/>
          </p:cNvPicPr>
          <p:nvPr/>
        </p:nvPicPr>
        <p:blipFill>
          <a:blip r:embed="rId65"/>
          <a:stretch>
            <a:fillRect/>
          </a:stretch>
        </p:blipFill>
        <p:spPr>
          <a:xfrm>
            <a:off x="5757672" y="4720590"/>
            <a:ext cx="77724" cy="77724"/>
          </a:xfrm>
          <a:prstGeom prst="rect">
            <a:avLst/>
          </a:prstGeom>
        </p:spPr>
      </p:pic>
      <p:sp>
        <p:nvSpPr>
          <p:cNvPr id="268" name="Text 194"/>
          <p:cNvSpPr/>
          <p:nvPr/>
        </p:nvSpPr>
        <p:spPr>
          <a:xfrm>
            <a:off x="5862828" y="4670298"/>
            <a:ext cx="699516" cy="59436"/>
          </a:xfrm>
          <a:prstGeom prst="rect">
            <a:avLst/>
          </a:prstGeom>
          <a:noFill/>
          <a:ln/>
        </p:spPr>
        <p:txBody>
          <a:bodyPr wrap="square" lIns="0" tIns="0" rIns="0" bIns="0" rtlCol="0" anchor="ctr"/>
          <a:lstStyle/>
          <a:p>
            <a:r>
              <a:rPr lang="en-US" sz="280" b="1" dirty="0">
                <a:solidFill>
                  <a:srgbClr val="333333"/>
                </a:solidFill>
                <a:latin typeface="Arial" pitchFamily="34" charset="0"/>
                <a:ea typeface="Arial" pitchFamily="34" charset="-122"/>
                <a:cs typeface="Arial" pitchFamily="34" charset="-120"/>
              </a:rPr>
              <a:t>Azure AI Content Understanding</a:t>
            </a:r>
            <a:endParaRPr lang="en-US" sz="280" dirty="0"/>
          </a:p>
        </p:txBody>
      </p:sp>
      <p:sp>
        <p:nvSpPr>
          <p:cNvPr id="269" name="Text 195"/>
          <p:cNvSpPr/>
          <p:nvPr/>
        </p:nvSpPr>
        <p:spPr>
          <a:xfrm>
            <a:off x="5862828" y="4729734"/>
            <a:ext cx="699516" cy="118872"/>
          </a:xfrm>
          <a:prstGeom prst="rect">
            <a:avLst/>
          </a:prstGeom>
          <a:noFill/>
          <a:ln/>
        </p:spPr>
        <p:txBody>
          <a:bodyPr wrap="square" lIns="0" tIns="0" rIns="0" bIns="0" rtlCol="0" anchor="ctr"/>
          <a:lstStyle/>
          <a:p>
            <a:r>
              <a:rPr lang="en-US" sz="250" dirty="0">
                <a:solidFill>
                  <a:srgbClr val="6B7683"/>
                </a:solidFill>
                <a:latin typeface="Arial" pitchFamily="34" charset="0"/>
                <a:ea typeface="Arial" pitchFamily="34" charset="-122"/>
                <a:cs typeface="Arial" pitchFamily="34" charset="-120"/>
              </a:rPr>
              <a:t>(Entities, key phrases, PII)</a:t>
            </a:r>
            <a:endParaRPr lang="en-US" sz="250" dirty="0"/>
          </a:p>
        </p:txBody>
      </p:sp>
      <p:pic>
        <p:nvPicPr>
          <p:cNvPr id="270" name="Image 72" descr="/sessions/zealous-intelligent-mayer/mnt/outputs/icons4/en2.png"/>
          <p:cNvPicPr>
            <a:picLocks noChangeAspect="1"/>
          </p:cNvPicPr>
          <p:nvPr/>
        </p:nvPicPr>
        <p:blipFill>
          <a:blip r:embed="rId14"/>
          <a:stretch>
            <a:fillRect/>
          </a:stretch>
        </p:blipFill>
        <p:spPr>
          <a:xfrm>
            <a:off x="5757672" y="4912614"/>
            <a:ext cx="77724" cy="77724"/>
          </a:xfrm>
          <a:prstGeom prst="rect">
            <a:avLst/>
          </a:prstGeom>
        </p:spPr>
      </p:pic>
      <p:sp>
        <p:nvSpPr>
          <p:cNvPr id="271" name="Text 196"/>
          <p:cNvSpPr/>
          <p:nvPr/>
        </p:nvSpPr>
        <p:spPr>
          <a:xfrm>
            <a:off x="5862828" y="4862322"/>
            <a:ext cx="699516" cy="59436"/>
          </a:xfrm>
          <a:prstGeom prst="rect">
            <a:avLst/>
          </a:prstGeom>
          <a:noFill/>
          <a:ln/>
        </p:spPr>
        <p:txBody>
          <a:bodyPr wrap="square" lIns="0" tIns="0" rIns="0" bIns="0" rtlCol="0" anchor="ctr"/>
          <a:lstStyle/>
          <a:p>
            <a:r>
              <a:rPr lang="en-US" sz="280" b="1" dirty="0">
                <a:solidFill>
                  <a:srgbClr val="333333"/>
                </a:solidFill>
                <a:latin typeface="Arial" pitchFamily="34" charset="0"/>
                <a:ea typeface="Arial" pitchFamily="34" charset="-122"/>
                <a:cs typeface="Arial" pitchFamily="34" charset="-120"/>
              </a:rPr>
              <a:t>Azure OpenAI</a:t>
            </a:r>
            <a:endParaRPr lang="en-US" sz="280" dirty="0"/>
          </a:p>
        </p:txBody>
      </p:sp>
      <p:sp>
        <p:nvSpPr>
          <p:cNvPr id="272" name="Text 197"/>
          <p:cNvSpPr/>
          <p:nvPr/>
        </p:nvSpPr>
        <p:spPr>
          <a:xfrm>
            <a:off x="5862828" y="4921758"/>
            <a:ext cx="699516" cy="118872"/>
          </a:xfrm>
          <a:prstGeom prst="rect">
            <a:avLst/>
          </a:prstGeom>
          <a:noFill/>
          <a:ln/>
        </p:spPr>
        <p:txBody>
          <a:bodyPr wrap="square" lIns="0" tIns="0" rIns="0" bIns="0" rtlCol="0" anchor="ctr"/>
          <a:lstStyle/>
          <a:p>
            <a:r>
              <a:rPr lang="en-US" sz="250" dirty="0">
                <a:solidFill>
                  <a:srgbClr val="6B7683"/>
                </a:solidFill>
                <a:latin typeface="Arial" pitchFamily="34" charset="0"/>
                <a:ea typeface="Arial" pitchFamily="34" charset="-122"/>
                <a:cs typeface="Arial" pitchFamily="34" charset="-120"/>
              </a:rPr>
              <a:t>(Summarization, tagging)</a:t>
            </a:r>
            <a:endParaRPr lang="en-US" sz="250" dirty="0"/>
          </a:p>
        </p:txBody>
      </p:sp>
      <p:pic>
        <p:nvPicPr>
          <p:cNvPr id="273" name="Image 73" descr="/sessions/zealous-intelligent-mayer/mnt/outputs/icons4/en3.png"/>
          <p:cNvPicPr>
            <a:picLocks noChangeAspect="1"/>
          </p:cNvPicPr>
          <p:nvPr/>
        </p:nvPicPr>
        <p:blipFill>
          <a:blip r:embed="rId66"/>
          <a:stretch>
            <a:fillRect/>
          </a:stretch>
        </p:blipFill>
        <p:spPr>
          <a:xfrm>
            <a:off x="5757672" y="5104638"/>
            <a:ext cx="77724" cy="77724"/>
          </a:xfrm>
          <a:prstGeom prst="rect">
            <a:avLst/>
          </a:prstGeom>
        </p:spPr>
      </p:pic>
      <p:sp>
        <p:nvSpPr>
          <p:cNvPr id="274" name="Text 198"/>
          <p:cNvSpPr/>
          <p:nvPr/>
        </p:nvSpPr>
        <p:spPr>
          <a:xfrm>
            <a:off x="5862828" y="5054346"/>
            <a:ext cx="699516" cy="59436"/>
          </a:xfrm>
          <a:prstGeom prst="rect">
            <a:avLst/>
          </a:prstGeom>
          <a:noFill/>
          <a:ln/>
        </p:spPr>
        <p:txBody>
          <a:bodyPr wrap="square" lIns="0" tIns="0" rIns="0" bIns="0" rtlCol="0" anchor="ctr"/>
          <a:lstStyle/>
          <a:p>
            <a:r>
              <a:rPr lang="en-US" sz="280" b="1" dirty="0">
                <a:solidFill>
                  <a:srgbClr val="333333"/>
                </a:solidFill>
                <a:latin typeface="Arial" pitchFamily="34" charset="0"/>
                <a:ea typeface="Arial" pitchFamily="34" charset="-122"/>
                <a:cs typeface="Arial" pitchFamily="34" charset="-120"/>
              </a:rPr>
              <a:t>Custom skills / models</a:t>
            </a:r>
            <a:endParaRPr lang="en-US" sz="280" dirty="0"/>
          </a:p>
        </p:txBody>
      </p:sp>
      <p:sp>
        <p:nvSpPr>
          <p:cNvPr id="275" name="Text 199"/>
          <p:cNvSpPr/>
          <p:nvPr/>
        </p:nvSpPr>
        <p:spPr>
          <a:xfrm>
            <a:off x="5862828" y="5113782"/>
            <a:ext cx="699516" cy="118872"/>
          </a:xfrm>
          <a:prstGeom prst="rect">
            <a:avLst/>
          </a:prstGeom>
          <a:noFill/>
          <a:ln/>
        </p:spPr>
        <p:txBody>
          <a:bodyPr wrap="square" lIns="0" tIns="0" rIns="0" bIns="0" rtlCol="0" anchor="ctr"/>
          <a:lstStyle/>
          <a:p>
            <a:r>
              <a:rPr lang="en-US" sz="250" dirty="0">
                <a:solidFill>
                  <a:srgbClr val="6B7683"/>
                </a:solidFill>
                <a:latin typeface="Arial" pitchFamily="34" charset="0"/>
                <a:ea typeface="Arial" pitchFamily="34" charset="-122"/>
                <a:cs typeface="Arial" pitchFamily="34" charset="-120"/>
              </a:rPr>
              <a:t>(Defect taxonomy, spec codes)</a:t>
            </a:r>
            <a:endParaRPr lang="en-US" sz="250" dirty="0"/>
          </a:p>
        </p:txBody>
      </p:sp>
      <p:pic>
        <p:nvPicPr>
          <p:cNvPr id="276" name="Image 74" descr="/sessions/zealous-intelligent-mayer/mnt/outputs/icons4/ix1.png"/>
          <p:cNvPicPr>
            <a:picLocks noChangeAspect="1"/>
          </p:cNvPicPr>
          <p:nvPr/>
        </p:nvPicPr>
        <p:blipFill>
          <a:blip r:embed="rId15"/>
          <a:stretch>
            <a:fillRect/>
          </a:stretch>
        </p:blipFill>
        <p:spPr>
          <a:xfrm>
            <a:off x="6672072" y="4636008"/>
            <a:ext cx="77724" cy="77724"/>
          </a:xfrm>
          <a:prstGeom prst="rect">
            <a:avLst/>
          </a:prstGeom>
        </p:spPr>
      </p:pic>
      <p:sp>
        <p:nvSpPr>
          <p:cNvPr id="277" name="Text 200"/>
          <p:cNvSpPr/>
          <p:nvPr/>
        </p:nvSpPr>
        <p:spPr>
          <a:xfrm>
            <a:off x="6772656" y="4631436"/>
            <a:ext cx="640080" cy="59436"/>
          </a:xfrm>
          <a:prstGeom prst="rect">
            <a:avLst/>
          </a:prstGeom>
          <a:noFill/>
          <a:ln/>
        </p:spPr>
        <p:txBody>
          <a:bodyPr wrap="square" lIns="0" tIns="0" rIns="0" bIns="0" rtlCol="0" anchor="ctr"/>
          <a:lstStyle/>
          <a:p>
            <a:r>
              <a:rPr lang="en-US" sz="290" b="1" dirty="0">
                <a:solidFill>
                  <a:srgbClr val="0B2545"/>
                </a:solidFill>
                <a:latin typeface="Arial" pitchFamily="34" charset="0"/>
                <a:ea typeface="Arial" pitchFamily="34" charset="-122"/>
                <a:cs typeface="Arial" pitchFamily="34" charset="-120"/>
              </a:rPr>
              <a:t>Azure AI Search</a:t>
            </a:r>
            <a:endParaRPr lang="en-US" sz="290" dirty="0"/>
          </a:p>
        </p:txBody>
      </p:sp>
      <p:sp>
        <p:nvSpPr>
          <p:cNvPr id="278" name="Text 201"/>
          <p:cNvSpPr/>
          <p:nvPr/>
        </p:nvSpPr>
        <p:spPr>
          <a:xfrm>
            <a:off x="6772656" y="4690872"/>
            <a:ext cx="640080" cy="59436"/>
          </a:xfrm>
          <a:prstGeom prst="rect">
            <a:avLst/>
          </a:prstGeom>
          <a:noFill/>
          <a:ln/>
        </p:spPr>
        <p:txBody>
          <a:bodyPr wrap="square" lIns="0" tIns="0" rIns="0" bIns="0" rtlCol="0" anchor="ctr"/>
          <a:lstStyle/>
          <a:p>
            <a:r>
              <a:rPr lang="en-US" sz="260" dirty="0">
                <a:solidFill>
                  <a:srgbClr val="6B7683"/>
                </a:solidFill>
                <a:latin typeface="Arial" pitchFamily="34" charset="0"/>
                <a:ea typeface="Arial" pitchFamily="34" charset="-122"/>
                <a:cs typeface="Arial" pitchFamily="34" charset="-120"/>
              </a:rPr>
              <a:t>(Hybrid Search)</a:t>
            </a:r>
            <a:endParaRPr lang="en-US" sz="260" dirty="0"/>
          </a:p>
        </p:txBody>
      </p:sp>
      <p:sp>
        <p:nvSpPr>
          <p:cNvPr id="279" name="Text 202"/>
          <p:cNvSpPr/>
          <p:nvPr/>
        </p:nvSpPr>
        <p:spPr>
          <a:xfrm>
            <a:off x="6745224" y="4773168"/>
            <a:ext cx="667512" cy="292608"/>
          </a:xfrm>
          <a:prstGeom prst="rect">
            <a:avLst/>
          </a:prstGeom>
          <a:noFill/>
          <a:ln/>
        </p:spPr>
        <p:txBody>
          <a:bodyPr wrap="square" lIns="0" tIns="0" rIns="0" bIns="0" rtlCol="0" anchor="ctr"/>
          <a:lstStyle/>
          <a:p>
            <a:pPr marL="38100" indent="-38100">
              <a:buSzPct val="100000"/>
              <a:buChar char="•"/>
            </a:pPr>
            <a:r>
              <a:rPr lang="en-US" sz="270" dirty="0">
                <a:solidFill>
                  <a:srgbClr val="333333"/>
                </a:solidFill>
                <a:latin typeface="Arial" pitchFamily="34" charset="0"/>
                <a:ea typeface="Arial" pitchFamily="34" charset="-122"/>
                <a:cs typeface="Arial" pitchFamily="34" charset="-120"/>
              </a:rPr>
              <a:t>Vector search</a:t>
            </a:r>
            <a:endParaRPr lang="en-US" sz="270" dirty="0"/>
          </a:p>
          <a:p>
            <a:pPr marL="38100" indent="-38100">
              <a:buSzPct val="100000"/>
              <a:buChar char="•"/>
            </a:pPr>
            <a:r>
              <a:rPr lang="en-US" sz="270" dirty="0">
                <a:solidFill>
                  <a:srgbClr val="333333"/>
                </a:solidFill>
                <a:latin typeface="Arial" pitchFamily="34" charset="0"/>
                <a:ea typeface="Arial" pitchFamily="34" charset="-122"/>
                <a:cs typeface="Arial" pitchFamily="34" charset="-120"/>
              </a:rPr>
              <a:t>BM25 search</a:t>
            </a:r>
            <a:endParaRPr lang="en-US" sz="270" dirty="0"/>
          </a:p>
          <a:p>
            <a:pPr marL="38100" indent="-38100">
              <a:buSzPct val="100000"/>
              <a:buChar char="•"/>
            </a:pPr>
            <a:r>
              <a:rPr lang="en-US" sz="270" dirty="0">
                <a:solidFill>
                  <a:srgbClr val="333333"/>
                </a:solidFill>
                <a:latin typeface="Arial" pitchFamily="34" charset="0"/>
                <a:ea typeface="Arial" pitchFamily="34" charset="-122"/>
                <a:cs typeface="Arial" pitchFamily="34" charset="-120"/>
              </a:rPr>
              <a:t>Semantic ranker</a:t>
            </a:r>
            <a:endParaRPr lang="en-US" sz="270" dirty="0"/>
          </a:p>
          <a:p>
            <a:pPr marL="38100" indent="-38100">
              <a:buSzPct val="100000"/>
              <a:buChar char="•"/>
            </a:pPr>
            <a:r>
              <a:rPr lang="en-US" sz="270" dirty="0">
                <a:solidFill>
                  <a:srgbClr val="333333"/>
                </a:solidFill>
                <a:latin typeface="Arial" pitchFamily="34" charset="0"/>
                <a:ea typeface="Arial" pitchFamily="34" charset="-122"/>
                <a:cs typeface="Arial" pitchFamily="34" charset="-120"/>
              </a:rPr>
              <a:t>Filters &amp; facets</a:t>
            </a:r>
            <a:endParaRPr lang="en-US" sz="270" dirty="0"/>
          </a:p>
          <a:p>
            <a:pPr marL="38100" indent="-38100">
              <a:buSzPct val="100000"/>
              <a:buChar char="•"/>
            </a:pPr>
            <a:r>
              <a:rPr lang="en-US" sz="270" dirty="0">
                <a:solidFill>
                  <a:srgbClr val="333333"/>
                </a:solidFill>
                <a:latin typeface="Arial" pitchFamily="34" charset="0"/>
                <a:ea typeface="Arial" pitchFamily="34" charset="-122"/>
                <a:cs typeface="Arial" pitchFamily="34" charset="-120"/>
              </a:rPr>
              <a:t>Metadata index</a:t>
            </a:r>
            <a:endParaRPr lang="en-US" sz="270" dirty="0"/>
          </a:p>
        </p:txBody>
      </p:sp>
      <p:pic>
        <p:nvPicPr>
          <p:cNvPr id="280" name="Image 75" descr="/sessions/zealous-intelligent-mayer/mnt/outputs/icons4/ix2.png"/>
          <p:cNvPicPr>
            <a:picLocks noChangeAspect="1"/>
          </p:cNvPicPr>
          <p:nvPr/>
        </p:nvPicPr>
        <p:blipFill>
          <a:blip r:embed="rId43"/>
          <a:stretch>
            <a:fillRect/>
          </a:stretch>
        </p:blipFill>
        <p:spPr>
          <a:xfrm>
            <a:off x="6672072" y="5102352"/>
            <a:ext cx="77724" cy="77724"/>
          </a:xfrm>
          <a:prstGeom prst="rect">
            <a:avLst/>
          </a:prstGeom>
        </p:spPr>
      </p:pic>
      <p:sp>
        <p:nvSpPr>
          <p:cNvPr id="281" name="Text 203"/>
          <p:cNvSpPr/>
          <p:nvPr/>
        </p:nvSpPr>
        <p:spPr>
          <a:xfrm>
            <a:off x="6772656" y="5097780"/>
            <a:ext cx="640080" cy="59436"/>
          </a:xfrm>
          <a:prstGeom prst="rect">
            <a:avLst/>
          </a:prstGeom>
          <a:noFill/>
          <a:ln/>
        </p:spPr>
        <p:txBody>
          <a:bodyPr wrap="square" lIns="0" tIns="0" rIns="0" bIns="0" rtlCol="0" anchor="ctr"/>
          <a:lstStyle/>
          <a:p>
            <a:r>
              <a:rPr lang="en-US" sz="290" b="1" dirty="0">
                <a:solidFill>
                  <a:srgbClr val="0B2545"/>
                </a:solidFill>
                <a:latin typeface="Arial" pitchFamily="34" charset="0"/>
                <a:ea typeface="Arial" pitchFamily="34" charset="-122"/>
                <a:cs typeface="Arial" pitchFamily="34" charset="-120"/>
              </a:rPr>
              <a:t>Blob Storage / ADLS</a:t>
            </a:r>
            <a:endParaRPr lang="en-US" sz="290" dirty="0"/>
          </a:p>
        </p:txBody>
      </p:sp>
      <p:sp>
        <p:nvSpPr>
          <p:cNvPr id="282" name="Text 204"/>
          <p:cNvSpPr/>
          <p:nvPr/>
        </p:nvSpPr>
        <p:spPr>
          <a:xfrm>
            <a:off x="6772656" y="5157216"/>
            <a:ext cx="640080" cy="59436"/>
          </a:xfrm>
          <a:prstGeom prst="rect">
            <a:avLst/>
          </a:prstGeom>
          <a:noFill/>
          <a:ln/>
        </p:spPr>
        <p:txBody>
          <a:bodyPr wrap="square" lIns="0" tIns="0" rIns="0" bIns="0" rtlCol="0" anchor="ctr"/>
          <a:lstStyle/>
          <a:p>
            <a:r>
              <a:rPr lang="en-US" sz="260" dirty="0">
                <a:solidFill>
                  <a:srgbClr val="6B7683"/>
                </a:solidFill>
                <a:latin typeface="Arial" pitchFamily="34" charset="0"/>
                <a:ea typeface="Arial" pitchFamily="34" charset="-122"/>
                <a:cs typeface="Arial" pitchFamily="34" charset="-120"/>
              </a:rPr>
              <a:t>(Raw &amp; processed)</a:t>
            </a:r>
            <a:endParaRPr lang="en-US" sz="260" dirty="0"/>
          </a:p>
        </p:txBody>
      </p:sp>
      <p:pic>
        <p:nvPicPr>
          <p:cNvPr id="283" name="Image 76" descr="/sessions/zealous-intelligent-mayer/mnt/outputs/icons4/cg1.png"/>
          <p:cNvPicPr>
            <a:picLocks noChangeAspect="1"/>
          </p:cNvPicPr>
          <p:nvPr/>
        </p:nvPicPr>
        <p:blipFill>
          <a:blip r:embed="rId67"/>
          <a:stretch>
            <a:fillRect/>
          </a:stretch>
        </p:blipFill>
        <p:spPr>
          <a:xfrm>
            <a:off x="7531608" y="4704588"/>
            <a:ext cx="73152" cy="73152"/>
          </a:xfrm>
          <a:prstGeom prst="rect">
            <a:avLst/>
          </a:prstGeom>
        </p:spPr>
      </p:pic>
      <p:sp>
        <p:nvSpPr>
          <p:cNvPr id="284" name="Text 205"/>
          <p:cNvSpPr/>
          <p:nvPr/>
        </p:nvSpPr>
        <p:spPr>
          <a:xfrm>
            <a:off x="7632192" y="4652010"/>
            <a:ext cx="612648" cy="59436"/>
          </a:xfrm>
          <a:prstGeom prst="rect">
            <a:avLst/>
          </a:prstGeom>
          <a:noFill/>
          <a:ln/>
        </p:spPr>
        <p:txBody>
          <a:bodyPr wrap="square" lIns="0" tIns="0" rIns="0" bIns="0" rtlCol="0" anchor="ctr"/>
          <a:lstStyle/>
          <a:p>
            <a:r>
              <a:rPr lang="en-US" sz="280" b="1" dirty="0">
                <a:solidFill>
                  <a:srgbClr val="333333"/>
                </a:solidFill>
                <a:latin typeface="Arial" pitchFamily="34" charset="0"/>
                <a:ea typeface="Arial" pitchFamily="34" charset="-122"/>
                <a:cs typeface="Arial" pitchFamily="34" charset="-120"/>
              </a:rPr>
              <a:t>Microsoft Purview</a:t>
            </a:r>
            <a:endParaRPr lang="en-US" sz="280" dirty="0"/>
          </a:p>
        </p:txBody>
      </p:sp>
      <p:sp>
        <p:nvSpPr>
          <p:cNvPr id="285" name="Text 206"/>
          <p:cNvSpPr/>
          <p:nvPr/>
        </p:nvSpPr>
        <p:spPr>
          <a:xfrm>
            <a:off x="7632192" y="4711446"/>
            <a:ext cx="612648" cy="118872"/>
          </a:xfrm>
          <a:prstGeom prst="rect">
            <a:avLst/>
          </a:prstGeom>
          <a:noFill/>
          <a:ln/>
        </p:spPr>
        <p:txBody>
          <a:bodyPr wrap="square" lIns="0" tIns="0" rIns="0" bIns="0" rtlCol="0" anchor="ctr"/>
          <a:lstStyle/>
          <a:p>
            <a:r>
              <a:rPr lang="en-US" sz="250" dirty="0">
                <a:solidFill>
                  <a:srgbClr val="6B7683"/>
                </a:solidFill>
                <a:latin typeface="Arial" pitchFamily="34" charset="0"/>
                <a:ea typeface="Arial" pitchFamily="34" charset="-122"/>
                <a:cs typeface="Arial" pitchFamily="34" charset="-120"/>
              </a:rPr>
              <a:t>(Data catalog, lineage)</a:t>
            </a:r>
            <a:endParaRPr lang="en-US" sz="250" dirty="0"/>
          </a:p>
        </p:txBody>
      </p:sp>
      <p:pic>
        <p:nvPicPr>
          <p:cNvPr id="286" name="Image 77" descr="/sessions/zealous-intelligent-mayer/mnt/outputs/icons4/cg2.png"/>
          <p:cNvPicPr>
            <a:picLocks noChangeAspect="1"/>
          </p:cNvPicPr>
          <p:nvPr/>
        </p:nvPicPr>
        <p:blipFill>
          <a:blip r:embed="rId59"/>
          <a:stretch>
            <a:fillRect/>
          </a:stretch>
        </p:blipFill>
        <p:spPr>
          <a:xfrm>
            <a:off x="7531608" y="4896612"/>
            <a:ext cx="73152" cy="73152"/>
          </a:xfrm>
          <a:prstGeom prst="rect">
            <a:avLst/>
          </a:prstGeom>
        </p:spPr>
      </p:pic>
      <p:sp>
        <p:nvSpPr>
          <p:cNvPr id="287" name="Text 207"/>
          <p:cNvSpPr/>
          <p:nvPr/>
        </p:nvSpPr>
        <p:spPr>
          <a:xfrm>
            <a:off x="7632192" y="4844034"/>
            <a:ext cx="612648" cy="59436"/>
          </a:xfrm>
          <a:prstGeom prst="rect">
            <a:avLst/>
          </a:prstGeom>
          <a:noFill/>
          <a:ln/>
        </p:spPr>
        <p:txBody>
          <a:bodyPr wrap="square" lIns="0" tIns="0" rIns="0" bIns="0" rtlCol="0" anchor="ctr"/>
          <a:lstStyle/>
          <a:p>
            <a:r>
              <a:rPr lang="en-US" sz="280" b="1" dirty="0">
                <a:solidFill>
                  <a:srgbClr val="333333"/>
                </a:solidFill>
                <a:latin typeface="Arial" pitchFamily="34" charset="0"/>
                <a:ea typeface="Arial" pitchFamily="34" charset="-122"/>
                <a:cs typeface="Arial" pitchFamily="34" charset="-120"/>
              </a:rPr>
              <a:t>Azure Data Catalog</a:t>
            </a:r>
            <a:endParaRPr lang="en-US" sz="280" dirty="0"/>
          </a:p>
        </p:txBody>
      </p:sp>
      <p:sp>
        <p:nvSpPr>
          <p:cNvPr id="288" name="Text 208"/>
          <p:cNvSpPr/>
          <p:nvPr/>
        </p:nvSpPr>
        <p:spPr>
          <a:xfrm>
            <a:off x="7632192" y="4903470"/>
            <a:ext cx="612648" cy="118872"/>
          </a:xfrm>
          <a:prstGeom prst="rect">
            <a:avLst/>
          </a:prstGeom>
          <a:noFill/>
          <a:ln/>
        </p:spPr>
        <p:txBody>
          <a:bodyPr wrap="square" lIns="0" tIns="0" rIns="0" bIns="0" rtlCol="0" anchor="ctr"/>
          <a:lstStyle/>
          <a:p>
            <a:r>
              <a:rPr lang="en-US" sz="250" dirty="0">
                <a:solidFill>
                  <a:srgbClr val="6B7683"/>
                </a:solidFill>
                <a:latin typeface="Arial" pitchFamily="34" charset="0"/>
                <a:ea typeface="Arial" pitchFamily="34" charset="-122"/>
                <a:cs typeface="Arial" pitchFamily="34" charset="-120"/>
              </a:rPr>
              <a:t>(Business glossary)</a:t>
            </a:r>
            <a:endParaRPr lang="en-US" sz="250" dirty="0"/>
          </a:p>
        </p:txBody>
      </p:sp>
      <p:pic>
        <p:nvPicPr>
          <p:cNvPr id="289" name="Image 78" descr="/sessions/zealous-intelligent-mayer/mnt/outputs/icons4/cg3.png"/>
          <p:cNvPicPr>
            <a:picLocks noChangeAspect="1"/>
          </p:cNvPicPr>
          <p:nvPr/>
        </p:nvPicPr>
        <p:blipFill>
          <a:blip r:embed="rId68"/>
          <a:stretch>
            <a:fillRect/>
          </a:stretch>
        </p:blipFill>
        <p:spPr>
          <a:xfrm>
            <a:off x="7531608" y="5088636"/>
            <a:ext cx="73152" cy="73152"/>
          </a:xfrm>
          <a:prstGeom prst="rect">
            <a:avLst/>
          </a:prstGeom>
        </p:spPr>
      </p:pic>
      <p:sp>
        <p:nvSpPr>
          <p:cNvPr id="290" name="Text 209"/>
          <p:cNvSpPr/>
          <p:nvPr/>
        </p:nvSpPr>
        <p:spPr>
          <a:xfrm>
            <a:off x="7632192" y="5036058"/>
            <a:ext cx="612648" cy="59436"/>
          </a:xfrm>
          <a:prstGeom prst="rect">
            <a:avLst/>
          </a:prstGeom>
          <a:noFill/>
          <a:ln/>
        </p:spPr>
        <p:txBody>
          <a:bodyPr wrap="square" lIns="0" tIns="0" rIns="0" bIns="0" rtlCol="0" anchor="ctr"/>
          <a:lstStyle/>
          <a:p>
            <a:r>
              <a:rPr lang="en-US" sz="280" b="1" dirty="0">
                <a:solidFill>
                  <a:srgbClr val="333333"/>
                </a:solidFill>
                <a:latin typeface="Arial" pitchFamily="34" charset="0"/>
                <a:ea typeface="Arial" pitchFamily="34" charset="-122"/>
                <a:cs typeface="Arial" pitchFamily="34" charset="-120"/>
              </a:rPr>
              <a:t>Policies &amp; classification</a:t>
            </a:r>
            <a:endParaRPr lang="en-US" sz="280" dirty="0"/>
          </a:p>
        </p:txBody>
      </p:sp>
      <p:sp>
        <p:nvSpPr>
          <p:cNvPr id="291" name="Text 210"/>
          <p:cNvSpPr/>
          <p:nvPr/>
        </p:nvSpPr>
        <p:spPr>
          <a:xfrm>
            <a:off x="7632192" y="5095494"/>
            <a:ext cx="612648" cy="118872"/>
          </a:xfrm>
          <a:prstGeom prst="rect">
            <a:avLst/>
          </a:prstGeom>
          <a:noFill/>
          <a:ln/>
        </p:spPr>
        <p:txBody>
          <a:bodyPr wrap="square" lIns="0" tIns="0" rIns="0" bIns="0" rtlCol="0" anchor="ctr"/>
          <a:lstStyle/>
          <a:p>
            <a:r>
              <a:rPr lang="en-US" sz="250" dirty="0">
                <a:solidFill>
                  <a:srgbClr val="6B7683"/>
                </a:solidFill>
                <a:latin typeface="Arial" pitchFamily="34" charset="0"/>
                <a:ea typeface="Arial" pitchFamily="34" charset="-122"/>
                <a:cs typeface="Arial" pitchFamily="34" charset="-120"/>
              </a:rPr>
              <a:t>(Data owners, retention)</a:t>
            </a:r>
            <a:endParaRPr lang="en-US" sz="250" dirty="0"/>
          </a:p>
        </p:txBody>
      </p:sp>
      <p:sp>
        <p:nvSpPr>
          <p:cNvPr id="292" name="Shape 211"/>
          <p:cNvSpPr/>
          <p:nvPr/>
        </p:nvSpPr>
        <p:spPr>
          <a:xfrm>
            <a:off x="3883152" y="5431536"/>
            <a:ext cx="4425696" cy="521208"/>
          </a:xfrm>
          <a:prstGeom prst="roundRect">
            <a:avLst>
              <a:gd name="adj" fmla="val 4386"/>
            </a:avLst>
          </a:prstGeom>
          <a:solidFill>
            <a:srgbClr val="FDF1EF"/>
          </a:solidFill>
          <a:ln w="12700">
            <a:solidFill>
              <a:srgbClr val="EFC3BC"/>
            </a:solidFill>
            <a:prstDash val="solid"/>
          </a:ln>
        </p:spPr>
      </p:sp>
      <p:sp>
        <p:nvSpPr>
          <p:cNvPr id="293" name="Text 212"/>
          <p:cNvSpPr/>
          <p:nvPr/>
        </p:nvSpPr>
        <p:spPr>
          <a:xfrm>
            <a:off x="3947160" y="5458968"/>
            <a:ext cx="2926080" cy="91440"/>
          </a:xfrm>
          <a:prstGeom prst="rect">
            <a:avLst/>
          </a:prstGeom>
          <a:noFill/>
          <a:ln/>
        </p:spPr>
        <p:txBody>
          <a:bodyPr wrap="square" lIns="0" tIns="0" rIns="0" bIns="0" rtlCol="0" anchor="ctr"/>
          <a:lstStyle/>
          <a:p>
            <a:r>
              <a:rPr lang="en-US" sz="475" b="1" dirty="0">
                <a:solidFill>
                  <a:srgbClr val="C0392B"/>
                </a:solidFill>
                <a:latin typeface="Arial" pitchFamily="34" charset="0"/>
                <a:ea typeface="Arial" pitchFamily="34" charset="-122"/>
                <a:cs typeface="Arial" pitchFamily="34" charset="-120"/>
              </a:rPr>
              <a:t>7. SECURITY, GOVERNANCE &amp; GUARDRAILS (PARALLEL, NOT SERIAL)</a:t>
            </a:r>
            <a:endParaRPr lang="en-US" sz="475" dirty="0"/>
          </a:p>
        </p:txBody>
      </p:sp>
      <p:sp>
        <p:nvSpPr>
          <p:cNvPr id="294" name="Shape 213"/>
          <p:cNvSpPr/>
          <p:nvPr/>
        </p:nvSpPr>
        <p:spPr>
          <a:xfrm>
            <a:off x="3947160" y="5550408"/>
            <a:ext cx="459232" cy="182880"/>
          </a:xfrm>
          <a:prstGeom prst="roundRect">
            <a:avLst>
              <a:gd name="adj" fmla="val 7500"/>
            </a:avLst>
          </a:prstGeom>
          <a:solidFill>
            <a:srgbClr val="FFFFFF"/>
          </a:solidFill>
          <a:ln w="12700">
            <a:solidFill>
              <a:srgbClr val="EFC3BC"/>
            </a:solidFill>
            <a:prstDash val="solid"/>
          </a:ln>
        </p:spPr>
      </p:sp>
      <p:pic>
        <p:nvPicPr>
          <p:cNvPr id="295" name="Image 79" descr="/sessions/zealous-intelligent-mayer/mnt/outputs/icons4/p1.png"/>
          <p:cNvPicPr>
            <a:picLocks noChangeAspect="1"/>
          </p:cNvPicPr>
          <p:nvPr/>
        </p:nvPicPr>
        <p:blipFill>
          <a:blip r:embed="rId13"/>
          <a:stretch>
            <a:fillRect/>
          </a:stretch>
        </p:blipFill>
        <p:spPr>
          <a:xfrm>
            <a:off x="3970020" y="5605272"/>
            <a:ext cx="73152" cy="73152"/>
          </a:xfrm>
          <a:prstGeom prst="rect">
            <a:avLst/>
          </a:prstGeom>
        </p:spPr>
      </p:pic>
      <p:sp>
        <p:nvSpPr>
          <p:cNvPr id="296" name="Text 214"/>
          <p:cNvSpPr/>
          <p:nvPr/>
        </p:nvSpPr>
        <p:spPr>
          <a:xfrm>
            <a:off x="4056888" y="5573268"/>
            <a:ext cx="340360" cy="59436"/>
          </a:xfrm>
          <a:prstGeom prst="rect">
            <a:avLst/>
          </a:prstGeom>
          <a:noFill/>
          <a:ln/>
        </p:spPr>
        <p:txBody>
          <a:bodyPr wrap="square" lIns="0" tIns="0" rIns="0" bIns="0" rtlCol="0" anchor="ctr"/>
          <a:lstStyle/>
          <a:p>
            <a:r>
              <a:rPr lang="en-US" sz="245" b="1" dirty="0">
                <a:solidFill>
                  <a:srgbClr val="333333"/>
                </a:solidFill>
                <a:latin typeface="Arial" pitchFamily="34" charset="0"/>
                <a:ea typeface="Arial" pitchFamily="34" charset="-122"/>
                <a:cs typeface="Arial" pitchFamily="34" charset="-120"/>
              </a:rPr>
              <a:t>Microsoft Entra ID</a:t>
            </a:r>
            <a:endParaRPr lang="en-US" sz="245" dirty="0"/>
          </a:p>
        </p:txBody>
      </p:sp>
      <p:sp>
        <p:nvSpPr>
          <p:cNvPr id="297" name="Text 215"/>
          <p:cNvSpPr/>
          <p:nvPr/>
        </p:nvSpPr>
        <p:spPr>
          <a:xfrm>
            <a:off x="4056888" y="5632704"/>
            <a:ext cx="340360" cy="59436"/>
          </a:xfrm>
          <a:prstGeom prst="rect">
            <a:avLst/>
          </a:prstGeom>
          <a:noFill/>
          <a:ln/>
        </p:spPr>
        <p:txBody>
          <a:bodyPr wrap="square" lIns="0" tIns="0" rIns="0" bIns="0" rtlCol="0" anchor="ctr"/>
          <a:lstStyle/>
          <a:p>
            <a:r>
              <a:rPr lang="en-US" sz="225" dirty="0">
                <a:solidFill>
                  <a:srgbClr val="6B7683"/>
                </a:solidFill>
                <a:latin typeface="Arial" pitchFamily="34" charset="0"/>
                <a:ea typeface="Arial" pitchFamily="34" charset="-122"/>
                <a:cs typeface="Arial" pitchFamily="34" charset="-120"/>
              </a:rPr>
              <a:t>(Identity &amp; access)</a:t>
            </a:r>
            <a:endParaRPr lang="en-US" sz="225" dirty="0"/>
          </a:p>
        </p:txBody>
      </p:sp>
      <p:sp>
        <p:nvSpPr>
          <p:cNvPr id="298" name="Shape 216"/>
          <p:cNvSpPr/>
          <p:nvPr/>
        </p:nvSpPr>
        <p:spPr>
          <a:xfrm>
            <a:off x="4424680" y="5550408"/>
            <a:ext cx="459232" cy="182880"/>
          </a:xfrm>
          <a:prstGeom prst="roundRect">
            <a:avLst>
              <a:gd name="adj" fmla="val 7500"/>
            </a:avLst>
          </a:prstGeom>
          <a:solidFill>
            <a:srgbClr val="FFFFFF"/>
          </a:solidFill>
          <a:ln w="12700">
            <a:solidFill>
              <a:srgbClr val="EFC3BC"/>
            </a:solidFill>
            <a:prstDash val="solid"/>
          </a:ln>
        </p:spPr>
      </p:sp>
      <p:pic>
        <p:nvPicPr>
          <p:cNvPr id="299" name="Image 80" descr="/sessions/zealous-intelligent-mayer/mnt/outputs/icons4/p2.png"/>
          <p:cNvPicPr>
            <a:picLocks noChangeAspect="1"/>
          </p:cNvPicPr>
          <p:nvPr/>
        </p:nvPicPr>
        <p:blipFill>
          <a:blip r:embed="rId69"/>
          <a:stretch>
            <a:fillRect/>
          </a:stretch>
        </p:blipFill>
        <p:spPr>
          <a:xfrm>
            <a:off x="4447540" y="5605272"/>
            <a:ext cx="73152" cy="73152"/>
          </a:xfrm>
          <a:prstGeom prst="rect">
            <a:avLst/>
          </a:prstGeom>
        </p:spPr>
      </p:pic>
      <p:sp>
        <p:nvSpPr>
          <p:cNvPr id="300" name="Text 217"/>
          <p:cNvSpPr/>
          <p:nvPr/>
        </p:nvSpPr>
        <p:spPr>
          <a:xfrm>
            <a:off x="4534408" y="5573268"/>
            <a:ext cx="340360" cy="59436"/>
          </a:xfrm>
          <a:prstGeom prst="rect">
            <a:avLst/>
          </a:prstGeom>
          <a:noFill/>
          <a:ln/>
        </p:spPr>
        <p:txBody>
          <a:bodyPr wrap="square" lIns="0" tIns="0" rIns="0" bIns="0" rtlCol="0" anchor="ctr"/>
          <a:lstStyle/>
          <a:p>
            <a:r>
              <a:rPr lang="en-US" sz="245" b="1" dirty="0">
                <a:solidFill>
                  <a:srgbClr val="333333"/>
                </a:solidFill>
                <a:latin typeface="Arial" pitchFamily="34" charset="0"/>
                <a:ea typeface="Arial" pitchFamily="34" charset="-122"/>
                <a:cs typeface="Arial" pitchFamily="34" charset="-120"/>
              </a:rPr>
              <a:t>Azure Key Vault</a:t>
            </a:r>
            <a:endParaRPr lang="en-US" sz="245" dirty="0"/>
          </a:p>
        </p:txBody>
      </p:sp>
      <p:sp>
        <p:nvSpPr>
          <p:cNvPr id="301" name="Text 218"/>
          <p:cNvSpPr/>
          <p:nvPr/>
        </p:nvSpPr>
        <p:spPr>
          <a:xfrm>
            <a:off x="4534408" y="5632704"/>
            <a:ext cx="340360" cy="59436"/>
          </a:xfrm>
          <a:prstGeom prst="rect">
            <a:avLst/>
          </a:prstGeom>
          <a:noFill/>
          <a:ln/>
        </p:spPr>
        <p:txBody>
          <a:bodyPr wrap="square" lIns="0" tIns="0" rIns="0" bIns="0" rtlCol="0" anchor="ctr"/>
          <a:lstStyle/>
          <a:p>
            <a:r>
              <a:rPr lang="en-US" sz="225" dirty="0">
                <a:solidFill>
                  <a:srgbClr val="6B7683"/>
                </a:solidFill>
                <a:latin typeface="Arial" pitchFamily="34" charset="0"/>
                <a:ea typeface="Arial" pitchFamily="34" charset="-122"/>
                <a:cs typeface="Arial" pitchFamily="34" charset="-120"/>
              </a:rPr>
              <a:t>(Secrets &amp; keys)</a:t>
            </a:r>
            <a:endParaRPr lang="en-US" sz="225" dirty="0"/>
          </a:p>
        </p:txBody>
      </p:sp>
      <p:sp>
        <p:nvSpPr>
          <p:cNvPr id="302" name="Shape 219"/>
          <p:cNvSpPr/>
          <p:nvPr/>
        </p:nvSpPr>
        <p:spPr>
          <a:xfrm>
            <a:off x="4902200" y="5550408"/>
            <a:ext cx="459232" cy="182880"/>
          </a:xfrm>
          <a:prstGeom prst="roundRect">
            <a:avLst>
              <a:gd name="adj" fmla="val 7500"/>
            </a:avLst>
          </a:prstGeom>
          <a:solidFill>
            <a:srgbClr val="FFFFFF"/>
          </a:solidFill>
          <a:ln w="12700">
            <a:solidFill>
              <a:srgbClr val="EFC3BC"/>
            </a:solidFill>
            <a:prstDash val="solid"/>
          </a:ln>
        </p:spPr>
      </p:sp>
      <p:pic>
        <p:nvPicPr>
          <p:cNvPr id="303" name="Image 81" descr="/sessions/zealous-intelligent-mayer/mnt/outputs/icons4/p3.png"/>
          <p:cNvPicPr>
            <a:picLocks noChangeAspect="1"/>
          </p:cNvPicPr>
          <p:nvPr/>
        </p:nvPicPr>
        <p:blipFill>
          <a:blip r:embed="rId70"/>
          <a:stretch>
            <a:fillRect/>
          </a:stretch>
        </p:blipFill>
        <p:spPr>
          <a:xfrm>
            <a:off x="4925060" y="5605272"/>
            <a:ext cx="73152" cy="73152"/>
          </a:xfrm>
          <a:prstGeom prst="rect">
            <a:avLst/>
          </a:prstGeom>
        </p:spPr>
      </p:pic>
      <p:sp>
        <p:nvSpPr>
          <p:cNvPr id="304" name="Text 220"/>
          <p:cNvSpPr/>
          <p:nvPr/>
        </p:nvSpPr>
        <p:spPr>
          <a:xfrm>
            <a:off x="5011928" y="5573268"/>
            <a:ext cx="340360" cy="59436"/>
          </a:xfrm>
          <a:prstGeom prst="rect">
            <a:avLst/>
          </a:prstGeom>
          <a:noFill/>
          <a:ln/>
        </p:spPr>
        <p:txBody>
          <a:bodyPr wrap="square" lIns="0" tIns="0" rIns="0" bIns="0" rtlCol="0" anchor="ctr"/>
          <a:lstStyle/>
          <a:p>
            <a:r>
              <a:rPr lang="en-US" sz="245" b="1" dirty="0">
                <a:solidFill>
                  <a:srgbClr val="333333"/>
                </a:solidFill>
                <a:latin typeface="Arial" pitchFamily="34" charset="0"/>
                <a:ea typeface="Arial" pitchFamily="34" charset="-122"/>
                <a:cs typeface="Arial" pitchFamily="34" charset="-120"/>
              </a:rPr>
              <a:t>Managed Identity</a:t>
            </a:r>
            <a:endParaRPr lang="en-US" sz="245" dirty="0"/>
          </a:p>
        </p:txBody>
      </p:sp>
      <p:sp>
        <p:nvSpPr>
          <p:cNvPr id="305" name="Text 221"/>
          <p:cNvSpPr/>
          <p:nvPr/>
        </p:nvSpPr>
        <p:spPr>
          <a:xfrm>
            <a:off x="5011928" y="5632704"/>
            <a:ext cx="340360" cy="59436"/>
          </a:xfrm>
          <a:prstGeom prst="rect">
            <a:avLst/>
          </a:prstGeom>
          <a:noFill/>
          <a:ln/>
        </p:spPr>
        <p:txBody>
          <a:bodyPr wrap="square" lIns="0" tIns="0" rIns="0" bIns="0" rtlCol="0" anchor="ctr"/>
          <a:lstStyle/>
          <a:p>
            <a:r>
              <a:rPr lang="en-US" sz="225" dirty="0">
                <a:solidFill>
                  <a:srgbClr val="6B7683"/>
                </a:solidFill>
                <a:latin typeface="Arial" pitchFamily="34" charset="0"/>
                <a:ea typeface="Arial" pitchFamily="34" charset="-122"/>
                <a:cs typeface="Arial" pitchFamily="34" charset="-120"/>
              </a:rPr>
              <a:t>(Workload identity)</a:t>
            </a:r>
            <a:endParaRPr lang="en-US" sz="225" dirty="0"/>
          </a:p>
        </p:txBody>
      </p:sp>
      <p:sp>
        <p:nvSpPr>
          <p:cNvPr id="306" name="Shape 222"/>
          <p:cNvSpPr/>
          <p:nvPr/>
        </p:nvSpPr>
        <p:spPr>
          <a:xfrm>
            <a:off x="5379720" y="5550408"/>
            <a:ext cx="459232" cy="182880"/>
          </a:xfrm>
          <a:prstGeom prst="roundRect">
            <a:avLst>
              <a:gd name="adj" fmla="val 7500"/>
            </a:avLst>
          </a:prstGeom>
          <a:solidFill>
            <a:srgbClr val="FFFFFF"/>
          </a:solidFill>
          <a:ln w="12700">
            <a:solidFill>
              <a:srgbClr val="EFC3BC"/>
            </a:solidFill>
            <a:prstDash val="solid"/>
          </a:ln>
        </p:spPr>
      </p:sp>
      <p:pic>
        <p:nvPicPr>
          <p:cNvPr id="307" name="Image 82" descr="/sessions/zealous-intelligent-mayer/mnt/outputs/icons4/p4.png"/>
          <p:cNvPicPr>
            <a:picLocks noChangeAspect="1"/>
          </p:cNvPicPr>
          <p:nvPr/>
        </p:nvPicPr>
        <p:blipFill>
          <a:blip r:embed="rId71"/>
          <a:stretch>
            <a:fillRect/>
          </a:stretch>
        </p:blipFill>
        <p:spPr>
          <a:xfrm>
            <a:off x="5402580" y="5605272"/>
            <a:ext cx="73152" cy="73152"/>
          </a:xfrm>
          <a:prstGeom prst="rect">
            <a:avLst/>
          </a:prstGeom>
        </p:spPr>
      </p:pic>
      <p:sp>
        <p:nvSpPr>
          <p:cNvPr id="308" name="Text 223"/>
          <p:cNvSpPr/>
          <p:nvPr/>
        </p:nvSpPr>
        <p:spPr>
          <a:xfrm>
            <a:off x="5489448" y="5573268"/>
            <a:ext cx="340360" cy="59436"/>
          </a:xfrm>
          <a:prstGeom prst="rect">
            <a:avLst/>
          </a:prstGeom>
          <a:noFill/>
          <a:ln/>
        </p:spPr>
        <p:txBody>
          <a:bodyPr wrap="square" lIns="0" tIns="0" rIns="0" bIns="0" rtlCol="0" anchor="ctr"/>
          <a:lstStyle/>
          <a:p>
            <a:r>
              <a:rPr lang="en-US" sz="245" b="1" dirty="0">
                <a:solidFill>
                  <a:srgbClr val="333333"/>
                </a:solidFill>
                <a:latin typeface="Arial" pitchFamily="34" charset="0"/>
                <a:ea typeface="Arial" pitchFamily="34" charset="-122"/>
                <a:cs typeface="Arial" pitchFamily="34" charset="-120"/>
              </a:rPr>
              <a:t>Private Link</a:t>
            </a:r>
            <a:endParaRPr lang="en-US" sz="245" dirty="0"/>
          </a:p>
        </p:txBody>
      </p:sp>
      <p:sp>
        <p:nvSpPr>
          <p:cNvPr id="309" name="Text 224"/>
          <p:cNvSpPr/>
          <p:nvPr/>
        </p:nvSpPr>
        <p:spPr>
          <a:xfrm>
            <a:off x="5489448" y="5632704"/>
            <a:ext cx="340360" cy="59436"/>
          </a:xfrm>
          <a:prstGeom prst="rect">
            <a:avLst/>
          </a:prstGeom>
          <a:noFill/>
          <a:ln/>
        </p:spPr>
        <p:txBody>
          <a:bodyPr wrap="square" lIns="0" tIns="0" rIns="0" bIns="0" rtlCol="0" anchor="ctr"/>
          <a:lstStyle/>
          <a:p>
            <a:r>
              <a:rPr lang="en-US" sz="225" dirty="0">
                <a:solidFill>
                  <a:srgbClr val="6B7683"/>
                </a:solidFill>
                <a:latin typeface="Arial" pitchFamily="34" charset="0"/>
                <a:ea typeface="Arial" pitchFamily="34" charset="-122"/>
                <a:cs typeface="Arial" pitchFamily="34" charset="-120"/>
              </a:rPr>
              <a:t>(Network isolation)</a:t>
            </a:r>
            <a:endParaRPr lang="en-US" sz="225" dirty="0"/>
          </a:p>
        </p:txBody>
      </p:sp>
      <p:sp>
        <p:nvSpPr>
          <p:cNvPr id="310" name="Shape 225"/>
          <p:cNvSpPr/>
          <p:nvPr/>
        </p:nvSpPr>
        <p:spPr>
          <a:xfrm>
            <a:off x="5857240" y="5550408"/>
            <a:ext cx="459232" cy="182880"/>
          </a:xfrm>
          <a:prstGeom prst="roundRect">
            <a:avLst>
              <a:gd name="adj" fmla="val 7500"/>
            </a:avLst>
          </a:prstGeom>
          <a:solidFill>
            <a:srgbClr val="FFFFFF"/>
          </a:solidFill>
          <a:ln w="12700">
            <a:solidFill>
              <a:srgbClr val="EFC3BC"/>
            </a:solidFill>
            <a:prstDash val="solid"/>
          </a:ln>
        </p:spPr>
      </p:sp>
      <p:pic>
        <p:nvPicPr>
          <p:cNvPr id="311" name="Image 83" descr="/sessions/zealous-intelligent-mayer/mnt/outputs/icons4/p5.png"/>
          <p:cNvPicPr>
            <a:picLocks noChangeAspect="1"/>
          </p:cNvPicPr>
          <p:nvPr/>
        </p:nvPicPr>
        <p:blipFill>
          <a:blip r:embed="rId72"/>
          <a:stretch>
            <a:fillRect/>
          </a:stretch>
        </p:blipFill>
        <p:spPr>
          <a:xfrm>
            <a:off x="5880100" y="5605272"/>
            <a:ext cx="73152" cy="73152"/>
          </a:xfrm>
          <a:prstGeom prst="rect">
            <a:avLst/>
          </a:prstGeom>
        </p:spPr>
      </p:pic>
      <p:sp>
        <p:nvSpPr>
          <p:cNvPr id="312" name="Text 226"/>
          <p:cNvSpPr/>
          <p:nvPr/>
        </p:nvSpPr>
        <p:spPr>
          <a:xfrm>
            <a:off x="5966968" y="5573268"/>
            <a:ext cx="340360" cy="59436"/>
          </a:xfrm>
          <a:prstGeom prst="rect">
            <a:avLst/>
          </a:prstGeom>
          <a:noFill/>
          <a:ln/>
        </p:spPr>
        <p:txBody>
          <a:bodyPr wrap="square" lIns="0" tIns="0" rIns="0" bIns="0" rtlCol="0" anchor="ctr"/>
          <a:lstStyle/>
          <a:p>
            <a:r>
              <a:rPr lang="en-US" sz="245" b="1" dirty="0">
                <a:solidFill>
                  <a:srgbClr val="333333"/>
                </a:solidFill>
                <a:latin typeface="Arial" pitchFamily="34" charset="0"/>
                <a:ea typeface="Arial" pitchFamily="34" charset="-122"/>
                <a:cs typeface="Arial" pitchFamily="34" charset="-120"/>
              </a:rPr>
              <a:t>RBAC</a:t>
            </a:r>
            <a:endParaRPr lang="en-US" sz="245" dirty="0"/>
          </a:p>
        </p:txBody>
      </p:sp>
      <p:sp>
        <p:nvSpPr>
          <p:cNvPr id="313" name="Text 227"/>
          <p:cNvSpPr/>
          <p:nvPr/>
        </p:nvSpPr>
        <p:spPr>
          <a:xfrm>
            <a:off x="5966968" y="5632704"/>
            <a:ext cx="340360" cy="59436"/>
          </a:xfrm>
          <a:prstGeom prst="rect">
            <a:avLst/>
          </a:prstGeom>
          <a:noFill/>
          <a:ln/>
        </p:spPr>
        <p:txBody>
          <a:bodyPr wrap="square" lIns="0" tIns="0" rIns="0" bIns="0" rtlCol="0" anchor="ctr"/>
          <a:lstStyle/>
          <a:p>
            <a:r>
              <a:rPr lang="en-US" sz="225" dirty="0">
                <a:solidFill>
                  <a:srgbClr val="6B7683"/>
                </a:solidFill>
                <a:latin typeface="Arial" pitchFamily="34" charset="0"/>
                <a:ea typeface="Arial" pitchFamily="34" charset="-122"/>
                <a:cs typeface="Arial" pitchFamily="34" charset="-120"/>
              </a:rPr>
              <a:t>(Least privilege)</a:t>
            </a:r>
            <a:endParaRPr lang="en-US" sz="225" dirty="0"/>
          </a:p>
        </p:txBody>
      </p:sp>
      <p:sp>
        <p:nvSpPr>
          <p:cNvPr id="314" name="Shape 228"/>
          <p:cNvSpPr/>
          <p:nvPr/>
        </p:nvSpPr>
        <p:spPr>
          <a:xfrm>
            <a:off x="6334760" y="5550408"/>
            <a:ext cx="459232" cy="182880"/>
          </a:xfrm>
          <a:prstGeom prst="roundRect">
            <a:avLst>
              <a:gd name="adj" fmla="val 7500"/>
            </a:avLst>
          </a:prstGeom>
          <a:solidFill>
            <a:srgbClr val="FFFFFF"/>
          </a:solidFill>
          <a:ln w="12700">
            <a:solidFill>
              <a:srgbClr val="EFC3BC"/>
            </a:solidFill>
            <a:prstDash val="solid"/>
          </a:ln>
        </p:spPr>
      </p:sp>
      <p:pic>
        <p:nvPicPr>
          <p:cNvPr id="315" name="Image 84" descr="/sessions/zealous-intelligent-mayer/mnt/outputs/icons4/p6.png"/>
          <p:cNvPicPr>
            <a:picLocks noChangeAspect="1"/>
          </p:cNvPicPr>
          <p:nvPr/>
        </p:nvPicPr>
        <p:blipFill>
          <a:blip r:embed="rId19"/>
          <a:stretch>
            <a:fillRect/>
          </a:stretch>
        </p:blipFill>
        <p:spPr>
          <a:xfrm>
            <a:off x="6357620" y="5605272"/>
            <a:ext cx="73152" cy="73152"/>
          </a:xfrm>
          <a:prstGeom prst="rect">
            <a:avLst/>
          </a:prstGeom>
        </p:spPr>
      </p:pic>
      <p:sp>
        <p:nvSpPr>
          <p:cNvPr id="316" name="Text 229"/>
          <p:cNvSpPr/>
          <p:nvPr/>
        </p:nvSpPr>
        <p:spPr>
          <a:xfrm>
            <a:off x="6444488" y="5573268"/>
            <a:ext cx="340360" cy="59436"/>
          </a:xfrm>
          <a:prstGeom prst="rect">
            <a:avLst/>
          </a:prstGeom>
          <a:noFill/>
          <a:ln/>
        </p:spPr>
        <p:txBody>
          <a:bodyPr wrap="square" lIns="0" tIns="0" rIns="0" bIns="0" rtlCol="0" anchor="ctr"/>
          <a:lstStyle/>
          <a:p>
            <a:r>
              <a:rPr lang="en-US" sz="245" b="1" dirty="0">
                <a:solidFill>
                  <a:srgbClr val="333333"/>
                </a:solidFill>
                <a:latin typeface="Arial" pitchFamily="34" charset="0"/>
                <a:ea typeface="Arial" pitchFamily="34" charset="-122"/>
                <a:cs typeface="Arial" pitchFamily="34" charset="-120"/>
              </a:rPr>
              <a:t>Azure Policy</a:t>
            </a:r>
            <a:endParaRPr lang="en-US" sz="245" dirty="0"/>
          </a:p>
        </p:txBody>
      </p:sp>
      <p:sp>
        <p:nvSpPr>
          <p:cNvPr id="317" name="Text 230"/>
          <p:cNvSpPr/>
          <p:nvPr/>
        </p:nvSpPr>
        <p:spPr>
          <a:xfrm>
            <a:off x="6444488" y="5632704"/>
            <a:ext cx="340360" cy="59436"/>
          </a:xfrm>
          <a:prstGeom prst="rect">
            <a:avLst/>
          </a:prstGeom>
          <a:noFill/>
          <a:ln/>
        </p:spPr>
        <p:txBody>
          <a:bodyPr wrap="square" lIns="0" tIns="0" rIns="0" bIns="0" rtlCol="0" anchor="ctr"/>
          <a:lstStyle/>
          <a:p>
            <a:r>
              <a:rPr lang="en-US" sz="225" dirty="0">
                <a:solidFill>
                  <a:srgbClr val="6B7683"/>
                </a:solidFill>
                <a:latin typeface="Arial" pitchFamily="34" charset="0"/>
                <a:ea typeface="Arial" pitchFamily="34" charset="-122"/>
                <a:cs typeface="Arial" pitchFamily="34" charset="-120"/>
              </a:rPr>
              <a:t>(Compliance)</a:t>
            </a:r>
            <a:endParaRPr lang="en-US" sz="225" dirty="0"/>
          </a:p>
        </p:txBody>
      </p:sp>
      <p:sp>
        <p:nvSpPr>
          <p:cNvPr id="318" name="Shape 231"/>
          <p:cNvSpPr/>
          <p:nvPr/>
        </p:nvSpPr>
        <p:spPr>
          <a:xfrm>
            <a:off x="6812280" y="5550408"/>
            <a:ext cx="459232" cy="182880"/>
          </a:xfrm>
          <a:prstGeom prst="roundRect">
            <a:avLst>
              <a:gd name="adj" fmla="val 7500"/>
            </a:avLst>
          </a:prstGeom>
          <a:solidFill>
            <a:srgbClr val="FFFFFF"/>
          </a:solidFill>
          <a:ln w="12700">
            <a:solidFill>
              <a:srgbClr val="EFC3BC"/>
            </a:solidFill>
            <a:prstDash val="solid"/>
          </a:ln>
        </p:spPr>
      </p:sp>
      <p:pic>
        <p:nvPicPr>
          <p:cNvPr id="319" name="Image 85" descr="/sessions/zealous-intelligent-mayer/mnt/outputs/icons4/p7.png"/>
          <p:cNvPicPr>
            <a:picLocks noChangeAspect="1"/>
          </p:cNvPicPr>
          <p:nvPr/>
        </p:nvPicPr>
        <p:blipFill>
          <a:blip r:embed="rId73"/>
          <a:stretch>
            <a:fillRect/>
          </a:stretch>
        </p:blipFill>
        <p:spPr>
          <a:xfrm>
            <a:off x="6835140" y="5605272"/>
            <a:ext cx="73152" cy="73152"/>
          </a:xfrm>
          <a:prstGeom prst="rect">
            <a:avLst/>
          </a:prstGeom>
        </p:spPr>
      </p:pic>
      <p:sp>
        <p:nvSpPr>
          <p:cNvPr id="320" name="Text 232"/>
          <p:cNvSpPr/>
          <p:nvPr/>
        </p:nvSpPr>
        <p:spPr>
          <a:xfrm>
            <a:off x="6922008" y="5573268"/>
            <a:ext cx="340360" cy="59436"/>
          </a:xfrm>
          <a:prstGeom prst="rect">
            <a:avLst/>
          </a:prstGeom>
          <a:noFill/>
          <a:ln/>
        </p:spPr>
        <p:txBody>
          <a:bodyPr wrap="square" lIns="0" tIns="0" rIns="0" bIns="0" rtlCol="0" anchor="ctr"/>
          <a:lstStyle/>
          <a:p>
            <a:r>
              <a:rPr lang="en-US" sz="245" b="1" dirty="0">
                <a:solidFill>
                  <a:srgbClr val="333333"/>
                </a:solidFill>
                <a:latin typeface="Arial" pitchFamily="34" charset="0"/>
                <a:ea typeface="Arial" pitchFamily="34" charset="-122"/>
                <a:cs typeface="Arial" pitchFamily="34" charset="-120"/>
              </a:rPr>
              <a:t>Microsoft Purview</a:t>
            </a:r>
            <a:endParaRPr lang="en-US" sz="245" dirty="0"/>
          </a:p>
        </p:txBody>
      </p:sp>
      <p:sp>
        <p:nvSpPr>
          <p:cNvPr id="321" name="Text 233"/>
          <p:cNvSpPr/>
          <p:nvPr/>
        </p:nvSpPr>
        <p:spPr>
          <a:xfrm>
            <a:off x="6922008" y="5632704"/>
            <a:ext cx="340360" cy="59436"/>
          </a:xfrm>
          <a:prstGeom prst="rect">
            <a:avLst/>
          </a:prstGeom>
          <a:noFill/>
          <a:ln/>
        </p:spPr>
        <p:txBody>
          <a:bodyPr wrap="square" lIns="0" tIns="0" rIns="0" bIns="0" rtlCol="0" anchor="ctr"/>
          <a:lstStyle/>
          <a:p>
            <a:r>
              <a:rPr lang="en-US" sz="225" dirty="0">
                <a:solidFill>
                  <a:srgbClr val="6B7683"/>
                </a:solidFill>
                <a:latin typeface="Arial" pitchFamily="34" charset="0"/>
                <a:ea typeface="Arial" pitchFamily="34" charset="-122"/>
                <a:cs typeface="Arial" pitchFamily="34" charset="-120"/>
              </a:rPr>
              <a:t>(Data governance)</a:t>
            </a:r>
            <a:endParaRPr lang="en-US" sz="225" dirty="0"/>
          </a:p>
        </p:txBody>
      </p:sp>
      <p:sp>
        <p:nvSpPr>
          <p:cNvPr id="322" name="Shape 234"/>
          <p:cNvSpPr/>
          <p:nvPr/>
        </p:nvSpPr>
        <p:spPr>
          <a:xfrm>
            <a:off x="7289800" y="5550408"/>
            <a:ext cx="459232" cy="182880"/>
          </a:xfrm>
          <a:prstGeom prst="roundRect">
            <a:avLst>
              <a:gd name="adj" fmla="val 7500"/>
            </a:avLst>
          </a:prstGeom>
          <a:solidFill>
            <a:srgbClr val="FFFFFF"/>
          </a:solidFill>
          <a:ln w="12700">
            <a:solidFill>
              <a:srgbClr val="EFC3BC"/>
            </a:solidFill>
            <a:prstDash val="solid"/>
          </a:ln>
        </p:spPr>
      </p:sp>
      <p:pic>
        <p:nvPicPr>
          <p:cNvPr id="323" name="Image 86" descr="/sessions/zealous-intelligent-mayer/mnt/outputs/icons4/p8.png"/>
          <p:cNvPicPr>
            <a:picLocks noChangeAspect="1"/>
          </p:cNvPicPr>
          <p:nvPr/>
        </p:nvPicPr>
        <p:blipFill>
          <a:blip r:embed="rId74"/>
          <a:stretch>
            <a:fillRect/>
          </a:stretch>
        </p:blipFill>
        <p:spPr>
          <a:xfrm>
            <a:off x="7312660" y="5605272"/>
            <a:ext cx="73152" cy="73152"/>
          </a:xfrm>
          <a:prstGeom prst="rect">
            <a:avLst/>
          </a:prstGeom>
        </p:spPr>
      </p:pic>
      <p:sp>
        <p:nvSpPr>
          <p:cNvPr id="324" name="Text 235"/>
          <p:cNvSpPr/>
          <p:nvPr/>
        </p:nvSpPr>
        <p:spPr>
          <a:xfrm>
            <a:off x="7399528" y="5573268"/>
            <a:ext cx="340360" cy="59436"/>
          </a:xfrm>
          <a:prstGeom prst="rect">
            <a:avLst/>
          </a:prstGeom>
          <a:noFill/>
          <a:ln/>
        </p:spPr>
        <p:txBody>
          <a:bodyPr wrap="square" lIns="0" tIns="0" rIns="0" bIns="0" rtlCol="0" anchor="ctr"/>
          <a:lstStyle/>
          <a:p>
            <a:r>
              <a:rPr lang="en-US" sz="245" b="1" dirty="0">
                <a:solidFill>
                  <a:srgbClr val="333333"/>
                </a:solidFill>
                <a:latin typeface="Arial" pitchFamily="34" charset="0"/>
                <a:ea typeface="Arial" pitchFamily="34" charset="-122"/>
                <a:cs typeface="Arial" pitchFamily="34" charset="-120"/>
              </a:rPr>
              <a:t>Azure Content Safety</a:t>
            </a:r>
            <a:endParaRPr lang="en-US" sz="245" dirty="0"/>
          </a:p>
        </p:txBody>
      </p:sp>
      <p:sp>
        <p:nvSpPr>
          <p:cNvPr id="325" name="Text 236"/>
          <p:cNvSpPr/>
          <p:nvPr/>
        </p:nvSpPr>
        <p:spPr>
          <a:xfrm>
            <a:off x="7399528" y="5632704"/>
            <a:ext cx="340360" cy="59436"/>
          </a:xfrm>
          <a:prstGeom prst="rect">
            <a:avLst/>
          </a:prstGeom>
          <a:noFill/>
          <a:ln/>
        </p:spPr>
        <p:txBody>
          <a:bodyPr wrap="square" lIns="0" tIns="0" rIns="0" bIns="0" rtlCol="0" anchor="ctr"/>
          <a:lstStyle/>
          <a:p>
            <a:r>
              <a:rPr lang="en-US" sz="225" dirty="0">
                <a:solidFill>
                  <a:srgbClr val="6B7683"/>
                </a:solidFill>
                <a:latin typeface="Arial" pitchFamily="34" charset="0"/>
                <a:ea typeface="Arial" pitchFamily="34" charset="-122"/>
                <a:cs typeface="Arial" pitchFamily="34" charset="-120"/>
              </a:rPr>
              <a:t>(Content filters)</a:t>
            </a:r>
            <a:endParaRPr lang="en-US" sz="225" dirty="0"/>
          </a:p>
        </p:txBody>
      </p:sp>
      <p:sp>
        <p:nvSpPr>
          <p:cNvPr id="326" name="Shape 237"/>
          <p:cNvSpPr/>
          <p:nvPr/>
        </p:nvSpPr>
        <p:spPr>
          <a:xfrm>
            <a:off x="7767320" y="5550408"/>
            <a:ext cx="459232" cy="182880"/>
          </a:xfrm>
          <a:prstGeom prst="roundRect">
            <a:avLst>
              <a:gd name="adj" fmla="val 7500"/>
            </a:avLst>
          </a:prstGeom>
          <a:solidFill>
            <a:srgbClr val="FFFFFF"/>
          </a:solidFill>
          <a:ln w="12700">
            <a:solidFill>
              <a:srgbClr val="EFC3BC"/>
            </a:solidFill>
            <a:prstDash val="solid"/>
          </a:ln>
        </p:spPr>
      </p:sp>
      <p:pic>
        <p:nvPicPr>
          <p:cNvPr id="327" name="Image 87" descr="/sessions/zealous-intelligent-mayer/mnt/outputs/icons4/p9.png"/>
          <p:cNvPicPr>
            <a:picLocks noChangeAspect="1"/>
          </p:cNvPicPr>
          <p:nvPr/>
        </p:nvPicPr>
        <p:blipFill>
          <a:blip r:embed="rId75"/>
          <a:stretch>
            <a:fillRect/>
          </a:stretch>
        </p:blipFill>
        <p:spPr>
          <a:xfrm>
            <a:off x="7790180" y="5605272"/>
            <a:ext cx="73152" cy="73152"/>
          </a:xfrm>
          <a:prstGeom prst="rect">
            <a:avLst/>
          </a:prstGeom>
        </p:spPr>
      </p:pic>
      <p:sp>
        <p:nvSpPr>
          <p:cNvPr id="328" name="Text 238"/>
          <p:cNvSpPr/>
          <p:nvPr/>
        </p:nvSpPr>
        <p:spPr>
          <a:xfrm>
            <a:off x="7877048" y="5573268"/>
            <a:ext cx="340360" cy="59436"/>
          </a:xfrm>
          <a:prstGeom prst="rect">
            <a:avLst/>
          </a:prstGeom>
          <a:noFill/>
          <a:ln/>
        </p:spPr>
        <p:txBody>
          <a:bodyPr wrap="square" lIns="0" tIns="0" rIns="0" bIns="0" rtlCol="0" anchor="ctr"/>
          <a:lstStyle/>
          <a:p>
            <a:r>
              <a:rPr lang="en-US" sz="245" b="1" dirty="0">
                <a:solidFill>
                  <a:srgbClr val="333333"/>
                </a:solidFill>
                <a:latin typeface="Arial" pitchFamily="34" charset="0"/>
                <a:ea typeface="Arial" pitchFamily="34" charset="-122"/>
                <a:cs typeface="Arial" pitchFamily="34" charset="-120"/>
              </a:rPr>
              <a:t>Defender for Cloud</a:t>
            </a:r>
            <a:endParaRPr lang="en-US" sz="245" dirty="0"/>
          </a:p>
        </p:txBody>
      </p:sp>
      <p:sp>
        <p:nvSpPr>
          <p:cNvPr id="329" name="Text 239"/>
          <p:cNvSpPr/>
          <p:nvPr/>
        </p:nvSpPr>
        <p:spPr>
          <a:xfrm>
            <a:off x="7877048" y="5632704"/>
            <a:ext cx="340360" cy="59436"/>
          </a:xfrm>
          <a:prstGeom prst="rect">
            <a:avLst/>
          </a:prstGeom>
          <a:noFill/>
          <a:ln/>
        </p:spPr>
        <p:txBody>
          <a:bodyPr wrap="square" lIns="0" tIns="0" rIns="0" bIns="0" rtlCol="0" anchor="ctr"/>
          <a:lstStyle/>
          <a:p>
            <a:r>
              <a:rPr lang="en-US" sz="225" dirty="0">
                <a:solidFill>
                  <a:srgbClr val="6B7683"/>
                </a:solidFill>
                <a:latin typeface="Arial" pitchFamily="34" charset="0"/>
                <a:ea typeface="Arial" pitchFamily="34" charset="-122"/>
                <a:cs typeface="Arial" pitchFamily="34" charset="-120"/>
              </a:rPr>
              <a:t>(Threat protection)</a:t>
            </a:r>
            <a:endParaRPr lang="en-US" sz="225" dirty="0"/>
          </a:p>
        </p:txBody>
      </p:sp>
      <p:sp>
        <p:nvSpPr>
          <p:cNvPr id="330" name="Shape 240"/>
          <p:cNvSpPr/>
          <p:nvPr/>
        </p:nvSpPr>
        <p:spPr>
          <a:xfrm>
            <a:off x="5318760" y="5760720"/>
            <a:ext cx="1417320" cy="164592"/>
          </a:xfrm>
          <a:prstGeom prst="roundRect">
            <a:avLst>
              <a:gd name="adj" fmla="val 11111"/>
            </a:avLst>
          </a:prstGeom>
          <a:solidFill>
            <a:srgbClr val="FFFFFF"/>
          </a:solidFill>
          <a:ln w="12700">
            <a:solidFill>
              <a:srgbClr val="2F3B52"/>
            </a:solidFill>
            <a:prstDash val="solid"/>
          </a:ln>
        </p:spPr>
      </p:sp>
      <p:pic>
        <p:nvPicPr>
          <p:cNvPr id="331" name="Image 88" descr="/sessions/zealous-intelligent-mayer/mnt/outputs/icons4/gate.png"/>
          <p:cNvPicPr>
            <a:picLocks noChangeAspect="1"/>
          </p:cNvPicPr>
          <p:nvPr/>
        </p:nvPicPr>
        <p:blipFill>
          <a:blip r:embed="rId76"/>
          <a:stretch>
            <a:fillRect/>
          </a:stretch>
        </p:blipFill>
        <p:spPr>
          <a:xfrm>
            <a:off x="5364480" y="5797296"/>
            <a:ext cx="91440" cy="91440"/>
          </a:xfrm>
          <a:prstGeom prst="rect">
            <a:avLst/>
          </a:prstGeom>
        </p:spPr>
      </p:pic>
      <p:sp>
        <p:nvSpPr>
          <p:cNvPr id="332" name="Text 241"/>
          <p:cNvSpPr/>
          <p:nvPr/>
        </p:nvSpPr>
        <p:spPr>
          <a:xfrm>
            <a:off x="5483352" y="5774436"/>
            <a:ext cx="1216152" cy="64008"/>
          </a:xfrm>
          <a:prstGeom prst="rect">
            <a:avLst/>
          </a:prstGeom>
          <a:noFill/>
          <a:ln/>
        </p:spPr>
        <p:txBody>
          <a:bodyPr wrap="square" lIns="0" tIns="0" rIns="0" bIns="0" rtlCol="0" anchor="ctr"/>
          <a:lstStyle/>
          <a:p>
            <a:r>
              <a:rPr lang="en-US" sz="330" b="1" dirty="0">
                <a:solidFill>
                  <a:srgbClr val="0B2545"/>
                </a:solidFill>
                <a:latin typeface="Arial" pitchFamily="34" charset="0"/>
                <a:ea typeface="Arial" pitchFamily="34" charset="-122"/>
                <a:cs typeface="Arial" pitchFamily="34" charset="-120"/>
              </a:rPr>
              <a:t>Guardrails Gate (Allow / Reject)</a:t>
            </a:r>
            <a:endParaRPr lang="en-US" sz="330" dirty="0"/>
          </a:p>
        </p:txBody>
      </p:sp>
      <p:sp>
        <p:nvSpPr>
          <p:cNvPr id="333" name="Text 242"/>
          <p:cNvSpPr/>
          <p:nvPr/>
        </p:nvSpPr>
        <p:spPr>
          <a:xfrm>
            <a:off x="5483352" y="5843016"/>
            <a:ext cx="1216152" cy="64008"/>
          </a:xfrm>
          <a:prstGeom prst="rect">
            <a:avLst/>
          </a:prstGeom>
          <a:noFill/>
          <a:ln/>
        </p:spPr>
        <p:txBody>
          <a:bodyPr wrap="square" lIns="0" tIns="0" rIns="0" bIns="0" rtlCol="0" anchor="ctr"/>
          <a:lstStyle/>
          <a:p>
            <a:r>
              <a:rPr lang="en-US" sz="270" dirty="0">
                <a:solidFill>
                  <a:srgbClr val="6B7683"/>
                </a:solidFill>
                <a:latin typeface="Arial" pitchFamily="34" charset="0"/>
                <a:ea typeface="Arial" pitchFamily="34" charset="-122"/>
                <a:cs typeface="Arial" pitchFamily="34" charset="-120"/>
              </a:rPr>
              <a:t>All checks run in parallel (single exit gate)</a:t>
            </a:r>
            <a:endParaRPr lang="en-US" sz="270" dirty="0"/>
          </a:p>
        </p:txBody>
      </p:sp>
      <p:sp>
        <p:nvSpPr>
          <p:cNvPr id="334" name="Shape 243"/>
          <p:cNvSpPr/>
          <p:nvPr/>
        </p:nvSpPr>
        <p:spPr>
          <a:xfrm>
            <a:off x="4797552" y="5843016"/>
            <a:ext cx="507492" cy="0"/>
          </a:xfrm>
          <a:prstGeom prst="line">
            <a:avLst/>
          </a:prstGeom>
          <a:noFill/>
          <a:ln w="12700">
            <a:solidFill>
              <a:srgbClr val="C0392B"/>
            </a:solidFill>
            <a:prstDash val="dash"/>
            <a:tailEnd type="triangle"/>
          </a:ln>
        </p:spPr>
      </p:sp>
      <p:sp>
        <p:nvSpPr>
          <p:cNvPr id="335" name="Text 244"/>
          <p:cNvSpPr/>
          <p:nvPr/>
        </p:nvSpPr>
        <p:spPr>
          <a:xfrm>
            <a:off x="4422648" y="5811012"/>
            <a:ext cx="365760" cy="64008"/>
          </a:xfrm>
          <a:prstGeom prst="rect">
            <a:avLst/>
          </a:prstGeom>
          <a:noFill/>
          <a:ln/>
        </p:spPr>
        <p:txBody>
          <a:bodyPr wrap="square" lIns="0" tIns="0" rIns="0" bIns="0" rtlCol="0" anchor="ctr"/>
          <a:lstStyle/>
          <a:p>
            <a:pPr algn="r"/>
            <a:r>
              <a:rPr lang="en-US" sz="320" b="1" dirty="0">
                <a:solidFill>
                  <a:srgbClr val="C0392B"/>
                </a:solidFill>
                <a:latin typeface="Arial" pitchFamily="34" charset="0"/>
                <a:ea typeface="Arial" pitchFamily="34" charset="-122"/>
                <a:cs typeface="Arial" pitchFamily="34" charset="-120"/>
              </a:rPr>
              <a:t>REJECT</a:t>
            </a:r>
            <a:endParaRPr lang="en-US" sz="320" dirty="0"/>
          </a:p>
        </p:txBody>
      </p:sp>
      <p:sp>
        <p:nvSpPr>
          <p:cNvPr id="336" name="Shape 245"/>
          <p:cNvSpPr/>
          <p:nvPr/>
        </p:nvSpPr>
        <p:spPr>
          <a:xfrm>
            <a:off x="6749796" y="5843016"/>
            <a:ext cx="562356" cy="0"/>
          </a:xfrm>
          <a:prstGeom prst="line">
            <a:avLst/>
          </a:prstGeom>
          <a:noFill/>
          <a:ln w="12700">
            <a:solidFill>
              <a:srgbClr val="2E8B57"/>
            </a:solidFill>
            <a:prstDash val="dash"/>
            <a:tailEnd type="triangle"/>
          </a:ln>
        </p:spPr>
      </p:sp>
      <p:sp>
        <p:nvSpPr>
          <p:cNvPr id="337" name="Text 246"/>
          <p:cNvSpPr/>
          <p:nvPr/>
        </p:nvSpPr>
        <p:spPr>
          <a:xfrm>
            <a:off x="7330440" y="5811012"/>
            <a:ext cx="365760" cy="64008"/>
          </a:xfrm>
          <a:prstGeom prst="rect">
            <a:avLst/>
          </a:prstGeom>
          <a:noFill/>
          <a:ln/>
        </p:spPr>
        <p:txBody>
          <a:bodyPr wrap="square" lIns="0" tIns="0" rIns="0" bIns="0" rtlCol="0" anchor="ctr"/>
          <a:lstStyle/>
          <a:p>
            <a:r>
              <a:rPr lang="en-US" sz="320" b="1" dirty="0">
                <a:solidFill>
                  <a:srgbClr val="2E8B57"/>
                </a:solidFill>
                <a:latin typeface="Arial" pitchFamily="34" charset="0"/>
                <a:ea typeface="Arial" pitchFamily="34" charset="-122"/>
                <a:cs typeface="Arial" pitchFamily="34" charset="-120"/>
              </a:rPr>
              <a:t>ALLOW</a:t>
            </a:r>
            <a:endParaRPr lang="en-US" sz="320" dirty="0"/>
          </a:p>
        </p:txBody>
      </p:sp>
      <p:sp>
        <p:nvSpPr>
          <p:cNvPr id="338" name="Shape 247"/>
          <p:cNvSpPr/>
          <p:nvPr/>
        </p:nvSpPr>
        <p:spPr>
          <a:xfrm>
            <a:off x="3883152" y="5989320"/>
            <a:ext cx="4425696" cy="429768"/>
          </a:xfrm>
          <a:prstGeom prst="roundRect">
            <a:avLst>
              <a:gd name="adj" fmla="val 5319"/>
            </a:avLst>
          </a:prstGeom>
          <a:solidFill>
            <a:srgbClr val="FFFFFF"/>
          </a:solidFill>
          <a:ln w="12700">
            <a:solidFill>
              <a:srgbClr val="C9D6E4"/>
            </a:solidFill>
            <a:prstDash val="solid"/>
          </a:ln>
        </p:spPr>
      </p:sp>
      <p:sp>
        <p:nvSpPr>
          <p:cNvPr id="339" name="Text 248"/>
          <p:cNvSpPr/>
          <p:nvPr/>
        </p:nvSpPr>
        <p:spPr>
          <a:xfrm>
            <a:off x="3947160" y="6016752"/>
            <a:ext cx="2103120" cy="91440"/>
          </a:xfrm>
          <a:prstGeom prst="rect">
            <a:avLst/>
          </a:prstGeom>
          <a:noFill/>
          <a:ln/>
        </p:spPr>
        <p:txBody>
          <a:bodyPr wrap="square" lIns="0" tIns="0" rIns="0" bIns="0" rtlCol="0" anchor="ctr"/>
          <a:lstStyle/>
          <a:p>
            <a:r>
              <a:rPr lang="en-US" sz="475" b="1" dirty="0">
                <a:solidFill>
                  <a:srgbClr val="1F6FB2"/>
                </a:solidFill>
                <a:latin typeface="Arial" pitchFamily="34" charset="0"/>
                <a:ea typeface="Arial" pitchFamily="34" charset="-122"/>
                <a:cs typeface="Arial" pitchFamily="34" charset="-120"/>
              </a:rPr>
              <a:t>8. OBSERVABILITY &amp; EVALUATION</a:t>
            </a:r>
            <a:endParaRPr lang="en-US" sz="475" dirty="0"/>
          </a:p>
        </p:txBody>
      </p:sp>
      <p:pic>
        <p:nvPicPr>
          <p:cNvPr id="340" name="Image 89" descr="/sessions/zealous-intelligent-mayer/mnt/outputs/icons4/o1.png"/>
          <p:cNvPicPr>
            <a:picLocks noChangeAspect="1"/>
          </p:cNvPicPr>
          <p:nvPr/>
        </p:nvPicPr>
        <p:blipFill>
          <a:blip r:embed="rId77"/>
          <a:stretch>
            <a:fillRect/>
          </a:stretch>
        </p:blipFill>
        <p:spPr>
          <a:xfrm>
            <a:off x="4170045" y="6117336"/>
            <a:ext cx="91440" cy="91440"/>
          </a:xfrm>
          <a:prstGeom prst="rect">
            <a:avLst/>
          </a:prstGeom>
        </p:spPr>
      </p:pic>
      <p:sp>
        <p:nvSpPr>
          <p:cNvPr id="341" name="Text 249"/>
          <p:cNvSpPr/>
          <p:nvPr/>
        </p:nvSpPr>
        <p:spPr>
          <a:xfrm>
            <a:off x="3951732" y="6222492"/>
            <a:ext cx="528066"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Azure Monitor</a:t>
            </a:r>
            <a:endParaRPr lang="en-US" sz="245" dirty="0"/>
          </a:p>
          <a:p>
            <a:pPr algn="ctr"/>
            <a:r>
              <a:rPr lang="en-US" sz="245" dirty="0">
                <a:solidFill>
                  <a:srgbClr val="333333"/>
                </a:solidFill>
                <a:latin typeface="Arial" pitchFamily="34" charset="0"/>
                <a:ea typeface="Arial" pitchFamily="34" charset="-122"/>
                <a:cs typeface="Arial" pitchFamily="34" charset="-120"/>
              </a:rPr>
              <a:t>(Metrics, logs, alerts)</a:t>
            </a:r>
            <a:endParaRPr lang="en-US" sz="245" dirty="0"/>
          </a:p>
        </p:txBody>
      </p:sp>
      <p:pic>
        <p:nvPicPr>
          <p:cNvPr id="342" name="Image 90" descr="/sessions/zealous-intelligent-mayer/mnt/outputs/icons4/o2.png"/>
          <p:cNvPicPr>
            <a:picLocks noChangeAspect="1"/>
          </p:cNvPicPr>
          <p:nvPr/>
        </p:nvPicPr>
        <p:blipFill>
          <a:blip r:embed="rId26"/>
          <a:stretch>
            <a:fillRect/>
          </a:stretch>
        </p:blipFill>
        <p:spPr>
          <a:xfrm>
            <a:off x="4707255" y="6117336"/>
            <a:ext cx="91440" cy="91440"/>
          </a:xfrm>
          <a:prstGeom prst="rect">
            <a:avLst/>
          </a:prstGeom>
        </p:spPr>
      </p:pic>
      <p:sp>
        <p:nvSpPr>
          <p:cNvPr id="343" name="Text 250"/>
          <p:cNvSpPr/>
          <p:nvPr/>
        </p:nvSpPr>
        <p:spPr>
          <a:xfrm>
            <a:off x="4488942" y="6222492"/>
            <a:ext cx="528066"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Application Insights</a:t>
            </a:r>
            <a:endParaRPr lang="en-US" sz="245" dirty="0"/>
          </a:p>
          <a:p>
            <a:pPr algn="ctr"/>
            <a:r>
              <a:rPr lang="en-US" sz="245" dirty="0">
                <a:solidFill>
                  <a:srgbClr val="333333"/>
                </a:solidFill>
                <a:latin typeface="Arial" pitchFamily="34" charset="0"/>
                <a:ea typeface="Arial" pitchFamily="34" charset="-122"/>
                <a:cs typeface="Arial" pitchFamily="34" charset="-120"/>
              </a:rPr>
              <a:t>(Tracing, performance)</a:t>
            </a:r>
            <a:endParaRPr lang="en-US" sz="245" dirty="0"/>
          </a:p>
        </p:txBody>
      </p:sp>
      <p:pic>
        <p:nvPicPr>
          <p:cNvPr id="344" name="Image 91" descr="/sessions/zealous-intelligent-mayer/mnt/outputs/icons4/o3.png"/>
          <p:cNvPicPr>
            <a:picLocks noChangeAspect="1"/>
          </p:cNvPicPr>
          <p:nvPr/>
        </p:nvPicPr>
        <p:blipFill>
          <a:blip r:embed="rId58"/>
          <a:stretch>
            <a:fillRect/>
          </a:stretch>
        </p:blipFill>
        <p:spPr>
          <a:xfrm>
            <a:off x="5244465" y="6117336"/>
            <a:ext cx="91440" cy="91440"/>
          </a:xfrm>
          <a:prstGeom prst="rect">
            <a:avLst/>
          </a:prstGeom>
        </p:spPr>
      </p:pic>
      <p:sp>
        <p:nvSpPr>
          <p:cNvPr id="345" name="Text 251"/>
          <p:cNvSpPr/>
          <p:nvPr/>
        </p:nvSpPr>
        <p:spPr>
          <a:xfrm>
            <a:off x="5026152" y="6222492"/>
            <a:ext cx="528066"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Log Analytics</a:t>
            </a:r>
            <a:endParaRPr lang="en-US" sz="245" dirty="0"/>
          </a:p>
          <a:p>
            <a:pPr algn="ctr"/>
            <a:r>
              <a:rPr lang="en-US" sz="245" dirty="0">
                <a:solidFill>
                  <a:srgbClr val="333333"/>
                </a:solidFill>
                <a:latin typeface="Arial" pitchFamily="34" charset="0"/>
                <a:ea typeface="Arial" pitchFamily="34" charset="-122"/>
                <a:cs typeface="Arial" pitchFamily="34" charset="-120"/>
              </a:rPr>
              <a:t>(Centralized logs)</a:t>
            </a:r>
            <a:endParaRPr lang="en-US" sz="245" dirty="0"/>
          </a:p>
        </p:txBody>
      </p:sp>
      <p:pic>
        <p:nvPicPr>
          <p:cNvPr id="346" name="Image 92" descr="/sessions/zealous-intelligent-mayer/mnt/outputs/icons4/o4.png"/>
          <p:cNvPicPr>
            <a:picLocks noChangeAspect="1"/>
          </p:cNvPicPr>
          <p:nvPr/>
        </p:nvPicPr>
        <p:blipFill>
          <a:blip r:embed="rId78"/>
          <a:stretch>
            <a:fillRect/>
          </a:stretch>
        </p:blipFill>
        <p:spPr>
          <a:xfrm>
            <a:off x="5781675" y="6117336"/>
            <a:ext cx="91440" cy="91440"/>
          </a:xfrm>
          <a:prstGeom prst="rect">
            <a:avLst/>
          </a:prstGeom>
        </p:spPr>
      </p:pic>
      <p:sp>
        <p:nvSpPr>
          <p:cNvPr id="347" name="Text 252"/>
          <p:cNvSpPr/>
          <p:nvPr/>
        </p:nvSpPr>
        <p:spPr>
          <a:xfrm>
            <a:off x="5563362" y="6222492"/>
            <a:ext cx="528066"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Azure Data Explorer</a:t>
            </a:r>
            <a:endParaRPr lang="en-US" sz="245" dirty="0"/>
          </a:p>
          <a:p>
            <a:pPr algn="ctr"/>
            <a:r>
              <a:rPr lang="en-US" sz="245" dirty="0">
                <a:solidFill>
                  <a:srgbClr val="333333"/>
                </a:solidFill>
                <a:latin typeface="Arial" pitchFamily="34" charset="0"/>
                <a:ea typeface="Arial" pitchFamily="34" charset="-122"/>
                <a:cs typeface="Arial" pitchFamily="34" charset="-120"/>
              </a:rPr>
              <a:t>(Advanced analytics)</a:t>
            </a:r>
            <a:endParaRPr lang="en-US" sz="245" dirty="0"/>
          </a:p>
        </p:txBody>
      </p:sp>
      <p:pic>
        <p:nvPicPr>
          <p:cNvPr id="348" name="Image 93" descr="/sessions/zealous-intelligent-mayer/mnt/outputs/icons4/o5.png"/>
          <p:cNvPicPr>
            <a:picLocks noChangeAspect="1"/>
          </p:cNvPicPr>
          <p:nvPr/>
        </p:nvPicPr>
        <p:blipFill>
          <a:blip r:embed="rId79"/>
          <a:stretch>
            <a:fillRect/>
          </a:stretch>
        </p:blipFill>
        <p:spPr>
          <a:xfrm>
            <a:off x="6318885" y="6117336"/>
            <a:ext cx="91440" cy="91440"/>
          </a:xfrm>
          <a:prstGeom prst="rect">
            <a:avLst/>
          </a:prstGeom>
        </p:spPr>
      </p:pic>
      <p:sp>
        <p:nvSpPr>
          <p:cNvPr id="349" name="Text 253"/>
          <p:cNvSpPr/>
          <p:nvPr/>
        </p:nvSpPr>
        <p:spPr>
          <a:xfrm>
            <a:off x="6100572" y="6222492"/>
            <a:ext cx="528066"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Prompt Flow</a:t>
            </a:r>
            <a:endParaRPr lang="en-US" sz="245" dirty="0"/>
          </a:p>
          <a:p>
            <a:pPr algn="ctr"/>
            <a:r>
              <a:rPr lang="en-US" sz="245" dirty="0">
                <a:solidFill>
                  <a:srgbClr val="333333"/>
                </a:solidFill>
                <a:latin typeface="Arial" pitchFamily="34" charset="0"/>
                <a:ea typeface="Arial" pitchFamily="34" charset="-122"/>
                <a:cs typeface="Arial" pitchFamily="34" charset="-120"/>
              </a:rPr>
              <a:t>(Evaluation, tracing)</a:t>
            </a:r>
            <a:endParaRPr lang="en-US" sz="245" dirty="0"/>
          </a:p>
        </p:txBody>
      </p:sp>
      <p:pic>
        <p:nvPicPr>
          <p:cNvPr id="350" name="Image 94" descr="/sessions/zealous-intelligent-mayer/mnt/outputs/icons4/o6.png"/>
          <p:cNvPicPr>
            <a:picLocks noChangeAspect="1"/>
          </p:cNvPicPr>
          <p:nvPr/>
        </p:nvPicPr>
        <p:blipFill>
          <a:blip r:embed="rId19"/>
          <a:stretch>
            <a:fillRect/>
          </a:stretch>
        </p:blipFill>
        <p:spPr>
          <a:xfrm>
            <a:off x="6856095" y="6117336"/>
            <a:ext cx="91440" cy="91440"/>
          </a:xfrm>
          <a:prstGeom prst="rect">
            <a:avLst/>
          </a:prstGeom>
        </p:spPr>
      </p:pic>
      <p:sp>
        <p:nvSpPr>
          <p:cNvPr id="351" name="Text 254"/>
          <p:cNvSpPr/>
          <p:nvPr/>
        </p:nvSpPr>
        <p:spPr>
          <a:xfrm>
            <a:off x="6637782" y="6222492"/>
            <a:ext cx="528066"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AI Evaluation SDK</a:t>
            </a:r>
            <a:endParaRPr lang="en-US" sz="245" dirty="0"/>
          </a:p>
          <a:p>
            <a:pPr algn="ctr"/>
            <a:r>
              <a:rPr lang="en-US" sz="245" dirty="0">
                <a:solidFill>
                  <a:srgbClr val="333333"/>
                </a:solidFill>
                <a:latin typeface="Arial" pitchFamily="34" charset="0"/>
                <a:ea typeface="Arial" pitchFamily="34" charset="-122"/>
                <a:cs typeface="Arial" pitchFamily="34" charset="-120"/>
              </a:rPr>
              <a:t>(Ground truth, metrics)</a:t>
            </a:r>
            <a:endParaRPr lang="en-US" sz="245" dirty="0"/>
          </a:p>
        </p:txBody>
      </p:sp>
      <p:pic>
        <p:nvPicPr>
          <p:cNvPr id="352" name="Image 95" descr="/sessions/zealous-intelligent-mayer/mnt/outputs/icons4/o7.png"/>
          <p:cNvPicPr>
            <a:picLocks noChangeAspect="1"/>
          </p:cNvPicPr>
          <p:nvPr/>
        </p:nvPicPr>
        <p:blipFill>
          <a:blip r:embed="rId80"/>
          <a:stretch>
            <a:fillRect/>
          </a:stretch>
        </p:blipFill>
        <p:spPr>
          <a:xfrm>
            <a:off x="7393305" y="6117336"/>
            <a:ext cx="91440" cy="91440"/>
          </a:xfrm>
          <a:prstGeom prst="rect">
            <a:avLst/>
          </a:prstGeom>
        </p:spPr>
      </p:pic>
      <p:sp>
        <p:nvSpPr>
          <p:cNvPr id="353" name="Text 255"/>
          <p:cNvSpPr/>
          <p:nvPr/>
        </p:nvSpPr>
        <p:spPr>
          <a:xfrm>
            <a:off x="7174992" y="6222492"/>
            <a:ext cx="528066"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Dashboards</a:t>
            </a:r>
            <a:endParaRPr lang="en-US" sz="245" dirty="0"/>
          </a:p>
          <a:p>
            <a:pPr algn="ctr"/>
            <a:r>
              <a:rPr lang="en-US" sz="245" dirty="0">
                <a:solidFill>
                  <a:srgbClr val="333333"/>
                </a:solidFill>
                <a:latin typeface="Arial" pitchFamily="34" charset="0"/>
                <a:ea typeface="Arial" pitchFamily="34" charset="-122"/>
                <a:cs typeface="Arial" pitchFamily="34" charset="-120"/>
              </a:rPr>
              <a:t>(Grafana / Workbooks)</a:t>
            </a:r>
            <a:endParaRPr lang="en-US" sz="245" dirty="0"/>
          </a:p>
        </p:txBody>
      </p:sp>
      <p:pic>
        <p:nvPicPr>
          <p:cNvPr id="354" name="Image 96" descr="/sessions/zealous-intelligent-mayer/mnt/outputs/icons4/o8.png"/>
          <p:cNvPicPr>
            <a:picLocks noChangeAspect="1"/>
          </p:cNvPicPr>
          <p:nvPr/>
        </p:nvPicPr>
        <p:blipFill>
          <a:blip r:embed="rId81"/>
          <a:stretch>
            <a:fillRect/>
          </a:stretch>
        </p:blipFill>
        <p:spPr>
          <a:xfrm>
            <a:off x="7930515" y="6117336"/>
            <a:ext cx="91440" cy="91440"/>
          </a:xfrm>
          <a:prstGeom prst="rect">
            <a:avLst/>
          </a:prstGeom>
        </p:spPr>
      </p:pic>
      <p:sp>
        <p:nvSpPr>
          <p:cNvPr id="355" name="Text 256"/>
          <p:cNvSpPr/>
          <p:nvPr/>
        </p:nvSpPr>
        <p:spPr>
          <a:xfrm>
            <a:off x="7712202" y="6222492"/>
            <a:ext cx="528066" cy="100584"/>
          </a:xfrm>
          <a:prstGeom prst="rect">
            <a:avLst/>
          </a:prstGeom>
          <a:noFill/>
          <a:ln/>
        </p:spPr>
        <p:txBody>
          <a:bodyPr wrap="square" lIns="0" tIns="0" rIns="0" bIns="0" rtlCol="0" anchor="ctr"/>
          <a:lstStyle/>
          <a:p>
            <a:pPr algn="ctr"/>
            <a:r>
              <a:rPr lang="en-US" sz="245" dirty="0">
                <a:solidFill>
                  <a:srgbClr val="333333"/>
                </a:solidFill>
                <a:latin typeface="Arial" pitchFamily="34" charset="0"/>
                <a:ea typeface="Arial" pitchFamily="34" charset="-122"/>
                <a:cs typeface="Arial" pitchFamily="34" charset="-120"/>
              </a:rPr>
              <a:t>Human Feedback</a:t>
            </a:r>
            <a:endParaRPr lang="en-US" sz="245" dirty="0"/>
          </a:p>
          <a:p>
            <a:pPr algn="ctr"/>
            <a:r>
              <a:rPr lang="en-US" sz="245" dirty="0">
                <a:solidFill>
                  <a:srgbClr val="333333"/>
                </a:solidFill>
                <a:latin typeface="Arial" pitchFamily="34" charset="0"/>
                <a:ea typeface="Arial" pitchFamily="34" charset="-122"/>
                <a:cs typeface="Arial" pitchFamily="34" charset="-120"/>
              </a:rPr>
              <a:t>(Thumbs, ratings)</a:t>
            </a:r>
            <a:endParaRPr lang="en-US" sz="245" dirty="0"/>
          </a:p>
        </p:txBody>
      </p:sp>
      <p:sp>
        <p:nvSpPr>
          <p:cNvPr id="356" name="Text 257"/>
          <p:cNvSpPr/>
          <p:nvPr/>
        </p:nvSpPr>
        <p:spPr>
          <a:xfrm>
            <a:off x="3947160" y="6327648"/>
            <a:ext cx="4297680" cy="64008"/>
          </a:xfrm>
          <a:prstGeom prst="rect">
            <a:avLst/>
          </a:prstGeom>
          <a:noFill/>
          <a:ln/>
        </p:spPr>
        <p:txBody>
          <a:bodyPr wrap="square" lIns="0" tIns="0" rIns="0" bIns="0" rtlCol="0" anchor="ctr"/>
          <a:lstStyle/>
          <a:p>
            <a:pPr algn="ctr"/>
            <a:r>
              <a:rPr lang="en-US" sz="300" b="1" dirty="0">
                <a:solidFill>
                  <a:srgbClr val="0B2545"/>
                </a:solidFill>
                <a:latin typeface="Arial" pitchFamily="34" charset="0"/>
                <a:ea typeface="Arial" pitchFamily="34" charset="-122"/>
                <a:cs typeface="Arial" pitchFamily="34" charset="-120"/>
              </a:rPr>
              <a:t>Metrics:  Latency  •  Token Usage  •  Cost  •  Retrieval Quality  •  Hallucination Rate  •  Success Rate  •  Agent Actions  •  Tool Usage  •  Errors</a:t>
            </a:r>
            <a:endParaRPr lang="en-US" sz="300" dirty="0"/>
          </a:p>
        </p:txBody>
      </p:sp>
      <p:sp>
        <p:nvSpPr>
          <p:cNvPr id="357" name="Shape 258"/>
          <p:cNvSpPr/>
          <p:nvPr/>
        </p:nvSpPr>
        <p:spPr>
          <a:xfrm>
            <a:off x="3883152" y="6455664"/>
            <a:ext cx="4425696" cy="374904"/>
          </a:xfrm>
          <a:prstGeom prst="roundRect">
            <a:avLst>
              <a:gd name="adj" fmla="val 6098"/>
            </a:avLst>
          </a:prstGeom>
          <a:solidFill>
            <a:srgbClr val="FFFFFF"/>
          </a:solidFill>
          <a:ln w="12700">
            <a:solidFill>
              <a:srgbClr val="C9D6E4"/>
            </a:solidFill>
            <a:prstDash val="solid"/>
          </a:ln>
        </p:spPr>
      </p:sp>
      <p:sp>
        <p:nvSpPr>
          <p:cNvPr id="358" name="Text 259"/>
          <p:cNvSpPr/>
          <p:nvPr/>
        </p:nvSpPr>
        <p:spPr>
          <a:xfrm>
            <a:off x="3947160" y="6478524"/>
            <a:ext cx="2103120" cy="91440"/>
          </a:xfrm>
          <a:prstGeom prst="rect">
            <a:avLst/>
          </a:prstGeom>
          <a:noFill/>
          <a:ln/>
        </p:spPr>
        <p:txBody>
          <a:bodyPr wrap="square" lIns="0" tIns="0" rIns="0" bIns="0" rtlCol="0" anchor="ctr"/>
          <a:lstStyle/>
          <a:p>
            <a:r>
              <a:rPr lang="en-US" sz="475" b="1" dirty="0">
                <a:solidFill>
                  <a:srgbClr val="1F6FB2"/>
                </a:solidFill>
                <a:latin typeface="Arial" pitchFamily="34" charset="0"/>
                <a:ea typeface="Arial" pitchFamily="34" charset="-122"/>
                <a:cs typeface="Arial" pitchFamily="34" charset="-120"/>
              </a:rPr>
              <a:t>9. FOUNDATION &amp; DEPLOYMENT</a:t>
            </a:r>
            <a:endParaRPr lang="en-US" sz="475" dirty="0"/>
          </a:p>
        </p:txBody>
      </p:sp>
      <p:sp>
        <p:nvSpPr>
          <p:cNvPr id="359" name="Shape 260"/>
          <p:cNvSpPr/>
          <p:nvPr/>
        </p:nvSpPr>
        <p:spPr>
          <a:xfrm>
            <a:off x="3947160" y="6574536"/>
            <a:ext cx="591095" cy="219456"/>
          </a:xfrm>
          <a:prstGeom prst="roundRect">
            <a:avLst>
              <a:gd name="adj" fmla="val 6250"/>
            </a:avLst>
          </a:prstGeom>
          <a:solidFill>
            <a:srgbClr val="EAF3FB"/>
          </a:solidFill>
          <a:ln w="12700">
            <a:solidFill>
              <a:srgbClr val="BBD6EC"/>
            </a:solidFill>
            <a:prstDash val="solid"/>
          </a:ln>
        </p:spPr>
      </p:sp>
      <p:pic>
        <p:nvPicPr>
          <p:cNvPr id="360" name="Image 97" descr="/sessions/zealous-intelligent-mayer/mnt/outputs/icons4/n1.png"/>
          <p:cNvPicPr>
            <a:picLocks noChangeAspect="1"/>
          </p:cNvPicPr>
          <p:nvPr/>
        </p:nvPicPr>
        <p:blipFill>
          <a:blip r:embed="rId49"/>
          <a:stretch>
            <a:fillRect/>
          </a:stretch>
        </p:blipFill>
        <p:spPr>
          <a:xfrm>
            <a:off x="3974592" y="6638544"/>
            <a:ext cx="91440" cy="91440"/>
          </a:xfrm>
          <a:prstGeom prst="rect">
            <a:avLst/>
          </a:prstGeom>
        </p:spPr>
      </p:pic>
      <p:sp>
        <p:nvSpPr>
          <p:cNvPr id="361" name="Text 261"/>
          <p:cNvSpPr/>
          <p:nvPr/>
        </p:nvSpPr>
        <p:spPr>
          <a:xfrm>
            <a:off x="4084320" y="6597396"/>
            <a:ext cx="440219" cy="73152"/>
          </a:xfrm>
          <a:prstGeom prst="rect">
            <a:avLst/>
          </a:prstGeom>
          <a:noFill/>
          <a:ln/>
        </p:spPr>
        <p:txBody>
          <a:bodyPr wrap="square" lIns="0" tIns="0" rIns="0" bIns="0" rtlCol="0" anchor="ctr"/>
          <a:lstStyle/>
          <a:p>
            <a:r>
              <a:rPr lang="en-US" sz="260" b="1" dirty="0">
                <a:solidFill>
                  <a:srgbClr val="7B4FA8"/>
                </a:solidFill>
                <a:latin typeface="Arial" pitchFamily="34" charset="0"/>
                <a:ea typeface="Arial" pitchFamily="34" charset="-122"/>
                <a:cs typeface="Arial" pitchFamily="34" charset="-120"/>
              </a:rPr>
              <a:t>Scalable &amp; Resilient (AKS)</a:t>
            </a:r>
            <a:endParaRPr lang="en-US" sz="260" dirty="0"/>
          </a:p>
        </p:txBody>
      </p:sp>
      <p:sp>
        <p:nvSpPr>
          <p:cNvPr id="362" name="Text 262"/>
          <p:cNvSpPr/>
          <p:nvPr/>
        </p:nvSpPr>
        <p:spPr>
          <a:xfrm>
            <a:off x="4084320" y="6675120"/>
            <a:ext cx="440219" cy="109728"/>
          </a:xfrm>
          <a:prstGeom prst="rect">
            <a:avLst/>
          </a:prstGeom>
          <a:noFill/>
          <a:ln/>
        </p:spPr>
        <p:txBody>
          <a:bodyPr wrap="square" lIns="0" tIns="0" rIns="0" bIns="0" rtlCol="0" anchor="ctr"/>
          <a:lstStyle/>
          <a:p>
            <a:r>
              <a:rPr lang="en-US" sz="235" dirty="0">
                <a:solidFill>
                  <a:srgbClr val="6B7683"/>
                </a:solidFill>
                <a:latin typeface="Arial" pitchFamily="34" charset="0"/>
                <a:ea typeface="Arial" pitchFamily="34" charset="-122"/>
                <a:cs typeface="Arial" pitchFamily="34" charset="-120"/>
              </a:rPr>
              <a:t>Built on Azure PaaS &amp; managed services</a:t>
            </a:r>
            <a:endParaRPr lang="en-US" sz="235" dirty="0"/>
          </a:p>
        </p:txBody>
      </p:sp>
      <p:sp>
        <p:nvSpPr>
          <p:cNvPr id="363" name="Shape 263"/>
          <p:cNvSpPr/>
          <p:nvPr/>
        </p:nvSpPr>
        <p:spPr>
          <a:xfrm>
            <a:off x="4561115" y="6574536"/>
            <a:ext cx="591095" cy="219456"/>
          </a:xfrm>
          <a:prstGeom prst="roundRect">
            <a:avLst>
              <a:gd name="adj" fmla="val 6250"/>
            </a:avLst>
          </a:prstGeom>
          <a:solidFill>
            <a:srgbClr val="EAF3FB"/>
          </a:solidFill>
          <a:ln w="12700">
            <a:solidFill>
              <a:srgbClr val="BBD6EC"/>
            </a:solidFill>
            <a:prstDash val="solid"/>
          </a:ln>
        </p:spPr>
      </p:sp>
      <p:pic>
        <p:nvPicPr>
          <p:cNvPr id="364" name="Image 98" descr="/sessions/zealous-intelligent-mayer/mnt/outputs/icons4/n2.png"/>
          <p:cNvPicPr>
            <a:picLocks noChangeAspect="1"/>
          </p:cNvPicPr>
          <p:nvPr/>
        </p:nvPicPr>
        <p:blipFill>
          <a:blip r:embed="rId82"/>
          <a:stretch>
            <a:fillRect/>
          </a:stretch>
        </p:blipFill>
        <p:spPr>
          <a:xfrm>
            <a:off x="4588547" y="6638544"/>
            <a:ext cx="91440" cy="91440"/>
          </a:xfrm>
          <a:prstGeom prst="rect">
            <a:avLst/>
          </a:prstGeom>
        </p:spPr>
      </p:pic>
      <p:sp>
        <p:nvSpPr>
          <p:cNvPr id="365" name="Text 264"/>
          <p:cNvSpPr/>
          <p:nvPr/>
        </p:nvSpPr>
        <p:spPr>
          <a:xfrm>
            <a:off x="4698275" y="6597396"/>
            <a:ext cx="440219" cy="73152"/>
          </a:xfrm>
          <a:prstGeom prst="rect">
            <a:avLst/>
          </a:prstGeom>
          <a:noFill/>
          <a:ln/>
        </p:spPr>
        <p:txBody>
          <a:bodyPr wrap="square" lIns="0" tIns="0" rIns="0" bIns="0" rtlCol="0" anchor="ctr"/>
          <a:lstStyle/>
          <a:p>
            <a:r>
              <a:rPr lang="en-US" sz="260" b="1" dirty="0">
                <a:solidFill>
                  <a:srgbClr val="1B5E96"/>
                </a:solidFill>
                <a:latin typeface="Arial" pitchFamily="34" charset="0"/>
                <a:ea typeface="Arial" pitchFamily="34" charset="-122"/>
                <a:cs typeface="Arial" pitchFamily="34" charset="-120"/>
              </a:rPr>
              <a:t>High Retrieval Quality</a:t>
            </a:r>
            <a:endParaRPr lang="en-US" sz="260" dirty="0"/>
          </a:p>
        </p:txBody>
      </p:sp>
      <p:sp>
        <p:nvSpPr>
          <p:cNvPr id="366" name="Text 265"/>
          <p:cNvSpPr/>
          <p:nvPr/>
        </p:nvSpPr>
        <p:spPr>
          <a:xfrm>
            <a:off x="4698275" y="6675120"/>
            <a:ext cx="440219" cy="109728"/>
          </a:xfrm>
          <a:prstGeom prst="rect">
            <a:avLst/>
          </a:prstGeom>
          <a:noFill/>
          <a:ln/>
        </p:spPr>
        <p:txBody>
          <a:bodyPr wrap="square" lIns="0" tIns="0" rIns="0" bIns="0" rtlCol="0" anchor="ctr"/>
          <a:lstStyle/>
          <a:p>
            <a:r>
              <a:rPr lang="en-US" sz="235" dirty="0">
                <a:solidFill>
                  <a:srgbClr val="6B7683"/>
                </a:solidFill>
                <a:latin typeface="Arial" pitchFamily="34" charset="0"/>
                <a:ea typeface="Arial" pitchFamily="34" charset="-122"/>
                <a:cs typeface="Arial" pitchFamily="34" charset="-120"/>
              </a:rPr>
              <a:t>Hybrid search, reranking &amp; metadata filters</a:t>
            </a:r>
            <a:endParaRPr lang="en-US" sz="235" dirty="0"/>
          </a:p>
        </p:txBody>
      </p:sp>
      <p:sp>
        <p:nvSpPr>
          <p:cNvPr id="367" name="Shape 266"/>
          <p:cNvSpPr/>
          <p:nvPr/>
        </p:nvSpPr>
        <p:spPr>
          <a:xfrm>
            <a:off x="5175069" y="6574536"/>
            <a:ext cx="591095" cy="219456"/>
          </a:xfrm>
          <a:prstGeom prst="roundRect">
            <a:avLst>
              <a:gd name="adj" fmla="val 6250"/>
            </a:avLst>
          </a:prstGeom>
          <a:solidFill>
            <a:srgbClr val="EAF3FB"/>
          </a:solidFill>
          <a:ln w="12700">
            <a:solidFill>
              <a:srgbClr val="BBD6EC"/>
            </a:solidFill>
            <a:prstDash val="solid"/>
          </a:ln>
        </p:spPr>
      </p:sp>
      <p:pic>
        <p:nvPicPr>
          <p:cNvPr id="368" name="Image 99" descr="/sessions/zealous-intelligent-mayer/mnt/outputs/icons4/n3.png"/>
          <p:cNvPicPr>
            <a:picLocks noChangeAspect="1"/>
          </p:cNvPicPr>
          <p:nvPr/>
        </p:nvPicPr>
        <p:blipFill>
          <a:blip r:embed="rId83"/>
          <a:stretch>
            <a:fillRect/>
          </a:stretch>
        </p:blipFill>
        <p:spPr>
          <a:xfrm>
            <a:off x="5202501" y="6638544"/>
            <a:ext cx="91440" cy="91440"/>
          </a:xfrm>
          <a:prstGeom prst="rect">
            <a:avLst/>
          </a:prstGeom>
        </p:spPr>
      </p:pic>
      <p:sp>
        <p:nvSpPr>
          <p:cNvPr id="369" name="Text 267"/>
          <p:cNvSpPr/>
          <p:nvPr/>
        </p:nvSpPr>
        <p:spPr>
          <a:xfrm>
            <a:off x="5312229" y="6597396"/>
            <a:ext cx="440219" cy="73152"/>
          </a:xfrm>
          <a:prstGeom prst="rect">
            <a:avLst/>
          </a:prstGeom>
          <a:noFill/>
          <a:ln/>
        </p:spPr>
        <p:txBody>
          <a:bodyPr wrap="square" lIns="0" tIns="0" rIns="0" bIns="0" rtlCol="0" anchor="ctr"/>
          <a:lstStyle/>
          <a:p>
            <a:r>
              <a:rPr lang="en-US" sz="260" b="1" dirty="0">
                <a:solidFill>
                  <a:srgbClr val="2E8B57"/>
                </a:solidFill>
                <a:latin typeface="Arial" pitchFamily="34" charset="0"/>
                <a:ea typeface="Arial" pitchFamily="34" charset="-122"/>
                <a:cs typeface="Arial" pitchFamily="34" charset="-120"/>
              </a:rPr>
              <a:t>Agentic &amp; Iterative</a:t>
            </a:r>
            <a:endParaRPr lang="en-US" sz="260" dirty="0"/>
          </a:p>
        </p:txBody>
      </p:sp>
      <p:sp>
        <p:nvSpPr>
          <p:cNvPr id="370" name="Text 268"/>
          <p:cNvSpPr/>
          <p:nvPr/>
        </p:nvSpPr>
        <p:spPr>
          <a:xfrm>
            <a:off x="5312229" y="6675120"/>
            <a:ext cx="440219" cy="109728"/>
          </a:xfrm>
          <a:prstGeom prst="rect">
            <a:avLst/>
          </a:prstGeom>
          <a:noFill/>
          <a:ln/>
        </p:spPr>
        <p:txBody>
          <a:bodyPr wrap="square" lIns="0" tIns="0" rIns="0" bIns="0" rtlCol="0" anchor="ctr"/>
          <a:lstStyle/>
          <a:p>
            <a:r>
              <a:rPr lang="en-US" sz="235" dirty="0">
                <a:solidFill>
                  <a:srgbClr val="6B7683"/>
                </a:solidFill>
                <a:latin typeface="Arial" pitchFamily="34" charset="0"/>
                <a:ea typeface="Arial" pitchFamily="34" charset="-122"/>
                <a:cs typeface="Arial" pitchFamily="34" charset="-120"/>
              </a:rPr>
              <a:t>REACT loop for goal achievement</a:t>
            </a:r>
            <a:endParaRPr lang="en-US" sz="235" dirty="0"/>
          </a:p>
        </p:txBody>
      </p:sp>
      <p:sp>
        <p:nvSpPr>
          <p:cNvPr id="371" name="Shape 269"/>
          <p:cNvSpPr/>
          <p:nvPr/>
        </p:nvSpPr>
        <p:spPr>
          <a:xfrm>
            <a:off x="5789023" y="6574536"/>
            <a:ext cx="591095" cy="219456"/>
          </a:xfrm>
          <a:prstGeom prst="roundRect">
            <a:avLst>
              <a:gd name="adj" fmla="val 6250"/>
            </a:avLst>
          </a:prstGeom>
          <a:solidFill>
            <a:srgbClr val="EAF3FB"/>
          </a:solidFill>
          <a:ln w="12700">
            <a:solidFill>
              <a:srgbClr val="BBD6EC"/>
            </a:solidFill>
            <a:prstDash val="solid"/>
          </a:ln>
        </p:spPr>
      </p:sp>
      <p:pic>
        <p:nvPicPr>
          <p:cNvPr id="372" name="Image 100" descr="/sessions/zealous-intelligent-mayer/mnt/outputs/icons4/n4.png"/>
          <p:cNvPicPr>
            <a:picLocks noChangeAspect="1"/>
          </p:cNvPicPr>
          <p:nvPr/>
        </p:nvPicPr>
        <p:blipFill>
          <a:blip r:embed="rId84"/>
          <a:stretch>
            <a:fillRect/>
          </a:stretch>
        </p:blipFill>
        <p:spPr>
          <a:xfrm>
            <a:off x="5816455" y="6638544"/>
            <a:ext cx="91440" cy="91440"/>
          </a:xfrm>
          <a:prstGeom prst="rect">
            <a:avLst/>
          </a:prstGeom>
        </p:spPr>
      </p:pic>
      <p:sp>
        <p:nvSpPr>
          <p:cNvPr id="373" name="Text 270"/>
          <p:cNvSpPr/>
          <p:nvPr/>
        </p:nvSpPr>
        <p:spPr>
          <a:xfrm>
            <a:off x="5926183" y="6597396"/>
            <a:ext cx="440219" cy="73152"/>
          </a:xfrm>
          <a:prstGeom prst="rect">
            <a:avLst/>
          </a:prstGeom>
          <a:noFill/>
          <a:ln/>
        </p:spPr>
        <p:txBody>
          <a:bodyPr wrap="square" lIns="0" tIns="0" rIns="0" bIns="0" rtlCol="0" anchor="ctr"/>
          <a:lstStyle/>
          <a:p>
            <a:r>
              <a:rPr lang="en-US" sz="260" b="1" dirty="0">
                <a:solidFill>
                  <a:srgbClr val="C0392B"/>
                </a:solidFill>
                <a:latin typeface="Arial" pitchFamily="34" charset="0"/>
                <a:ea typeface="Arial" pitchFamily="34" charset="-122"/>
                <a:cs typeface="Arial" pitchFamily="34" charset="-120"/>
              </a:rPr>
              <a:t>Enterprise Ready</a:t>
            </a:r>
            <a:endParaRPr lang="en-US" sz="260" dirty="0"/>
          </a:p>
        </p:txBody>
      </p:sp>
      <p:sp>
        <p:nvSpPr>
          <p:cNvPr id="374" name="Text 271"/>
          <p:cNvSpPr/>
          <p:nvPr/>
        </p:nvSpPr>
        <p:spPr>
          <a:xfrm>
            <a:off x="5926183" y="6675120"/>
            <a:ext cx="440219" cy="109728"/>
          </a:xfrm>
          <a:prstGeom prst="rect">
            <a:avLst/>
          </a:prstGeom>
          <a:noFill/>
          <a:ln/>
        </p:spPr>
        <p:txBody>
          <a:bodyPr wrap="square" lIns="0" tIns="0" rIns="0" bIns="0" rtlCol="0" anchor="ctr"/>
          <a:lstStyle/>
          <a:p>
            <a:r>
              <a:rPr lang="en-US" sz="235" dirty="0">
                <a:solidFill>
                  <a:srgbClr val="6B7683"/>
                </a:solidFill>
                <a:latin typeface="Arial" pitchFamily="34" charset="0"/>
                <a:ea typeface="Arial" pitchFamily="34" charset="-122"/>
                <a:cs typeface="Arial" pitchFamily="34" charset="-120"/>
              </a:rPr>
              <a:t>Security, governance &amp; compliance built-in</a:t>
            </a:r>
            <a:endParaRPr lang="en-US" sz="235" dirty="0"/>
          </a:p>
        </p:txBody>
      </p:sp>
      <p:sp>
        <p:nvSpPr>
          <p:cNvPr id="375" name="Shape 272"/>
          <p:cNvSpPr/>
          <p:nvPr/>
        </p:nvSpPr>
        <p:spPr>
          <a:xfrm>
            <a:off x="6402977" y="6574536"/>
            <a:ext cx="591095" cy="219456"/>
          </a:xfrm>
          <a:prstGeom prst="roundRect">
            <a:avLst>
              <a:gd name="adj" fmla="val 6250"/>
            </a:avLst>
          </a:prstGeom>
          <a:solidFill>
            <a:srgbClr val="EAF3FB"/>
          </a:solidFill>
          <a:ln w="12700">
            <a:solidFill>
              <a:srgbClr val="BBD6EC"/>
            </a:solidFill>
            <a:prstDash val="solid"/>
          </a:ln>
        </p:spPr>
      </p:sp>
      <p:pic>
        <p:nvPicPr>
          <p:cNvPr id="376" name="Image 101" descr="/sessions/zealous-intelligent-mayer/mnt/outputs/icons4/n5.png"/>
          <p:cNvPicPr>
            <a:picLocks noChangeAspect="1"/>
          </p:cNvPicPr>
          <p:nvPr/>
        </p:nvPicPr>
        <p:blipFill>
          <a:blip r:embed="rId48"/>
          <a:stretch>
            <a:fillRect/>
          </a:stretch>
        </p:blipFill>
        <p:spPr>
          <a:xfrm>
            <a:off x="6430409" y="6638544"/>
            <a:ext cx="91440" cy="91440"/>
          </a:xfrm>
          <a:prstGeom prst="rect">
            <a:avLst/>
          </a:prstGeom>
        </p:spPr>
      </p:pic>
      <p:sp>
        <p:nvSpPr>
          <p:cNvPr id="377" name="Text 273"/>
          <p:cNvSpPr/>
          <p:nvPr/>
        </p:nvSpPr>
        <p:spPr>
          <a:xfrm>
            <a:off x="6540137" y="6597396"/>
            <a:ext cx="440219" cy="73152"/>
          </a:xfrm>
          <a:prstGeom prst="rect">
            <a:avLst/>
          </a:prstGeom>
          <a:noFill/>
          <a:ln/>
        </p:spPr>
        <p:txBody>
          <a:bodyPr wrap="square" lIns="0" tIns="0" rIns="0" bIns="0" rtlCol="0" anchor="ctr"/>
          <a:lstStyle/>
          <a:p>
            <a:r>
              <a:rPr lang="en-US" sz="260" b="1" dirty="0">
                <a:solidFill>
                  <a:srgbClr val="0E9AA7"/>
                </a:solidFill>
                <a:latin typeface="Arial" pitchFamily="34" charset="0"/>
                <a:ea typeface="Arial" pitchFamily="34" charset="-122"/>
                <a:cs typeface="Arial" pitchFamily="34" charset="-120"/>
              </a:rPr>
              <a:t>Observable &amp; Measurable</a:t>
            </a:r>
            <a:endParaRPr lang="en-US" sz="260" dirty="0"/>
          </a:p>
        </p:txBody>
      </p:sp>
      <p:sp>
        <p:nvSpPr>
          <p:cNvPr id="378" name="Text 274"/>
          <p:cNvSpPr/>
          <p:nvPr/>
        </p:nvSpPr>
        <p:spPr>
          <a:xfrm>
            <a:off x="6540137" y="6675120"/>
            <a:ext cx="440219" cy="109728"/>
          </a:xfrm>
          <a:prstGeom prst="rect">
            <a:avLst/>
          </a:prstGeom>
          <a:noFill/>
          <a:ln/>
        </p:spPr>
        <p:txBody>
          <a:bodyPr wrap="square" lIns="0" tIns="0" rIns="0" bIns="0" rtlCol="0" anchor="ctr"/>
          <a:lstStyle/>
          <a:p>
            <a:r>
              <a:rPr lang="en-US" sz="235" dirty="0">
                <a:solidFill>
                  <a:srgbClr val="6B7683"/>
                </a:solidFill>
                <a:latin typeface="Arial" pitchFamily="34" charset="0"/>
                <a:ea typeface="Arial" pitchFamily="34" charset="-122"/>
                <a:cs typeface="Arial" pitchFamily="34" charset="-120"/>
              </a:rPr>
              <a:t>End-to-end visibility</a:t>
            </a:r>
            <a:endParaRPr lang="en-US" sz="235" dirty="0"/>
          </a:p>
        </p:txBody>
      </p:sp>
      <p:sp>
        <p:nvSpPr>
          <p:cNvPr id="379" name="Shape 275"/>
          <p:cNvSpPr/>
          <p:nvPr/>
        </p:nvSpPr>
        <p:spPr>
          <a:xfrm>
            <a:off x="7016932" y="6574536"/>
            <a:ext cx="591095" cy="219456"/>
          </a:xfrm>
          <a:prstGeom prst="roundRect">
            <a:avLst>
              <a:gd name="adj" fmla="val 6250"/>
            </a:avLst>
          </a:prstGeom>
          <a:solidFill>
            <a:srgbClr val="EAF3FB"/>
          </a:solidFill>
          <a:ln w="12700">
            <a:solidFill>
              <a:srgbClr val="BBD6EC"/>
            </a:solidFill>
            <a:prstDash val="solid"/>
          </a:ln>
        </p:spPr>
      </p:sp>
      <p:pic>
        <p:nvPicPr>
          <p:cNvPr id="380" name="Image 102" descr="/sessions/zealous-intelligent-mayer/mnt/outputs/icons4/n6.png"/>
          <p:cNvPicPr>
            <a:picLocks noChangeAspect="1"/>
          </p:cNvPicPr>
          <p:nvPr/>
        </p:nvPicPr>
        <p:blipFill>
          <a:blip r:embed="rId85"/>
          <a:stretch>
            <a:fillRect/>
          </a:stretch>
        </p:blipFill>
        <p:spPr>
          <a:xfrm>
            <a:off x="7044364" y="6638544"/>
            <a:ext cx="91440" cy="91440"/>
          </a:xfrm>
          <a:prstGeom prst="rect">
            <a:avLst/>
          </a:prstGeom>
        </p:spPr>
      </p:pic>
      <p:sp>
        <p:nvSpPr>
          <p:cNvPr id="381" name="Text 276"/>
          <p:cNvSpPr/>
          <p:nvPr/>
        </p:nvSpPr>
        <p:spPr>
          <a:xfrm>
            <a:off x="7154092" y="6597396"/>
            <a:ext cx="440219" cy="73152"/>
          </a:xfrm>
          <a:prstGeom prst="rect">
            <a:avLst/>
          </a:prstGeom>
          <a:noFill/>
          <a:ln/>
        </p:spPr>
        <p:txBody>
          <a:bodyPr wrap="square" lIns="0" tIns="0" rIns="0" bIns="0" rtlCol="0" anchor="ctr"/>
          <a:lstStyle/>
          <a:p>
            <a:r>
              <a:rPr lang="en-US" sz="260" b="1" dirty="0">
                <a:solidFill>
                  <a:srgbClr val="D98A2B"/>
                </a:solidFill>
                <a:latin typeface="Arial" pitchFamily="34" charset="0"/>
                <a:ea typeface="Arial" pitchFamily="34" charset="-122"/>
                <a:cs typeface="Arial" pitchFamily="34" charset="-120"/>
              </a:rPr>
              <a:t>Cost Optimized</a:t>
            </a:r>
            <a:endParaRPr lang="en-US" sz="260" dirty="0"/>
          </a:p>
        </p:txBody>
      </p:sp>
      <p:sp>
        <p:nvSpPr>
          <p:cNvPr id="382" name="Text 277"/>
          <p:cNvSpPr/>
          <p:nvPr/>
        </p:nvSpPr>
        <p:spPr>
          <a:xfrm>
            <a:off x="7154092" y="6675120"/>
            <a:ext cx="440219" cy="109728"/>
          </a:xfrm>
          <a:prstGeom prst="rect">
            <a:avLst/>
          </a:prstGeom>
          <a:noFill/>
          <a:ln/>
        </p:spPr>
        <p:txBody>
          <a:bodyPr wrap="square" lIns="0" tIns="0" rIns="0" bIns="0" rtlCol="0" anchor="ctr"/>
          <a:lstStyle/>
          <a:p>
            <a:r>
              <a:rPr lang="en-US" sz="235" dirty="0">
                <a:solidFill>
                  <a:srgbClr val="6B7683"/>
                </a:solidFill>
                <a:latin typeface="Arial" pitchFamily="34" charset="0"/>
                <a:ea typeface="Arial" pitchFamily="34" charset="-122"/>
                <a:cs typeface="Arial" pitchFamily="34" charset="-120"/>
              </a:rPr>
              <a:t>Dynamic model routing &amp; caching</a:t>
            </a:r>
            <a:endParaRPr lang="en-US" sz="235" dirty="0"/>
          </a:p>
        </p:txBody>
      </p:sp>
      <p:sp>
        <p:nvSpPr>
          <p:cNvPr id="383" name="Shape 278"/>
          <p:cNvSpPr/>
          <p:nvPr/>
        </p:nvSpPr>
        <p:spPr>
          <a:xfrm>
            <a:off x="7630886" y="6574536"/>
            <a:ext cx="591095" cy="219456"/>
          </a:xfrm>
          <a:prstGeom prst="roundRect">
            <a:avLst>
              <a:gd name="adj" fmla="val 6250"/>
            </a:avLst>
          </a:prstGeom>
          <a:solidFill>
            <a:srgbClr val="EAF3FB"/>
          </a:solidFill>
          <a:ln w="12700">
            <a:solidFill>
              <a:srgbClr val="BBD6EC"/>
            </a:solidFill>
            <a:prstDash val="solid"/>
          </a:ln>
        </p:spPr>
      </p:sp>
      <p:pic>
        <p:nvPicPr>
          <p:cNvPr id="384" name="Image 103" descr="/sessions/zealous-intelligent-mayer/mnt/outputs/icons4/n7.png"/>
          <p:cNvPicPr>
            <a:picLocks noChangeAspect="1"/>
          </p:cNvPicPr>
          <p:nvPr/>
        </p:nvPicPr>
        <p:blipFill>
          <a:blip r:embed="rId86"/>
          <a:stretch>
            <a:fillRect/>
          </a:stretch>
        </p:blipFill>
        <p:spPr>
          <a:xfrm>
            <a:off x="7658318" y="6638544"/>
            <a:ext cx="91440" cy="91440"/>
          </a:xfrm>
          <a:prstGeom prst="rect">
            <a:avLst/>
          </a:prstGeom>
        </p:spPr>
      </p:pic>
      <p:sp>
        <p:nvSpPr>
          <p:cNvPr id="385" name="Text 279"/>
          <p:cNvSpPr/>
          <p:nvPr/>
        </p:nvSpPr>
        <p:spPr>
          <a:xfrm>
            <a:off x="7768046" y="6597396"/>
            <a:ext cx="440219" cy="73152"/>
          </a:xfrm>
          <a:prstGeom prst="rect">
            <a:avLst/>
          </a:prstGeom>
          <a:noFill/>
          <a:ln/>
        </p:spPr>
        <p:txBody>
          <a:bodyPr wrap="square" lIns="0" tIns="0" rIns="0" bIns="0" rtlCol="0" anchor="ctr"/>
          <a:lstStyle/>
          <a:p>
            <a:r>
              <a:rPr lang="en-US" sz="260" b="1" dirty="0">
                <a:solidFill>
                  <a:srgbClr val="7B4FA8"/>
                </a:solidFill>
                <a:latin typeface="Arial" pitchFamily="34" charset="0"/>
                <a:ea typeface="Arial" pitchFamily="34" charset="-122"/>
                <a:cs typeface="Arial" pitchFamily="34" charset="-120"/>
              </a:rPr>
              <a:t>Extensible</a:t>
            </a:r>
            <a:endParaRPr lang="en-US" sz="260" dirty="0"/>
          </a:p>
        </p:txBody>
      </p:sp>
      <p:sp>
        <p:nvSpPr>
          <p:cNvPr id="386" name="Text 280"/>
          <p:cNvSpPr/>
          <p:nvPr/>
        </p:nvSpPr>
        <p:spPr>
          <a:xfrm>
            <a:off x="7768046" y="6675120"/>
            <a:ext cx="440219" cy="109728"/>
          </a:xfrm>
          <a:prstGeom prst="rect">
            <a:avLst/>
          </a:prstGeom>
          <a:noFill/>
          <a:ln/>
        </p:spPr>
        <p:txBody>
          <a:bodyPr wrap="square" lIns="0" tIns="0" rIns="0" bIns="0" rtlCol="0" anchor="ctr"/>
          <a:lstStyle/>
          <a:p>
            <a:r>
              <a:rPr lang="en-US" sz="235" dirty="0">
                <a:solidFill>
                  <a:srgbClr val="6B7683"/>
                </a:solidFill>
                <a:latin typeface="Arial" pitchFamily="34" charset="0"/>
                <a:ea typeface="Arial" pitchFamily="34" charset="-122"/>
                <a:cs typeface="Arial" pitchFamily="34" charset="-120"/>
              </a:rPr>
              <a:t>Easy to add plants, tools &amp; models</a:t>
            </a:r>
            <a:endParaRPr lang="en-US" sz="235" dirty="0"/>
          </a:p>
        </p:txBody>
      </p:sp>
      <p:sp>
        <p:nvSpPr>
          <p:cNvPr id="387" name="Shape 281"/>
          <p:cNvSpPr/>
          <p:nvPr/>
        </p:nvSpPr>
        <p:spPr>
          <a:xfrm>
            <a:off x="4660392" y="1664208"/>
            <a:ext cx="36576" cy="0"/>
          </a:xfrm>
          <a:prstGeom prst="line">
            <a:avLst/>
          </a:prstGeom>
          <a:noFill/>
          <a:ln w="12700">
            <a:solidFill>
              <a:srgbClr val="2F2F2F"/>
            </a:solidFill>
            <a:prstDash val="solid"/>
            <a:tailEnd type="triangle"/>
          </a:ln>
        </p:spPr>
      </p:sp>
      <p:sp>
        <p:nvSpPr>
          <p:cNvPr id="388" name="Shape 282"/>
          <p:cNvSpPr/>
          <p:nvPr/>
        </p:nvSpPr>
        <p:spPr>
          <a:xfrm>
            <a:off x="7440168" y="1024128"/>
            <a:ext cx="0" cy="100584"/>
          </a:xfrm>
          <a:prstGeom prst="line">
            <a:avLst/>
          </a:prstGeom>
          <a:noFill/>
          <a:ln w="12700">
            <a:solidFill>
              <a:srgbClr val="1F6FB2"/>
            </a:solidFill>
            <a:prstDash val="dash"/>
            <a:tailEnd type="triangle"/>
          </a:ln>
        </p:spPr>
      </p:sp>
      <p:sp>
        <p:nvSpPr>
          <p:cNvPr id="389" name="Shape 283"/>
          <p:cNvSpPr/>
          <p:nvPr/>
        </p:nvSpPr>
        <p:spPr>
          <a:xfrm>
            <a:off x="7879080" y="2487168"/>
            <a:ext cx="0" cy="192024"/>
          </a:xfrm>
          <a:prstGeom prst="line">
            <a:avLst/>
          </a:prstGeom>
          <a:noFill/>
          <a:ln w="12700">
            <a:solidFill>
              <a:srgbClr val="1F6FB2"/>
            </a:solidFill>
            <a:prstDash val="dash"/>
            <a:headEnd type="triangle"/>
            <a:tailEnd type="triangle"/>
          </a:ln>
        </p:spPr>
      </p:sp>
      <p:sp>
        <p:nvSpPr>
          <p:cNvPr id="390" name="Shape 284"/>
          <p:cNvSpPr/>
          <p:nvPr/>
        </p:nvSpPr>
        <p:spPr>
          <a:xfrm>
            <a:off x="4312920" y="2578608"/>
            <a:ext cx="676656" cy="0"/>
          </a:xfrm>
          <a:prstGeom prst="line">
            <a:avLst/>
          </a:prstGeom>
          <a:noFill/>
          <a:ln w="12700">
            <a:solidFill>
              <a:srgbClr val="7B4FA8"/>
            </a:solidFill>
            <a:prstDash val="dash"/>
          </a:ln>
        </p:spPr>
      </p:sp>
      <p:sp>
        <p:nvSpPr>
          <p:cNvPr id="391" name="Shape 285"/>
          <p:cNvSpPr/>
          <p:nvPr/>
        </p:nvSpPr>
        <p:spPr>
          <a:xfrm>
            <a:off x="6653784" y="2578608"/>
            <a:ext cx="905256" cy="0"/>
          </a:xfrm>
          <a:prstGeom prst="line">
            <a:avLst/>
          </a:prstGeom>
          <a:noFill/>
          <a:ln w="12700">
            <a:solidFill>
              <a:srgbClr val="7B4FA8"/>
            </a:solidFill>
            <a:prstDash val="dash"/>
          </a:ln>
        </p:spPr>
      </p:sp>
      <p:sp>
        <p:nvSpPr>
          <p:cNvPr id="392" name="Shape 286"/>
          <p:cNvSpPr/>
          <p:nvPr/>
        </p:nvSpPr>
        <p:spPr>
          <a:xfrm>
            <a:off x="4312920" y="2578608"/>
            <a:ext cx="0" cy="100584"/>
          </a:xfrm>
          <a:prstGeom prst="line">
            <a:avLst/>
          </a:prstGeom>
          <a:noFill/>
          <a:ln w="12700">
            <a:solidFill>
              <a:srgbClr val="7B4FA8"/>
            </a:solidFill>
            <a:prstDash val="dash"/>
            <a:tailEnd type="triangle"/>
          </a:ln>
        </p:spPr>
      </p:sp>
      <p:sp>
        <p:nvSpPr>
          <p:cNvPr id="393" name="Shape 287"/>
          <p:cNvSpPr/>
          <p:nvPr/>
        </p:nvSpPr>
        <p:spPr>
          <a:xfrm>
            <a:off x="7559040" y="2578608"/>
            <a:ext cx="0" cy="100584"/>
          </a:xfrm>
          <a:prstGeom prst="line">
            <a:avLst/>
          </a:prstGeom>
          <a:noFill/>
          <a:ln w="12700">
            <a:solidFill>
              <a:srgbClr val="7B4FA8"/>
            </a:solidFill>
            <a:prstDash val="dash"/>
            <a:tailEnd type="triangle"/>
          </a:ln>
        </p:spPr>
      </p:sp>
      <p:sp>
        <p:nvSpPr>
          <p:cNvPr id="394" name="Shape 288"/>
          <p:cNvSpPr/>
          <p:nvPr/>
        </p:nvSpPr>
        <p:spPr>
          <a:xfrm>
            <a:off x="5318760" y="3474720"/>
            <a:ext cx="118872" cy="0"/>
          </a:xfrm>
          <a:prstGeom prst="line">
            <a:avLst/>
          </a:prstGeom>
          <a:noFill/>
          <a:ln w="12700">
            <a:solidFill>
              <a:srgbClr val="2F2F2F"/>
            </a:solidFill>
            <a:prstDash val="solid"/>
            <a:headEnd type="triangle"/>
            <a:tailEnd type="triangle"/>
          </a:ln>
        </p:spPr>
      </p:sp>
      <p:sp>
        <p:nvSpPr>
          <p:cNvPr id="395" name="Shape 289"/>
          <p:cNvSpPr/>
          <p:nvPr/>
        </p:nvSpPr>
        <p:spPr>
          <a:xfrm>
            <a:off x="6836664" y="3474720"/>
            <a:ext cx="109728" cy="0"/>
          </a:xfrm>
          <a:prstGeom prst="line">
            <a:avLst/>
          </a:prstGeom>
          <a:noFill/>
          <a:ln w="12700">
            <a:solidFill>
              <a:srgbClr val="2F2F2F"/>
            </a:solidFill>
            <a:prstDash val="solid"/>
            <a:headEnd type="triangle"/>
            <a:tailEnd type="triangle"/>
          </a:ln>
        </p:spPr>
      </p:sp>
      <p:sp>
        <p:nvSpPr>
          <p:cNvPr id="396" name="Shape 290"/>
          <p:cNvSpPr/>
          <p:nvPr/>
        </p:nvSpPr>
        <p:spPr>
          <a:xfrm>
            <a:off x="7979664" y="4297680"/>
            <a:ext cx="0" cy="146304"/>
          </a:xfrm>
          <a:prstGeom prst="line">
            <a:avLst/>
          </a:prstGeom>
          <a:noFill/>
          <a:ln w="12700">
            <a:solidFill>
              <a:srgbClr val="1F6FB2"/>
            </a:solidFill>
            <a:prstDash val="solid"/>
            <a:headEnd type="triangle"/>
            <a:tailEnd type="triangle"/>
          </a:ln>
        </p:spPr>
      </p:sp>
      <p:sp>
        <p:nvSpPr>
          <p:cNvPr id="397" name="Shape 291"/>
          <p:cNvSpPr/>
          <p:nvPr/>
        </p:nvSpPr>
        <p:spPr>
          <a:xfrm>
            <a:off x="7979664" y="5349240"/>
            <a:ext cx="0" cy="146304"/>
          </a:xfrm>
          <a:prstGeom prst="line">
            <a:avLst/>
          </a:prstGeom>
          <a:noFill/>
          <a:ln w="12700">
            <a:solidFill>
              <a:srgbClr val="1F6FB2"/>
            </a:solidFill>
            <a:prstDash val="solid"/>
            <a:headEnd type="triangle"/>
            <a:tailEnd type="triangle"/>
          </a:ln>
        </p:spPr>
      </p:sp>
      <p:sp>
        <p:nvSpPr>
          <p:cNvPr id="398" name="Shape 292"/>
          <p:cNvSpPr/>
          <p:nvPr/>
        </p:nvSpPr>
        <p:spPr>
          <a:xfrm>
            <a:off x="7979664" y="5907024"/>
            <a:ext cx="0" cy="146304"/>
          </a:xfrm>
          <a:prstGeom prst="line">
            <a:avLst/>
          </a:prstGeom>
          <a:noFill/>
          <a:ln w="12700">
            <a:solidFill>
              <a:srgbClr val="1F6FB2"/>
            </a:solidFill>
            <a:prstDash val="solid"/>
            <a:headEnd type="triangle"/>
            <a:tailEnd type="triangle"/>
          </a:ln>
        </p:spPr>
      </p:sp>
      <p:sp>
        <p:nvSpPr>
          <p:cNvPr id="399" name="Shape 293"/>
          <p:cNvSpPr/>
          <p:nvPr/>
        </p:nvSpPr>
        <p:spPr>
          <a:xfrm>
            <a:off x="7979664" y="6373368"/>
            <a:ext cx="0" cy="146304"/>
          </a:xfrm>
          <a:prstGeom prst="line">
            <a:avLst/>
          </a:prstGeom>
          <a:noFill/>
          <a:ln w="12700">
            <a:solidFill>
              <a:srgbClr val="1F6FB2"/>
            </a:solidFill>
            <a:prstDash val="solid"/>
            <a:headEnd type="triangle"/>
            <a:tailEnd type="triangle"/>
          </a:ln>
        </p:spPr>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24250" y="82296"/>
            <a:ext cx="5143500" cy="216027"/>
          </a:xfrm>
          <a:prstGeom prst="rect">
            <a:avLst/>
          </a:prstGeom>
          <a:noFill/>
          <a:ln/>
        </p:spPr>
        <p:txBody>
          <a:bodyPr wrap="square" lIns="0" tIns="0" rIns="0" bIns="0" rtlCol="0" anchor="ctr"/>
          <a:lstStyle/>
          <a:p>
            <a:pPr algn="ctr"/>
            <a:r>
              <a:rPr lang="en-US" sz="1406" b="1" dirty="0">
                <a:solidFill>
                  <a:srgbClr val="C77DFF"/>
                </a:solidFill>
                <a:latin typeface="Courier New" pitchFamily="34" charset="0"/>
                <a:ea typeface="Courier New" pitchFamily="34" charset="-122"/>
                <a:cs typeface="Courier New" pitchFamily="34" charset="-120"/>
              </a:rPr>
              <a:t>Understanding Agent Skills</a:t>
            </a:r>
            <a:endParaRPr lang="en-US" sz="1406" dirty="0"/>
          </a:p>
        </p:txBody>
      </p:sp>
      <p:sp>
        <p:nvSpPr>
          <p:cNvPr id="3" name="Text 1"/>
          <p:cNvSpPr/>
          <p:nvPr/>
        </p:nvSpPr>
        <p:spPr>
          <a:xfrm>
            <a:off x="3524250" y="298323"/>
            <a:ext cx="5143500" cy="102870"/>
          </a:xfrm>
          <a:prstGeom prst="rect">
            <a:avLst/>
          </a:prstGeom>
          <a:noFill/>
          <a:ln/>
        </p:spPr>
        <p:txBody>
          <a:bodyPr wrap="square" lIns="0" tIns="0" rIns="0" bIns="0" rtlCol="0" anchor="ctr"/>
          <a:lstStyle/>
          <a:p>
            <a:pPr algn="ctr"/>
            <a:r>
              <a:rPr lang="en-US" sz="506" b="1" dirty="0">
                <a:solidFill>
                  <a:srgbClr val="E8EAF6"/>
                </a:solidFill>
                <a:latin typeface="Courier New" pitchFamily="34" charset="0"/>
                <a:ea typeface="Courier New" pitchFamily="34" charset="-122"/>
                <a:cs typeface="Courier New" pitchFamily="34" charset="-120"/>
              </a:rPr>
              <a:t>Skills · MCP · Subagents · Hooks · Tools — The Complete Agentic Architecture</a:t>
            </a:r>
            <a:endParaRPr lang="en-US" sz="506" dirty="0"/>
          </a:p>
        </p:txBody>
      </p:sp>
      <p:sp>
        <p:nvSpPr>
          <p:cNvPr id="4" name="Text 2"/>
          <p:cNvSpPr/>
          <p:nvPr/>
        </p:nvSpPr>
        <p:spPr>
          <a:xfrm>
            <a:off x="3524250" y="411480"/>
            <a:ext cx="5143500" cy="92583"/>
          </a:xfrm>
          <a:prstGeom prst="rect">
            <a:avLst/>
          </a:prstGeom>
          <a:noFill/>
          <a:ln/>
        </p:spPr>
        <p:txBody>
          <a:bodyPr wrap="square" lIns="0" tIns="0" rIns="0" bIns="0" rtlCol="0" anchor="ctr"/>
          <a:lstStyle/>
          <a:p>
            <a:pPr algn="ctr"/>
            <a:r>
              <a:rPr lang="en-US" sz="422" b="1" dirty="0">
                <a:solidFill>
                  <a:srgbClr val="22D3EE"/>
                </a:solidFill>
                <a:latin typeface="Courier New" pitchFamily="34" charset="0"/>
                <a:ea typeface="Courier New" pitchFamily="34" charset="-122"/>
                <a:cs typeface="Courier New" pitchFamily="34" charset="-120"/>
              </a:rPr>
              <a:t>Ball Corporation — Beverage Packaging Manufacturing &amp; Supply Chain</a:t>
            </a:r>
            <a:endParaRPr lang="en-US" sz="422" dirty="0"/>
          </a:p>
        </p:txBody>
      </p:sp>
      <p:sp>
        <p:nvSpPr>
          <p:cNvPr id="5" name="Shape 3"/>
          <p:cNvSpPr/>
          <p:nvPr/>
        </p:nvSpPr>
        <p:spPr>
          <a:xfrm>
            <a:off x="3596259" y="545211"/>
            <a:ext cx="1368171" cy="2489454"/>
          </a:xfrm>
          <a:prstGeom prst="roundRect">
            <a:avLst>
              <a:gd name="adj" fmla="val 2256"/>
            </a:avLst>
          </a:prstGeom>
          <a:solidFill>
            <a:srgbClr val="0D0D18"/>
          </a:solidFill>
          <a:ln w="12700">
            <a:solidFill>
              <a:srgbClr val="22D3EE"/>
            </a:solidFill>
            <a:prstDash val="solid"/>
          </a:ln>
        </p:spPr>
      </p:sp>
      <p:sp>
        <p:nvSpPr>
          <p:cNvPr id="6" name="Shape 4"/>
          <p:cNvSpPr/>
          <p:nvPr/>
        </p:nvSpPr>
        <p:spPr>
          <a:xfrm>
            <a:off x="3647694" y="586359"/>
            <a:ext cx="1183005" cy="138875"/>
          </a:xfrm>
          <a:prstGeom prst="roundRect">
            <a:avLst>
              <a:gd name="adj" fmla="val 14815"/>
            </a:avLst>
          </a:prstGeom>
          <a:solidFill>
            <a:srgbClr val="12121F"/>
          </a:solidFill>
          <a:ln w="12700">
            <a:solidFill>
              <a:srgbClr val="22D3EE"/>
            </a:solidFill>
            <a:prstDash val="solid"/>
          </a:ln>
        </p:spPr>
      </p:sp>
      <p:sp>
        <p:nvSpPr>
          <p:cNvPr id="7" name="Shape 5"/>
          <p:cNvSpPr/>
          <p:nvPr/>
        </p:nvSpPr>
        <p:spPr>
          <a:xfrm>
            <a:off x="3693985" y="632650"/>
            <a:ext cx="46292" cy="46292"/>
          </a:xfrm>
          <a:prstGeom prst="roundRect">
            <a:avLst>
              <a:gd name="adj" fmla="val 22222"/>
            </a:avLst>
          </a:prstGeom>
          <a:solidFill>
            <a:srgbClr val="C77DFF"/>
          </a:solidFill>
          <a:ln/>
        </p:spPr>
      </p:sp>
      <p:sp>
        <p:nvSpPr>
          <p:cNvPr id="8" name="Text 6"/>
          <p:cNvSpPr/>
          <p:nvPr/>
        </p:nvSpPr>
        <p:spPr>
          <a:xfrm>
            <a:off x="3760851" y="601789"/>
            <a:ext cx="1028700" cy="108014"/>
          </a:xfrm>
          <a:prstGeom prst="rect">
            <a:avLst/>
          </a:prstGeom>
          <a:noFill/>
          <a:ln/>
        </p:spPr>
        <p:txBody>
          <a:bodyPr wrap="square" lIns="0" tIns="0" rIns="0" bIns="0" rtlCol="0" anchor="ctr"/>
          <a:lstStyle/>
          <a:p>
            <a:r>
              <a:rPr lang="en-US" sz="478" b="1" dirty="0">
                <a:solidFill>
                  <a:srgbClr val="E8EAF6"/>
                </a:solidFill>
                <a:latin typeface="Courier New" pitchFamily="34" charset="0"/>
                <a:ea typeface="Courier New" pitchFamily="34" charset="-122"/>
                <a:cs typeface="Courier New" pitchFamily="34" charset="-120"/>
              </a:rPr>
              <a:t>SECTION 1 — What are Skills?</a:t>
            </a:r>
            <a:endParaRPr lang="en-US" sz="478" dirty="0"/>
          </a:p>
        </p:txBody>
      </p:sp>
      <p:sp>
        <p:nvSpPr>
          <p:cNvPr id="9" name="Text 7"/>
          <p:cNvSpPr/>
          <p:nvPr/>
        </p:nvSpPr>
        <p:spPr>
          <a:xfrm>
            <a:off x="3678555" y="771525"/>
            <a:ext cx="1213866" cy="678942"/>
          </a:xfrm>
          <a:prstGeom prst="rect">
            <a:avLst/>
          </a:prstGeom>
          <a:noFill/>
          <a:ln/>
        </p:spPr>
        <p:txBody>
          <a:bodyPr wrap="square" lIns="0" tIns="0" rIns="0" bIns="0" rtlCol="0" anchor="ctr"/>
          <a:lstStyle/>
          <a:p>
            <a:pPr marL="50006" indent="-50006">
              <a:lnSpc>
                <a:spcPct val="106000"/>
              </a:lnSpc>
              <a:buSzPct val="100000"/>
              <a:buChar char="•"/>
            </a:pPr>
            <a:r>
              <a:rPr lang="en-US" sz="371" dirty="0">
                <a:solidFill>
                  <a:srgbClr val="E8EAF6"/>
                </a:solidFill>
                <a:latin typeface="Arial" pitchFamily="34" charset="0"/>
                <a:ea typeface="Arial" pitchFamily="34" charset="-122"/>
                <a:cs typeface="Arial" pitchFamily="34" charset="-120"/>
              </a:rPr>
              <a:t>Reusable instruction modules</a:t>
            </a:r>
            <a:endParaRPr lang="en-US" sz="371" dirty="0"/>
          </a:p>
          <a:p>
            <a:pPr marL="50006" indent="-50006">
              <a:lnSpc>
                <a:spcPct val="106000"/>
              </a:lnSpc>
              <a:buSzPct val="100000"/>
              <a:buChar char="•"/>
            </a:pPr>
            <a:r>
              <a:rPr lang="en-US" sz="371" dirty="0">
                <a:solidFill>
                  <a:srgbClr val="E8EAF6"/>
                </a:solidFill>
                <a:latin typeface="Arial" pitchFamily="34" charset="0"/>
                <a:ea typeface="Arial" pitchFamily="34" charset="-122"/>
                <a:cs typeface="Arial" pitchFamily="34" charset="-120"/>
              </a:rPr>
              <a:t>Loaded ON-DEMAND by the agent</a:t>
            </a:r>
            <a:endParaRPr lang="en-US" sz="371" dirty="0"/>
          </a:p>
          <a:p>
            <a:pPr marL="50006" indent="-50006">
              <a:lnSpc>
                <a:spcPct val="106000"/>
              </a:lnSpc>
              <a:buSzPct val="100000"/>
              <a:buChar char="•"/>
            </a:pPr>
            <a:r>
              <a:rPr lang="en-US" sz="371" dirty="0">
                <a:solidFill>
                  <a:srgbClr val="E8EAF6"/>
                </a:solidFill>
                <a:latin typeface="Arial" pitchFamily="34" charset="0"/>
                <a:ea typeface="Arial" pitchFamily="34" charset="-122"/>
                <a:cs typeface="Arial" pitchFamily="34" charset="-120"/>
              </a:rPr>
              <a:t>Contains: instructions, scripts, resources, templates</a:t>
            </a:r>
            <a:endParaRPr lang="en-US" sz="371" dirty="0"/>
          </a:p>
          <a:p>
            <a:pPr marL="50006" indent="-50006">
              <a:lnSpc>
                <a:spcPct val="106000"/>
              </a:lnSpc>
              <a:buSzPct val="100000"/>
              <a:buChar char="•"/>
            </a:pPr>
            <a:r>
              <a:rPr lang="en-US" sz="371" dirty="0">
                <a:solidFill>
                  <a:srgbClr val="E8EAF6"/>
                </a:solidFill>
                <a:latin typeface="Arial" pitchFamily="34" charset="0"/>
                <a:ea typeface="Arial" pitchFamily="34" charset="-122"/>
                <a:cs typeface="Arial" pitchFamily="34" charset="-120"/>
              </a:rPr>
              <a:t>Progressive Disclosure — agent reads metadata first, loads full content only when needed</a:t>
            </a:r>
            <a:endParaRPr lang="en-US" sz="371" dirty="0"/>
          </a:p>
          <a:p>
            <a:pPr marL="50006" indent="-50006">
              <a:lnSpc>
                <a:spcPct val="106000"/>
              </a:lnSpc>
              <a:buSzPct val="100000"/>
              <a:buChar char="•"/>
            </a:pPr>
            <a:r>
              <a:rPr lang="en-US" sz="371" dirty="0">
                <a:solidFill>
                  <a:srgbClr val="E8EAF6"/>
                </a:solidFill>
                <a:latin typeface="Arial" pitchFamily="34" charset="0"/>
                <a:ea typeface="Arial" pitchFamily="34" charset="-122"/>
                <a:cs typeface="Arial" pitchFamily="34" charset="-120"/>
              </a:rPr>
              <a:t>Like SOPs / WORK INSTRUCTIONS for AI</a:t>
            </a:r>
            <a:endParaRPr lang="en-US" sz="371" dirty="0"/>
          </a:p>
        </p:txBody>
      </p:sp>
      <p:sp>
        <p:nvSpPr>
          <p:cNvPr id="10" name="Shape 8"/>
          <p:cNvSpPr/>
          <p:nvPr/>
        </p:nvSpPr>
        <p:spPr>
          <a:xfrm>
            <a:off x="3657981" y="1501902"/>
            <a:ext cx="1244727" cy="596646"/>
          </a:xfrm>
          <a:prstGeom prst="roundRect">
            <a:avLst>
              <a:gd name="adj" fmla="val 5172"/>
            </a:avLst>
          </a:prstGeom>
          <a:solidFill>
            <a:srgbClr val="0A0A14"/>
          </a:solidFill>
          <a:ln w="12700">
            <a:solidFill>
              <a:srgbClr val="16505C"/>
            </a:solidFill>
            <a:prstDash val="dash"/>
          </a:ln>
        </p:spPr>
      </p:sp>
      <p:sp>
        <p:nvSpPr>
          <p:cNvPr id="11" name="Text 9"/>
          <p:cNvSpPr/>
          <p:nvPr/>
        </p:nvSpPr>
        <p:spPr>
          <a:xfrm>
            <a:off x="3699129" y="1532763"/>
            <a:ext cx="1172718" cy="545211"/>
          </a:xfrm>
          <a:prstGeom prst="rect">
            <a:avLst/>
          </a:prstGeom>
          <a:noFill/>
          <a:ln/>
        </p:spPr>
        <p:txBody>
          <a:bodyPr wrap="square" lIns="0" tIns="0" rIns="0" bIns="0" rtlCol="0" anchor="ctr"/>
          <a:lstStyle/>
          <a:p>
            <a:r>
              <a:rPr lang="en-US" sz="326" dirty="0">
                <a:solidFill>
                  <a:srgbClr val="4ADE80"/>
                </a:solidFill>
                <a:latin typeface="Courier New" pitchFamily="34" charset="0"/>
                <a:ea typeface="Courier New" pitchFamily="34" charset="-122"/>
                <a:cs typeface="Courier New" pitchFamily="34" charset="-120"/>
              </a:rPr>
              <a:t>.claude/skills/</a:t>
            </a:r>
            <a:endParaRPr lang="en-US" sz="326" dirty="0"/>
          </a:p>
          <a:p>
            <a:r>
              <a:rPr lang="en-US" sz="326" dirty="0">
                <a:solidFill>
                  <a:srgbClr val="4ADE80"/>
                </a:solidFill>
                <a:latin typeface="Courier New" pitchFamily="34" charset="0"/>
                <a:ea typeface="Courier New" pitchFamily="34" charset="-122"/>
                <a:cs typeface="Courier New" pitchFamily="34" charset="-120"/>
              </a:rPr>
              <a:t>├── spec-review/</a:t>
            </a:r>
            <a:endParaRPr lang="en-US" sz="326" dirty="0"/>
          </a:p>
          <a:p>
            <a:r>
              <a:rPr lang="en-US" sz="326" dirty="0">
                <a:solidFill>
                  <a:srgbClr val="4ADE80"/>
                </a:solidFill>
                <a:latin typeface="Courier New" pitchFamily="34" charset="0"/>
                <a:ea typeface="Courier New" pitchFamily="34" charset="-122"/>
                <a:cs typeface="Courier New" pitchFamily="34" charset="-120"/>
              </a:rPr>
              <a:t>│      └── SKILL.md</a:t>
            </a:r>
            <a:endParaRPr lang="en-US" sz="326" dirty="0"/>
          </a:p>
          <a:p>
            <a:r>
              <a:rPr lang="en-US" sz="326" dirty="0">
                <a:solidFill>
                  <a:srgbClr val="4ADE80"/>
                </a:solidFill>
                <a:latin typeface="Courier New" pitchFamily="34" charset="0"/>
                <a:ea typeface="Courier New" pitchFamily="34" charset="-122"/>
                <a:cs typeface="Courier New" pitchFamily="34" charset="-120"/>
              </a:rPr>
              <a:t>├── deviation-triage/</a:t>
            </a:r>
            <a:endParaRPr lang="en-US" sz="326" dirty="0"/>
          </a:p>
          <a:p>
            <a:r>
              <a:rPr lang="en-US" sz="326" dirty="0">
                <a:solidFill>
                  <a:srgbClr val="4ADE80"/>
                </a:solidFill>
                <a:latin typeface="Courier New" pitchFamily="34" charset="0"/>
                <a:ea typeface="Courier New" pitchFamily="34" charset="-122"/>
                <a:cs typeface="Courier New" pitchFamily="34" charset="-120"/>
              </a:rPr>
              <a:t>│      ├── SKILL.md</a:t>
            </a:r>
            <a:endParaRPr lang="en-US" sz="326" dirty="0"/>
          </a:p>
          <a:p>
            <a:r>
              <a:rPr lang="en-US" sz="326" dirty="0">
                <a:solidFill>
                  <a:srgbClr val="4ADE80"/>
                </a:solidFill>
                <a:latin typeface="Courier New" pitchFamily="34" charset="0"/>
                <a:ea typeface="Courier New" pitchFamily="34" charset="-122"/>
                <a:cs typeface="Courier New" pitchFamily="34" charset="-120"/>
              </a:rPr>
              <a:t>│      └── scripts/</a:t>
            </a:r>
            <a:endParaRPr lang="en-US" sz="326" dirty="0"/>
          </a:p>
          <a:p>
            <a:r>
              <a:rPr lang="en-US" sz="326" dirty="0">
                <a:solidFill>
                  <a:srgbClr val="4ADE80"/>
                </a:solidFill>
                <a:latin typeface="Courier New" pitchFamily="34" charset="0"/>
                <a:ea typeface="Courier New" pitchFamily="34" charset="-122"/>
                <a:cs typeface="Courier New" pitchFamily="34" charset="-120"/>
              </a:rPr>
              <a:t>└── plant-report/</a:t>
            </a:r>
            <a:endParaRPr lang="en-US" sz="326" dirty="0"/>
          </a:p>
          <a:p>
            <a:r>
              <a:rPr lang="en-US" sz="326" dirty="0">
                <a:solidFill>
                  <a:srgbClr val="4ADE80"/>
                </a:solidFill>
                <a:latin typeface="Courier New" pitchFamily="34" charset="0"/>
                <a:ea typeface="Courier New" pitchFamily="34" charset="-122"/>
                <a:cs typeface="Courier New" pitchFamily="34" charset="-120"/>
              </a:rPr>
              <a:t>       └── SKILL.md</a:t>
            </a:r>
            <a:endParaRPr lang="en-US" sz="326" dirty="0"/>
          </a:p>
        </p:txBody>
      </p:sp>
      <p:sp>
        <p:nvSpPr>
          <p:cNvPr id="12" name="Shape 10"/>
          <p:cNvSpPr/>
          <p:nvPr/>
        </p:nvSpPr>
        <p:spPr>
          <a:xfrm>
            <a:off x="3657981" y="2139696"/>
            <a:ext cx="1244727" cy="144018"/>
          </a:xfrm>
          <a:prstGeom prst="roundRect">
            <a:avLst>
              <a:gd name="adj" fmla="val 14286"/>
            </a:avLst>
          </a:prstGeom>
          <a:solidFill>
            <a:srgbClr val="0F0F1C"/>
          </a:solidFill>
          <a:ln w="12700">
            <a:solidFill>
              <a:srgbClr val="22D3EE"/>
            </a:solidFill>
            <a:prstDash val="solid"/>
          </a:ln>
        </p:spPr>
      </p:sp>
      <p:sp>
        <p:nvSpPr>
          <p:cNvPr id="13" name="Text 11"/>
          <p:cNvSpPr/>
          <p:nvPr/>
        </p:nvSpPr>
        <p:spPr>
          <a:xfrm>
            <a:off x="3683699" y="2139696"/>
            <a:ext cx="1193292" cy="144018"/>
          </a:xfrm>
          <a:prstGeom prst="rect">
            <a:avLst/>
          </a:prstGeom>
          <a:noFill/>
          <a:ln/>
        </p:spPr>
        <p:txBody>
          <a:bodyPr wrap="square" lIns="0" tIns="0" rIns="0" bIns="0" rtlCol="0" anchor="ctr"/>
          <a:lstStyle/>
          <a:p>
            <a:pPr algn="ctr"/>
            <a:r>
              <a:rPr lang="en-US" sz="383" b="1" dirty="0">
                <a:solidFill>
                  <a:srgbClr val="22D3EE"/>
                </a:solidFill>
                <a:latin typeface="Courier New" pitchFamily="34" charset="0"/>
                <a:ea typeface="Courier New" pitchFamily="34" charset="-122"/>
                <a:cs typeface="Courier New" pitchFamily="34" charset="-120"/>
              </a:rPr>
              <a:t>Skills = KNOWLEDGE (what to do)</a:t>
            </a:r>
            <a:endParaRPr lang="en-US" sz="383" dirty="0"/>
          </a:p>
        </p:txBody>
      </p:sp>
      <p:sp>
        <p:nvSpPr>
          <p:cNvPr id="14" name="Text 12"/>
          <p:cNvSpPr/>
          <p:nvPr/>
        </p:nvSpPr>
        <p:spPr>
          <a:xfrm>
            <a:off x="3678555" y="2335149"/>
            <a:ext cx="1183005" cy="82296"/>
          </a:xfrm>
          <a:prstGeom prst="rect">
            <a:avLst/>
          </a:prstGeom>
          <a:noFill/>
          <a:ln/>
        </p:spPr>
        <p:txBody>
          <a:bodyPr wrap="square" lIns="0" tIns="0" rIns="0" bIns="0" rtlCol="0" anchor="ctr"/>
          <a:lstStyle/>
          <a:p>
            <a:r>
              <a:rPr lang="en-US" sz="366" b="1" dirty="0">
                <a:solidFill>
                  <a:srgbClr val="8B93A7"/>
                </a:solidFill>
                <a:latin typeface="Courier New" pitchFamily="34" charset="0"/>
                <a:ea typeface="Courier New" pitchFamily="34" charset="-122"/>
                <a:cs typeface="Courier New" pitchFamily="34" charset="-120"/>
              </a:rPr>
              <a:t>Example Ball skills</a:t>
            </a:r>
            <a:endParaRPr lang="en-US" sz="366" dirty="0"/>
          </a:p>
        </p:txBody>
      </p:sp>
      <p:sp>
        <p:nvSpPr>
          <p:cNvPr id="15" name="Shape 13"/>
          <p:cNvSpPr/>
          <p:nvPr/>
        </p:nvSpPr>
        <p:spPr>
          <a:xfrm>
            <a:off x="3678555" y="2427732"/>
            <a:ext cx="36005" cy="36005"/>
          </a:xfrm>
          <a:prstGeom prst="roundRect">
            <a:avLst>
              <a:gd name="adj" fmla="val 28571"/>
            </a:avLst>
          </a:prstGeom>
          <a:solidFill>
            <a:srgbClr val="22D3EE"/>
          </a:solidFill>
          <a:ln/>
        </p:spPr>
      </p:sp>
      <p:sp>
        <p:nvSpPr>
          <p:cNvPr id="16" name="Text 14"/>
          <p:cNvSpPr/>
          <p:nvPr/>
        </p:nvSpPr>
        <p:spPr>
          <a:xfrm>
            <a:off x="3750564" y="2412302"/>
            <a:ext cx="473202" cy="72009"/>
          </a:xfrm>
          <a:prstGeom prst="rect">
            <a:avLst/>
          </a:prstGeom>
          <a:noFill/>
          <a:ln/>
        </p:spPr>
        <p:txBody>
          <a:bodyPr wrap="square" lIns="0" tIns="0" rIns="0" bIns="0" rtlCol="0" anchor="ctr"/>
          <a:lstStyle/>
          <a:p>
            <a:r>
              <a:rPr lang="en-US" sz="338" b="1" dirty="0">
                <a:solidFill>
                  <a:srgbClr val="22D3EE"/>
                </a:solidFill>
                <a:latin typeface="Courier New" pitchFamily="34" charset="0"/>
                <a:ea typeface="Courier New" pitchFamily="34" charset="-122"/>
                <a:cs typeface="Courier New" pitchFamily="34" charset="-120"/>
              </a:rPr>
              <a:t>spec-review</a:t>
            </a:r>
            <a:endParaRPr lang="en-US" sz="338" dirty="0"/>
          </a:p>
        </p:txBody>
      </p:sp>
      <p:sp>
        <p:nvSpPr>
          <p:cNvPr id="17" name="Text 15"/>
          <p:cNvSpPr/>
          <p:nvPr/>
        </p:nvSpPr>
        <p:spPr>
          <a:xfrm>
            <a:off x="3750564" y="2479167"/>
            <a:ext cx="1110996" cy="72009"/>
          </a:xfrm>
          <a:prstGeom prst="rect">
            <a:avLst/>
          </a:prstGeom>
          <a:noFill/>
          <a:ln/>
        </p:spPr>
        <p:txBody>
          <a:bodyPr wrap="square" lIns="0" tIns="0" rIns="0" bIns="0" rtlCol="0" anchor="ctr"/>
          <a:lstStyle/>
          <a:p>
            <a:r>
              <a:rPr lang="en-US" sz="315" dirty="0">
                <a:solidFill>
                  <a:srgbClr val="8B93A7"/>
                </a:solidFill>
                <a:latin typeface="Arial" pitchFamily="34" charset="0"/>
                <a:ea typeface="Arial" pitchFamily="34" charset="-122"/>
                <a:cs typeface="Arial" pitchFamily="34" charset="-120"/>
              </a:rPr>
              <a:t>checks drawings vs. customer spec</a:t>
            </a:r>
            <a:endParaRPr lang="en-US" sz="315" dirty="0"/>
          </a:p>
        </p:txBody>
      </p:sp>
      <p:sp>
        <p:nvSpPr>
          <p:cNvPr id="18" name="Shape 16"/>
          <p:cNvSpPr/>
          <p:nvPr/>
        </p:nvSpPr>
        <p:spPr>
          <a:xfrm>
            <a:off x="3678555" y="2571750"/>
            <a:ext cx="36005" cy="36005"/>
          </a:xfrm>
          <a:prstGeom prst="roundRect">
            <a:avLst>
              <a:gd name="adj" fmla="val 28571"/>
            </a:avLst>
          </a:prstGeom>
          <a:solidFill>
            <a:srgbClr val="22D3EE"/>
          </a:solidFill>
          <a:ln/>
        </p:spPr>
      </p:sp>
      <p:sp>
        <p:nvSpPr>
          <p:cNvPr id="19" name="Text 17"/>
          <p:cNvSpPr/>
          <p:nvPr/>
        </p:nvSpPr>
        <p:spPr>
          <a:xfrm>
            <a:off x="3750564" y="2556320"/>
            <a:ext cx="473202" cy="72009"/>
          </a:xfrm>
          <a:prstGeom prst="rect">
            <a:avLst/>
          </a:prstGeom>
          <a:noFill/>
          <a:ln/>
        </p:spPr>
        <p:txBody>
          <a:bodyPr wrap="square" lIns="0" tIns="0" rIns="0" bIns="0" rtlCol="0" anchor="ctr"/>
          <a:lstStyle/>
          <a:p>
            <a:r>
              <a:rPr lang="en-US" sz="338" b="1" dirty="0">
                <a:solidFill>
                  <a:srgbClr val="22D3EE"/>
                </a:solidFill>
                <a:latin typeface="Courier New" pitchFamily="34" charset="0"/>
                <a:ea typeface="Courier New" pitchFamily="34" charset="-122"/>
                <a:cs typeface="Courier New" pitchFamily="34" charset="-120"/>
              </a:rPr>
              <a:t>deviation-triage</a:t>
            </a:r>
            <a:endParaRPr lang="en-US" sz="338" dirty="0"/>
          </a:p>
        </p:txBody>
      </p:sp>
      <p:sp>
        <p:nvSpPr>
          <p:cNvPr id="20" name="Text 18"/>
          <p:cNvSpPr/>
          <p:nvPr/>
        </p:nvSpPr>
        <p:spPr>
          <a:xfrm>
            <a:off x="3750564" y="2623185"/>
            <a:ext cx="1110996" cy="72009"/>
          </a:xfrm>
          <a:prstGeom prst="rect">
            <a:avLst/>
          </a:prstGeom>
          <a:noFill/>
          <a:ln/>
        </p:spPr>
        <p:txBody>
          <a:bodyPr wrap="square" lIns="0" tIns="0" rIns="0" bIns="0" rtlCol="0" anchor="ctr"/>
          <a:lstStyle/>
          <a:p>
            <a:r>
              <a:rPr lang="en-US" sz="315" dirty="0">
                <a:solidFill>
                  <a:srgbClr val="8B93A7"/>
                </a:solidFill>
                <a:latin typeface="Arial" pitchFamily="34" charset="0"/>
                <a:ea typeface="Arial" pitchFamily="34" charset="-122"/>
                <a:cs typeface="Arial" pitchFamily="34" charset="-120"/>
              </a:rPr>
              <a:t>classifies and routes NCRs</a:t>
            </a:r>
            <a:endParaRPr lang="en-US" sz="315" dirty="0"/>
          </a:p>
        </p:txBody>
      </p:sp>
      <p:sp>
        <p:nvSpPr>
          <p:cNvPr id="21" name="Shape 19"/>
          <p:cNvSpPr/>
          <p:nvPr/>
        </p:nvSpPr>
        <p:spPr>
          <a:xfrm>
            <a:off x="3678555" y="2715768"/>
            <a:ext cx="36005" cy="36005"/>
          </a:xfrm>
          <a:prstGeom prst="roundRect">
            <a:avLst>
              <a:gd name="adj" fmla="val 28571"/>
            </a:avLst>
          </a:prstGeom>
          <a:solidFill>
            <a:srgbClr val="22D3EE"/>
          </a:solidFill>
          <a:ln/>
        </p:spPr>
      </p:sp>
      <p:sp>
        <p:nvSpPr>
          <p:cNvPr id="22" name="Text 20"/>
          <p:cNvSpPr/>
          <p:nvPr/>
        </p:nvSpPr>
        <p:spPr>
          <a:xfrm>
            <a:off x="3750564" y="2700338"/>
            <a:ext cx="473202" cy="72009"/>
          </a:xfrm>
          <a:prstGeom prst="rect">
            <a:avLst/>
          </a:prstGeom>
          <a:noFill/>
          <a:ln/>
        </p:spPr>
        <p:txBody>
          <a:bodyPr wrap="square" lIns="0" tIns="0" rIns="0" bIns="0" rtlCol="0" anchor="ctr"/>
          <a:lstStyle/>
          <a:p>
            <a:r>
              <a:rPr lang="en-US" sz="338" b="1" dirty="0">
                <a:solidFill>
                  <a:srgbClr val="22D3EE"/>
                </a:solidFill>
                <a:latin typeface="Courier New" pitchFamily="34" charset="0"/>
                <a:ea typeface="Courier New" pitchFamily="34" charset="-122"/>
                <a:cs typeface="Courier New" pitchFamily="34" charset="-120"/>
              </a:rPr>
              <a:t>plant-report</a:t>
            </a:r>
            <a:endParaRPr lang="en-US" sz="338" dirty="0"/>
          </a:p>
        </p:txBody>
      </p:sp>
      <p:sp>
        <p:nvSpPr>
          <p:cNvPr id="23" name="Text 21"/>
          <p:cNvSpPr/>
          <p:nvPr/>
        </p:nvSpPr>
        <p:spPr>
          <a:xfrm>
            <a:off x="3750564" y="2767203"/>
            <a:ext cx="1110996" cy="72009"/>
          </a:xfrm>
          <a:prstGeom prst="rect">
            <a:avLst/>
          </a:prstGeom>
          <a:noFill/>
          <a:ln/>
        </p:spPr>
        <p:txBody>
          <a:bodyPr wrap="square" lIns="0" tIns="0" rIns="0" bIns="0" rtlCol="0" anchor="ctr"/>
          <a:lstStyle/>
          <a:p>
            <a:r>
              <a:rPr lang="en-US" sz="315" dirty="0">
                <a:solidFill>
                  <a:srgbClr val="8B93A7"/>
                </a:solidFill>
                <a:latin typeface="Arial" pitchFamily="34" charset="0"/>
                <a:ea typeface="Arial" pitchFamily="34" charset="-122"/>
                <a:cs typeface="Arial" pitchFamily="34" charset="-120"/>
              </a:rPr>
              <a:t>builds shift &amp; OEE summaries</a:t>
            </a:r>
            <a:endParaRPr lang="en-US" sz="315" dirty="0"/>
          </a:p>
        </p:txBody>
      </p:sp>
      <p:sp>
        <p:nvSpPr>
          <p:cNvPr id="24" name="Shape 22"/>
          <p:cNvSpPr/>
          <p:nvPr/>
        </p:nvSpPr>
        <p:spPr>
          <a:xfrm>
            <a:off x="3678555" y="2859786"/>
            <a:ext cx="36005" cy="36005"/>
          </a:xfrm>
          <a:prstGeom prst="roundRect">
            <a:avLst>
              <a:gd name="adj" fmla="val 28571"/>
            </a:avLst>
          </a:prstGeom>
          <a:solidFill>
            <a:srgbClr val="22D3EE"/>
          </a:solidFill>
          <a:ln/>
        </p:spPr>
      </p:sp>
      <p:sp>
        <p:nvSpPr>
          <p:cNvPr id="25" name="Text 23"/>
          <p:cNvSpPr/>
          <p:nvPr/>
        </p:nvSpPr>
        <p:spPr>
          <a:xfrm>
            <a:off x="3750564" y="2844356"/>
            <a:ext cx="473202" cy="72009"/>
          </a:xfrm>
          <a:prstGeom prst="rect">
            <a:avLst/>
          </a:prstGeom>
          <a:noFill/>
          <a:ln/>
        </p:spPr>
        <p:txBody>
          <a:bodyPr wrap="square" lIns="0" tIns="0" rIns="0" bIns="0" rtlCol="0" anchor="ctr"/>
          <a:lstStyle/>
          <a:p>
            <a:r>
              <a:rPr lang="en-US" sz="338" b="1" dirty="0">
                <a:solidFill>
                  <a:srgbClr val="22D3EE"/>
                </a:solidFill>
                <a:latin typeface="Courier New" pitchFamily="34" charset="0"/>
                <a:ea typeface="Courier New" pitchFamily="34" charset="-122"/>
                <a:cs typeface="Courier New" pitchFamily="34" charset="-120"/>
              </a:rPr>
              <a:t>supplier-scorecard</a:t>
            </a:r>
            <a:endParaRPr lang="en-US" sz="338" dirty="0"/>
          </a:p>
        </p:txBody>
      </p:sp>
      <p:sp>
        <p:nvSpPr>
          <p:cNvPr id="26" name="Text 24"/>
          <p:cNvSpPr/>
          <p:nvPr/>
        </p:nvSpPr>
        <p:spPr>
          <a:xfrm>
            <a:off x="3750564" y="2911221"/>
            <a:ext cx="1110996" cy="72009"/>
          </a:xfrm>
          <a:prstGeom prst="rect">
            <a:avLst/>
          </a:prstGeom>
          <a:noFill/>
          <a:ln/>
        </p:spPr>
        <p:txBody>
          <a:bodyPr wrap="square" lIns="0" tIns="0" rIns="0" bIns="0" rtlCol="0" anchor="ctr"/>
          <a:lstStyle/>
          <a:p>
            <a:r>
              <a:rPr lang="en-US" sz="315" dirty="0">
                <a:solidFill>
                  <a:srgbClr val="8B93A7"/>
                </a:solidFill>
                <a:latin typeface="Arial" pitchFamily="34" charset="0"/>
                <a:ea typeface="Arial" pitchFamily="34" charset="-122"/>
                <a:cs typeface="Arial" pitchFamily="34" charset="-120"/>
              </a:rPr>
              <a:t>scores coil and ink suppliers</a:t>
            </a:r>
            <a:endParaRPr lang="en-US" sz="315" dirty="0"/>
          </a:p>
        </p:txBody>
      </p:sp>
      <p:sp>
        <p:nvSpPr>
          <p:cNvPr id="27" name="Shape 25"/>
          <p:cNvSpPr/>
          <p:nvPr/>
        </p:nvSpPr>
        <p:spPr>
          <a:xfrm>
            <a:off x="5015865" y="545211"/>
            <a:ext cx="2139696" cy="2623185"/>
          </a:xfrm>
          <a:prstGeom prst="roundRect">
            <a:avLst>
              <a:gd name="adj" fmla="val 1442"/>
            </a:avLst>
          </a:prstGeom>
          <a:solidFill>
            <a:srgbClr val="0D0D18"/>
          </a:solidFill>
          <a:ln w="12700">
            <a:solidFill>
              <a:srgbClr val="C77DFF"/>
            </a:solidFill>
            <a:prstDash val="solid"/>
          </a:ln>
        </p:spPr>
      </p:sp>
      <p:sp>
        <p:nvSpPr>
          <p:cNvPr id="28" name="Shape 26"/>
          <p:cNvSpPr/>
          <p:nvPr/>
        </p:nvSpPr>
        <p:spPr>
          <a:xfrm>
            <a:off x="5509641" y="586359"/>
            <a:ext cx="1152144" cy="138875"/>
          </a:xfrm>
          <a:prstGeom prst="roundRect">
            <a:avLst>
              <a:gd name="adj" fmla="val 14815"/>
            </a:avLst>
          </a:prstGeom>
          <a:solidFill>
            <a:srgbClr val="12121F"/>
          </a:solidFill>
          <a:ln w="12700">
            <a:solidFill>
              <a:srgbClr val="C77DFF"/>
            </a:solidFill>
            <a:prstDash val="solid"/>
          </a:ln>
        </p:spPr>
      </p:sp>
      <p:sp>
        <p:nvSpPr>
          <p:cNvPr id="29" name="Shape 27"/>
          <p:cNvSpPr/>
          <p:nvPr/>
        </p:nvSpPr>
        <p:spPr>
          <a:xfrm>
            <a:off x="5555932" y="632650"/>
            <a:ext cx="46292" cy="46292"/>
          </a:xfrm>
          <a:prstGeom prst="roundRect">
            <a:avLst>
              <a:gd name="adj" fmla="val 22222"/>
            </a:avLst>
          </a:prstGeom>
          <a:solidFill>
            <a:srgbClr val="C77DFF"/>
          </a:solidFill>
          <a:ln/>
        </p:spPr>
      </p:sp>
      <p:sp>
        <p:nvSpPr>
          <p:cNvPr id="30" name="Text 28"/>
          <p:cNvSpPr/>
          <p:nvPr/>
        </p:nvSpPr>
        <p:spPr>
          <a:xfrm>
            <a:off x="5622798" y="601789"/>
            <a:ext cx="997839" cy="108014"/>
          </a:xfrm>
          <a:prstGeom prst="rect">
            <a:avLst/>
          </a:prstGeom>
          <a:noFill/>
          <a:ln/>
        </p:spPr>
        <p:txBody>
          <a:bodyPr wrap="square" lIns="0" tIns="0" rIns="0" bIns="0" rtlCol="0" anchor="ctr"/>
          <a:lstStyle/>
          <a:p>
            <a:pPr algn="ctr"/>
            <a:r>
              <a:rPr lang="en-US" sz="478" b="1" dirty="0">
                <a:solidFill>
                  <a:srgbClr val="E8EAF6"/>
                </a:solidFill>
                <a:latin typeface="Courier New" pitchFamily="34" charset="0"/>
                <a:ea typeface="Courier New" pitchFamily="34" charset="-122"/>
                <a:cs typeface="Courier New" pitchFamily="34" charset="-120"/>
              </a:rPr>
              <a:t>SECTION 2 — Core Agent Loop</a:t>
            </a:r>
            <a:endParaRPr lang="en-US" sz="478" dirty="0"/>
          </a:p>
        </p:txBody>
      </p:sp>
      <p:sp>
        <p:nvSpPr>
          <p:cNvPr id="31" name="Text 29"/>
          <p:cNvSpPr/>
          <p:nvPr/>
        </p:nvSpPr>
        <p:spPr>
          <a:xfrm>
            <a:off x="5067300" y="761238"/>
            <a:ext cx="2036826" cy="82296"/>
          </a:xfrm>
          <a:prstGeom prst="rect">
            <a:avLst/>
          </a:prstGeom>
          <a:noFill/>
          <a:ln/>
        </p:spPr>
        <p:txBody>
          <a:bodyPr wrap="square" lIns="0" tIns="0" rIns="0" bIns="0" rtlCol="0" anchor="ctr"/>
          <a:lstStyle/>
          <a:p>
            <a:pPr algn="ctr"/>
            <a:r>
              <a:rPr lang="en-US" sz="360" b="1" i="1" dirty="0">
                <a:solidFill>
                  <a:srgbClr val="E8EAF6"/>
                </a:solidFill>
                <a:latin typeface="Arial" pitchFamily="34" charset="0"/>
                <a:ea typeface="Arial" pitchFamily="34" charset="-122"/>
                <a:cs typeface="Arial" pitchFamily="34" charset="-120"/>
              </a:rPr>
              <a:t>Skills teach expertise → MCP provides the instruments → Subagents do the work</a:t>
            </a:r>
            <a:endParaRPr lang="en-US" sz="360" dirty="0"/>
          </a:p>
        </p:txBody>
      </p:sp>
      <p:sp>
        <p:nvSpPr>
          <p:cNvPr id="32" name="Shape 30"/>
          <p:cNvSpPr/>
          <p:nvPr/>
        </p:nvSpPr>
        <p:spPr>
          <a:xfrm>
            <a:off x="5118735" y="853821"/>
            <a:ext cx="1933956" cy="205740"/>
          </a:xfrm>
          <a:prstGeom prst="roundRect">
            <a:avLst>
              <a:gd name="adj" fmla="val 15000"/>
            </a:avLst>
          </a:prstGeom>
          <a:solidFill>
            <a:srgbClr val="0A1A20"/>
          </a:solidFill>
          <a:ln w="12700">
            <a:solidFill>
              <a:srgbClr val="22D3EE"/>
            </a:solidFill>
            <a:prstDash val="solid"/>
          </a:ln>
        </p:spPr>
      </p:sp>
      <p:sp>
        <p:nvSpPr>
          <p:cNvPr id="33" name="Text 31"/>
          <p:cNvSpPr/>
          <p:nvPr/>
        </p:nvSpPr>
        <p:spPr>
          <a:xfrm>
            <a:off x="5159883" y="874395"/>
            <a:ext cx="1851660" cy="164592"/>
          </a:xfrm>
          <a:prstGeom prst="rect">
            <a:avLst/>
          </a:prstGeom>
          <a:noFill/>
          <a:ln/>
        </p:spPr>
        <p:txBody>
          <a:bodyPr wrap="square" lIns="0" tIns="0" rIns="0" bIns="0" rtlCol="0" anchor="ctr"/>
          <a:lstStyle/>
          <a:p>
            <a:pPr>
              <a:lnSpc>
                <a:spcPct val="105000"/>
              </a:lnSpc>
            </a:pPr>
            <a:r>
              <a:rPr lang="en-US" sz="360" i="1" dirty="0">
                <a:solidFill>
                  <a:srgbClr val="22D3EE"/>
                </a:solidFill>
                <a:latin typeface="Arial" pitchFamily="34" charset="0"/>
                <a:ea typeface="Arial" pitchFamily="34" charset="-122"/>
                <a:cs typeface="Arial" pitchFamily="34" charset="-120"/>
              </a:rPr>
              <a:t>“ One agent, one loop: perceive → reason → act → observe,</a:t>
            </a:r>
            <a:endParaRPr lang="en-US" sz="360" dirty="0"/>
          </a:p>
          <a:p>
            <a:pPr>
              <a:lnSpc>
                <a:spcPct val="105000"/>
              </a:lnSpc>
            </a:pPr>
            <a:r>
              <a:rPr lang="en-US" sz="360" i="1" dirty="0">
                <a:solidFill>
                  <a:srgbClr val="22D3EE"/>
                </a:solidFill>
                <a:latin typeface="Arial" pitchFamily="34" charset="0"/>
                <a:ea typeface="Arial" pitchFamily="34" charset="-122"/>
                <a:cs typeface="Arial" pitchFamily="34" charset="-120"/>
              </a:rPr>
              <a:t>   repeating until the goal is met. ”</a:t>
            </a:r>
            <a:endParaRPr lang="en-US" sz="360" dirty="0"/>
          </a:p>
        </p:txBody>
      </p:sp>
      <p:sp>
        <p:nvSpPr>
          <p:cNvPr id="34" name="Shape 32"/>
          <p:cNvSpPr/>
          <p:nvPr/>
        </p:nvSpPr>
        <p:spPr>
          <a:xfrm>
            <a:off x="5735955" y="1110996"/>
            <a:ext cx="699516" cy="318897"/>
          </a:xfrm>
          <a:prstGeom prst="roundRect">
            <a:avLst>
              <a:gd name="adj" fmla="val 9677"/>
            </a:avLst>
          </a:prstGeom>
          <a:solidFill>
            <a:srgbClr val="12121F"/>
          </a:solidFill>
          <a:ln w="12700">
            <a:solidFill>
              <a:srgbClr val="22D3EE"/>
            </a:solidFill>
            <a:prstDash val="solid"/>
          </a:ln>
        </p:spPr>
      </p:sp>
      <p:sp>
        <p:nvSpPr>
          <p:cNvPr id="35" name="Text 33"/>
          <p:cNvSpPr/>
          <p:nvPr/>
        </p:nvSpPr>
        <p:spPr>
          <a:xfrm>
            <a:off x="5756529" y="1136713"/>
            <a:ext cx="658368" cy="77153"/>
          </a:xfrm>
          <a:prstGeom prst="rect">
            <a:avLst/>
          </a:prstGeom>
          <a:noFill/>
          <a:ln/>
        </p:spPr>
        <p:txBody>
          <a:bodyPr wrap="square" lIns="0" tIns="0" rIns="0" bIns="0" rtlCol="0" anchor="ctr"/>
          <a:lstStyle/>
          <a:p>
            <a:pPr algn="ctr"/>
            <a:r>
              <a:rPr lang="en-US" sz="394" b="1" dirty="0">
                <a:solidFill>
                  <a:srgbClr val="22D3EE"/>
                </a:solidFill>
                <a:latin typeface="Courier New" pitchFamily="34" charset="0"/>
                <a:ea typeface="Courier New" pitchFamily="34" charset="-122"/>
                <a:cs typeface="Courier New" pitchFamily="34" charset="-120"/>
              </a:rPr>
              <a:t>PERCEIVE</a:t>
            </a:r>
            <a:endParaRPr lang="en-US" sz="394" dirty="0"/>
          </a:p>
        </p:txBody>
      </p:sp>
      <p:sp>
        <p:nvSpPr>
          <p:cNvPr id="36" name="Text 34"/>
          <p:cNvSpPr/>
          <p:nvPr/>
        </p:nvSpPr>
        <p:spPr>
          <a:xfrm>
            <a:off x="5756529" y="1213866"/>
            <a:ext cx="658368" cy="123444"/>
          </a:xfrm>
          <a:prstGeom prst="rect">
            <a:avLst/>
          </a:prstGeom>
          <a:noFill/>
          <a:ln/>
        </p:spPr>
        <p:txBody>
          <a:bodyPr wrap="square" lIns="0" tIns="0" rIns="0" bIns="0" rtlCol="0" anchor="ctr"/>
          <a:lstStyle/>
          <a:p>
            <a:pPr algn="ctr"/>
            <a:r>
              <a:rPr lang="en-US" sz="315" dirty="0">
                <a:solidFill>
                  <a:srgbClr val="E8EAF6"/>
                </a:solidFill>
                <a:latin typeface="Arial" pitchFamily="34" charset="0"/>
                <a:ea typeface="Arial" pitchFamily="34" charset="-122"/>
                <a:cs typeface="Arial" pitchFamily="34" charset="-120"/>
              </a:rPr>
              <a:t>request, context,</a:t>
            </a:r>
            <a:endParaRPr lang="en-US" sz="315" dirty="0"/>
          </a:p>
          <a:p>
            <a:pPr algn="ctr"/>
            <a:r>
              <a:rPr lang="en-US" sz="315" dirty="0">
                <a:solidFill>
                  <a:srgbClr val="E8EAF6"/>
                </a:solidFill>
                <a:latin typeface="Arial" pitchFamily="34" charset="0"/>
                <a:ea typeface="Arial" pitchFamily="34" charset="-122"/>
                <a:cs typeface="Arial" pitchFamily="34" charset="-120"/>
              </a:rPr>
              <a:t>line &amp; spec data</a:t>
            </a:r>
            <a:endParaRPr lang="en-US" sz="315" dirty="0"/>
          </a:p>
        </p:txBody>
      </p:sp>
      <p:pic>
        <p:nvPicPr>
          <p:cNvPr id="37" name="Image 0" descr="/sessions/zealous-intelligent-mayer/mnt/outputs/icons5/l_perceive.png"/>
          <p:cNvPicPr>
            <a:picLocks noChangeAspect="1"/>
          </p:cNvPicPr>
          <p:nvPr/>
        </p:nvPicPr>
        <p:blipFill>
          <a:blip r:embed="rId3"/>
          <a:stretch>
            <a:fillRect/>
          </a:stretch>
        </p:blipFill>
        <p:spPr>
          <a:xfrm>
            <a:off x="6039422" y="1316736"/>
            <a:ext cx="92583" cy="92583"/>
          </a:xfrm>
          <a:prstGeom prst="rect">
            <a:avLst/>
          </a:prstGeom>
        </p:spPr>
      </p:pic>
      <p:sp>
        <p:nvSpPr>
          <p:cNvPr id="38" name="Shape 35"/>
          <p:cNvSpPr/>
          <p:nvPr/>
        </p:nvSpPr>
        <p:spPr>
          <a:xfrm>
            <a:off x="5077587" y="1481328"/>
            <a:ext cx="504063" cy="318897"/>
          </a:xfrm>
          <a:prstGeom prst="roundRect">
            <a:avLst>
              <a:gd name="adj" fmla="val 9677"/>
            </a:avLst>
          </a:prstGeom>
          <a:solidFill>
            <a:srgbClr val="12121F"/>
          </a:solidFill>
          <a:ln w="12700">
            <a:solidFill>
              <a:srgbClr val="C77DFF"/>
            </a:solidFill>
            <a:prstDash val="solid"/>
          </a:ln>
        </p:spPr>
      </p:sp>
      <p:sp>
        <p:nvSpPr>
          <p:cNvPr id="39" name="Text 36"/>
          <p:cNvSpPr/>
          <p:nvPr/>
        </p:nvSpPr>
        <p:spPr>
          <a:xfrm>
            <a:off x="5098161" y="1507045"/>
            <a:ext cx="462915" cy="77153"/>
          </a:xfrm>
          <a:prstGeom prst="rect">
            <a:avLst/>
          </a:prstGeom>
          <a:noFill/>
          <a:ln/>
        </p:spPr>
        <p:txBody>
          <a:bodyPr wrap="square" lIns="0" tIns="0" rIns="0" bIns="0" rtlCol="0" anchor="ctr"/>
          <a:lstStyle/>
          <a:p>
            <a:pPr algn="ctr"/>
            <a:r>
              <a:rPr lang="en-US" sz="394" b="1" dirty="0">
                <a:solidFill>
                  <a:srgbClr val="C77DFF"/>
                </a:solidFill>
                <a:latin typeface="Courier New" pitchFamily="34" charset="0"/>
                <a:ea typeface="Courier New" pitchFamily="34" charset="-122"/>
                <a:cs typeface="Courier New" pitchFamily="34" charset="-120"/>
              </a:rPr>
              <a:t>REPEAT</a:t>
            </a:r>
            <a:endParaRPr lang="en-US" sz="394" dirty="0"/>
          </a:p>
        </p:txBody>
      </p:sp>
      <p:sp>
        <p:nvSpPr>
          <p:cNvPr id="40" name="Text 37"/>
          <p:cNvSpPr/>
          <p:nvPr/>
        </p:nvSpPr>
        <p:spPr>
          <a:xfrm>
            <a:off x="5098161" y="1584198"/>
            <a:ext cx="462915" cy="123444"/>
          </a:xfrm>
          <a:prstGeom prst="rect">
            <a:avLst/>
          </a:prstGeom>
          <a:noFill/>
          <a:ln/>
        </p:spPr>
        <p:txBody>
          <a:bodyPr wrap="square" lIns="0" tIns="0" rIns="0" bIns="0" rtlCol="0" anchor="ctr"/>
          <a:lstStyle/>
          <a:p>
            <a:pPr algn="ctr"/>
            <a:r>
              <a:rPr lang="en-US" sz="315" dirty="0">
                <a:solidFill>
                  <a:srgbClr val="E8EAF6"/>
                </a:solidFill>
                <a:latin typeface="Arial" pitchFamily="34" charset="0"/>
                <a:ea typeface="Arial" pitchFamily="34" charset="-122"/>
                <a:cs typeface="Arial" pitchFamily="34" charset="-120"/>
              </a:rPr>
              <a:t>loop back</a:t>
            </a:r>
            <a:endParaRPr lang="en-US" sz="315" dirty="0"/>
          </a:p>
        </p:txBody>
      </p:sp>
      <p:pic>
        <p:nvPicPr>
          <p:cNvPr id="41" name="Image 1" descr="/sessions/zealous-intelligent-mayer/mnt/outputs/icons5/l_repeat.png"/>
          <p:cNvPicPr>
            <a:picLocks noChangeAspect="1"/>
          </p:cNvPicPr>
          <p:nvPr/>
        </p:nvPicPr>
        <p:blipFill>
          <a:blip r:embed="rId4"/>
          <a:stretch>
            <a:fillRect/>
          </a:stretch>
        </p:blipFill>
        <p:spPr>
          <a:xfrm>
            <a:off x="5283327" y="1687068"/>
            <a:ext cx="92583" cy="92583"/>
          </a:xfrm>
          <a:prstGeom prst="rect">
            <a:avLst/>
          </a:prstGeom>
        </p:spPr>
      </p:pic>
      <p:sp>
        <p:nvSpPr>
          <p:cNvPr id="42" name="Shape 38"/>
          <p:cNvSpPr/>
          <p:nvPr/>
        </p:nvSpPr>
        <p:spPr>
          <a:xfrm>
            <a:off x="6600063" y="1481328"/>
            <a:ext cx="504063" cy="318897"/>
          </a:xfrm>
          <a:prstGeom prst="roundRect">
            <a:avLst>
              <a:gd name="adj" fmla="val 9677"/>
            </a:avLst>
          </a:prstGeom>
          <a:solidFill>
            <a:srgbClr val="12121F"/>
          </a:solidFill>
          <a:ln w="12700">
            <a:solidFill>
              <a:srgbClr val="22D3EE"/>
            </a:solidFill>
            <a:prstDash val="solid"/>
          </a:ln>
        </p:spPr>
      </p:sp>
      <p:sp>
        <p:nvSpPr>
          <p:cNvPr id="43" name="Text 39"/>
          <p:cNvSpPr/>
          <p:nvPr/>
        </p:nvSpPr>
        <p:spPr>
          <a:xfrm>
            <a:off x="6620637" y="1507045"/>
            <a:ext cx="462915" cy="77153"/>
          </a:xfrm>
          <a:prstGeom prst="rect">
            <a:avLst/>
          </a:prstGeom>
          <a:noFill/>
          <a:ln/>
        </p:spPr>
        <p:txBody>
          <a:bodyPr wrap="square" lIns="0" tIns="0" rIns="0" bIns="0" rtlCol="0" anchor="ctr"/>
          <a:lstStyle/>
          <a:p>
            <a:pPr algn="ctr"/>
            <a:r>
              <a:rPr lang="en-US" sz="394" b="1" dirty="0">
                <a:solidFill>
                  <a:srgbClr val="22D3EE"/>
                </a:solidFill>
                <a:latin typeface="Courier New" pitchFamily="34" charset="0"/>
                <a:ea typeface="Courier New" pitchFamily="34" charset="-122"/>
                <a:cs typeface="Courier New" pitchFamily="34" charset="-120"/>
              </a:rPr>
              <a:t>REASON</a:t>
            </a:r>
            <a:endParaRPr lang="en-US" sz="394" dirty="0"/>
          </a:p>
        </p:txBody>
      </p:sp>
      <p:sp>
        <p:nvSpPr>
          <p:cNvPr id="44" name="Text 40"/>
          <p:cNvSpPr/>
          <p:nvPr/>
        </p:nvSpPr>
        <p:spPr>
          <a:xfrm>
            <a:off x="6620637" y="1584198"/>
            <a:ext cx="462915" cy="123444"/>
          </a:xfrm>
          <a:prstGeom prst="rect">
            <a:avLst/>
          </a:prstGeom>
          <a:noFill/>
          <a:ln/>
        </p:spPr>
        <p:txBody>
          <a:bodyPr wrap="square" lIns="0" tIns="0" rIns="0" bIns="0" rtlCol="0" anchor="ctr"/>
          <a:lstStyle/>
          <a:p>
            <a:pPr algn="ctr"/>
            <a:r>
              <a:rPr lang="en-US" sz="315" dirty="0">
                <a:solidFill>
                  <a:srgbClr val="E8EAF6"/>
                </a:solidFill>
                <a:latin typeface="Arial" pitchFamily="34" charset="0"/>
                <a:ea typeface="Arial" pitchFamily="34" charset="-122"/>
                <a:cs typeface="Arial" pitchFamily="34" charset="-120"/>
              </a:rPr>
              <a:t>LLM plans</a:t>
            </a:r>
            <a:endParaRPr lang="en-US" sz="315" dirty="0"/>
          </a:p>
          <a:p>
            <a:pPr algn="ctr"/>
            <a:r>
              <a:rPr lang="en-US" sz="315" dirty="0">
                <a:solidFill>
                  <a:srgbClr val="E8EAF6"/>
                </a:solidFill>
                <a:latin typeface="Arial" pitchFamily="34" charset="0"/>
                <a:ea typeface="Arial" pitchFamily="34" charset="-122"/>
                <a:cs typeface="Arial" pitchFamily="34" charset="-120"/>
              </a:rPr>
              <a:t>next step</a:t>
            </a:r>
            <a:endParaRPr lang="en-US" sz="315" dirty="0"/>
          </a:p>
        </p:txBody>
      </p:sp>
      <p:pic>
        <p:nvPicPr>
          <p:cNvPr id="45" name="Image 2" descr="/sessions/zealous-intelligent-mayer/mnt/outputs/icons5/l_reason.png"/>
          <p:cNvPicPr>
            <a:picLocks noChangeAspect="1"/>
          </p:cNvPicPr>
          <p:nvPr/>
        </p:nvPicPr>
        <p:blipFill>
          <a:blip r:embed="rId5"/>
          <a:stretch>
            <a:fillRect/>
          </a:stretch>
        </p:blipFill>
        <p:spPr>
          <a:xfrm>
            <a:off x="6805803" y="1687068"/>
            <a:ext cx="92583" cy="92583"/>
          </a:xfrm>
          <a:prstGeom prst="rect">
            <a:avLst/>
          </a:prstGeom>
        </p:spPr>
      </p:pic>
      <p:sp>
        <p:nvSpPr>
          <p:cNvPr id="46" name="Shape 41"/>
          <p:cNvSpPr/>
          <p:nvPr/>
        </p:nvSpPr>
        <p:spPr>
          <a:xfrm>
            <a:off x="5077587" y="2355723"/>
            <a:ext cx="504063" cy="318897"/>
          </a:xfrm>
          <a:prstGeom prst="roundRect">
            <a:avLst>
              <a:gd name="adj" fmla="val 9677"/>
            </a:avLst>
          </a:prstGeom>
          <a:solidFill>
            <a:srgbClr val="12121F"/>
          </a:solidFill>
          <a:ln w="12700">
            <a:solidFill>
              <a:srgbClr val="22D3EE"/>
            </a:solidFill>
            <a:prstDash val="solid"/>
          </a:ln>
        </p:spPr>
      </p:sp>
      <p:sp>
        <p:nvSpPr>
          <p:cNvPr id="47" name="Text 42"/>
          <p:cNvSpPr/>
          <p:nvPr/>
        </p:nvSpPr>
        <p:spPr>
          <a:xfrm>
            <a:off x="5098161" y="2381440"/>
            <a:ext cx="462915" cy="77153"/>
          </a:xfrm>
          <a:prstGeom prst="rect">
            <a:avLst/>
          </a:prstGeom>
          <a:noFill/>
          <a:ln/>
        </p:spPr>
        <p:txBody>
          <a:bodyPr wrap="square" lIns="0" tIns="0" rIns="0" bIns="0" rtlCol="0" anchor="ctr"/>
          <a:lstStyle/>
          <a:p>
            <a:pPr algn="ctr"/>
            <a:r>
              <a:rPr lang="en-US" sz="394" b="1" dirty="0">
                <a:solidFill>
                  <a:srgbClr val="22D3EE"/>
                </a:solidFill>
                <a:latin typeface="Courier New" pitchFamily="34" charset="0"/>
                <a:ea typeface="Courier New" pitchFamily="34" charset="-122"/>
                <a:cs typeface="Courier New" pitchFamily="34" charset="-120"/>
              </a:rPr>
              <a:t>OBSERVE</a:t>
            </a:r>
            <a:endParaRPr lang="en-US" sz="394" dirty="0"/>
          </a:p>
        </p:txBody>
      </p:sp>
      <p:sp>
        <p:nvSpPr>
          <p:cNvPr id="48" name="Text 43"/>
          <p:cNvSpPr/>
          <p:nvPr/>
        </p:nvSpPr>
        <p:spPr>
          <a:xfrm>
            <a:off x="5098161" y="2458593"/>
            <a:ext cx="462915" cy="123444"/>
          </a:xfrm>
          <a:prstGeom prst="rect">
            <a:avLst/>
          </a:prstGeom>
          <a:noFill/>
          <a:ln/>
        </p:spPr>
        <p:txBody>
          <a:bodyPr wrap="square" lIns="0" tIns="0" rIns="0" bIns="0" rtlCol="0" anchor="ctr"/>
          <a:lstStyle/>
          <a:p>
            <a:pPr algn="ctr"/>
            <a:r>
              <a:rPr lang="en-US" sz="315" dirty="0">
                <a:solidFill>
                  <a:srgbClr val="E8EAF6"/>
                </a:solidFill>
                <a:latin typeface="Arial" pitchFamily="34" charset="0"/>
                <a:ea typeface="Arial" pitchFamily="34" charset="-122"/>
                <a:cs typeface="Arial" pitchFamily="34" charset="-120"/>
              </a:rPr>
              <a:t>evaluate</a:t>
            </a:r>
            <a:endParaRPr lang="en-US" sz="315" dirty="0"/>
          </a:p>
          <a:p>
            <a:pPr algn="ctr"/>
            <a:r>
              <a:rPr lang="en-US" sz="315" dirty="0">
                <a:solidFill>
                  <a:srgbClr val="E8EAF6"/>
                </a:solidFill>
                <a:latin typeface="Arial" pitchFamily="34" charset="0"/>
                <a:ea typeface="Arial" pitchFamily="34" charset="-122"/>
                <a:cs typeface="Arial" pitchFamily="34" charset="-120"/>
              </a:rPr>
              <a:t>results</a:t>
            </a:r>
            <a:endParaRPr lang="en-US" sz="315" dirty="0"/>
          </a:p>
        </p:txBody>
      </p:sp>
      <p:pic>
        <p:nvPicPr>
          <p:cNvPr id="49" name="Image 3" descr="/sessions/zealous-intelligent-mayer/mnt/outputs/icons5/l_observe.png"/>
          <p:cNvPicPr>
            <a:picLocks noChangeAspect="1"/>
          </p:cNvPicPr>
          <p:nvPr/>
        </p:nvPicPr>
        <p:blipFill>
          <a:blip r:embed="rId6"/>
          <a:stretch>
            <a:fillRect/>
          </a:stretch>
        </p:blipFill>
        <p:spPr>
          <a:xfrm>
            <a:off x="5283327" y="2561463"/>
            <a:ext cx="92583" cy="92583"/>
          </a:xfrm>
          <a:prstGeom prst="rect">
            <a:avLst/>
          </a:prstGeom>
        </p:spPr>
      </p:pic>
      <p:sp>
        <p:nvSpPr>
          <p:cNvPr id="50" name="Shape 44"/>
          <p:cNvSpPr/>
          <p:nvPr/>
        </p:nvSpPr>
        <p:spPr>
          <a:xfrm>
            <a:off x="6600063" y="2355723"/>
            <a:ext cx="504063" cy="318897"/>
          </a:xfrm>
          <a:prstGeom prst="roundRect">
            <a:avLst>
              <a:gd name="adj" fmla="val 9677"/>
            </a:avLst>
          </a:prstGeom>
          <a:solidFill>
            <a:srgbClr val="12121F"/>
          </a:solidFill>
          <a:ln w="12700">
            <a:solidFill>
              <a:srgbClr val="4ADE80"/>
            </a:solidFill>
            <a:prstDash val="solid"/>
          </a:ln>
        </p:spPr>
      </p:sp>
      <p:sp>
        <p:nvSpPr>
          <p:cNvPr id="51" name="Text 45"/>
          <p:cNvSpPr/>
          <p:nvPr/>
        </p:nvSpPr>
        <p:spPr>
          <a:xfrm>
            <a:off x="6620637" y="2381440"/>
            <a:ext cx="462915" cy="77153"/>
          </a:xfrm>
          <a:prstGeom prst="rect">
            <a:avLst/>
          </a:prstGeom>
          <a:noFill/>
          <a:ln/>
        </p:spPr>
        <p:txBody>
          <a:bodyPr wrap="square" lIns="0" tIns="0" rIns="0" bIns="0" rtlCol="0" anchor="ctr"/>
          <a:lstStyle/>
          <a:p>
            <a:pPr algn="ctr"/>
            <a:r>
              <a:rPr lang="en-US" sz="394" b="1" dirty="0">
                <a:solidFill>
                  <a:srgbClr val="4ADE80"/>
                </a:solidFill>
                <a:latin typeface="Courier New" pitchFamily="34" charset="0"/>
                <a:ea typeface="Courier New" pitchFamily="34" charset="-122"/>
                <a:cs typeface="Courier New" pitchFamily="34" charset="-120"/>
              </a:rPr>
              <a:t>ACT</a:t>
            </a:r>
            <a:endParaRPr lang="en-US" sz="394" dirty="0"/>
          </a:p>
        </p:txBody>
      </p:sp>
      <p:sp>
        <p:nvSpPr>
          <p:cNvPr id="52" name="Text 46"/>
          <p:cNvSpPr/>
          <p:nvPr/>
        </p:nvSpPr>
        <p:spPr>
          <a:xfrm>
            <a:off x="6620637" y="2458593"/>
            <a:ext cx="462915" cy="123444"/>
          </a:xfrm>
          <a:prstGeom prst="rect">
            <a:avLst/>
          </a:prstGeom>
          <a:noFill/>
          <a:ln/>
        </p:spPr>
        <p:txBody>
          <a:bodyPr wrap="square" lIns="0" tIns="0" rIns="0" bIns="0" rtlCol="0" anchor="ctr"/>
          <a:lstStyle/>
          <a:p>
            <a:pPr algn="ctr"/>
            <a:r>
              <a:rPr lang="en-US" sz="315" dirty="0">
                <a:solidFill>
                  <a:srgbClr val="E8EAF6"/>
                </a:solidFill>
                <a:latin typeface="Arial" pitchFamily="34" charset="0"/>
                <a:ea typeface="Arial" pitchFamily="34" charset="-122"/>
                <a:cs typeface="Arial" pitchFamily="34" charset="-120"/>
              </a:rPr>
              <a:t>tool call,</a:t>
            </a:r>
            <a:endParaRPr lang="en-US" sz="315" dirty="0"/>
          </a:p>
          <a:p>
            <a:pPr algn="ctr"/>
            <a:r>
              <a:rPr lang="en-US" sz="315" dirty="0">
                <a:solidFill>
                  <a:srgbClr val="E8EAF6"/>
                </a:solidFill>
                <a:latin typeface="Arial" pitchFamily="34" charset="0"/>
                <a:ea typeface="Arial" pitchFamily="34" charset="-122"/>
                <a:cs typeface="Arial" pitchFamily="34" charset="-120"/>
              </a:rPr>
              <a:t>SAP / PI / MES</a:t>
            </a:r>
            <a:endParaRPr lang="en-US" sz="315" dirty="0"/>
          </a:p>
        </p:txBody>
      </p:sp>
      <p:pic>
        <p:nvPicPr>
          <p:cNvPr id="53" name="Image 4" descr="/sessions/zealous-intelligent-mayer/mnt/outputs/icons5/l_act.png"/>
          <p:cNvPicPr>
            <a:picLocks noChangeAspect="1"/>
          </p:cNvPicPr>
          <p:nvPr/>
        </p:nvPicPr>
        <p:blipFill>
          <a:blip r:embed="rId7"/>
          <a:stretch>
            <a:fillRect/>
          </a:stretch>
        </p:blipFill>
        <p:spPr>
          <a:xfrm>
            <a:off x="6805803" y="2561463"/>
            <a:ext cx="92583" cy="92583"/>
          </a:xfrm>
          <a:prstGeom prst="rect">
            <a:avLst/>
          </a:prstGeom>
        </p:spPr>
      </p:pic>
      <p:sp>
        <p:nvSpPr>
          <p:cNvPr id="54" name="Shape 47"/>
          <p:cNvSpPr/>
          <p:nvPr/>
        </p:nvSpPr>
        <p:spPr>
          <a:xfrm>
            <a:off x="5735955" y="1573911"/>
            <a:ext cx="699516" cy="452628"/>
          </a:xfrm>
          <a:prstGeom prst="roundRect">
            <a:avLst>
              <a:gd name="adj" fmla="val 6818"/>
            </a:avLst>
          </a:prstGeom>
          <a:solidFill>
            <a:srgbClr val="160B26"/>
          </a:solidFill>
          <a:ln w="12700">
            <a:solidFill>
              <a:srgbClr val="C77DFF"/>
            </a:solidFill>
            <a:prstDash val="solid"/>
          </a:ln>
        </p:spPr>
      </p:sp>
      <p:sp>
        <p:nvSpPr>
          <p:cNvPr id="55" name="Text 48"/>
          <p:cNvSpPr/>
          <p:nvPr/>
        </p:nvSpPr>
        <p:spPr>
          <a:xfrm>
            <a:off x="5746242" y="1604772"/>
            <a:ext cx="678942" cy="102870"/>
          </a:xfrm>
          <a:prstGeom prst="rect">
            <a:avLst/>
          </a:prstGeom>
          <a:noFill/>
          <a:ln/>
        </p:spPr>
        <p:txBody>
          <a:bodyPr wrap="square" lIns="0" tIns="0" rIns="0" bIns="0" rtlCol="0" anchor="ctr"/>
          <a:lstStyle/>
          <a:p>
            <a:pPr algn="ctr"/>
            <a:r>
              <a:rPr lang="en-US" sz="506" b="1" dirty="0">
                <a:solidFill>
                  <a:srgbClr val="C77DFF"/>
                </a:solidFill>
                <a:latin typeface="Courier New" pitchFamily="34" charset="0"/>
                <a:ea typeface="Courier New" pitchFamily="34" charset="-122"/>
                <a:cs typeface="Courier New" pitchFamily="34" charset="-120"/>
              </a:rPr>
              <a:t>Agent Core</a:t>
            </a:r>
            <a:endParaRPr lang="en-US" sz="506" dirty="0"/>
          </a:p>
        </p:txBody>
      </p:sp>
      <p:pic>
        <p:nvPicPr>
          <p:cNvPr id="56" name="Image 5" descr="/sessions/zealous-intelligent-mayer/mnt/outputs/icons5/l_core.png"/>
          <p:cNvPicPr>
            <a:picLocks noChangeAspect="1"/>
          </p:cNvPicPr>
          <p:nvPr/>
        </p:nvPicPr>
        <p:blipFill>
          <a:blip r:embed="rId8"/>
          <a:stretch>
            <a:fillRect/>
          </a:stretch>
        </p:blipFill>
        <p:spPr>
          <a:xfrm>
            <a:off x="6018848" y="1717929"/>
            <a:ext cx="133731" cy="133731"/>
          </a:xfrm>
          <a:prstGeom prst="rect">
            <a:avLst/>
          </a:prstGeom>
        </p:spPr>
      </p:pic>
      <p:sp>
        <p:nvSpPr>
          <p:cNvPr id="57" name="Text 49"/>
          <p:cNvSpPr/>
          <p:nvPr/>
        </p:nvSpPr>
        <p:spPr>
          <a:xfrm>
            <a:off x="5746242" y="1882521"/>
            <a:ext cx="678942" cy="92583"/>
          </a:xfrm>
          <a:prstGeom prst="rect">
            <a:avLst/>
          </a:prstGeom>
          <a:noFill/>
          <a:ln/>
        </p:spPr>
        <p:txBody>
          <a:bodyPr wrap="square" lIns="0" tIns="0" rIns="0" bIns="0" rtlCol="0" anchor="ctr"/>
          <a:lstStyle/>
          <a:p>
            <a:pPr algn="ctr"/>
            <a:r>
              <a:rPr lang="en-US" sz="394" b="1" dirty="0">
                <a:solidFill>
                  <a:srgbClr val="E8EAF6"/>
                </a:solidFill>
                <a:latin typeface="Courier New" pitchFamily="34" charset="0"/>
                <a:ea typeface="Courier New" pitchFamily="34" charset="-122"/>
                <a:cs typeface="Courier New" pitchFamily="34" charset="-120"/>
              </a:rPr>
              <a:t>LLM  ↔  Tools</a:t>
            </a:r>
            <a:endParaRPr lang="en-US" sz="394" dirty="0"/>
          </a:p>
        </p:txBody>
      </p:sp>
      <p:sp>
        <p:nvSpPr>
          <p:cNvPr id="58" name="Shape 50"/>
          <p:cNvSpPr/>
          <p:nvPr/>
        </p:nvSpPr>
        <p:spPr>
          <a:xfrm>
            <a:off x="5705094" y="2088261"/>
            <a:ext cx="761238" cy="216027"/>
          </a:xfrm>
          <a:prstGeom prst="roundRect">
            <a:avLst>
              <a:gd name="adj" fmla="val 14286"/>
            </a:avLst>
          </a:prstGeom>
          <a:solidFill>
            <a:srgbClr val="0A1218"/>
          </a:solidFill>
          <a:ln w="12700">
            <a:solidFill>
              <a:srgbClr val="16505C"/>
            </a:solidFill>
            <a:prstDash val="solid"/>
          </a:ln>
        </p:spPr>
      </p:sp>
      <p:pic>
        <p:nvPicPr>
          <p:cNvPr id="59" name="Image 6" descr="/sessions/zealous-intelligent-mayer/mnt/outputs/icons5/l_cloud.png"/>
          <p:cNvPicPr>
            <a:picLocks noChangeAspect="1"/>
          </p:cNvPicPr>
          <p:nvPr/>
        </p:nvPicPr>
        <p:blipFill>
          <a:blip r:embed="rId9"/>
          <a:stretch>
            <a:fillRect/>
          </a:stretch>
        </p:blipFill>
        <p:spPr>
          <a:xfrm>
            <a:off x="5746242" y="2139696"/>
            <a:ext cx="92583" cy="92583"/>
          </a:xfrm>
          <a:prstGeom prst="rect">
            <a:avLst/>
          </a:prstGeom>
        </p:spPr>
      </p:pic>
      <p:sp>
        <p:nvSpPr>
          <p:cNvPr id="60" name="Text 51"/>
          <p:cNvSpPr/>
          <p:nvPr/>
        </p:nvSpPr>
        <p:spPr>
          <a:xfrm>
            <a:off x="5859399" y="2108835"/>
            <a:ext cx="576072" cy="174879"/>
          </a:xfrm>
          <a:prstGeom prst="rect">
            <a:avLst/>
          </a:prstGeom>
          <a:noFill/>
          <a:ln/>
        </p:spPr>
        <p:txBody>
          <a:bodyPr wrap="square" lIns="0" tIns="0" rIns="0" bIns="0" rtlCol="0" anchor="ctr"/>
          <a:lstStyle/>
          <a:p>
            <a:r>
              <a:rPr lang="en-US" sz="304" dirty="0">
                <a:solidFill>
                  <a:srgbClr val="8B93A7"/>
                </a:solidFill>
                <a:latin typeface="Arial" pitchFamily="34" charset="0"/>
                <a:ea typeface="Arial" pitchFamily="34" charset="-122"/>
                <a:cs typeface="Arial" pitchFamily="34" charset="-120"/>
              </a:rPr>
              <a:t>Runs on Azure AI</a:t>
            </a:r>
            <a:endParaRPr lang="en-US" sz="304" dirty="0"/>
          </a:p>
          <a:p>
            <a:r>
              <a:rPr lang="en-US" sz="304" dirty="0">
                <a:solidFill>
                  <a:srgbClr val="8B93A7"/>
                </a:solidFill>
                <a:latin typeface="Arial" pitchFamily="34" charset="0"/>
                <a:ea typeface="Arial" pitchFamily="34" charset="-122"/>
                <a:cs typeface="Arial" pitchFamily="34" charset="-120"/>
              </a:rPr>
              <a:t>Foundry Agent Service</a:t>
            </a:r>
            <a:endParaRPr lang="en-US" sz="304" dirty="0"/>
          </a:p>
        </p:txBody>
      </p:sp>
      <p:sp>
        <p:nvSpPr>
          <p:cNvPr id="61" name="Shape 52"/>
          <p:cNvSpPr/>
          <p:nvPr/>
        </p:nvSpPr>
        <p:spPr>
          <a:xfrm>
            <a:off x="5329619" y="1270444"/>
            <a:ext cx="0" cy="210884"/>
          </a:xfrm>
          <a:prstGeom prst="line">
            <a:avLst/>
          </a:prstGeom>
          <a:noFill/>
          <a:ln w="12700">
            <a:solidFill>
              <a:srgbClr val="22D3EE"/>
            </a:solidFill>
            <a:prstDash val="solid"/>
          </a:ln>
        </p:spPr>
      </p:sp>
      <p:sp>
        <p:nvSpPr>
          <p:cNvPr id="62" name="Shape 53"/>
          <p:cNvSpPr/>
          <p:nvPr/>
        </p:nvSpPr>
        <p:spPr>
          <a:xfrm>
            <a:off x="5329618" y="1270445"/>
            <a:ext cx="396050" cy="0"/>
          </a:xfrm>
          <a:prstGeom prst="line">
            <a:avLst/>
          </a:prstGeom>
          <a:noFill/>
          <a:ln w="12700">
            <a:solidFill>
              <a:srgbClr val="22D3EE"/>
            </a:solidFill>
            <a:prstDash val="solid"/>
            <a:tailEnd type="triangle"/>
          </a:ln>
        </p:spPr>
      </p:sp>
      <p:sp>
        <p:nvSpPr>
          <p:cNvPr id="63" name="Shape 54"/>
          <p:cNvSpPr/>
          <p:nvPr/>
        </p:nvSpPr>
        <p:spPr>
          <a:xfrm>
            <a:off x="6445758" y="1270445"/>
            <a:ext cx="406337" cy="0"/>
          </a:xfrm>
          <a:prstGeom prst="line">
            <a:avLst/>
          </a:prstGeom>
          <a:noFill/>
          <a:ln w="12700">
            <a:solidFill>
              <a:srgbClr val="22D3EE"/>
            </a:solidFill>
            <a:prstDash val="solid"/>
          </a:ln>
        </p:spPr>
      </p:sp>
      <p:sp>
        <p:nvSpPr>
          <p:cNvPr id="64" name="Shape 55"/>
          <p:cNvSpPr/>
          <p:nvPr/>
        </p:nvSpPr>
        <p:spPr>
          <a:xfrm>
            <a:off x="6852095" y="1270444"/>
            <a:ext cx="0" cy="210884"/>
          </a:xfrm>
          <a:prstGeom prst="line">
            <a:avLst/>
          </a:prstGeom>
          <a:noFill/>
          <a:ln w="12700">
            <a:solidFill>
              <a:srgbClr val="22D3EE"/>
            </a:solidFill>
            <a:prstDash val="solid"/>
            <a:tailEnd type="triangle"/>
          </a:ln>
        </p:spPr>
      </p:sp>
      <p:sp>
        <p:nvSpPr>
          <p:cNvPr id="65" name="Shape 56"/>
          <p:cNvSpPr/>
          <p:nvPr/>
        </p:nvSpPr>
        <p:spPr>
          <a:xfrm>
            <a:off x="6852095" y="1800225"/>
            <a:ext cx="0" cy="555498"/>
          </a:xfrm>
          <a:prstGeom prst="line">
            <a:avLst/>
          </a:prstGeom>
          <a:noFill/>
          <a:ln w="12700">
            <a:solidFill>
              <a:srgbClr val="22D3EE"/>
            </a:solidFill>
            <a:prstDash val="solid"/>
            <a:tailEnd type="triangle"/>
          </a:ln>
        </p:spPr>
      </p:sp>
      <p:sp>
        <p:nvSpPr>
          <p:cNvPr id="66" name="Shape 57"/>
          <p:cNvSpPr/>
          <p:nvPr/>
        </p:nvSpPr>
        <p:spPr>
          <a:xfrm>
            <a:off x="5591937" y="2515172"/>
            <a:ext cx="997839" cy="0"/>
          </a:xfrm>
          <a:prstGeom prst="line">
            <a:avLst/>
          </a:prstGeom>
          <a:noFill/>
          <a:ln w="12700">
            <a:solidFill>
              <a:srgbClr val="22D3EE"/>
            </a:solidFill>
            <a:prstDash val="solid"/>
            <a:headEnd type="triangle"/>
          </a:ln>
        </p:spPr>
      </p:sp>
      <p:sp>
        <p:nvSpPr>
          <p:cNvPr id="67" name="Shape 58"/>
          <p:cNvSpPr/>
          <p:nvPr/>
        </p:nvSpPr>
        <p:spPr>
          <a:xfrm>
            <a:off x="5329619" y="1800225"/>
            <a:ext cx="0" cy="555498"/>
          </a:xfrm>
          <a:prstGeom prst="line">
            <a:avLst/>
          </a:prstGeom>
          <a:noFill/>
          <a:ln w="12700">
            <a:solidFill>
              <a:srgbClr val="C77DFF"/>
            </a:solidFill>
            <a:prstDash val="solid"/>
            <a:headEnd type="triangle"/>
          </a:ln>
        </p:spPr>
      </p:sp>
      <p:sp>
        <p:nvSpPr>
          <p:cNvPr id="68" name="Shape 59"/>
          <p:cNvSpPr/>
          <p:nvPr/>
        </p:nvSpPr>
        <p:spPr>
          <a:xfrm>
            <a:off x="5077587" y="2746629"/>
            <a:ext cx="977265" cy="257175"/>
          </a:xfrm>
          <a:prstGeom prst="roundRect">
            <a:avLst>
              <a:gd name="adj" fmla="val 12000"/>
            </a:avLst>
          </a:prstGeom>
          <a:solidFill>
            <a:srgbClr val="0A1620"/>
          </a:solidFill>
          <a:ln w="12700">
            <a:solidFill>
              <a:srgbClr val="22D3EE"/>
            </a:solidFill>
            <a:prstDash val="solid"/>
          </a:ln>
        </p:spPr>
      </p:sp>
      <p:pic>
        <p:nvPicPr>
          <p:cNvPr id="69" name="Image 7" descr="/sessions/zealous-intelligent-mayer/mnt/outputs/icons5/l_book.png"/>
          <p:cNvPicPr>
            <a:picLocks noChangeAspect="1"/>
          </p:cNvPicPr>
          <p:nvPr/>
        </p:nvPicPr>
        <p:blipFill>
          <a:blip r:embed="rId10"/>
          <a:stretch>
            <a:fillRect/>
          </a:stretch>
        </p:blipFill>
        <p:spPr>
          <a:xfrm>
            <a:off x="5129022" y="2808351"/>
            <a:ext cx="102870" cy="102870"/>
          </a:xfrm>
          <a:prstGeom prst="rect">
            <a:avLst/>
          </a:prstGeom>
        </p:spPr>
      </p:pic>
      <p:sp>
        <p:nvSpPr>
          <p:cNvPr id="70" name="Text 60"/>
          <p:cNvSpPr/>
          <p:nvPr/>
        </p:nvSpPr>
        <p:spPr>
          <a:xfrm>
            <a:off x="5262753" y="2777490"/>
            <a:ext cx="750951" cy="195453"/>
          </a:xfrm>
          <a:prstGeom prst="rect">
            <a:avLst/>
          </a:prstGeom>
          <a:noFill/>
          <a:ln/>
        </p:spPr>
        <p:txBody>
          <a:bodyPr wrap="square" lIns="0" tIns="0" rIns="0" bIns="0" rtlCol="0" anchor="ctr"/>
          <a:lstStyle/>
          <a:p>
            <a:r>
              <a:rPr lang="en-US" sz="338" dirty="0">
                <a:solidFill>
                  <a:srgbClr val="E8EAF6"/>
                </a:solidFill>
                <a:latin typeface="Arial" pitchFamily="34" charset="0"/>
                <a:ea typeface="Arial" pitchFamily="34" charset="-122"/>
                <a:cs typeface="Arial" pitchFamily="34" charset="-120"/>
              </a:rPr>
              <a:t>Instructions &amp;</a:t>
            </a:r>
            <a:endParaRPr lang="en-US" sz="338" dirty="0"/>
          </a:p>
          <a:p>
            <a:r>
              <a:rPr lang="en-US" sz="338" dirty="0">
                <a:solidFill>
                  <a:srgbClr val="E8EAF6"/>
                </a:solidFill>
                <a:latin typeface="Arial" pitchFamily="34" charset="0"/>
                <a:ea typeface="Arial" pitchFamily="34" charset="-122"/>
                <a:cs typeface="Arial" pitchFamily="34" charset="-120"/>
              </a:rPr>
              <a:t>Domain Knowledge</a:t>
            </a:r>
            <a:endParaRPr lang="en-US" sz="338" dirty="0"/>
          </a:p>
        </p:txBody>
      </p:sp>
      <p:sp>
        <p:nvSpPr>
          <p:cNvPr id="71" name="Shape 61"/>
          <p:cNvSpPr/>
          <p:nvPr/>
        </p:nvSpPr>
        <p:spPr>
          <a:xfrm>
            <a:off x="6126861" y="2746629"/>
            <a:ext cx="977265" cy="257175"/>
          </a:xfrm>
          <a:prstGeom prst="roundRect">
            <a:avLst>
              <a:gd name="adj" fmla="val 12000"/>
            </a:avLst>
          </a:prstGeom>
          <a:solidFill>
            <a:srgbClr val="0A1620"/>
          </a:solidFill>
          <a:ln w="12700">
            <a:solidFill>
              <a:srgbClr val="22D3EE"/>
            </a:solidFill>
            <a:prstDash val="solid"/>
          </a:ln>
        </p:spPr>
      </p:sp>
      <p:pic>
        <p:nvPicPr>
          <p:cNvPr id="72" name="Image 8" descr="/sessions/zealous-intelligent-mayer/mnt/outputs/icons5/l_globe.png"/>
          <p:cNvPicPr>
            <a:picLocks noChangeAspect="1"/>
          </p:cNvPicPr>
          <p:nvPr/>
        </p:nvPicPr>
        <p:blipFill>
          <a:blip r:embed="rId11"/>
          <a:stretch>
            <a:fillRect/>
          </a:stretch>
        </p:blipFill>
        <p:spPr>
          <a:xfrm>
            <a:off x="6178296" y="2808351"/>
            <a:ext cx="102870" cy="102870"/>
          </a:xfrm>
          <a:prstGeom prst="rect">
            <a:avLst/>
          </a:prstGeom>
        </p:spPr>
      </p:pic>
      <p:sp>
        <p:nvSpPr>
          <p:cNvPr id="73" name="Text 62"/>
          <p:cNvSpPr/>
          <p:nvPr/>
        </p:nvSpPr>
        <p:spPr>
          <a:xfrm>
            <a:off x="6312027" y="2777490"/>
            <a:ext cx="750951" cy="195453"/>
          </a:xfrm>
          <a:prstGeom prst="rect">
            <a:avLst/>
          </a:prstGeom>
          <a:noFill/>
          <a:ln/>
        </p:spPr>
        <p:txBody>
          <a:bodyPr wrap="square" lIns="0" tIns="0" rIns="0" bIns="0" rtlCol="0" anchor="ctr"/>
          <a:lstStyle/>
          <a:p>
            <a:r>
              <a:rPr lang="en-US" sz="338" dirty="0">
                <a:solidFill>
                  <a:srgbClr val="E8EAF6"/>
                </a:solidFill>
                <a:latin typeface="Arial" pitchFamily="34" charset="0"/>
                <a:ea typeface="Arial" pitchFamily="34" charset="-122"/>
                <a:cs typeface="Arial" pitchFamily="34" charset="-120"/>
              </a:rPr>
              <a:t>External Tools</a:t>
            </a:r>
            <a:endParaRPr lang="en-US" sz="338" dirty="0"/>
          </a:p>
          <a:p>
            <a:r>
              <a:rPr lang="en-US" sz="338" dirty="0">
                <a:solidFill>
                  <a:srgbClr val="E8EAF6"/>
                </a:solidFill>
                <a:latin typeface="Arial" pitchFamily="34" charset="0"/>
                <a:ea typeface="Arial" pitchFamily="34" charset="-122"/>
                <a:cs typeface="Arial" pitchFamily="34" charset="-120"/>
              </a:rPr>
              <a:t>&amp; Plant Data</a:t>
            </a:r>
            <a:endParaRPr lang="en-US" sz="338" dirty="0"/>
          </a:p>
        </p:txBody>
      </p:sp>
      <p:sp>
        <p:nvSpPr>
          <p:cNvPr id="74" name="Shape 63"/>
          <p:cNvSpPr/>
          <p:nvPr/>
        </p:nvSpPr>
        <p:spPr>
          <a:xfrm>
            <a:off x="5329619" y="2674620"/>
            <a:ext cx="0" cy="72009"/>
          </a:xfrm>
          <a:prstGeom prst="line">
            <a:avLst/>
          </a:prstGeom>
          <a:noFill/>
          <a:ln w="12700">
            <a:solidFill>
              <a:srgbClr val="22D3EE"/>
            </a:solidFill>
            <a:prstDash val="solid"/>
            <a:headEnd type="triangle"/>
          </a:ln>
        </p:spPr>
      </p:sp>
      <p:sp>
        <p:nvSpPr>
          <p:cNvPr id="75" name="Shape 64"/>
          <p:cNvSpPr/>
          <p:nvPr/>
        </p:nvSpPr>
        <p:spPr>
          <a:xfrm>
            <a:off x="6852095" y="2674620"/>
            <a:ext cx="0" cy="72009"/>
          </a:xfrm>
          <a:prstGeom prst="line">
            <a:avLst/>
          </a:prstGeom>
          <a:noFill/>
          <a:ln w="12700">
            <a:solidFill>
              <a:srgbClr val="22D3EE"/>
            </a:solidFill>
            <a:prstDash val="solid"/>
            <a:headEnd type="triangle"/>
          </a:ln>
        </p:spPr>
      </p:sp>
      <p:sp>
        <p:nvSpPr>
          <p:cNvPr id="76" name="Shape 65"/>
          <p:cNvSpPr/>
          <p:nvPr/>
        </p:nvSpPr>
        <p:spPr>
          <a:xfrm>
            <a:off x="5098161" y="3240405"/>
            <a:ext cx="1975104" cy="318897"/>
          </a:xfrm>
          <a:prstGeom prst="roundRect">
            <a:avLst>
              <a:gd name="adj" fmla="val 9677"/>
            </a:avLst>
          </a:prstGeom>
          <a:solidFill>
            <a:srgbClr val="17081A"/>
          </a:solidFill>
          <a:ln w="12700">
            <a:solidFill>
              <a:srgbClr val="F472B6"/>
            </a:solidFill>
            <a:prstDash val="dash"/>
          </a:ln>
        </p:spPr>
      </p:sp>
      <p:sp>
        <p:nvSpPr>
          <p:cNvPr id="77" name="Text 66"/>
          <p:cNvSpPr/>
          <p:nvPr/>
        </p:nvSpPr>
        <p:spPr>
          <a:xfrm>
            <a:off x="5159883" y="3271266"/>
            <a:ext cx="1851660" cy="257175"/>
          </a:xfrm>
          <a:prstGeom prst="rect">
            <a:avLst/>
          </a:prstGeom>
          <a:noFill/>
          <a:ln/>
        </p:spPr>
        <p:txBody>
          <a:bodyPr wrap="square" lIns="0" tIns="0" rIns="0" bIns="0" rtlCol="0" anchor="ctr"/>
          <a:lstStyle/>
          <a:p>
            <a:pPr>
              <a:lnSpc>
                <a:spcPct val="105000"/>
              </a:lnSpc>
            </a:pPr>
            <a:r>
              <a:rPr lang="en-US" sz="371" i="1" dirty="0">
                <a:solidFill>
                  <a:srgbClr val="F472B6"/>
                </a:solidFill>
                <a:latin typeface="Arial" pitchFamily="34" charset="0"/>
                <a:ea typeface="Arial" pitchFamily="34" charset="-122"/>
                <a:cs typeface="Arial" pitchFamily="34" charset="-120"/>
              </a:rPr>
              <a:t>Plugins bundle Skills + Hooks + Subagents + MCP into one installable unit —</a:t>
            </a:r>
            <a:endParaRPr lang="en-US" sz="371" dirty="0"/>
          </a:p>
          <a:p>
            <a:pPr>
              <a:lnSpc>
                <a:spcPct val="105000"/>
              </a:lnSpc>
            </a:pPr>
            <a:r>
              <a:rPr lang="en-US" sz="371" i="1" dirty="0">
                <a:solidFill>
                  <a:srgbClr val="F472B6"/>
                </a:solidFill>
                <a:latin typeface="Arial" pitchFamily="34" charset="0"/>
                <a:ea typeface="Arial" pitchFamily="34" charset="-122"/>
                <a:cs typeface="Arial" pitchFamily="34" charset="-120"/>
              </a:rPr>
              <a:t>ship a validated Ball playbook to every plant at once</a:t>
            </a:r>
            <a:endParaRPr lang="en-US" sz="371" dirty="0"/>
          </a:p>
        </p:txBody>
      </p:sp>
      <p:sp>
        <p:nvSpPr>
          <p:cNvPr id="78" name="Shape 67"/>
          <p:cNvSpPr/>
          <p:nvPr/>
        </p:nvSpPr>
        <p:spPr>
          <a:xfrm>
            <a:off x="5015865" y="3631311"/>
            <a:ext cx="2139696" cy="1121283"/>
          </a:xfrm>
          <a:prstGeom prst="roundRect">
            <a:avLst>
              <a:gd name="adj" fmla="val 2752"/>
            </a:avLst>
          </a:prstGeom>
          <a:solidFill>
            <a:srgbClr val="0D0D18"/>
          </a:solidFill>
          <a:ln w="12700">
            <a:solidFill>
              <a:srgbClr val="22D3EE"/>
            </a:solidFill>
            <a:prstDash val="solid"/>
          </a:ln>
        </p:spPr>
      </p:sp>
      <p:sp>
        <p:nvSpPr>
          <p:cNvPr id="79" name="Shape 68"/>
          <p:cNvSpPr/>
          <p:nvPr/>
        </p:nvSpPr>
        <p:spPr>
          <a:xfrm>
            <a:off x="5067300" y="3672459"/>
            <a:ext cx="1080135" cy="138875"/>
          </a:xfrm>
          <a:prstGeom prst="roundRect">
            <a:avLst>
              <a:gd name="adj" fmla="val 14815"/>
            </a:avLst>
          </a:prstGeom>
          <a:solidFill>
            <a:srgbClr val="12121F"/>
          </a:solidFill>
          <a:ln w="12700">
            <a:solidFill>
              <a:srgbClr val="22D3EE"/>
            </a:solidFill>
            <a:prstDash val="solid"/>
          </a:ln>
        </p:spPr>
      </p:sp>
      <p:sp>
        <p:nvSpPr>
          <p:cNvPr id="80" name="Shape 69"/>
          <p:cNvSpPr/>
          <p:nvPr/>
        </p:nvSpPr>
        <p:spPr>
          <a:xfrm>
            <a:off x="5113591" y="3718750"/>
            <a:ext cx="46292" cy="46292"/>
          </a:xfrm>
          <a:prstGeom prst="roundRect">
            <a:avLst>
              <a:gd name="adj" fmla="val 22222"/>
            </a:avLst>
          </a:prstGeom>
          <a:solidFill>
            <a:srgbClr val="C77DFF"/>
          </a:solidFill>
          <a:ln/>
        </p:spPr>
      </p:sp>
      <p:sp>
        <p:nvSpPr>
          <p:cNvPr id="81" name="Text 70"/>
          <p:cNvSpPr/>
          <p:nvPr/>
        </p:nvSpPr>
        <p:spPr>
          <a:xfrm>
            <a:off x="5180457" y="3687889"/>
            <a:ext cx="925830" cy="108014"/>
          </a:xfrm>
          <a:prstGeom prst="rect">
            <a:avLst/>
          </a:prstGeom>
          <a:noFill/>
          <a:ln/>
        </p:spPr>
        <p:txBody>
          <a:bodyPr wrap="square" lIns="0" tIns="0" rIns="0" bIns="0" rtlCol="0" anchor="ctr"/>
          <a:lstStyle/>
          <a:p>
            <a:r>
              <a:rPr lang="en-US" sz="478" b="1" dirty="0">
                <a:solidFill>
                  <a:srgbClr val="E8EAF6"/>
                </a:solidFill>
                <a:latin typeface="Courier New" pitchFamily="34" charset="0"/>
                <a:ea typeface="Courier New" pitchFamily="34" charset="-122"/>
                <a:cs typeface="Courier New" pitchFamily="34" charset="-120"/>
              </a:rPr>
              <a:t>SECTION 5 — Subagents</a:t>
            </a:r>
            <a:endParaRPr lang="en-US" sz="478" dirty="0"/>
          </a:p>
        </p:txBody>
      </p:sp>
      <p:sp>
        <p:nvSpPr>
          <p:cNvPr id="82" name="Shape 71"/>
          <p:cNvSpPr/>
          <p:nvPr/>
        </p:nvSpPr>
        <p:spPr>
          <a:xfrm>
            <a:off x="5129022" y="3837051"/>
            <a:ext cx="1913382" cy="123444"/>
          </a:xfrm>
          <a:prstGeom prst="roundRect">
            <a:avLst>
              <a:gd name="adj" fmla="val 16667"/>
            </a:avLst>
          </a:prstGeom>
          <a:solidFill>
            <a:srgbClr val="0F0F1C"/>
          </a:solidFill>
          <a:ln w="12700">
            <a:solidFill>
              <a:srgbClr val="4ADE80"/>
            </a:solidFill>
            <a:prstDash val="solid"/>
          </a:ln>
        </p:spPr>
      </p:sp>
      <p:sp>
        <p:nvSpPr>
          <p:cNvPr id="83" name="Text 72"/>
          <p:cNvSpPr/>
          <p:nvPr/>
        </p:nvSpPr>
        <p:spPr>
          <a:xfrm>
            <a:off x="5154740" y="3837051"/>
            <a:ext cx="1861947" cy="123444"/>
          </a:xfrm>
          <a:prstGeom prst="rect">
            <a:avLst/>
          </a:prstGeom>
          <a:noFill/>
          <a:ln/>
        </p:spPr>
        <p:txBody>
          <a:bodyPr wrap="square" lIns="0" tIns="0" rIns="0" bIns="0" rtlCol="0" anchor="ctr"/>
          <a:lstStyle/>
          <a:p>
            <a:pPr algn="ctr"/>
            <a:r>
              <a:rPr lang="en-US" sz="371" b="1" dirty="0">
                <a:solidFill>
                  <a:srgbClr val="4ADE80"/>
                </a:solidFill>
                <a:latin typeface="Courier New" pitchFamily="34" charset="0"/>
                <a:ea typeface="Courier New" pitchFamily="34" charset="-122"/>
                <a:cs typeface="Courier New" pitchFamily="34" charset="-120"/>
              </a:rPr>
              <a:t>Subagents = DELEGATION (independent workers)</a:t>
            </a:r>
            <a:endParaRPr lang="en-US" sz="371" dirty="0"/>
          </a:p>
        </p:txBody>
      </p:sp>
      <p:sp>
        <p:nvSpPr>
          <p:cNvPr id="84" name="Text 73"/>
          <p:cNvSpPr/>
          <p:nvPr/>
        </p:nvSpPr>
        <p:spPr>
          <a:xfrm>
            <a:off x="5067300" y="3981069"/>
            <a:ext cx="2036826" cy="82296"/>
          </a:xfrm>
          <a:prstGeom prst="rect">
            <a:avLst/>
          </a:prstGeom>
          <a:noFill/>
          <a:ln/>
        </p:spPr>
        <p:txBody>
          <a:bodyPr wrap="square" lIns="0" tIns="0" rIns="0" bIns="0" rtlCol="0" anchor="ctr"/>
          <a:lstStyle/>
          <a:p>
            <a:pPr algn="ctr"/>
            <a:r>
              <a:rPr lang="en-US" sz="349" i="1" dirty="0">
                <a:solidFill>
                  <a:srgbClr val="8B93A7"/>
                </a:solidFill>
                <a:latin typeface="Arial" pitchFamily="34" charset="0"/>
                <a:ea typeface="Arial" pitchFamily="34" charset="-122"/>
                <a:cs typeface="Arial" pitchFamily="34" charset="-120"/>
              </a:rPr>
              <a:t>Isolated context — own model, own permissions, own tool allow-list</a:t>
            </a:r>
            <a:endParaRPr lang="en-US" sz="349" dirty="0"/>
          </a:p>
        </p:txBody>
      </p:sp>
      <p:sp>
        <p:nvSpPr>
          <p:cNvPr id="85" name="Shape 74"/>
          <p:cNvSpPr/>
          <p:nvPr/>
        </p:nvSpPr>
        <p:spPr>
          <a:xfrm>
            <a:off x="5098161" y="4083939"/>
            <a:ext cx="617220" cy="606933"/>
          </a:xfrm>
          <a:prstGeom prst="roundRect">
            <a:avLst>
              <a:gd name="adj" fmla="val 5085"/>
            </a:avLst>
          </a:prstGeom>
          <a:solidFill>
            <a:srgbClr val="12121F"/>
          </a:solidFill>
          <a:ln w="12700">
            <a:solidFill>
              <a:srgbClr val="16505C"/>
            </a:solidFill>
            <a:prstDash val="solid"/>
          </a:ln>
        </p:spPr>
      </p:sp>
      <p:pic>
        <p:nvPicPr>
          <p:cNvPr id="86" name="Image 9" descr="/sessions/zealous-intelligent-mayer/mnt/outputs/icons5/sa_bot.png"/>
          <p:cNvPicPr>
            <a:picLocks noChangeAspect="1"/>
          </p:cNvPicPr>
          <p:nvPr/>
        </p:nvPicPr>
        <p:blipFill>
          <a:blip r:embed="rId12"/>
          <a:stretch>
            <a:fillRect/>
          </a:stretch>
        </p:blipFill>
        <p:spPr>
          <a:xfrm>
            <a:off x="5139309" y="4114800"/>
            <a:ext cx="92583" cy="92583"/>
          </a:xfrm>
          <a:prstGeom prst="rect">
            <a:avLst/>
          </a:prstGeom>
        </p:spPr>
      </p:pic>
      <p:sp>
        <p:nvSpPr>
          <p:cNvPr id="87" name="Text 75"/>
          <p:cNvSpPr/>
          <p:nvPr/>
        </p:nvSpPr>
        <p:spPr>
          <a:xfrm>
            <a:off x="5252466" y="4104513"/>
            <a:ext cx="442341" cy="61722"/>
          </a:xfrm>
          <a:prstGeom prst="rect">
            <a:avLst/>
          </a:prstGeom>
          <a:noFill/>
          <a:ln/>
        </p:spPr>
        <p:txBody>
          <a:bodyPr wrap="square" lIns="0" tIns="0" rIns="0" bIns="0" rtlCol="0" anchor="ctr"/>
          <a:lstStyle/>
          <a:p>
            <a:r>
              <a:rPr lang="en-US" sz="304" dirty="0">
                <a:solidFill>
                  <a:srgbClr val="8B93A7"/>
                </a:solidFill>
                <a:latin typeface="Courier New" pitchFamily="34" charset="0"/>
                <a:ea typeface="Courier New" pitchFamily="34" charset="-122"/>
                <a:cs typeface="Courier New" pitchFamily="34" charset="-120"/>
              </a:rPr>
              <a:t>Subagent 1:</a:t>
            </a:r>
            <a:endParaRPr lang="en-US" sz="304" dirty="0"/>
          </a:p>
        </p:txBody>
      </p:sp>
      <p:sp>
        <p:nvSpPr>
          <p:cNvPr id="88" name="Text 76"/>
          <p:cNvSpPr/>
          <p:nvPr/>
        </p:nvSpPr>
        <p:spPr>
          <a:xfrm>
            <a:off x="5252466" y="4166235"/>
            <a:ext cx="442341" cy="61722"/>
          </a:xfrm>
          <a:prstGeom prst="rect">
            <a:avLst/>
          </a:prstGeom>
          <a:noFill/>
          <a:ln/>
        </p:spPr>
        <p:txBody>
          <a:bodyPr wrap="square" lIns="0" tIns="0" rIns="0" bIns="0" rtlCol="0" anchor="ctr"/>
          <a:lstStyle/>
          <a:p>
            <a:r>
              <a:rPr lang="en-US" sz="326" b="1" dirty="0">
                <a:solidFill>
                  <a:srgbClr val="22D3EE"/>
                </a:solidFill>
                <a:latin typeface="Courier New" pitchFamily="34" charset="0"/>
                <a:ea typeface="Courier New" pitchFamily="34" charset="-122"/>
                <a:cs typeface="Courier New" pitchFamily="34" charset="-120"/>
              </a:rPr>
              <a:t>Quality Analyst</a:t>
            </a:r>
            <a:endParaRPr lang="en-US" sz="326" dirty="0"/>
          </a:p>
        </p:txBody>
      </p:sp>
      <p:sp>
        <p:nvSpPr>
          <p:cNvPr id="89" name="Shape 77"/>
          <p:cNvSpPr/>
          <p:nvPr/>
        </p:nvSpPr>
        <p:spPr>
          <a:xfrm>
            <a:off x="5139309" y="4269105"/>
            <a:ext cx="534924" cy="0"/>
          </a:xfrm>
          <a:prstGeom prst="line">
            <a:avLst/>
          </a:prstGeom>
          <a:noFill/>
          <a:ln w="12700">
            <a:solidFill>
              <a:srgbClr val="2A2A3C"/>
            </a:solidFill>
            <a:prstDash val="dash"/>
          </a:ln>
        </p:spPr>
      </p:sp>
      <p:sp>
        <p:nvSpPr>
          <p:cNvPr id="90" name="Text 78"/>
          <p:cNvSpPr/>
          <p:nvPr/>
        </p:nvSpPr>
        <p:spPr>
          <a:xfrm>
            <a:off x="5139309" y="4299966"/>
            <a:ext cx="534924" cy="61722"/>
          </a:xfrm>
          <a:prstGeom prst="rect">
            <a:avLst/>
          </a:prstGeom>
          <a:noFill/>
          <a:ln/>
        </p:spPr>
        <p:txBody>
          <a:bodyPr wrap="square" lIns="0" tIns="0" rIns="0" bIns="0" rtlCol="0" anchor="ctr"/>
          <a:lstStyle/>
          <a:p>
            <a:r>
              <a:rPr lang="en-US" sz="315" b="1" dirty="0">
                <a:solidFill>
                  <a:srgbClr val="4ADE80"/>
                </a:solidFill>
                <a:latin typeface="Courier New" pitchFamily="34" charset="0"/>
                <a:ea typeface="Courier New" pitchFamily="34" charset="-122"/>
                <a:cs typeface="Courier New" pitchFamily="34" charset="-120"/>
              </a:rPr>
              <a:t>Tools:</a:t>
            </a:r>
            <a:endParaRPr lang="en-US" sz="315" dirty="0"/>
          </a:p>
        </p:txBody>
      </p:sp>
      <p:sp>
        <p:nvSpPr>
          <p:cNvPr id="91" name="Text 79"/>
          <p:cNvSpPr/>
          <p:nvPr/>
        </p:nvSpPr>
        <p:spPr>
          <a:xfrm>
            <a:off x="5139309" y="4371975"/>
            <a:ext cx="534924" cy="144018"/>
          </a:xfrm>
          <a:prstGeom prst="rect">
            <a:avLst/>
          </a:prstGeom>
          <a:noFill/>
          <a:ln/>
        </p:spPr>
        <p:txBody>
          <a:bodyPr wrap="square" lIns="0" tIns="0" rIns="0" bIns="0" rtlCol="0" anchor="ctr"/>
          <a:lstStyle/>
          <a:p>
            <a:r>
              <a:rPr lang="en-US" sz="315" dirty="0">
                <a:solidFill>
                  <a:srgbClr val="E8EAF6"/>
                </a:solidFill>
                <a:latin typeface="Arial" pitchFamily="34" charset="0"/>
                <a:ea typeface="Arial" pitchFamily="34" charset="-122"/>
                <a:cs typeface="Arial" pitchFamily="34" charset="-120"/>
              </a:rPr>
              <a:t>Read, PI Query,</a:t>
            </a:r>
            <a:endParaRPr lang="en-US" sz="315" dirty="0"/>
          </a:p>
          <a:p>
            <a:r>
              <a:rPr lang="en-US" sz="315" dirty="0">
                <a:solidFill>
                  <a:srgbClr val="E8EAF6"/>
                </a:solidFill>
                <a:latin typeface="Arial" pitchFamily="34" charset="0"/>
                <a:ea typeface="Arial" pitchFamily="34" charset="-122"/>
                <a:cs typeface="Arial" pitchFamily="34" charset="-120"/>
              </a:rPr>
              <a:t>SPC charts</a:t>
            </a:r>
            <a:endParaRPr lang="en-US" sz="315" dirty="0"/>
          </a:p>
        </p:txBody>
      </p:sp>
      <p:sp>
        <p:nvSpPr>
          <p:cNvPr id="92" name="Text 80"/>
          <p:cNvSpPr/>
          <p:nvPr/>
        </p:nvSpPr>
        <p:spPr>
          <a:xfrm>
            <a:off x="5139309" y="4557141"/>
            <a:ext cx="205740" cy="72009"/>
          </a:xfrm>
          <a:prstGeom prst="rect">
            <a:avLst/>
          </a:prstGeom>
          <a:noFill/>
          <a:ln/>
        </p:spPr>
        <p:txBody>
          <a:bodyPr wrap="square" lIns="0" tIns="0" rIns="0" bIns="0" rtlCol="0" anchor="ctr"/>
          <a:lstStyle/>
          <a:p>
            <a:r>
              <a:rPr lang="en-US" sz="366" b="1" dirty="0">
                <a:solidFill>
                  <a:srgbClr val="22D3EE"/>
                </a:solidFill>
                <a:latin typeface="Courier New" pitchFamily="34" charset="0"/>
                <a:ea typeface="Courier New" pitchFamily="34" charset="-122"/>
                <a:cs typeface="Courier New" pitchFamily="34" charset="-120"/>
              </a:rPr>
              <a:t>&gt;_</a:t>
            </a:r>
            <a:endParaRPr lang="en-US" sz="366" dirty="0"/>
          </a:p>
        </p:txBody>
      </p:sp>
      <p:sp>
        <p:nvSpPr>
          <p:cNvPr id="93" name="Shape 81"/>
          <p:cNvSpPr/>
          <p:nvPr/>
        </p:nvSpPr>
        <p:spPr>
          <a:xfrm>
            <a:off x="5777103" y="4083939"/>
            <a:ext cx="617220" cy="606933"/>
          </a:xfrm>
          <a:prstGeom prst="roundRect">
            <a:avLst>
              <a:gd name="adj" fmla="val 5085"/>
            </a:avLst>
          </a:prstGeom>
          <a:solidFill>
            <a:srgbClr val="12121F"/>
          </a:solidFill>
          <a:ln w="12700">
            <a:solidFill>
              <a:srgbClr val="16505C"/>
            </a:solidFill>
            <a:prstDash val="solid"/>
          </a:ln>
        </p:spPr>
      </p:sp>
      <p:pic>
        <p:nvPicPr>
          <p:cNvPr id="94" name="Image 10" descr="/sessions/zealous-intelligent-mayer/mnt/outputs/icons5/sa_bot.png"/>
          <p:cNvPicPr>
            <a:picLocks noChangeAspect="1"/>
          </p:cNvPicPr>
          <p:nvPr/>
        </p:nvPicPr>
        <p:blipFill>
          <a:blip r:embed="rId12"/>
          <a:stretch>
            <a:fillRect/>
          </a:stretch>
        </p:blipFill>
        <p:spPr>
          <a:xfrm>
            <a:off x="5818251" y="4114800"/>
            <a:ext cx="92583" cy="92583"/>
          </a:xfrm>
          <a:prstGeom prst="rect">
            <a:avLst/>
          </a:prstGeom>
        </p:spPr>
      </p:pic>
      <p:sp>
        <p:nvSpPr>
          <p:cNvPr id="95" name="Text 82"/>
          <p:cNvSpPr/>
          <p:nvPr/>
        </p:nvSpPr>
        <p:spPr>
          <a:xfrm>
            <a:off x="5931408" y="4104513"/>
            <a:ext cx="442341" cy="61722"/>
          </a:xfrm>
          <a:prstGeom prst="rect">
            <a:avLst/>
          </a:prstGeom>
          <a:noFill/>
          <a:ln/>
        </p:spPr>
        <p:txBody>
          <a:bodyPr wrap="square" lIns="0" tIns="0" rIns="0" bIns="0" rtlCol="0" anchor="ctr"/>
          <a:lstStyle/>
          <a:p>
            <a:r>
              <a:rPr lang="en-US" sz="304" dirty="0">
                <a:solidFill>
                  <a:srgbClr val="8B93A7"/>
                </a:solidFill>
                <a:latin typeface="Courier New" pitchFamily="34" charset="0"/>
                <a:ea typeface="Courier New" pitchFamily="34" charset="-122"/>
                <a:cs typeface="Courier New" pitchFamily="34" charset="-120"/>
              </a:rPr>
              <a:t>Subagent 2:</a:t>
            </a:r>
            <a:endParaRPr lang="en-US" sz="304" dirty="0"/>
          </a:p>
        </p:txBody>
      </p:sp>
      <p:sp>
        <p:nvSpPr>
          <p:cNvPr id="96" name="Text 83"/>
          <p:cNvSpPr/>
          <p:nvPr/>
        </p:nvSpPr>
        <p:spPr>
          <a:xfrm>
            <a:off x="5931408" y="4166235"/>
            <a:ext cx="442341" cy="61722"/>
          </a:xfrm>
          <a:prstGeom prst="rect">
            <a:avLst/>
          </a:prstGeom>
          <a:noFill/>
          <a:ln/>
        </p:spPr>
        <p:txBody>
          <a:bodyPr wrap="square" lIns="0" tIns="0" rIns="0" bIns="0" rtlCol="0" anchor="ctr"/>
          <a:lstStyle/>
          <a:p>
            <a:r>
              <a:rPr lang="en-US" sz="326" b="1" dirty="0">
                <a:solidFill>
                  <a:srgbClr val="22D3EE"/>
                </a:solidFill>
                <a:latin typeface="Courier New" pitchFamily="34" charset="0"/>
                <a:ea typeface="Courier New" pitchFamily="34" charset="-122"/>
                <a:cs typeface="Courier New" pitchFamily="34" charset="-120"/>
              </a:rPr>
              <a:t>Supply Planner</a:t>
            </a:r>
            <a:endParaRPr lang="en-US" sz="326" dirty="0"/>
          </a:p>
        </p:txBody>
      </p:sp>
      <p:sp>
        <p:nvSpPr>
          <p:cNvPr id="97" name="Shape 84"/>
          <p:cNvSpPr/>
          <p:nvPr/>
        </p:nvSpPr>
        <p:spPr>
          <a:xfrm>
            <a:off x="5818251" y="4269105"/>
            <a:ext cx="534924" cy="0"/>
          </a:xfrm>
          <a:prstGeom prst="line">
            <a:avLst/>
          </a:prstGeom>
          <a:noFill/>
          <a:ln w="12700">
            <a:solidFill>
              <a:srgbClr val="2A2A3C"/>
            </a:solidFill>
            <a:prstDash val="dash"/>
          </a:ln>
        </p:spPr>
      </p:sp>
      <p:sp>
        <p:nvSpPr>
          <p:cNvPr id="98" name="Text 85"/>
          <p:cNvSpPr/>
          <p:nvPr/>
        </p:nvSpPr>
        <p:spPr>
          <a:xfrm>
            <a:off x="5818251" y="4299966"/>
            <a:ext cx="534924" cy="61722"/>
          </a:xfrm>
          <a:prstGeom prst="rect">
            <a:avLst/>
          </a:prstGeom>
          <a:noFill/>
          <a:ln/>
        </p:spPr>
        <p:txBody>
          <a:bodyPr wrap="square" lIns="0" tIns="0" rIns="0" bIns="0" rtlCol="0" anchor="ctr"/>
          <a:lstStyle/>
          <a:p>
            <a:r>
              <a:rPr lang="en-US" sz="315" b="1" dirty="0">
                <a:solidFill>
                  <a:srgbClr val="4ADE80"/>
                </a:solidFill>
                <a:latin typeface="Courier New" pitchFamily="34" charset="0"/>
                <a:ea typeface="Courier New" pitchFamily="34" charset="-122"/>
                <a:cs typeface="Courier New" pitchFamily="34" charset="-120"/>
              </a:rPr>
              <a:t>Tools:</a:t>
            </a:r>
            <a:endParaRPr lang="en-US" sz="315" dirty="0"/>
          </a:p>
        </p:txBody>
      </p:sp>
      <p:sp>
        <p:nvSpPr>
          <p:cNvPr id="99" name="Text 86"/>
          <p:cNvSpPr/>
          <p:nvPr/>
        </p:nvSpPr>
        <p:spPr>
          <a:xfrm>
            <a:off x="5818251" y="4371975"/>
            <a:ext cx="534924" cy="144018"/>
          </a:xfrm>
          <a:prstGeom prst="rect">
            <a:avLst/>
          </a:prstGeom>
          <a:noFill/>
          <a:ln/>
        </p:spPr>
        <p:txBody>
          <a:bodyPr wrap="square" lIns="0" tIns="0" rIns="0" bIns="0" rtlCol="0" anchor="ctr"/>
          <a:lstStyle/>
          <a:p>
            <a:r>
              <a:rPr lang="en-US" sz="315" dirty="0">
                <a:solidFill>
                  <a:srgbClr val="E8EAF6"/>
                </a:solidFill>
                <a:latin typeface="Arial" pitchFamily="34" charset="0"/>
                <a:ea typeface="Arial" pitchFamily="34" charset="-122"/>
                <a:cs typeface="Arial" pitchFamily="34" charset="-120"/>
              </a:rPr>
              <a:t>SAP, Coupa,</a:t>
            </a:r>
            <a:endParaRPr lang="en-US" sz="315" dirty="0"/>
          </a:p>
          <a:p>
            <a:r>
              <a:rPr lang="en-US" sz="315" dirty="0">
                <a:solidFill>
                  <a:srgbClr val="E8EAF6"/>
                </a:solidFill>
                <a:latin typeface="Arial" pitchFamily="34" charset="0"/>
                <a:ea typeface="Arial" pitchFamily="34" charset="-122"/>
                <a:cs typeface="Arial" pitchFamily="34" charset="-120"/>
              </a:rPr>
              <a:t>Fabric SQL</a:t>
            </a:r>
            <a:endParaRPr lang="en-US" sz="315" dirty="0"/>
          </a:p>
        </p:txBody>
      </p:sp>
      <p:sp>
        <p:nvSpPr>
          <p:cNvPr id="100" name="Text 87"/>
          <p:cNvSpPr/>
          <p:nvPr/>
        </p:nvSpPr>
        <p:spPr>
          <a:xfrm>
            <a:off x="5818251" y="4557141"/>
            <a:ext cx="205740" cy="72009"/>
          </a:xfrm>
          <a:prstGeom prst="rect">
            <a:avLst/>
          </a:prstGeom>
          <a:noFill/>
          <a:ln/>
        </p:spPr>
        <p:txBody>
          <a:bodyPr wrap="square" lIns="0" tIns="0" rIns="0" bIns="0" rtlCol="0" anchor="ctr"/>
          <a:lstStyle/>
          <a:p>
            <a:r>
              <a:rPr lang="en-US" sz="366" b="1" dirty="0">
                <a:solidFill>
                  <a:srgbClr val="22D3EE"/>
                </a:solidFill>
                <a:latin typeface="Courier New" pitchFamily="34" charset="0"/>
                <a:ea typeface="Courier New" pitchFamily="34" charset="-122"/>
                <a:cs typeface="Courier New" pitchFamily="34" charset="-120"/>
              </a:rPr>
              <a:t>&gt;_</a:t>
            </a:r>
            <a:endParaRPr lang="en-US" sz="366" dirty="0"/>
          </a:p>
        </p:txBody>
      </p:sp>
      <p:sp>
        <p:nvSpPr>
          <p:cNvPr id="101" name="Shape 88"/>
          <p:cNvSpPr/>
          <p:nvPr/>
        </p:nvSpPr>
        <p:spPr>
          <a:xfrm>
            <a:off x="6456045" y="4083939"/>
            <a:ext cx="617220" cy="606933"/>
          </a:xfrm>
          <a:prstGeom prst="roundRect">
            <a:avLst>
              <a:gd name="adj" fmla="val 5085"/>
            </a:avLst>
          </a:prstGeom>
          <a:solidFill>
            <a:srgbClr val="12121F"/>
          </a:solidFill>
          <a:ln w="12700">
            <a:solidFill>
              <a:srgbClr val="16505C"/>
            </a:solidFill>
            <a:prstDash val="solid"/>
          </a:ln>
        </p:spPr>
      </p:sp>
      <p:pic>
        <p:nvPicPr>
          <p:cNvPr id="102" name="Image 11" descr="/sessions/zealous-intelligent-mayer/mnt/outputs/icons5/sa_bot.png"/>
          <p:cNvPicPr>
            <a:picLocks noChangeAspect="1"/>
          </p:cNvPicPr>
          <p:nvPr/>
        </p:nvPicPr>
        <p:blipFill>
          <a:blip r:embed="rId12"/>
          <a:stretch>
            <a:fillRect/>
          </a:stretch>
        </p:blipFill>
        <p:spPr>
          <a:xfrm>
            <a:off x="6497193" y="4114800"/>
            <a:ext cx="92583" cy="92583"/>
          </a:xfrm>
          <a:prstGeom prst="rect">
            <a:avLst/>
          </a:prstGeom>
        </p:spPr>
      </p:pic>
      <p:sp>
        <p:nvSpPr>
          <p:cNvPr id="103" name="Text 89"/>
          <p:cNvSpPr/>
          <p:nvPr/>
        </p:nvSpPr>
        <p:spPr>
          <a:xfrm>
            <a:off x="6610350" y="4104513"/>
            <a:ext cx="442341" cy="61722"/>
          </a:xfrm>
          <a:prstGeom prst="rect">
            <a:avLst/>
          </a:prstGeom>
          <a:noFill/>
          <a:ln/>
        </p:spPr>
        <p:txBody>
          <a:bodyPr wrap="square" lIns="0" tIns="0" rIns="0" bIns="0" rtlCol="0" anchor="ctr"/>
          <a:lstStyle/>
          <a:p>
            <a:r>
              <a:rPr lang="en-US" sz="304" dirty="0">
                <a:solidFill>
                  <a:srgbClr val="8B93A7"/>
                </a:solidFill>
                <a:latin typeface="Courier New" pitchFamily="34" charset="0"/>
                <a:ea typeface="Courier New" pitchFamily="34" charset="-122"/>
                <a:cs typeface="Courier New" pitchFamily="34" charset="-120"/>
              </a:rPr>
              <a:t>Subagent 3:</a:t>
            </a:r>
            <a:endParaRPr lang="en-US" sz="304" dirty="0"/>
          </a:p>
        </p:txBody>
      </p:sp>
      <p:sp>
        <p:nvSpPr>
          <p:cNvPr id="104" name="Text 90"/>
          <p:cNvSpPr/>
          <p:nvPr/>
        </p:nvSpPr>
        <p:spPr>
          <a:xfrm>
            <a:off x="6610350" y="4166235"/>
            <a:ext cx="442341" cy="61722"/>
          </a:xfrm>
          <a:prstGeom prst="rect">
            <a:avLst/>
          </a:prstGeom>
          <a:noFill/>
          <a:ln/>
        </p:spPr>
        <p:txBody>
          <a:bodyPr wrap="square" lIns="0" tIns="0" rIns="0" bIns="0" rtlCol="0" anchor="ctr"/>
          <a:lstStyle/>
          <a:p>
            <a:r>
              <a:rPr lang="en-US" sz="326" b="1" dirty="0">
                <a:solidFill>
                  <a:srgbClr val="22D3EE"/>
                </a:solidFill>
                <a:latin typeface="Courier New" pitchFamily="34" charset="0"/>
                <a:ea typeface="Courier New" pitchFamily="34" charset="-122"/>
                <a:cs typeface="Courier New" pitchFamily="34" charset="-120"/>
              </a:rPr>
              <a:t>Sustainability</a:t>
            </a:r>
            <a:endParaRPr lang="en-US" sz="326" dirty="0"/>
          </a:p>
        </p:txBody>
      </p:sp>
      <p:sp>
        <p:nvSpPr>
          <p:cNvPr id="105" name="Shape 91"/>
          <p:cNvSpPr/>
          <p:nvPr/>
        </p:nvSpPr>
        <p:spPr>
          <a:xfrm>
            <a:off x="6497193" y="4269105"/>
            <a:ext cx="534924" cy="0"/>
          </a:xfrm>
          <a:prstGeom prst="line">
            <a:avLst/>
          </a:prstGeom>
          <a:noFill/>
          <a:ln w="12700">
            <a:solidFill>
              <a:srgbClr val="2A2A3C"/>
            </a:solidFill>
            <a:prstDash val="dash"/>
          </a:ln>
        </p:spPr>
      </p:sp>
      <p:sp>
        <p:nvSpPr>
          <p:cNvPr id="106" name="Text 92"/>
          <p:cNvSpPr/>
          <p:nvPr/>
        </p:nvSpPr>
        <p:spPr>
          <a:xfrm>
            <a:off x="6497193" y="4299966"/>
            <a:ext cx="534924" cy="61722"/>
          </a:xfrm>
          <a:prstGeom prst="rect">
            <a:avLst/>
          </a:prstGeom>
          <a:noFill/>
          <a:ln/>
        </p:spPr>
        <p:txBody>
          <a:bodyPr wrap="square" lIns="0" tIns="0" rIns="0" bIns="0" rtlCol="0" anchor="ctr"/>
          <a:lstStyle/>
          <a:p>
            <a:r>
              <a:rPr lang="en-US" sz="315" b="1" dirty="0">
                <a:solidFill>
                  <a:srgbClr val="4ADE80"/>
                </a:solidFill>
                <a:latin typeface="Courier New" pitchFamily="34" charset="0"/>
                <a:ea typeface="Courier New" pitchFamily="34" charset="-122"/>
                <a:cs typeface="Courier New" pitchFamily="34" charset="-120"/>
              </a:rPr>
              <a:t>Tools:</a:t>
            </a:r>
            <a:endParaRPr lang="en-US" sz="315" dirty="0"/>
          </a:p>
        </p:txBody>
      </p:sp>
      <p:sp>
        <p:nvSpPr>
          <p:cNvPr id="107" name="Text 93"/>
          <p:cNvSpPr/>
          <p:nvPr/>
        </p:nvSpPr>
        <p:spPr>
          <a:xfrm>
            <a:off x="6497193" y="4371975"/>
            <a:ext cx="534924" cy="144018"/>
          </a:xfrm>
          <a:prstGeom prst="rect">
            <a:avLst/>
          </a:prstGeom>
          <a:noFill/>
          <a:ln/>
        </p:spPr>
        <p:txBody>
          <a:bodyPr wrap="square" lIns="0" tIns="0" rIns="0" bIns="0" rtlCol="0" anchor="ctr"/>
          <a:lstStyle/>
          <a:p>
            <a:r>
              <a:rPr lang="en-US" sz="315" dirty="0">
                <a:solidFill>
                  <a:srgbClr val="E8EAF6"/>
                </a:solidFill>
                <a:latin typeface="Arial" pitchFamily="34" charset="0"/>
                <a:ea typeface="Arial" pitchFamily="34" charset="-122"/>
                <a:cs typeface="Arial" pitchFamily="34" charset="-120"/>
              </a:rPr>
              <a:t>Fabric, Docs,</a:t>
            </a:r>
            <a:endParaRPr lang="en-US" sz="315" dirty="0"/>
          </a:p>
          <a:p>
            <a:r>
              <a:rPr lang="en-US" sz="315" dirty="0">
                <a:solidFill>
                  <a:srgbClr val="E8EAF6"/>
                </a:solidFill>
                <a:latin typeface="Arial" pitchFamily="34" charset="0"/>
                <a:ea typeface="Arial" pitchFamily="34" charset="-122"/>
                <a:cs typeface="Arial" pitchFamily="34" charset="-120"/>
              </a:rPr>
              <a:t>Purview</a:t>
            </a:r>
            <a:endParaRPr lang="en-US" sz="315" dirty="0"/>
          </a:p>
        </p:txBody>
      </p:sp>
      <p:sp>
        <p:nvSpPr>
          <p:cNvPr id="108" name="Text 94"/>
          <p:cNvSpPr/>
          <p:nvPr/>
        </p:nvSpPr>
        <p:spPr>
          <a:xfrm>
            <a:off x="6497193" y="4557141"/>
            <a:ext cx="205740" cy="72009"/>
          </a:xfrm>
          <a:prstGeom prst="rect">
            <a:avLst/>
          </a:prstGeom>
          <a:noFill/>
          <a:ln/>
        </p:spPr>
        <p:txBody>
          <a:bodyPr wrap="square" lIns="0" tIns="0" rIns="0" bIns="0" rtlCol="0" anchor="ctr"/>
          <a:lstStyle/>
          <a:p>
            <a:r>
              <a:rPr lang="en-US" sz="366" b="1" dirty="0">
                <a:solidFill>
                  <a:srgbClr val="22D3EE"/>
                </a:solidFill>
                <a:latin typeface="Courier New" pitchFamily="34" charset="0"/>
                <a:ea typeface="Courier New" pitchFamily="34" charset="-122"/>
                <a:cs typeface="Courier New" pitchFamily="34" charset="-120"/>
              </a:rPr>
              <a:t>&gt;_</a:t>
            </a:r>
            <a:endParaRPr lang="en-US" sz="366" dirty="0"/>
          </a:p>
        </p:txBody>
      </p:sp>
      <p:sp>
        <p:nvSpPr>
          <p:cNvPr id="109" name="Shape 95"/>
          <p:cNvSpPr/>
          <p:nvPr/>
        </p:nvSpPr>
        <p:spPr>
          <a:xfrm>
            <a:off x="5015865" y="4824603"/>
            <a:ext cx="2139696" cy="1759077"/>
          </a:xfrm>
          <a:prstGeom prst="roundRect">
            <a:avLst>
              <a:gd name="adj" fmla="val 1754"/>
            </a:avLst>
          </a:prstGeom>
          <a:solidFill>
            <a:srgbClr val="0D0D18"/>
          </a:solidFill>
          <a:ln w="12700">
            <a:solidFill>
              <a:srgbClr val="22D3EE"/>
            </a:solidFill>
            <a:prstDash val="solid"/>
          </a:ln>
        </p:spPr>
      </p:sp>
      <p:sp>
        <p:nvSpPr>
          <p:cNvPr id="110" name="Shape 96"/>
          <p:cNvSpPr/>
          <p:nvPr/>
        </p:nvSpPr>
        <p:spPr>
          <a:xfrm>
            <a:off x="5067300" y="4865751"/>
            <a:ext cx="1347597" cy="138875"/>
          </a:xfrm>
          <a:prstGeom prst="roundRect">
            <a:avLst>
              <a:gd name="adj" fmla="val 14815"/>
            </a:avLst>
          </a:prstGeom>
          <a:solidFill>
            <a:srgbClr val="12121F"/>
          </a:solidFill>
          <a:ln w="12700">
            <a:solidFill>
              <a:srgbClr val="22D3EE"/>
            </a:solidFill>
            <a:prstDash val="solid"/>
          </a:ln>
        </p:spPr>
      </p:sp>
      <p:sp>
        <p:nvSpPr>
          <p:cNvPr id="111" name="Shape 97"/>
          <p:cNvSpPr/>
          <p:nvPr/>
        </p:nvSpPr>
        <p:spPr>
          <a:xfrm>
            <a:off x="5113591" y="4912042"/>
            <a:ext cx="46292" cy="46292"/>
          </a:xfrm>
          <a:prstGeom prst="roundRect">
            <a:avLst>
              <a:gd name="adj" fmla="val 22222"/>
            </a:avLst>
          </a:prstGeom>
          <a:solidFill>
            <a:srgbClr val="C77DFF"/>
          </a:solidFill>
          <a:ln/>
        </p:spPr>
      </p:sp>
      <p:sp>
        <p:nvSpPr>
          <p:cNvPr id="112" name="Text 98"/>
          <p:cNvSpPr/>
          <p:nvPr/>
        </p:nvSpPr>
        <p:spPr>
          <a:xfrm>
            <a:off x="5180457" y="4881181"/>
            <a:ext cx="1193292" cy="108014"/>
          </a:xfrm>
          <a:prstGeom prst="rect">
            <a:avLst/>
          </a:prstGeom>
          <a:noFill/>
          <a:ln/>
        </p:spPr>
        <p:txBody>
          <a:bodyPr wrap="square" lIns="0" tIns="0" rIns="0" bIns="0" rtlCol="0" anchor="ctr"/>
          <a:lstStyle/>
          <a:p>
            <a:r>
              <a:rPr lang="en-US" sz="478" b="1" dirty="0">
                <a:solidFill>
                  <a:srgbClr val="E8EAF6"/>
                </a:solidFill>
                <a:latin typeface="Courier New" pitchFamily="34" charset="0"/>
                <a:ea typeface="Courier New" pitchFamily="34" charset="-122"/>
                <a:cs typeface="Courier New" pitchFamily="34" charset="-120"/>
              </a:rPr>
              <a:t>SECTION 7 — When to Use What?</a:t>
            </a:r>
            <a:endParaRPr lang="en-US" sz="478" dirty="0"/>
          </a:p>
        </p:txBody>
      </p:sp>
      <p:sp>
        <p:nvSpPr>
          <p:cNvPr id="113" name="Shape 99"/>
          <p:cNvSpPr/>
          <p:nvPr/>
        </p:nvSpPr>
        <p:spPr>
          <a:xfrm>
            <a:off x="5057013" y="5050917"/>
            <a:ext cx="545211" cy="133731"/>
          </a:xfrm>
          <a:prstGeom prst="roundRect">
            <a:avLst>
              <a:gd name="adj" fmla="val 7692"/>
            </a:avLst>
          </a:prstGeom>
          <a:solidFill>
            <a:srgbClr val="1A1230"/>
          </a:solidFill>
          <a:ln w="12700">
            <a:solidFill>
              <a:srgbClr val="5B2E8C"/>
            </a:solidFill>
            <a:prstDash val="solid"/>
          </a:ln>
        </p:spPr>
      </p:sp>
      <p:sp>
        <p:nvSpPr>
          <p:cNvPr id="114" name="Text 100"/>
          <p:cNvSpPr/>
          <p:nvPr/>
        </p:nvSpPr>
        <p:spPr>
          <a:xfrm>
            <a:off x="5077587" y="5050917"/>
            <a:ext cx="504063" cy="133731"/>
          </a:xfrm>
          <a:prstGeom prst="rect">
            <a:avLst/>
          </a:prstGeom>
          <a:noFill/>
          <a:ln/>
        </p:spPr>
        <p:txBody>
          <a:bodyPr wrap="square" lIns="0" tIns="0" rIns="0" bIns="0" rtlCol="0" anchor="ctr"/>
          <a:lstStyle/>
          <a:p>
            <a:r>
              <a:rPr lang="en-US" sz="360" b="1" dirty="0">
                <a:solidFill>
                  <a:srgbClr val="C77DFF"/>
                </a:solidFill>
                <a:latin typeface="Courier New" pitchFamily="34" charset="0"/>
                <a:ea typeface="Courier New" pitchFamily="34" charset="-122"/>
                <a:cs typeface="Courier New" pitchFamily="34" charset="-120"/>
              </a:rPr>
              <a:t>Component</a:t>
            </a:r>
            <a:endParaRPr lang="en-US" sz="360" dirty="0"/>
          </a:p>
        </p:txBody>
      </p:sp>
      <p:sp>
        <p:nvSpPr>
          <p:cNvPr id="115" name="Shape 101"/>
          <p:cNvSpPr/>
          <p:nvPr/>
        </p:nvSpPr>
        <p:spPr>
          <a:xfrm>
            <a:off x="5602224" y="5050917"/>
            <a:ext cx="833247" cy="133731"/>
          </a:xfrm>
          <a:prstGeom prst="roundRect">
            <a:avLst>
              <a:gd name="adj" fmla="val 7692"/>
            </a:avLst>
          </a:prstGeom>
          <a:solidFill>
            <a:srgbClr val="1A1230"/>
          </a:solidFill>
          <a:ln w="12700">
            <a:solidFill>
              <a:srgbClr val="5B2E8C"/>
            </a:solidFill>
            <a:prstDash val="solid"/>
          </a:ln>
        </p:spPr>
      </p:sp>
      <p:sp>
        <p:nvSpPr>
          <p:cNvPr id="116" name="Text 102"/>
          <p:cNvSpPr/>
          <p:nvPr/>
        </p:nvSpPr>
        <p:spPr>
          <a:xfrm>
            <a:off x="5622798" y="5050917"/>
            <a:ext cx="792099" cy="133731"/>
          </a:xfrm>
          <a:prstGeom prst="rect">
            <a:avLst/>
          </a:prstGeom>
          <a:noFill/>
          <a:ln/>
        </p:spPr>
        <p:txBody>
          <a:bodyPr wrap="square" lIns="0" tIns="0" rIns="0" bIns="0" rtlCol="0" anchor="ctr"/>
          <a:lstStyle/>
          <a:p>
            <a:r>
              <a:rPr lang="en-US" sz="360" b="1" dirty="0">
                <a:solidFill>
                  <a:srgbClr val="C77DFF"/>
                </a:solidFill>
                <a:latin typeface="Courier New" pitchFamily="34" charset="0"/>
                <a:ea typeface="Courier New" pitchFamily="34" charset="-122"/>
                <a:cs typeface="Courier New" pitchFamily="34" charset="-120"/>
              </a:rPr>
              <a:t>Purpose</a:t>
            </a:r>
            <a:endParaRPr lang="en-US" sz="360" dirty="0"/>
          </a:p>
        </p:txBody>
      </p:sp>
      <p:sp>
        <p:nvSpPr>
          <p:cNvPr id="117" name="Shape 103"/>
          <p:cNvSpPr/>
          <p:nvPr/>
        </p:nvSpPr>
        <p:spPr>
          <a:xfrm>
            <a:off x="6435471" y="5050917"/>
            <a:ext cx="678942" cy="133731"/>
          </a:xfrm>
          <a:prstGeom prst="roundRect">
            <a:avLst>
              <a:gd name="adj" fmla="val 7692"/>
            </a:avLst>
          </a:prstGeom>
          <a:solidFill>
            <a:srgbClr val="1A1230"/>
          </a:solidFill>
          <a:ln w="12700">
            <a:solidFill>
              <a:srgbClr val="5B2E8C"/>
            </a:solidFill>
            <a:prstDash val="solid"/>
          </a:ln>
        </p:spPr>
      </p:sp>
      <p:sp>
        <p:nvSpPr>
          <p:cNvPr id="118" name="Text 104"/>
          <p:cNvSpPr/>
          <p:nvPr/>
        </p:nvSpPr>
        <p:spPr>
          <a:xfrm>
            <a:off x="6456045" y="5050917"/>
            <a:ext cx="637794" cy="133731"/>
          </a:xfrm>
          <a:prstGeom prst="rect">
            <a:avLst/>
          </a:prstGeom>
          <a:noFill/>
          <a:ln/>
        </p:spPr>
        <p:txBody>
          <a:bodyPr wrap="square" lIns="0" tIns="0" rIns="0" bIns="0" rtlCol="0" anchor="ctr"/>
          <a:lstStyle/>
          <a:p>
            <a:r>
              <a:rPr lang="en-US" sz="360" b="1" dirty="0">
                <a:solidFill>
                  <a:srgbClr val="C77DFF"/>
                </a:solidFill>
                <a:latin typeface="Courier New" pitchFamily="34" charset="0"/>
                <a:ea typeface="Courier New" pitchFamily="34" charset="-122"/>
                <a:cs typeface="Courier New" pitchFamily="34" charset="-120"/>
              </a:rPr>
              <a:t>Analogy</a:t>
            </a:r>
            <a:endParaRPr lang="en-US" sz="360" dirty="0"/>
          </a:p>
        </p:txBody>
      </p:sp>
      <p:sp>
        <p:nvSpPr>
          <p:cNvPr id="119" name="Shape 105"/>
          <p:cNvSpPr/>
          <p:nvPr/>
        </p:nvSpPr>
        <p:spPr>
          <a:xfrm>
            <a:off x="5057013" y="5194935"/>
            <a:ext cx="545211" cy="216027"/>
          </a:xfrm>
          <a:prstGeom prst="roundRect">
            <a:avLst>
              <a:gd name="adj" fmla="val 4762"/>
            </a:avLst>
          </a:prstGeom>
          <a:solidFill>
            <a:srgbClr val="0B0B16"/>
          </a:solidFill>
          <a:ln w="12700">
            <a:solidFill>
              <a:srgbClr val="232338"/>
            </a:solidFill>
            <a:prstDash val="solid"/>
          </a:ln>
        </p:spPr>
      </p:sp>
      <p:sp>
        <p:nvSpPr>
          <p:cNvPr id="120" name="Shape 106"/>
          <p:cNvSpPr/>
          <p:nvPr/>
        </p:nvSpPr>
        <p:spPr>
          <a:xfrm>
            <a:off x="5602224" y="5194935"/>
            <a:ext cx="833247" cy="216027"/>
          </a:xfrm>
          <a:prstGeom prst="roundRect">
            <a:avLst>
              <a:gd name="adj" fmla="val 4762"/>
            </a:avLst>
          </a:prstGeom>
          <a:solidFill>
            <a:srgbClr val="0B0B16"/>
          </a:solidFill>
          <a:ln w="12700">
            <a:solidFill>
              <a:srgbClr val="232338"/>
            </a:solidFill>
            <a:prstDash val="solid"/>
          </a:ln>
        </p:spPr>
      </p:sp>
      <p:sp>
        <p:nvSpPr>
          <p:cNvPr id="121" name="Shape 107"/>
          <p:cNvSpPr/>
          <p:nvPr/>
        </p:nvSpPr>
        <p:spPr>
          <a:xfrm>
            <a:off x="6435471" y="5194935"/>
            <a:ext cx="678942" cy="216027"/>
          </a:xfrm>
          <a:prstGeom prst="roundRect">
            <a:avLst>
              <a:gd name="adj" fmla="val 4762"/>
            </a:avLst>
          </a:prstGeom>
          <a:solidFill>
            <a:srgbClr val="0B0B16"/>
          </a:solidFill>
          <a:ln w="12700">
            <a:solidFill>
              <a:srgbClr val="232338"/>
            </a:solidFill>
            <a:prstDash val="solid"/>
          </a:ln>
        </p:spPr>
      </p:sp>
      <p:pic>
        <p:nvPicPr>
          <p:cNvPr id="122" name="Image 12" descr="/sessions/zealous-intelligent-mayer/mnt/outputs/icons5/c7_skills.png"/>
          <p:cNvPicPr>
            <a:picLocks noChangeAspect="1"/>
          </p:cNvPicPr>
          <p:nvPr/>
        </p:nvPicPr>
        <p:blipFill>
          <a:blip r:embed="rId10"/>
          <a:stretch>
            <a:fillRect/>
          </a:stretch>
        </p:blipFill>
        <p:spPr>
          <a:xfrm>
            <a:off x="5093018" y="5256657"/>
            <a:ext cx="92583" cy="92583"/>
          </a:xfrm>
          <a:prstGeom prst="rect">
            <a:avLst/>
          </a:prstGeom>
        </p:spPr>
      </p:pic>
      <p:sp>
        <p:nvSpPr>
          <p:cNvPr id="123" name="Text 108"/>
          <p:cNvSpPr/>
          <p:nvPr/>
        </p:nvSpPr>
        <p:spPr>
          <a:xfrm>
            <a:off x="5211318" y="5194935"/>
            <a:ext cx="360045" cy="216027"/>
          </a:xfrm>
          <a:prstGeom prst="rect">
            <a:avLst/>
          </a:prstGeom>
          <a:noFill/>
          <a:ln/>
        </p:spPr>
        <p:txBody>
          <a:bodyPr wrap="square" lIns="0" tIns="0" rIns="0" bIns="0" rtlCol="0" anchor="ctr"/>
          <a:lstStyle/>
          <a:p>
            <a:r>
              <a:rPr lang="en-US" sz="349" b="1" dirty="0">
                <a:solidFill>
                  <a:srgbClr val="22D3EE"/>
                </a:solidFill>
                <a:latin typeface="Courier New" pitchFamily="34" charset="0"/>
                <a:ea typeface="Courier New" pitchFamily="34" charset="-122"/>
                <a:cs typeface="Courier New" pitchFamily="34" charset="-120"/>
              </a:rPr>
              <a:t>Skills</a:t>
            </a:r>
            <a:endParaRPr lang="en-US" sz="349" dirty="0"/>
          </a:p>
        </p:txBody>
      </p:sp>
      <p:sp>
        <p:nvSpPr>
          <p:cNvPr id="124" name="Text 109"/>
          <p:cNvSpPr/>
          <p:nvPr/>
        </p:nvSpPr>
        <p:spPr>
          <a:xfrm>
            <a:off x="5633085" y="5194935"/>
            <a:ext cx="771525" cy="216027"/>
          </a:xfrm>
          <a:prstGeom prst="rect">
            <a:avLst/>
          </a:prstGeom>
          <a:noFill/>
          <a:ln/>
        </p:spPr>
        <p:txBody>
          <a:bodyPr wrap="square" lIns="0" tIns="0" rIns="0" bIns="0" rtlCol="0" anchor="ctr"/>
          <a:lstStyle/>
          <a:p>
            <a:r>
              <a:rPr lang="en-US" sz="349" dirty="0">
                <a:solidFill>
                  <a:srgbClr val="E8EAF6"/>
                </a:solidFill>
                <a:latin typeface="Arial" pitchFamily="34" charset="0"/>
                <a:ea typeface="Arial" pitchFamily="34" charset="-122"/>
                <a:cs typeface="Arial" pitchFamily="34" charset="-120"/>
              </a:rPr>
              <a:t>Teach expertise &amp; workflows</a:t>
            </a:r>
            <a:endParaRPr lang="en-US" sz="349" dirty="0"/>
          </a:p>
        </p:txBody>
      </p:sp>
      <p:sp>
        <p:nvSpPr>
          <p:cNvPr id="125" name="Text 110"/>
          <p:cNvSpPr/>
          <p:nvPr/>
        </p:nvSpPr>
        <p:spPr>
          <a:xfrm>
            <a:off x="6466332" y="5194935"/>
            <a:ext cx="617220" cy="216027"/>
          </a:xfrm>
          <a:prstGeom prst="rect">
            <a:avLst/>
          </a:prstGeom>
          <a:noFill/>
          <a:ln/>
        </p:spPr>
        <p:txBody>
          <a:bodyPr wrap="square" lIns="0" tIns="0" rIns="0" bIns="0" rtlCol="0" anchor="ctr"/>
          <a:lstStyle/>
          <a:p>
            <a:r>
              <a:rPr lang="en-US" sz="349" dirty="0">
                <a:solidFill>
                  <a:srgbClr val="8B93A7"/>
                </a:solidFill>
                <a:latin typeface="Arial" pitchFamily="34" charset="0"/>
                <a:ea typeface="Arial" pitchFamily="34" charset="-122"/>
                <a:cs typeface="Arial" pitchFamily="34" charset="-120"/>
              </a:rPr>
              <a:t>SOP binder</a:t>
            </a:r>
            <a:endParaRPr lang="en-US" sz="349" dirty="0"/>
          </a:p>
        </p:txBody>
      </p:sp>
      <p:sp>
        <p:nvSpPr>
          <p:cNvPr id="126" name="Shape 111"/>
          <p:cNvSpPr/>
          <p:nvPr/>
        </p:nvSpPr>
        <p:spPr>
          <a:xfrm>
            <a:off x="5057013" y="5410962"/>
            <a:ext cx="545211" cy="216027"/>
          </a:xfrm>
          <a:prstGeom prst="roundRect">
            <a:avLst>
              <a:gd name="adj" fmla="val 4762"/>
            </a:avLst>
          </a:prstGeom>
          <a:solidFill>
            <a:srgbClr val="0F0F1C"/>
          </a:solidFill>
          <a:ln w="12700">
            <a:solidFill>
              <a:srgbClr val="232338"/>
            </a:solidFill>
            <a:prstDash val="solid"/>
          </a:ln>
        </p:spPr>
      </p:sp>
      <p:sp>
        <p:nvSpPr>
          <p:cNvPr id="127" name="Shape 112"/>
          <p:cNvSpPr/>
          <p:nvPr/>
        </p:nvSpPr>
        <p:spPr>
          <a:xfrm>
            <a:off x="5602224" y="5410962"/>
            <a:ext cx="833247" cy="216027"/>
          </a:xfrm>
          <a:prstGeom prst="roundRect">
            <a:avLst>
              <a:gd name="adj" fmla="val 4762"/>
            </a:avLst>
          </a:prstGeom>
          <a:solidFill>
            <a:srgbClr val="0F0F1C"/>
          </a:solidFill>
          <a:ln w="12700">
            <a:solidFill>
              <a:srgbClr val="232338"/>
            </a:solidFill>
            <a:prstDash val="solid"/>
          </a:ln>
        </p:spPr>
      </p:sp>
      <p:sp>
        <p:nvSpPr>
          <p:cNvPr id="128" name="Shape 113"/>
          <p:cNvSpPr/>
          <p:nvPr/>
        </p:nvSpPr>
        <p:spPr>
          <a:xfrm>
            <a:off x="6435471" y="5410962"/>
            <a:ext cx="678942" cy="216027"/>
          </a:xfrm>
          <a:prstGeom prst="roundRect">
            <a:avLst>
              <a:gd name="adj" fmla="val 4762"/>
            </a:avLst>
          </a:prstGeom>
          <a:solidFill>
            <a:srgbClr val="0F0F1C"/>
          </a:solidFill>
          <a:ln w="12700">
            <a:solidFill>
              <a:srgbClr val="232338"/>
            </a:solidFill>
            <a:prstDash val="solid"/>
          </a:ln>
        </p:spPr>
      </p:sp>
      <p:pic>
        <p:nvPicPr>
          <p:cNvPr id="129" name="Image 13" descr="/sessions/zealous-intelligent-mayer/mnt/outputs/icons5/c7_mcp.png"/>
          <p:cNvPicPr>
            <a:picLocks noChangeAspect="1"/>
          </p:cNvPicPr>
          <p:nvPr/>
        </p:nvPicPr>
        <p:blipFill>
          <a:blip r:embed="rId13"/>
          <a:stretch>
            <a:fillRect/>
          </a:stretch>
        </p:blipFill>
        <p:spPr>
          <a:xfrm>
            <a:off x="5093018" y="5472684"/>
            <a:ext cx="92583" cy="92583"/>
          </a:xfrm>
          <a:prstGeom prst="rect">
            <a:avLst/>
          </a:prstGeom>
        </p:spPr>
      </p:pic>
      <p:sp>
        <p:nvSpPr>
          <p:cNvPr id="130" name="Text 114"/>
          <p:cNvSpPr/>
          <p:nvPr/>
        </p:nvSpPr>
        <p:spPr>
          <a:xfrm>
            <a:off x="5211318" y="5410962"/>
            <a:ext cx="360045" cy="216027"/>
          </a:xfrm>
          <a:prstGeom prst="rect">
            <a:avLst/>
          </a:prstGeom>
          <a:noFill/>
          <a:ln/>
        </p:spPr>
        <p:txBody>
          <a:bodyPr wrap="square" lIns="0" tIns="0" rIns="0" bIns="0" rtlCol="0" anchor="ctr"/>
          <a:lstStyle/>
          <a:p>
            <a:r>
              <a:rPr lang="en-US" sz="349" b="1" dirty="0">
                <a:solidFill>
                  <a:srgbClr val="4ADE80"/>
                </a:solidFill>
                <a:latin typeface="Courier New" pitchFamily="34" charset="0"/>
                <a:ea typeface="Courier New" pitchFamily="34" charset="-122"/>
                <a:cs typeface="Courier New" pitchFamily="34" charset="-120"/>
              </a:rPr>
              <a:t>MCP</a:t>
            </a:r>
            <a:endParaRPr lang="en-US" sz="349" dirty="0"/>
          </a:p>
        </p:txBody>
      </p:sp>
      <p:sp>
        <p:nvSpPr>
          <p:cNvPr id="131" name="Text 115"/>
          <p:cNvSpPr/>
          <p:nvPr/>
        </p:nvSpPr>
        <p:spPr>
          <a:xfrm>
            <a:off x="5633085" y="5410962"/>
            <a:ext cx="771525" cy="216027"/>
          </a:xfrm>
          <a:prstGeom prst="rect">
            <a:avLst/>
          </a:prstGeom>
          <a:noFill/>
          <a:ln/>
        </p:spPr>
        <p:txBody>
          <a:bodyPr wrap="square" lIns="0" tIns="0" rIns="0" bIns="0" rtlCol="0" anchor="ctr"/>
          <a:lstStyle/>
          <a:p>
            <a:r>
              <a:rPr lang="en-US" sz="349" dirty="0">
                <a:solidFill>
                  <a:srgbClr val="E8EAF6"/>
                </a:solidFill>
                <a:latin typeface="Arial" pitchFamily="34" charset="0"/>
                <a:ea typeface="Arial" pitchFamily="34" charset="-122"/>
                <a:cs typeface="Arial" pitchFamily="34" charset="-120"/>
              </a:rPr>
              <a:t>Connect to external services</a:t>
            </a:r>
            <a:endParaRPr lang="en-US" sz="349" dirty="0"/>
          </a:p>
        </p:txBody>
      </p:sp>
      <p:sp>
        <p:nvSpPr>
          <p:cNvPr id="132" name="Text 116"/>
          <p:cNvSpPr/>
          <p:nvPr/>
        </p:nvSpPr>
        <p:spPr>
          <a:xfrm>
            <a:off x="6466332" y="5410962"/>
            <a:ext cx="617220" cy="216027"/>
          </a:xfrm>
          <a:prstGeom prst="rect">
            <a:avLst/>
          </a:prstGeom>
          <a:noFill/>
          <a:ln/>
        </p:spPr>
        <p:txBody>
          <a:bodyPr wrap="square" lIns="0" tIns="0" rIns="0" bIns="0" rtlCol="0" anchor="ctr"/>
          <a:lstStyle/>
          <a:p>
            <a:r>
              <a:rPr lang="en-US" sz="349" dirty="0">
                <a:solidFill>
                  <a:srgbClr val="8B93A7"/>
                </a:solidFill>
                <a:latin typeface="Arial" pitchFamily="34" charset="0"/>
                <a:ea typeface="Arial" pitchFamily="34" charset="-122"/>
                <a:cs typeface="Arial" pitchFamily="34" charset="-120"/>
              </a:rPr>
              <a:t>USB-C port</a:t>
            </a:r>
            <a:endParaRPr lang="en-US" sz="349" dirty="0"/>
          </a:p>
        </p:txBody>
      </p:sp>
      <p:sp>
        <p:nvSpPr>
          <p:cNvPr id="133" name="Shape 117"/>
          <p:cNvSpPr/>
          <p:nvPr/>
        </p:nvSpPr>
        <p:spPr>
          <a:xfrm>
            <a:off x="5057013" y="5626989"/>
            <a:ext cx="545211" cy="216027"/>
          </a:xfrm>
          <a:prstGeom prst="roundRect">
            <a:avLst>
              <a:gd name="adj" fmla="val 4762"/>
            </a:avLst>
          </a:prstGeom>
          <a:solidFill>
            <a:srgbClr val="0B0B16"/>
          </a:solidFill>
          <a:ln w="12700">
            <a:solidFill>
              <a:srgbClr val="232338"/>
            </a:solidFill>
            <a:prstDash val="solid"/>
          </a:ln>
        </p:spPr>
      </p:sp>
      <p:sp>
        <p:nvSpPr>
          <p:cNvPr id="134" name="Shape 118"/>
          <p:cNvSpPr/>
          <p:nvPr/>
        </p:nvSpPr>
        <p:spPr>
          <a:xfrm>
            <a:off x="5602224" y="5626989"/>
            <a:ext cx="833247" cy="216027"/>
          </a:xfrm>
          <a:prstGeom prst="roundRect">
            <a:avLst>
              <a:gd name="adj" fmla="val 4762"/>
            </a:avLst>
          </a:prstGeom>
          <a:solidFill>
            <a:srgbClr val="0B0B16"/>
          </a:solidFill>
          <a:ln w="12700">
            <a:solidFill>
              <a:srgbClr val="232338"/>
            </a:solidFill>
            <a:prstDash val="solid"/>
          </a:ln>
        </p:spPr>
      </p:sp>
      <p:sp>
        <p:nvSpPr>
          <p:cNvPr id="135" name="Shape 119"/>
          <p:cNvSpPr/>
          <p:nvPr/>
        </p:nvSpPr>
        <p:spPr>
          <a:xfrm>
            <a:off x="6435471" y="5626989"/>
            <a:ext cx="678942" cy="216027"/>
          </a:xfrm>
          <a:prstGeom prst="roundRect">
            <a:avLst>
              <a:gd name="adj" fmla="val 4762"/>
            </a:avLst>
          </a:prstGeom>
          <a:solidFill>
            <a:srgbClr val="0B0B16"/>
          </a:solidFill>
          <a:ln w="12700">
            <a:solidFill>
              <a:srgbClr val="232338"/>
            </a:solidFill>
            <a:prstDash val="solid"/>
          </a:ln>
        </p:spPr>
      </p:sp>
      <p:pic>
        <p:nvPicPr>
          <p:cNvPr id="136" name="Image 14" descr="/sessions/zealous-intelligent-mayer/mnt/outputs/icons5/c7_sub.png"/>
          <p:cNvPicPr>
            <a:picLocks noChangeAspect="1"/>
          </p:cNvPicPr>
          <p:nvPr/>
        </p:nvPicPr>
        <p:blipFill>
          <a:blip r:embed="rId12"/>
          <a:stretch>
            <a:fillRect/>
          </a:stretch>
        </p:blipFill>
        <p:spPr>
          <a:xfrm>
            <a:off x="5093018" y="5688711"/>
            <a:ext cx="92583" cy="92583"/>
          </a:xfrm>
          <a:prstGeom prst="rect">
            <a:avLst/>
          </a:prstGeom>
        </p:spPr>
      </p:pic>
      <p:sp>
        <p:nvSpPr>
          <p:cNvPr id="137" name="Text 120"/>
          <p:cNvSpPr/>
          <p:nvPr/>
        </p:nvSpPr>
        <p:spPr>
          <a:xfrm>
            <a:off x="5211318" y="5626989"/>
            <a:ext cx="360045" cy="216027"/>
          </a:xfrm>
          <a:prstGeom prst="rect">
            <a:avLst/>
          </a:prstGeom>
          <a:noFill/>
          <a:ln/>
        </p:spPr>
        <p:txBody>
          <a:bodyPr wrap="square" lIns="0" tIns="0" rIns="0" bIns="0" rtlCol="0" anchor="ctr"/>
          <a:lstStyle/>
          <a:p>
            <a:r>
              <a:rPr lang="en-US" sz="349" b="1" dirty="0">
                <a:solidFill>
                  <a:srgbClr val="22D3EE"/>
                </a:solidFill>
                <a:latin typeface="Courier New" pitchFamily="34" charset="0"/>
                <a:ea typeface="Courier New" pitchFamily="34" charset="-122"/>
                <a:cs typeface="Courier New" pitchFamily="34" charset="-120"/>
              </a:rPr>
              <a:t>Subagents</a:t>
            </a:r>
            <a:endParaRPr lang="en-US" sz="349" dirty="0"/>
          </a:p>
        </p:txBody>
      </p:sp>
      <p:sp>
        <p:nvSpPr>
          <p:cNvPr id="138" name="Text 121"/>
          <p:cNvSpPr/>
          <p:nvPr/>
        </p:nvSpPr>
        <p:spPr>
          <a:xfrm>
            <a:off x="5633085" y="5626989"/>
            <a:ext cx="771525" cy="216027"/>
          </a:xfrm>
          <a:prstGeom prst="rect">
            <a:avLst/>
          </a:prstGeom>
          <a:noFill/>
          <a:ln/>
        </p:spPr>
        <p:txBody>
          <a:bodyPr wrap="square" lIns="0" tIns="0" rIns="0" bIns="0" rtlCol="0" anchor="ctr"/>
          <a:lstStyle/>
          <a:p>
            <a:r>
              <a:rPr lang="en-US" sz="349" dirty="0">
                <a:solidFill>
                  <a:srgbClr val="E8EAF6"/>
                </a:solidFill>
                <a:latin typeface="Arial" pitchFamily="34" charset="0"/>
                <a:ea typeface="Arial" pitchFamily="34" charset="-122"/>
                <a:cs typeface="Arial" pitchFamily="34" charset="-120"/>
              </a:rPr>
              <a:t>Delegate isolated tasks</a:t>
            </a:r>
            <a:endParaRPr lang="en-US" sz="349" dirty="0"/>
          </a:p>
        </p:txBody>
      </p:sp>
      <p:sp>
        <p:nvSpPr>
          <p:cNvPr id="139" name="Text 122"/>
          <p:cNvSpPr/>
          <p:nvPr/>
        </p:nvSpPr>
        <p:spPr>
          <a:xfrm>
            <a:off x="6466332" y="5626989"/>
            <a:ext cx="617220" cy="216027"/>
          </a:xfrm>
          <a:prstGeom prst="rect">
            <a:avLst/>
          </a:prstGeom>
          <a:noFill/>
          <a:ln/>
        </p:spPr>
        <p:txBody>
          <a:bodyPr wrap="square" lIns="0" tIns="0" rIns="0" bIns="0" rtlCol="0" anchor="ctr"/>
          <a:lstStyle/>
          <a:p>
            <a:r>
              <a:rPr lang="en-US" sz="349" dirty="0">
                <a:solidFill>
                  <a:srgbClr val="8B93A7"/>
                </a:solidFill>
                <a:latin typeface="Arial" pitchFamily="34" charset="0"/>
                <a:ea typeface="Arial" pitchFamily="34" charset="-122"/>
                <a:cs typeface="Arial" pitchFamily="34" charset="-120"/>
              </a:rPr>
              <a:t>Shift team members</a:t>
            </a:r>
            <a:endParaRPr lang="en-US" sz="349" dirty="0"/>
          </a:p>
        </p:txBody>
      </p:sp>
      <p:sp>
        <p:nvSpPr>
          <p:cNvPr id="140" name="Shape 123"/>
          <p:cNvSpPr/>
          <p:nvPr/>
        </p:nvSpPr>
        <p:spPr>
          <a:xfrm>
            <a:off x="5057013" y="5843016"/>
            <a:ext cx="545211" cy="216027"/>
          </a:xfrm>
          <a:prstGeom prst="roundRect">
            <a:avLst>
              <a:gd name="adj" fmla="val 4762"/>
            </a:avLst>
          </a:prstGeom>
          <a:solidFill>
            <a:srgbClr val="0F0F1C"/>
          </a:solidFill>
          <a:ln w="12700">
            <a:solidFill>
              <a:srgbClr val="232338"/>
            </a:solidFill>
            <a:prstDash val="solid"/>
          </a:ln>
        </p:spPr>
      </p:sp>
      <p:sp>
        <p:nvSpPr>
          <p:cNvPr id="141" name="Shape 124"/>
          <p:cNvSpPr/>
          <p:nvPr/>
        </p:nvSpPr>
        <p:spPr>
          <a:xfrm>
            <a:off x="5602224" y="5843016"/>
            <a:ext cx="833247" cy="216027"/>
          </a:xfrm>
          <a:prstGeom prst="roundRect">
            <a:avLst>
              <a:gd name="adj" fmla="val 4762"/>
            </a:avLst>
          </a:prstGeom>
          <a:solidFill>
            <a:srgbClr val="0F0F1C"/>
          </a:solidFill>
          <a:ln w="12700">
            <a:solidFill>
              <a:srgbClr val="232338"/>
            </a:solidFill>
            <a:prstDash val="solid"/>
          </a:ln>
        </p:spPr>
      </p:sp>
      <p:sp>
        <p:nvSpPr>
          <p:cNvPr id="142" name="Shape 125"/>
          <p:cNvSpPr/>
          <p:nvPr/>
        </p:nvSpPr>
        <p:spPr>
          <a:xfrm>
            <a:off x="6435471" y="5843016"/>
            <a:ext cx="678942" cy="216027"/>
          </a:xfrm>
          <a:prstGeom prst="roundRect">
            <a:avLst>
              <a:gd name="adj" fmla="val 4762"/>
            </a:avLst>
          </a:prstGeom>
          <a:solidFill>
            <a:srgbClr val="0F0F1C"/>
          </a:solidFill>
          <a:ln w="12700">
            <a:solidFill>
              <a:srgbClr val="232338"/>
            </a:solidFill>
            <a:prstDash val="solid"/>
          </a:ln>
        </p:spPr>
      </p:sp>
      <p:pic>
        <p:nvPicPr>
          <p:cNvPr id="143" name="Image 15" descr="/sessions/zealous-intelligent-mayer/mnt/outputs/icons5/c7_hooks.png"/>
          <p:cNvPicPr>
            <a:picLocks noChangeAspect="1"/>
          </p:cNvPicPr>
          <p:nvPr/>
        </p:nvPicPr>
        <p:blipFill>
          <a:blip r:embed="rId14"/>
          <a:stretch>
            <a:fillRect/>
          </a:stretch>
        </p:blipFill>
        <p:spPr>
          <a:xfrm>
            <a:off x="5093018" y="5904738"/>
            <a:ext cx="92583" cy="92583"/>
          </a:xfrm>
          <a:prstGeom prst="rect">
            <a:avLst/>
          </a:prstGeom>
        </p:spPr>
      </p:pic>
      <p:sp>
        <p:nvSpPr>
          <p:cNvPr id="144" name="Text 126"/>
          <p:cNvSpPr/>
          <p:nvPr/>
        </p:nvSpPr>
        <p:spPr>
          <a:xfrm>
            <a:off x="5211318" y="5843016"/>
            <a:ext cx="360045" cy="216027"/>
          </a:xfrm>
          <a:prstGeom prst="rect">
            <a:avLst/>
          </a:prstGeom>
          <a:noFill/>
          <a:ln/>
        </p:spPr>
        <p:txBody>
          <a:bodyPr wrap="square" lIns="0" tIns="0" rIns="0" bIns="0" rtlCol="0" anchor="ctr"/>
          <a:lstStyle/>
          <a:p>
            <a:r>
              <a:rPr lang="en-US" sz="349" b="1" dirty="0">
                <a:solidFill>
                  <a:srgbClr val="FB923C"/>
                </a:solidFill>
                <a:latin typeface="Courier New" pitchFamily="34" charset="0"/>
                <a:ea typeface="Courier New" pitchFamily="34" charset="-122"/>
                <a:cs typeface="Courier New" pitchFamily="34" charset="-120"/>
              </a:rPr>
              <a:t>Hooks</a:t>
            </a:r>
            <a:endParaRPr lang="en-US" sz="349" dirty="0"/>
          </a:p>
        </p:txBody>
      </p:sp>
      <p:sp>
        <p:nvSpPr>
          <p:cNvPr id="145" name="Text 127"/>
          <p:cNvSpPr/>
          <p:nvPr/>
        </p:nvSpPr>
        <p:spPr>
          <a:xfrm>
            <a:off x="5633085" y="5843016"/>
            <a:ext cx="771525" cy="216027"/>
          </a:xfrm>
          <a:prstGeom prst="rect">
            <a:avLst/>
          </a:prstGeom>
          <a:noFill/>
          <a:ln/>
        </p:spPr>
        <p:txBody>
          <a:bodyPr wrap="square" lIns="0" tIns="0" rIns="0" bIns="0" rtlCol="0" anchor="ctr"/>
          <a:lstStyle/>
          <a:p>
            <a:r>
              <a:rPr lang="en-US" sz="349" dirty="0">
                <a:solidFill>
                  <a:srgbClr val="E8EAF6"/>
                </a:solidFill>
                <a:latin typeface="Arial" pitchFamily="34" charset="0"/>
                <a:ea typeface="Arial" pitchFamily="34" charset="-122"/>
                <a:cs typeface="Arial" pitchFamily="34" charset="-120"/>
              </a:rPr>
              <a:t>Automate deterministic events</a:t>
            </a:r>
            <a:endParaRPr lang="en-US" sz="349" dirty="0"/>
          </a:p>
        </p:txBody>
      </p:sp>
      <p:sp>
        <p:nvSpPr>
          <p:cNvPr id="146" name="Text 128"/>
          <p:cNvSpPr/>
          <p:nvPr/>
        </p:nvSpPr>
        <p:spPr>
          <a:xfrm>
            <a:off x="6466332" y="5843016"/>
            <a:ext cx="617220" cy="216027"/>
          </a:xfrm>
          <a:prstGeom prst="rect">
            <a:avLst/>
          </a:prstGeom>
          <a:noFill/>
          <a:ln/>
        </p:spPr>
        <p:txBody>
          <a:bodyPr wrap="square" lIns="0" tIns="0" rIns="0" bIns="0" rtlCol="0" anchor="ctr"/>
          <a:lstStyle/>
          <a:p>
            <a:r>
              <a:rPr lang="en-US" sz="349" dirty="0">
                <a:solidFill>
                  <a:srgbClr val="8B93A7"/>
                </a:solidFill>
                <a:latin typeface="Arial" pitchFamily="34" charset="0"/>
                <a:ea typeface="Arial" pitchFamily="34" charset="-122"/>
                <a:cs typeface="Arial" pitchFamily="34" charset="-120"/>
              </a:rPr>
              <a:t>Line interlocks</a:t>
            </a:r>
            <a:endParaRPr lang="en-US" sz="349" dirty="0"/>
          </a:p>
        </p:txBody>
      </p:sp>
      <p:sp>
        <p:nvSpPr>
          <p:cNvPr id="147" name="Shape 129"/>
          <p:cNvSpPr/>
          <p:nvPr/>
        </p:nvSpPr>
        <p:spPr>
          <a:xfrm>
            <a:off x="5057013" y="6059043"/>
            <a:ext cx="545211" cy="216027"/>
          </a:xfrm>
          <a:prstGeom prst="roundRect">
            <a:avLst>
              <a:gd name="adj" fmla="val 4762"/>
            </a:avLst>
          </a:prstGeom>
          <a:solidFill>
            <a:srgbClr val="0B0B16"/>
          </a:solidFill>
          <a:ln w="12700">
            <a:solidFill>
              <a:srgbClr val="232338"/>
            </a:solidFill>
            <a:prstDash val="solid"/>
          </a:ln>
        </p:spPr>
      </p:sp>
      <p:sp>
        <p:nvSpPr>
          <p:cNvPr id="148" name="Shape 130"/>
          <p:cNvSpPr/>
          <p:nvPr/>
        </p:nvSpPr>
        <p:spPr>
          <a:xfrm>
            <a:off x="5602224" y="6059043"/>
            <a:ext cx="833247" cy="216027"/>
          </a:xfrm>
          <a:prstGeom prst="roundRect">
            <a:avLst>
              <a:gd name="adj" fmla="val 4762"/>
            </a:avLst>
          </a:prstGeom>
          <a:solidFill>
            <a:srgbClr val="0B0B16"/>
          </a:solidFill>
          <a:ln w="12700">
            <a:solidFill>
              <a:srgbClr val="232338"/>
            </a:solidFill>
            <a:prstDash val="solid"/>
          </a:ln>
        </p:spPr>
      </p:sp>
      <p:sp>
        <p:nvSpPr>
          <p:cNvPr id="149" name="Shape 131"/>
          <p:cNvSpPr/>
          <p:nvPr/>
        </p:nvSpPr>
        <p:spPr>
          <a:xfrm>
            <a:off x="6435471" y="6059043"/>
            <a:ext cx="678942" cy="216027"/>
          </a:xfrm>
          <a:prstGeom prst="roundRect">
            <a:avLst>
              <a:gd name="adj" fmla="val 4762"/>
            </a:avLst>
          </a:prstGeom>
          <a:solidFill>
            <a:srgbClr val="0B0B16"/>
          </a:solidFill>
          <a:ln w="12700">
            <a:solidFill>
              <a:srgbClr val="232338"/>
            </a:solidFill>
            <a:prstDash val="solid"/>
          </a:ln>
        </p:spPr>
      </p:sp>
      <p:pic>
        <p:nvPicPr>
          <p:cNvPr id="150" name="Image 16" descr="/sessions/zealous-intelligent-mayer/mnt/outputs/icons5/c7_md.png"/>
          <p:cNvPicPr>
            <a:picLocks noChangeAspect="1"/>
          </p:cNvPicPr>
          <p:nvPr/>
        </p:nvPicPr>
        <p:blipFill>
          <a:blip r:embed="rId15"/>
          <a:stretch>
            <a:fillRect/>
          </a:stretch>
        </p:blipFill>
        <p:spPr>
          <a:xfrm>
            <a:off x="5093018" y="6120765"/>
            <a:ext cx="92583" cy="92583"/>
          </a:xfrm>
          <a:prstGeom prst="rect">
            <a:avLst/>
          </a:prstGeom>
        </p:spPr>
      </p:pic>
      <p:sp>
        <p:nvSpPr>
          <p:cNvPr id="151" name="Text 132"/>
          <p:cNvSpPr/>
          <p:nvPr/>
        </p:nvSpPr>
        <p:spPr>
          <a:xfrm>
            <a:off x="5211318" y="6059043"/>
            <a:ext cx="360045" cy="216027"/>
          </a:xfrm>
          <a:prstGeom prst="rect">
            <a:avLst/>
          </a:prstGeom>
          <a:noFill/>
          <a:ln/>
        </p:spPr>
        <p:txBody>
          <a:bodyPr wrap="square" lIns="0" tIns="0" rIns="0" bIns="0" rtlCol="0" anchor="ctr"/>
          <a:lstStyle/>
          <a:p>
            <a:r>
              <a:rPr lang="en-US" sz="349" b="1" dirty="0">
                <a:solidFill>
                  <a:srgbClr val="FDE047"/>
                </a:solidFill>
                <a:latin typeface="Courier New" pitchFamily="34" charset="0"/>
                <a:ea typeface="Courier New" pitchFamily="34" charset="-122"/>
                <a:cs typeface="Courier New" pitchFamily="34" charset="-120"/>
              </a:rPr>
              <a:t>CLAUDE.md</a:t>
            </a:r>
            <a:endParaRPr lang="en-US" sz="349" dirty="0"/>
          </a:p>
        </p:txBody>
      </p:sp>
      <p:sp>
        <p:nvSpPr>
          <p:cNvPr id="152" name="Text 133"/>
          <p:cNvSpPr/>
          <p:nvPr/>
        </p:nvSpPr>
        <p:spPr>
          <a:xfrm>
            <a:off x="5633085" y="6059043"/>
            <a:ext cx="771525" cy="216027"/>
          </a:xfrm>
          <a:prstGeom prst="rect">
            <a:avLst/>
          </a:prstGeom>
          <a:noFill/>
          <a:ln/>
        </p:spPr>
        <p:txBody>
          <a:bodyPr wrap="square" lIns="0" tIns="0" rIns="0" bIns="0" rtlCol="0" anchor="ctr"/>
          <a:lstStyle/>
          <a:p>
            <a:r>
              <a:rPr lang="en-US" sz="349" dirty="0">
                <a:solidFill>
                  <a:srgbClr val="E8EAF6"/>
                </a:solidFill>
                <a:latin typeface="Arial" pitchFamily="34" charset="0"/>
                <a:ea typeface="Arial" pitchFamily="34" charset="-122"/>
                <a:cs typeface="Arial" pitchFamily="34" charset="-120"/>
              </a:rPr>
              <a:t>Always-on project context</a:t>
            </a:r>
            <a:endParaRPr lang="en-US" sz="349" dirty="0"/>
          </a:p>
        </p:txBody>
      </p:sp>
      <p:sp>
        <p:nvSpPr>
          <p:cNvPr id="153" name="Text 134"/>
          <p:cNvSpPr/>
          <p:nvPr/>
        </p:nvSpPr>
        <p:spPr>
          <a:xfrm>
            <a:off x="6466332" y="6059043"/>
            <a:ext cx="617220" cy="216027"/>
          </a:xfrm>
          <a:prstGeom prst="rect">
            <a:avLst/>
          </a:prstGeom>
          <a:noFill/>
          <a:ln/>
        </p:spPr>
        <p:txBody>
          <a:bodyPr wrap="square" lIns="0" tIns="0" rIns="0" bIns="0" rtlCol="0" anchor="ctr"/>
          <a:lstStyle/>
          <a:p>
            <a:r>
              <a:rPr lang="en-US" sz="349" dirty="0">
                <a:solidFill>
                  <a:srgbClr val="8B93A7"/>
                </a:solidFill>
                <a:latin typeface="Arial" pitchFamily="34" charset="0"/>
                <a:ea typeface="Arial" pitchFamily="34" charset="-122"/>
                <a:cs typeface="Arial" pitchFamily="34" charset="-120"/>
              </a:rPr>
              <a:t>Whiteboard at the line</a:t>
            </a:r>
            <a:endParaRPr lang="en-US" sz="349" dirty="0"/>
          </a:p>
        </p:txBody>
      </p:sp>
      <p:sp>
        <p:nvSpPr>
          <p:cNvPr id="154" name="Shape 135"/>
          <p:cNvSpPr/>
          <p:nvPr/>
        </p:nvSpPr>
        <p:spPr>
          <a:xfrm>
            <a:off x="5057013" y="6275070"/>
            <a:ext cx="545211" cy="216027"/>
          </a:xfrm>
          <a:prstGeom prst="roundRect">
            <a:avLst>
              <a:gd name="adj" fmla="val 4762"/>
            </a:avLst>
          </a:prstGeom>
          <a:solidFill>
            <a:srgbClr val="0F0F1C"/>
          </a:solidFill>
          <a:ln w="12700">
            <a:solidFill>
              <a:srgbClr val="232338"/>
            </a:solidFill>
            <a:prstDash val="solid"/>
          </a:ln>
        </p:spPr>
      </p:sp>
      <p:sp>
        <p:nvSpPr>
          <p:cNvPr id="155" name="Shape 136"/>
          <p:cNvSpPr/>
          <p:nvPr/>
        </p:nvSpPr>
        <p:spPr>
          <a:xfrm>
            <a:off x="5602224" y="6275070"/>
            <a:ext cx="833247" cy="216027"/>
          </a:xfrm>
          <a:prstGeom prst="roundRect">
            <a:avLst>
              <a:gd name="adj" fmla="val 4762"/>
            </a:avLst>
          </a:prstGeom>
          <a:solidFill>
            <a:srgbClr val="0F0F1C"/>
          </a:solidFill>
          <a:ln w="12700">
            <a:solidFill>
              <a:srgbClr val="232338"/>
            </a:solidFill>
            <a:prstDash val="solid"/>
          </a:ln>
        </p:spPr>
      </p:sp>
      <p:sp>
        <p:nvSpPr>
          <p:cNvPr id="156" name="Shape 137"/>
          <p:cNvSpPr/>
          <p:nvPr/>
        </p:nvSpPr>
        <p:spPr>
          <a:xfrm>
            <a:off x="6435471" y="6275070"/>
            <a:ext cx="678942" cy="216027"/>
          </a:xfrm>
          <a:prstGeom prst="roundRect">
            <a:avLst>
              <a:gd name="adj" fmla="val 4762"/>
            </a:avLst>
          </a:prstGeom>
          <a:solidFill>
            <a:srgbClr val="0F0F1C"/>
          </a:solidFill>
          <a:ln w="12700">
            <a:solidFill>
              <a:srgbClr val="232338"/>
            </a:solidFill>
            <a:prstDash val="solid"/>
          </a:ln>
        </p:spPr>
      </p:sp>
      <p:pic>
        <p:nvPicPr>
          <p:cNvPr id="157" name="Image 17" descr="/sessions/zealous-intelligent-mayer/mnt/outputs/icons5/c7_plug.png"/>
          <p:cNvPicPr>
            <a:picLocks noChangeAspect="1"/>
          </p:cNvPicPr>
          <p:nvPr/>
        </p:nvPicPr>
        <p:blipFill>
          <a:blip r:embed="rId16"/>
          <a:stretch>
            <a:fillRect/>
          </a:stretch>
        </p:blipFill>
        <p:spPr>
          <a:xfrm>
            <a:off x="5093018" y="6336792"/>
            <a:ext cx="92583" cy="92583"/>
          </a:xfrm>
          <a:prstGeom prst="rect">
            <a:avLst/>
          </a:prstGeom>
        </p:spPr>
      </p:pic>
      <p:sp>
        <p:nvSpPr>
          <p:cNvPr id="158" name="Text 138"/>
          <p:cNvSpPr/>
          <p:nvPr/>
        </p:nvSpPr>
        <p:spPr>
          <a:xfrm>
            <a:off x="5211318" y="6275070"/>
            <a:ext cx="360045" cy="216027"/>
          </a:xfrm>
          <a:prstGeom prst="rect">
            <a:avLst/>
          </a:prstGeom>
          <a:noFill/>
          <a:ln/>
        </p:spPr>
        <p:txBody>
          <a:bodyPr wrap="square" lIns="0" tIns="0" rIns="0" bIns="0" rtlCol="0" anchor="ctr"/>
          <a:lstStyle/>
          <a:p>
            <a:r>
              <a:rPr lang="en-US" sz="349" b="1" dirty="0">
                <a:solidFill>
                  <a:srgbClr val="C77DFF"/>
                </a:solidFill>
                <a:latin typeface="Courier New" pitchFamily="34" charset="0"/>
                <a:ea typeface="Courier New" pitchFamily="34" charset="-122"/>
                <a:cs typeface="Courier New" pitchFamily="34" charset="-120"/>
              </a:rPr>
              <a:t>Plugins</a:t>
            </a:r>
            <a:endParaRPr lang="en-US" sz="349" dirty="0"/>
          </a:p>
        </p:txBody>
      </p:sp>
      <p:sp>
        <p:nvSpPr>
          <p:cNvPr id="159" name="Text 139"/>
          <p:cNvSpPr/>
          <p:nvPr/>
        </p:nvSpPr>
        <p:spPr>
          <a:xfrm>
            <a:off x="5633085" y="6275070"/>
            <a:ext cx="771525" cy="216027"/>
          </a:xfrm>
          <a:prstGeom prst="rect">
            <a:avLst/>
          </a:prstGeom>
          <a:noFill/>
          <a:ln/>
        </p:spPr>
        <p:txBody>
          <a:bodyPr wrap="square" lIns="0" tIns="0" rIns="0" bIns="0" rtlCol="0" anchor="ctr"/>
          <a:lstStyle/>
          <a:p>
            <a:r>
              <a:rPr lang="en-US" sz="349" dirty="0">
                <a:solidFill>
                  <a:srgbClr val="E8EAF6"/>
                </a:solidFill>
                <a:latin typeface="Arial" pitchFamily="34" charset="0"/>
                <a:ea typeface="Arial" pitchFamily="34" charset="-122"/>
                <a:cs typeface="Arial" pitchFamily="34" charset="-120"/>
              </a:rPr>
              <a:t>Bundle &amp; distribute all above</a:t>
            </a:r>
            <a:endParaRPr lang="en-US" sz="349" dirty="0"/>
          </a:p>
        </p:txBody>
      </p:sp>
      <p:sp>
        <p:nvSpPr>
          <p:cNvPr id="160" name="Text 140"/>
          <p:cNvSpPr/>
          <p:nvPr/>
        </p:nvSpPr>
        <p:spPr>
          <a:xfrm>
            <a:off x="6466332" y="6275070"/>
            <a:ext cx="617220" cy="216027"/>
          </a:xfrm>
          <a:prstGeom prst="rect">
            <a:avLst/>
          </a:prstGeom>
          <a:noFill/>
          <a:ln/>
        </p:spPr>
        <p:txBody>
          <a:bodyPr wrap="square" lIns="0" tIns="0" rIns="0" bIns="0" rtlCol="0" anchor="ctr"/>
          <a:lstStyle/>
          <a:p>
            <a:r>
              <a:rPr lang="en-US" sz="349" dirty="0">
                <a:solidFill>
                  <a:srgbClr val="8B93A7"/>
                </a:solidFill>
                <a:latin typeface="Arial" pitchFamily="34" charset="0"/>
                <a:ea typeface="Arial" pitchFamily="34" charset="-122"/>
                <a:cs typeface="Arial" pitchFamily="34" charset="-120"/>
              </a:rPr>
              <a:t>Toolkit crate</a:t>
            </a:r>
            <a:endParaRPr lang="en-US" sz="349" dirty="0"/>
          </a:p>
        </p:txBody>
      </p:sp>
      <p:sp>
        <p:nvSpPr>
          <p:cNvPr id="161" name="Shape 141"/>
          <p:cNvSpPr/>
          <p:nvPr/>
        </p:nvSpPr>
        <p:spPr>
          <a:xfrm>
            <a:off x="7206996" y="545211"/>
            <a:ext cx="1388745" cy="2489454"/>
          </a:xfrm>
          <a:prstGeom prst="roundRect">
            <a:avLst>
              <a:gd name="adj" fmla="val 2222"/>
            </a:avLst>
          </a:prstGeom>
          <a:solidFill>
            <a:srgbClr val="0D0D18"/>
          </a:solidFill>
          <a:ln w="12700">
            <a:solidFill>
              <a:srgbClr val="22D3EE"/>
            </a:solidFill>
            <a:prstDash val="solid"/>
          </a:ln>
        </p:spPr>
      </p:sp>
      <p:sp>
        <p:nvSpPr>
          <p:cNvPr id="162" name="Shape 142"/>
          <p:cNvSpPr/>
          <p:nvPr/>
        </p:nvSpPr>
        <p:spPr>
          <a:xfrm>
            <a:off x="7258431" y="586359"/>
            <a:ext cx="1152144" cy="138875"/>
          </a:xfrm>
          <a:prstGeom prst="roundRect">
            <a:avLst>
              <a:gd name="adj" fmla="val 14815"/>
            </a:avLst>
          </a:prstGeom>
          <a:solidFill>
            <a:srgbClr val="12121F"/>
          </a:solidFill>
          <a:ln w="12700">
            <a:solidFill>
              <a:srgbClr val="22D3EE"/>
            </a:solidFill>
            <a:prstDash val="solid"/>
          </a:ln>
        </p:spPr>
      </p:sp>
      <p:sp>
        <p:nvSpPr>
          <p:cNvPr id="163" name="Shape 143"/>
          <p:cNvSpPr/>
          <p:nvPr/>
        </p:nvSpPr>
        <p:spPr>
          <a:xfrm>
            <a:off x="7304722" y="632650"/>
            <a:ext cx="46292" cy="46292"/>
          </a:xfrm>
          <a:prstGeom prst="roundRect">
            <a:avLst>
              <a:gd name="adj" fmla="val 22222"/>
            </a:avLst>
          </a:prstGeom>
          <a:solidFill>
            <a:srgbClr val="C77DFF"/>
          </a:solidFill>
          <a:ln/>
        </p:spPr>
      </p:sp>
      <p:sp>
        <p:nvSpPr>
          <p:cNvPr id="164" name="Text 144"/>
          <p:cNvSpPr/>
          <p:nvPr/>
        </p:nvSpPr>
        <p:spPr>
          <a:xfrm>
            <a:off x="7371588" y="601789"/>
            <a:ext cx="997839" cy="108014"/>
          </a:xfrm>
          <a:prstGeom prst="rect">
            <a:avLst/>
          </a:prstGeom>
          <a:noFill/>
          <a:ln/>
        </p:spPr>
        <p:txBody>
          <a:bodyPr wrap="square" lIns="0" tIns="0" rIns="0" bIns="0" rtlCol="0" anchor="ctr"/>
          <a:lstStyle/>
          <a:p>
            <a:r>
              <a:rPr lang="en-US" sz="478" b="1" dirty="0">
                <a:solidFill>
                  <a:srgbClr val="E8EAF6"/>
                </a:solidFill>
                <a:latin typeface="Courier New" pitchFamily="34" charset="0"/>
                <a:ea typeface="Courier New" pitchFamily="34" charset="-122"/>
                <a:cs typeface="Courier New" pitchFamily="34" charset="-120"/>
              </a:rPr>
              <a:t>SECTION 3 — MCP Servers</a:t>
            </a:r>
            <a:endParaRPr lang="en-US" sz="478" dirty="0"/>
          </a:p>
        </p:txBody>
      </p:sp>
      <p:sp>
        <p:nvSpPr>
          <p:cNvPr id="165" name="Shape 145"/>
          <p:cNvSpPr/>
          <p:nvPr/>
        </p:nvSpPr>
        <p:spPr>
          <a:xfrm>
            <a:off x="7263575" y="771525"/>
            <a:ext cx="298323" cy="277749"/>
          </a:xfrm>
          <a:prstGeom prst="roundRect">
            <a:avLst>
              <a:gd name="adj" fmla="val 11111"/>
            </a:avLst>
          </a:prstGeom>
          <a:solidFill>
            <a:srgbClr val="12121F"/>
          </a:solidFill>
          <a:ln w="12700">
            <a:solidFill>
              <a:srgbClr val="232338"/>
            </a:solidFill>
            <a:prstDash val="solid"/>
          </a:ln>
        </p:spPr>
      </p:sp>
      <p:pic>
        <p:nvPicPr>
          <p:cNvPr id="166" name="Image 18" descr="/sessions/zealous-intelligent-mayer/mnt/outputs/icons5/mt_sap.png"/>
          <p:cNvPicPr>
            <a:picLocks noChangeAspect="1"/>
          </p:cNvPicPr>
          <p:nvPr/>
        </p:nvPicPr>
        <p:blipFill>
          <a:blip r:embed="rId17"/>
          <a:stretch>
            <a:fillRect/>
          </a:stretch>
        </p:blipFill>
        <p:spPr>
          <a:xfrm>
            <a:off x="7351014" y="838391"/>
            <a:ext cx="123444" cy="123444"/>
          </a:xfrm>
          <a:prstGeom prst="rect">
            <a:avLst/>
          </a:prstGeom>
        </p:spPr>
      </p:pic>
      <p:sp>
        <p:nvSpPr>
          <p:cNvPr id="167" name="Text 146"/>
          <p:cNvSpPr/>
          <p:nvPr/>
        </p:nvSpPr>
        <p:spPr>
          <a:xfrm>
            <a:off x="7248144" y="1059561"/>
            <a:ext cx="329184" cy="72009"/>
          </a:xfrm>
          <a:prstGeom prst="rect">
            <a:avLst/>
          </a:prstGeom>
          <a:noFill/>
          <a:ln/>
        </p:spPr>
        <p:txBody>
          <a:bodyPr wrap="square" lIns="0" tIns="0" rIns="0" bIns="0" rtlCol="0" anchor="ctr"/>
          <a:lstStyle/>
          <a:p>
            <a:pPr algn="ctr"/>
            <a:r>
              <a:rPr lang="en-US" sz="293" dirty="0">
                <a:solidFill>
                  <a:srgbClr val="E8EAF6"/>
                </a:solidFill>
                <a:latin typeface="Arial" pitchFamily="34" charset="0"/>
                <a:ea typeface="Arial" pitchFamily="34" charset="-122"/>
                <a:cs typeface="Arial" pitchFamily="34" charset="-120"/>
              </a:rPr>
              <a:t>SAP</a:t>
            </a:r>
            <a:endParaRPr lang="en-US" sz="293" dirty="0"/>
          </a:p>
        </p:txBody>
      </p:sp>
      <p:sp>
        <p:nvSpPr>
          <p:cNvPr id="168" name="Shape 147"/>
          <p:cNvSpPr/>
          <p:nvPr/>
        </p:nvSpPr>
        <p:spPr>
          <a:xfrm>
            <a:off x="7587615" y="771525"/>
            <a:ext cx="298323" cy="277749"/>
          </a:xfrm>
          <a:prstGeom prst="roundRect">
            <a:avLst>
              <a:gd name="adj" fmla="val 11111"/>
            </a:avLst>
          </a:prstGeom>
          <a:solidFill>
            <a:srgbClr val="12121F"/>
          </a:solidFill>
          <a:ln w="12700">
            <a:solidFill>
              <a:srgbClr val="232338"/>
            </a:solidFill>
            <a:prstDash val="solid"/>
          </a:ln>
        </p:spPr>
      </p:sp>
      <p:pic>
        <p:nvPicPr>
          <p:cNvPr id="169" name="Image 19" descr="/sessions/zealous-intelligent-mayer/mnt/outputs/icons5/mt_pi.png"/>
          <p:cNvPicPr>
            <a:picLocks noChangeAspect="1"/>
          </p:cNvPicPr>
          <p:nvPr/>
        </p:nvPicPr>
        <p:blipFill>
          <a:blip r:embed="rId18"/>
          <a:stretch>
            <a:fillRect/>
          </a:stretch>
        </p:blipFill>
        <p:spPr>
          <a:xfrm>
            <a:off x="7675055" y="838391"/>
            <a:ext cx="123444" cy="123444"/>
          </a:xfrm>
          <a:prstGeom prst="rect">
            <a:avLst/>
          </a:prstGeom>
        </p:spPr>
      </p:pic>
      <p:sp>
        <p:nvSpPr>
          <p:cNvPr id="170" name="Text 148"/>
          <p:cNvSpPr/>
          <p:nvPr/>
        </p:nvSpPr>
        <p:spPr>
          <a:xfrm>
            <a:off x="7572185" y="1059561"/>
            <a:ext cx="329184" cy="72009"/>
          </a:xfrm>
          <a:prstGeom prst="rect">
            <a:avLst/>
          </a:prstGeom>
          <a:noFill/>
          <a:ln/>
        </p:spPr>
        <p:txBody>
          <a:bodyPr wrap="square" lIns="0" tIns="0" rIns="0" bIns="0" rtlCol="0" anchor="ctr"/>
          <a:lstStyle/>
          <a:p>
            <a:pPr algn="ctr"/>
            <a:r>
              <a:rPr lang="en-US" sz="293" dirty="0">
                <a:solidFill>
                  <a:srgbClr val="E8EAF6"/>
                </a:solidFill>
                <a:latin typeface="Arial" pitchFamily="34" charset="0"/>
                <a:ea typeface="Arial" pitchFamily="34" charset="-122"/>
                <a:cs typeface="Arial" pitchFamily="34" charset="-120"/>
              </a:rPr>
              <a:t>AVEVA PI</a:t>
            </a:r>
            <a:endParaRPr lang="en-US" sz="293" dirty="0"/>
          </a:p>
        </p:txBody>
      </p:sp>
      <p:sp>
        <p:nvSpPr>
          <p:cNvPr id="171" name="Shape 149"/>
          <p:cNvSpPr/>
          <p:nvPr/>
        </p:nvSpPr>
        <p:spPr>
          <a:xfrm>
            <a:off x="7911656" y="771525"/>
            <a:ext cx="298323" cy="277749"/>
          </a:xfrm>
          <a:prstGeom prst="roundRect">
            <a:avLst>
              <a:gd name="adj" fmla="val 11111"/>
            </a:avLst>
          </a:prstGeom>
          <a:solidFill>
            <a:srgbClr val="12121F"/>
          </a:solidFill>
          <a:ln w="12700">
            <a:solidFill>
              <a:srgbClr val="232338"/>
            </a:solidFill>
            <a:prstDash val="solid"/>
          </a:ln>
        </p:spPr>
      </p:sp>
      <p:pic>
        <p:nvPicPr>
          <p:cNvPr id="172" name="Image 20" descr="/sessions/zealous-intelligent-mayer/mnt/outputs/icons5/mt_mes.png"/>
          <p:cNvPicPr>
            <a:picLocks noChangeAspect="1"/>
          </p:cNvPicPr>
          <p:nvPr/>
        </p:nvPicPr>
        <p:blipFill>
          <a:blip r:embed="rId19"/>
          <a:stretch>
            <a:fillRect/>
          </a:stretch>
        </p:blipFill>
        <p:spPr>
          <a:xfrm>
            <a:off x="7999095" y="838391"/>
            <a:ext cx="123444" cy="123444"/>
          </a:xfrm>
          <a:prstGeom prst="rect">
            <a:avLst/>
          </a:prstGeom>
        </p:spPr>
      </p:pic>
      <p:sp>
        <p:nvSpPr>
          <p:cNvPr id="173" name="Text 150"/>
          <p:cNvSpPr/>
          <p:nvPr/>
        </p:nvSpPr>
        <p:spPr>
          <a:xfrm>
            <a:off x="7896225" y="1059561"/>
            <a:ext cx="329184" cy="72009"/>
          </a:xfrm>
          <a:prstGeom prst="rect">
            <a:avLst/>
          </a:prstGeom>
          <a:noFill/>
          <a:ln/>
        </p:spPr>
        <p:txBody>
          <a:bodyPr wrap="square" lIns="0" tIns="0" rIns="0" bIns="0" rtlCol="0" anchor="ctr"/>
          <a:lstStyle/>
          <a:p>
            <a:pPr algn="ctr"/>
            <a:r>
              <a:rPr lang="en-US" sz="293" dirty="0">
                <a:solidFill>
                  <a:srgbClr val="E8EAF6"/>
                </a:solidFill>
                <a:latin typeface="Arial" pitchFamily="34" charset="0"/>
                <a:ea typeface="Arial" pitchFamily="34" charset="-122"/>
                <a:cs typeface="Arial" pitchFamily="34" charset="-120"/>
              </a:rPr>
              <a:t>FactoryTalk</a:t>
            </a:r>
            <a:endParaRPr lang="en-US" sz="293" dirty="0"/>
          </a:p>
        </p:txBody>
      </p:sp>
      <p:sp>
        <p:nvSpPr>
          <p:cNvPr id="174" name="Shape 151"/>
          <p:cNvSpPr/>
          <p:nvPr/>
        </p:nvSpPr>
        <p:spPr>
          <a:xfrm>
            <a:off x="8235696" y="771525"/>
            <a:ext cx="298323" cy="277749"/>
          </a:xfrm>
          <a:prstGeom prst="roundRect">
            <a:avLst>
              <a:gd name="adj" fmla="val 11111"/>
            </a:avLst>
          </a:prstGeom>
          <a:solidFill>
            <a:srgbClr val="12121F"/>
          </a:solidFill>
          <a:ln w="12700">
            <a:solidFill>
              <a:srgbClr val="232338"/>
            </a:solidFill>
            <a:prstDash val="solid"/>
          </a:ln>
        </p:spPr>
      </p:sp>
      <p:pic>
        <p:nvPicPr>
          <p:cNvPr id="175" name="Image 21" descr="/sessions/zealous-intelligent-mayer/mnt/outputs/icons5/mt_sp.png"/>
          <p:cNvPicPr>
            <a:picLocks noChangeAspect="1"/>
          </p:cNvPicPr>
          <p:nvPr/>
        </p:nvPicPr>
        <p:blipFill>
          <a:blip r:embed="rId20"/>
          <a:stretch>
            <a:fillRect/>
          </a:stretch>
        </p:blipFill>
        <p:spPr>
          <a:xfrm>
            <a:off x="8323136" y="838391"/>
            <a:ext cx="123444" cy="123444"/>
          </a:xfrm>
          <a:prstGeom prst="rect">
            <a:avLst/>
          </a:prstGeom>
        </p:spPr>
      </p:pic>
      <p:sp>
        <p:nvSpPr>
          <p:cNvPr id="176" name="Text 152"/>
          <p:cNvSpPr/>
          <p:nvPr/>
        </p:nvSpPr>
        <p:spPr>
          <a:xfrm>
            <a:off x="8220266" y="1059561"/>
            <a:ext cx="329184" cy="72009"/>
          </a:xfrm>
          <a:prstGeom prst="rect">
            <a:avLst/>
          </a:prstGeom>
          <a:noFill/>
          <a:ln/>
        </p:spPr>
        <p:txBody>
          <a:bodyPr wrap="square" lIns="0" tIns="0" rIns="0" bIns="0" rtlCol="0" anchor="ctr"/>
          <a:lstStyle/>
          <a:p>
            <a:pPr algn="ctr"/>
            <a:r>
              <a:rPr lang="en-US" sz="293" dirty="0">
                <a:solidFill>
                  <a:srgbClr val="E8EAF6"/>
                </a:solidFill>
                <a:latin typeface="Arial" pitchFamily="34" charset="0"/>
                <a:ea typeface="Arial" pitchFamily="34" charset="-122"/>
                <a:cs typeface="Arial" pitchFamily="34" charset="-120"/>
              </a:rPr>
              <a:t>SharePoint</a:t>
            </a:r>
            <a:endParaRPr lang="en-US" sz="293" dirty="0"/>
          </a:p>
        </p:txBody>
      </p:sp>
      <p:sp>
        <p:nvSpPr>
          <p:cNvPr id="177" name="Shape 153"/>
          <p:cNvSpPr/>
          <p:nvPr/>
        </p:nvSpPr>
        <p:spPr>
          <a:xfrm>
            <a:off x="7263575" y="1183005"/>
            <a:ext cx="298323" cy="277749"/>
          </a:xfrm>
          <a:prstGeom prst="roundRect">
            <a:avLst>
              <a:gd name="adj" fmla="val 11111"/>
            </a:avLst>
          </a:prstGeom>
          <a:solidFill>
            <a:srgbClr val="12121F"/>
          </a:solidFill>
          <a:ln w="12700">
            <a:solidFill>
              <a:srgbClr val="232338"/>
            </a:solidFill>
            <a:prstDash val="solid"/>
          </a:ln>
        </p:spPr>
      </p:sp>
      <p:pic>
        <p:nvPicPr>
          <p:cNvPr id="178" name="Image 22" descr="/sessions/zealous-intelligent-mayer/mnt/outputs/icons5/mt_coupa.png"/>
          <p:cNvPicPr>
            <a:picLocks noChangeAspect="1"/>
          </p:cNvPicPr>
          <p:nvPr/>
        </p:nvPicPr>
        <p:blipFill>
          <a:blip r:embed="rId21"/>
          <a:stretch>
            <a:fillRect/>
          </a:stretch>
        </p:blipFill>
        <p:spPr>
          <a:xfrm>
            <a:off x="7351014" y="1249871"/>
            <a:ext cx="123444" cy="123444"/>
          </a:xfrm>
          <a:prstGeom prst="rect">
            <a:avLst/>
          </a:prstGeom>
        </p:spPr>
      </p:pic>
      <p:sp>
        <p:nvSpPr>
          <p:cNvPr id="179" name="Text 154"/>
          <p:cNvSpPr/>
          <p:nvPr/>
        </p:nvSpPr>
        <p:spPr>
          <a:xfrm>
            <a:off x="7248144" y="1471041"/>
            <a:ext cx="329184" cy="72009"/>
          </a:xfrm>
          <a:prstGeom prst="rect">
            <a:avLst/>
          </a:prstGeom>
          <a:noFill/>
          <a:ln/>
        </p:spPr>
        <p:txBody>
          <a:bodyPr wrap="square" lIns="0" tIns="0" rIns="0" bIns="0" rtlCol="0" anchor="ctr"/>
          <a:lstStyle/>
          <a:p>
            <a:pPr algn="ctr"/>
            <a:r>
              <a:rPr lang="en-US" sz="293" dirty="0">
                <a:solidFill>
                  <a:srgbClr val="E8EAF6"/>
                </a:solidFill>
                <a:latin typeface="Arial" pitchFamily="34" charset="0"/>
                <a:ea typeface="Arial" pitchFamily="34" charset="-122"/>
                <a:cs typeface="Arial" pitchFamily="34" charset="-120"/>
              </a:rPr>
              <a:t>Coupa</a:t>
            </a:r>
            <a:endParaRPr lang="en-US" sz="293" dirty="0"/>
          </a:p>
        </p:txBody>
      </p:sp>
      <p:sp>
        <p:nvSpPr>
          <p:cNvPr id="180" name="Shape 155"/>
          <p:cNvSpPr/>
          <p:nvPr/>
        </p:nvSpPr>
        <p:spPr>
          <a:xfrm>
            <a:off x="7587615" y="1183005"/>
            <a:ext cx="298323" cy="277749"/>
          </a:xfrm>
          <a:prstGeom prst="roundRect">
            <a:avLst>
              <a:gd name="adj" fmla="val 11111"/>
            </a:avLst>
          </a:prstGeom>
          <a:solidFill>
            <a:srgbClr val="12121F"/>
          </a:solidFill>
          <a:ln w="12700">
            <a:solidFill>
              <a:srgbClr val="232338"/>
            </a:solidFill>
            <a:prstDash val="solid"/>
          </a:ln>
        </p:spPr>
      </p:sp>
      <p:pic>
        <p:nvPicPr>
          <p:cNvPr id="181" name="Image 23" descr="/sessions/zealous-intelligent-mayer/mnt/outputs/icons5/mt_sql.png"/>
          <p:cNvPicPr>
            <a:picLocks noChangeAspect="1"/>
          </p:cNvPicPr>
          <p:nvPr/>
        </p:nvPicPr>
        <p:blipFill>
          <a:blip r:embed="rId22"/>
          <a:stretch>
            <a:fillRect/>
          </a:stretch>
        </p:blipFill>
        <p:spPr>
          <a:xfrm>
            <a:off x="7675055" y="1249871"/>
            <a:ext cx="123444" cy="123444"/>
          </a:xfrm>
          <a:prstGeom prst="rect">
            <a:avLst/>
          </a:prstGeom>
        </p:spPr>
      </p:pic>
      <p:sp>
        <p:nvSpPr>
          <p:cNvPr id="182" name="Text 156"/>
          <p:cNvSpPr/>
          <p:nvPr/>
        </p:nvSpPr>
        <p:spPr>
          <a:xfrm>
            <a:off x="7572185" y="1471041"/>
            <a:ext cx="329184" cy="72009"/>
          </a:xfrm>
          <a:prstGeom prst="rect">
            <a:avLst/>
          </a:prstGeom>
          <a:noFill/>
          <a:ln/>
        </p:spPr>
        <p:txBody>
          <a:bodyPr wrap="square" lIns="0" tIns="0" rIns="0" bIns="0" rtlCol="0" anchor="ctr"/>
          <a:lstStyle/>
          <a:p>
            <a:pPr algn="ctr"/>
            <a:r>
              <a:rPr lang="en-US" sz="293" dirty="0">
                <a:solidFill>
                  <a:srgbClr val="E8EAF6"/>
                </a:solidFill>
                <a:latin typeface="Arial" pitchFamily="34" charset="0"/>
                <a:ea typeface="Arial" pitchFamily="34" charset="-122"/>
                <a:cs typeface="Arial" pitchFamily="34" charset="-120"/>
              </a:rPr>
              <a:t>Azure SQL</a:t>
            </a:r>
            <a:endParaRPr lang="en-US" sz="293" dirty="0"/>
          </a:p>
        </p:txBody>
      </p:sp>
      <p:sp>
        <p:nvSpPr>
          <p:cNvPr id="183" name="Shape 157"/>
          <p:cNvSpPr/>
          <p:nvPr/>
        </p:nvSpPr>
        <p:spPr>
          <a:xfrm>
            <a:off x="7911656" y="1183005"/>
            <a:ext cx="298323" cy="277749"/>
          </a:xfrm>
          <a:prstGeom prst="roundRect">
            <a:avLst>
              <a:gd name="adj" fmla="val 11111"/>
            </a:avLst>
          </a:prstGeom>
          <a:solidFill>
            <a:srgbClr val="12121F"/>
          </a:solidFill>
          <a:ln w="12700">
            <a:solidFill>
              <a:srgbClr val="232338"/>
            </a:solidFill>
            <a:prstDash val="solid"/>
          </a:ln>
        </p:spPr>
      </p:sp>
      <p:pic>
        <p:nvPicPr>
          <p:cNvPr id="184" name="Image 24" descr="/sessions/zealous-intelligent-mayer/mnt/outputs/icons5/mt_fabric.png"/>
          <p:cNvPicPr>
            <a:picLocks noChangeAspect="1"/>
          </p:cNvPicPr>
          <p:nvPr/>
        </p:nvPicPr>
        <p:blipFill>
          <a:blip r:embed="rId23"/>
          <a:stretch>
            <a:fillRect/>
          </a:stretch>
        </p:blipFill>
        <p:spPr>
          <a:xfrm>
            <a:off x="7999095" y="1249871"/>
            <a:ext cx="123444" cy="123444"/>
          </a:xfrm>
          <a:prstGeom prst="rect">
            <a:avLst/>
          </a:prstGeom>
        </p:spPr>
      </p:pic>
      <p:sp>
        <p:nvSpPr>
          <p:cNvPr id="185" name="Text 158"/>
          <p:cNvSpPr/>
          <p:nvPr/>
        </p:nvSpPr>
        <p:spPr>
          <a:xfrm>
            <a:off x="7896225" y="1471041"/>
            <a:ext cx="329184" cy="72009"/>
          </a:xfrm>
          <a:prstGeom prst="rect">
            <a:avLst/>
          </a:prstGeom>
          <a:noFill/>
          <a:ln/>
        </p:spPr>
        <p:txBody>
          <a:bodyPr wrap="square" lIns="0" tIns="0" rIns="0" bIns="0" rtlCol="0" anchor="ctr"/>
          <a:lstStyle/>
          <a:p>
            <a:pPr algn="ctr"/>
            <a:r>
              <a:rPr lang="en-US" sz="293" dirty="0">
                <a:solidFill>
                  <a:srgbClr val="E8EAF6"/>
                </a:solidFill>
                <a:latin typeface="Arial" pitchFamily="34" charset="0"/>
                <a:ea typeface="Arial" pitchFamily="34" charset="-122"/>
                <a:cs typeface="Arial" pitchFamily="34" charset="-120"/>
              </a:rPr>
              <a:t>Fabric</a:t>
            </a:r>
            <a:endParaRPr lang="en-US" sz="293" dirty="0"/>
          </a:p>
        </p:txBody>
      </p:sp>
      <p:sp>
        <p:nvSpPr>
          <p:cNvPr id="186" name="Shape 159"/>
          <p:cNvSpPr/>
          <p:nvPr/>
        </p:nvSpPr>
        <p:spPr>
          <a:xfrm>
            <a:off x="8235696" y="1183005"/>
            <a:ext cx="298323" cy="277749"/>
          </a:xfrm>
          <a:prstGeom prst="roundRect">
            <a:avLst>
              <a:gd name="adj" fmla="val 11111"/>
            </a:avLst>
          </a:prstGeom>
          <a:solidFill>
            <a:srgbClr val="12121F"/>
          </a:solidFill>
          <a:ln w="12700">
            <a:solidFill>
              <a:srgbClr val="232338"/>
            </a:solidFill>
            <a:prstDash val="solid"/>
          </a:ln>
        </p:spPr>
      </p:sp>
      <p:pic>
        <p:nvPicPr>
          <p:cNvPr id="187" name="Image 25" descr="/sessions/zealous-intelligent-mayer/mnt/outputs/icons5/mt_teams.png"/>
          <p:cNvPicPr>
            <a:picLocks noChangeAspect="1"/>
          </p:cNvPicPr>
          <p:nvPr/>
        </p:nvPicPr>
        <p:blipFill>
          <a:blip r:embed="rId24"/>
          <a:stretch>
            <a:fillRect/>
          </a:stretch>
        </p:blipFill>
        <p:spPr>
          <a:xfrm>
            <a:off x="8323136" y="1249871"/>
            <a:ext cx="123444" cy="123444"/>
          </a:xfrm>
          <a:prstGeom prst="rect">
            <a:avLst/>
          </a:prstGeom>
        </p:spPr>
      </p:pic>
      <p:sp>
        <p:nvSpPr>
          <p:cNvPr id="188" name="Text 160"/>
          <p:cNvSpPr/>
          <p:nvPr/>
        </p:nvSpPr>
        <p:spPr>
          <a:xfrm>
            <a:off x="8220266" y="1471041"/>
            <a:ext cx="329184" cy="72009"/>
          </a:xfrm>
          <a:prstGeom prst="rect">
            <a:avLst/>
          </a:prstGeom>
          <a:noFill/>
          <a:ln/>
        </p:spPr>
        <p:txBody>
          <a:bodyPr wrap="square" lIns="0" tIns="0" rIns="0" bIns="0" rtlCol="0" anchor="ctr"/>
          <a:lstStyle/>
          <a:p>
            <a:pPr algn="ctr"/>
            <a:r>
              <a:rPr lang="en-US" sz="293" dirty="0">
                <a:solidFill>
                  <a:srgbClr val="E8EAF6"/>
                </a:solidFill>
                <a:latin typeface="Arial" pitchFamily="34" charset="0"/>
                <a:ea typeface="Arial" pitchFamily="34" charset="-122"/>
                <a:cs typeface="Arial" pitchFamily="34" charset="-120"/>
              </a:rPr>
              <a:t>Teams</a:t>
            </a:r>
            <a:endParaRPr lang="en-US" sz="293" dirty="0"/>
          </a:p>
        </p:txBody>
      </p:sp>
      <p:sp>
        <p:nvSpPr>
          <p:cNvPr id="189" name="Shape 161"/>
          <p:cNvSpPr/>
          <p:nvPr/>
        </p:nvSpPr>
        <p:spPr>
          <a:xfrm>
            <a:off x="7263575" y="1615059"/>
            <a:ext cx="1275588" cy="133731"/>
          </a:xfrm>
          <a:prstGeom prst="roundRect">
            <a:avLst>
              <a:gd name="adj" fmla="val 15385"/>
            </a:avLst>
          </a:prstGeom>
          <a:solidFill>
            <a:srgbClr val="0F0F1C"/>
          </a:solidFill>
          <a:ln w="12700">
            <a:solidFill>
              <a:srgbClr val="22D3EE"/>
            </a:solidFill>
            <a:prstDash val="solid"/>
          </a:ln>
        </p:spPr>
      </p:sp>
      <p:sp>
        <p:nvSpPr>
          <p:cNvPr id="190" name="Text 162"/>
          <p:cNvSpPr/>
          <p:nvPr/>
        </p:nvSpPr>
        <p:spPr>
          <a:xfrm>
            <a:off x="7289292" y="1615059"/>
            <a:ext cx="1224153" cy="133731"/>
          </a:xfrm>
          <a:prstGeom prst="rect">
            <a:avLst/>
          </a:prstGeom>
          <a:noFill/>
          <a:ln/>
        </p:spPr>
        <p:txBody>
          <a:bodyPr wrap="square" lIns="0" tIns="0" rIns="0" bIns="0" rtlCol="0" anchor="ctr"/>
          <a:lstStyle/>
          <a:p>
            <a:pPr algn="ctr"/>
            <a:r>
              <a:rPr lang="en-US" sz="360" b="1" dirty="0">
                <a:solidFill>
                  <a:srgbClr val="22D3EE"/>
                </a:solidFill>
                <a:latin typeface="Courier New" pitchFamily="34" charset="0"/>
                <a:ea typeface="Courier New" pitchFamily="34" charset="-122"/>
                <a:cs typeface="Courier New" pitchFamily="34" charset="-120"/>
              </a:rPr>
              <a:t>MCP = ABILITY (connects to plant systems)</a:t>
            </a:r>
            <a:endParaRPr lang="en-US" sz="360" dirty="0"/>
          </a:p>
        </p:txBody>
      </p:sp>
      <p:sp>
        <p:nvSpPr>
          <p:cNvPr id="191" name="Shape 163"/>
          <p:cNvSpPr/>
          <p:nvPr/>
        </p:nvSpPr>
        <p:spPr>
          <a:xfrm>
            <a:off x="7263575" y="1789938"/>
            <a:ext cx="1275588" cy="370332"/>
          </a:xfrm>
          <a:prstGeom prst="roundRect">
            <a:avLst>
              <a:gd name="adj" fmla="val 8333"/>
            </a:avLst>
          </a:prstGeom>
          <a:solidFill>
            <a:srgbClr val="0A1218"/>
          </a:solidFill>
          <a:ln w="12700">
            <a:solidFill>
              <a:srgbClr val="16505C"/>
            </a:solidFill>
            <a:prstDash val="solid"/>
          </a:ln>
        </p:spPr>
      </p:sp>
      <p:pic>
        <p:nvPicPr>
          <p:cNvPr id="192" name="Image 26" descr="/sessions/zealous-intelligent-mayer/mnt/outputs/icons5/mt_sap.png"/>
          <p:cNvPicPr>
            <a:picLocks noChangeAspect="1"/>
          </p:cNvPicPr>
          <p:nvPr/>
        </p:nvPicPr>
        <p:blipFill>
          <a:blip r:embed="rId17"/>
          <a:stretch>
            <a:fillRect/>
          </a:stretch>
        </p:blipFill>
        <p:spPr>
          <a:xfrm>
            <a:off x="7304723" y="1836230"/>
            <a:ext cx="72009" cy="72009"/>
          </a:xfrm>
          <a:prstGeom prst="rect">
            <a:avLst/>
          </a:prstGeom>
        </p:spPr>
      </p:pic>
      <p:sp>
        <p:nvSpPr>
          <p:cNvPr id="193" name="Text 164"/>
          <p:cNvSpPr/>
          <p:nvPr/>
        </p:nvSpPr>
        <p:spPr>
          <a:xfrm>
            <a:off x="7402449" y="1825943"/>
            <a:ext cx="1131570" cy="92583"/>
          </a:xfrm>
          <a:prstGeom prst="rect">
            <a:avLst/>
          </a:prstGeom>
          <a:noFill/>
          <a:ln/>
        </p:spPr>
        <p:txBody>
          <a:bodyPr wrap="square" lIns="0" tIns="0" rIns="0" bIns="0" rtlCol="0" anchor="ctr"/>
          <a:lstStyle/>
          <a:p>
            <a:r>
              <a:rPr lang="en-US" sz="315" dirty="0">
                <a:solidFill>
                  <a:srgbClr val="4ADE80"/>
                </a:solidFill>
                <a:latin typeface="Courier New" pitchFamily="34" charset="0"/>
                <a:ea typeface="Courier New" pitchFamily="34" charset="-122"/>
                <a:cs typeface="Courier New" pitchFamily="34" charset="-120"/>
              </a:rPr>
              <a:t>MCP Server 1  (e.g., SAP S/4HANA)</a:t>
            </a:r>
            <a:endParaRPr lang="en-US" sz="315" dirty="0"/>
          </a:p>
        </p:txBody>
      </p:sp>
      <p:pic>
        <p:nvPicPr>
          <p:cNvPr id="194" name="Image 27" descr="/sessions/zealous-intelligent-mayer/mnt/outputs/icons5/mt_pi.png"/>
          <p:cNvPicPr>
            <a:picLocks noChangeAspect="1"/>
          </p:cNvPicPr>
          <p:nvPr/>
        </p:nvPicPr>
        <p:blipFill>
          <a:blip r:embed="rId18"/>
          <a:stretch>
            <a:fillRect/>
          </a:stretch>
        </p:blipFill>
        <p:spPr>
          <a:xfrm>
            <a:off x="7304723" y="1944243"/>
            <a:ext cx="72009" cy="72009"/>
          </a:xfrm>
          <a:prstGeom prst="rect">
            <a:avLst/>
          </a:prstGeom>
        </p:spPr>
      </p:pic>
      <p:sp>
        <p:nvSpPr>
          <p:cNvPr id="195" name="Text 165"/>
          <p:cNvSpPr/>
          <p:nvPr/>
        </p:nvSpPr>
        <p:spPr>
          <a:xfrm>
            <a:off x="7402449" y="1933956"/>
            <a:ext cx="1131570" cy="92583"/>
          </a:xfrm>
          <a:prstGeom prst="rect">
            <a:avLst/>
          </a:prstGeom>
          <a:noFill/>
          <a:ln/>
        </p:spPr>
        <p:txBody>
          <a:bodyPr wrap="square" lIns="0" tIns="0" rIns="0" bIns="0" rtlCol="0" anchor="ctr"/>
          <a:lstStyle/>
          <a:p>
            <a:r>
              <a:rPr lang="en-US" sz="315" dirty="0">
                <a:solidFill>
                  <a:srgbClr val="4ADE80"/>
                </a:solidFill>
                <a:latin typeface="Courier New" pitchFamily="34" charset="0"/>
                <a:ea typeface="Courier New" pitchFamily="34" charset="-122"/>
                <a:cs typeface="Courier New" pitchFamily="34" charset="-120"/>
              </a:rPr>
              <a:t>MCP Server 2  (e.g., AVEVA PI)</a:t>
            </a:r>
            <a:endParaRPr lang="en-US" sz="315" dirty="0"/>
          </a:p>
        </p:txBody>
      </p:sp>
      <p:pic>
        <p:nvPicPr>
          <p:cNvPr id="196" name="Image 28" descr="/sessions/zealous-intelligent-mayer/mnt/outputs/icons5/mt_mes.png"/>
          <p:cNvPicPr>
            <a:picLocks noChangeAspect="1"/>
          </p:cNvPicPr>
          <p:nvPr/>
        </p:nvPicPr>
        <p:blipFill>
          <a:blip r:embed="rId19"/>
          <a:stretch>
            <a:fillRect/>
          </a:stretch>
        </p:blipFill>
        <p:spPr>
          <a:xfrm>
            <a:off x="7304723" y="2052257"/>
            <a:ext cx="72009" cy="72009"/>
          </a:xfrm>
          <a:prstGeom prst="rect">
            <a:avLst/>
          </a:prstGeom>
        </p:spPr>
      </p:pic>
      <p:sp>
        <p:nvSpPr>
          <p:cNvPr id="197" name="Text 166"/>
          <p:cNvSpPr/>
          <p:nvPr/>
        </p:nvSpPr>
        <p:spPr>
          <a:xfrm>
            <a:off x="7402449" y="2041970"/>
            <a:ext cx="1131570" cy="92583"/>
          </a:xfrm>
          <a:prstGeom prst="rect">
            <a:avLst/>
          </a:prstGeom>
          <a:noFill/>
          <a:ln/>
        </p:spPr>
        <p:txBody>
          <a:bodyPr wrap="square" lIns="0" tIns="0" rIns="0" bIns="0" rtlCol="0" anchor="ctr"/>
          <a:lstStyle/>
          <a:p>
            <a:r>
              <a:rPr lang="en-US" sz="315" dirty="0">
                <a:solidFill>
                  <a:srgbClr val="4ADE80"/>
                </a:solidFill>
                <a:latin typeface="Courier New" pitchFamily="34" charset="0"/>
                <a:ea typeface="Courier New" pitchFamily="34" charset="-122"/>
                <a:cs typeface="Courier New" pitchFamily="34" charset="-120"/>
              </a:rPr>
              <a:t>MCP Server 3  (e.g., FactoryTalk MES)</a:t>
            </a:r>
            <a:endParaRPr lang="en-US" sz="315" dirty="0"/>
          </a:p>
        </p:txBody>
      </p:sp>
      <p:sp>
        <p:nvSpPr>
          <p:cNvPr id="198" name="Shape 167"/>
          <p:cNvSpPr/>
          <p:nvPr/>
        </p:nvSpPr>
        <p:spPr>
          <a:xfrm>
            <a:off x="7263575" y="2201418"/>
            <a:ext cx="1275588" cy="236601"/>
          </a:xfrm>
          <a:prstGeom prst="roundRect">
            <a:avLst>
              <a:gd name="adj" fmla="val 13043"/>
            </a:avLst>
          </a:prstGeom>
          <a:solidFill>
            <a:srgbClr val="12121F"/>
          </a:solidFill>
          <a:ln w="12700">
            <a:solidFill>
              <a:srgbClr val="232338"/>
            </a:solidFill>
            <a:prstDash val="solid"/>
          </a:ln>
        </p:spPr>
      </p:sp>
      <p:pic>
        <p:nvPicPr>
          <p:cNvPr id="199" name="Image 29" descr="/sessions/zealous-intelligent-mayer/mnt/outputs/icons5/n_globe.png"/>
          <p:cNvPicPr>
            <a:picLocks noChangeAspect="1"/>
          </p:cNvPicPr>
          <p:nvPr/>
        </p:nvPicPr>
        <p:blipFill>
          <a:blip r:embed="rId11"/>
          <a:stretch>
            <a:fillRect/>
          </a:stretch>
        </p:blipFill>
        <p:spPr>
          <a:xfrm>
            <a:off x="7309866" y="2268284"/>
            <a:ext cx="102870" cy="102870"/>
          </a:xfrm>
          <a:prstGeom prst="rect">
            <a:avLst/>
          </a:prstGeom>
        </p:spPr>
      </p:pic>
      <p:sp>
        <p:nvSpPr>
          <p:cNvPr id="200" name="Text 168"/>
          <p:cNvSpPr/>
          <p:nvPr/>
        </p:nvSpPr>
        <p:spPr>
          <a:xfrm>
            <a:off x="7443597" y="2221992"/>
            <a:ext cx="1080135" cy="195453"/>
          </a:xfrm>
          <a:prstGeom prst="rect">
            <a:avLst/>
          </a:prstGeom>
          <a:noFill/>
          <a:ln/>
        </p:spPr>
        <p:txBody>
          <a:bodyPr wrap="square" lIns="0" tIns="0" rIns="0" bIns="0" rtlCol="0" anchor="ctr"/>
          <a:lstStyle/>
          <a:p>
            <a:r>
              <a:rPr lang="en-US" sz="326" dirty="0">
                <a:solidFill>
                  <a:srgbClr val="E8EAF6"/>
                </a:solidFill>
                <a:latin typeface="Arial" pitchFamily="34" charset="0"/>
                <a:ea typeface="Arial" pitchFamily="34" charset="-122"/>
                <a:cs typeface="Arial" pitchFamily="34" charset="-120"/>
              </a:rPr>
              <a:t>One protocol reaches ERP, historian,</a:t>
            </a:r>
            <a:endParaRPr lang="en-US" sz="326" dirty="0"/>
          </a:p>
          <a:p>
            <a:r>
              <a:rPr lang="en-US" sz="326" dirty="0">
                <a:solidFill>
                  <a:srgbClr val="E8EAF6"/>
                </a:solidFill>
                <a:latin typeface="Arial" pitchFamily="34" charset="0"/>
                <a:ea typeface="Arial" pitchFamily="34" charset="-122"/>
                <a:cs typeface="Arial" pitchFamily="34" charset="-120"/>
              </a:rPr>
              <a:t>MES and quality systems alike</a:t>
            </a:r>
            <a:endParaRPr lang="en-US" sz="326" dirty="0"/>
          </a:p>
        </p:txBody>
      </p:sp>
      <p:sp>
        <p:nvSpPr>
          <p:cNvPr id="201" name="Shape 169"/>
          <p:cNvSpPr/>
          <p:nvPr/>
        </p:nvSpPr>
        <p:spPr>
          <a:xfrm>
            <a:off x="7263575" y="2468880"/>
            <a:ext cx="1275588" cy="236601"/>
          </a:xfrm>
          <a:prstGeom prst="roundRect">
            <a:avLst>
              <a:gd name="adj" fmla="val 13043"/>
            </a:avLst>
          </a:prstGeom>
          <a:solidFill>
            <a:srgbClr val="12121F"/>
          </a:solidFill>
          <a:ln w="12700">
            <a:solidFill>
              <a:srgbClr val="232338"/>
            </a:solidFill>
            <a:prstDash val="solid"/>
          </a:ln>
        </p:spPr>
      </p:sp>
      <p:pic>
        <p:nvPicPr>
          <p:cNvPr id="202" name="Image 30" descr="/sessions/zealous-intelligent-mayer/mnt/outputs/icons5/n_rocket.png"/>
          <p:cNvPicPr>
            <a:picLocks noChangeAspect="1"/>
          </p:cNvPicPr>
          <p:nvPr/>
        </p:nvPicPr>
        <p:blipFill>
          <a:blip r:embed="rId25"/>
          <a:stretch>
            <a:fillRect/>
          </a:stretch>
        </p:blipFill>
        <p:spPr>
          <a:xfrm>
            <a:off x="7309866" y="2535746"/>
            <a:ext cx="102870" cy="102870"/>
          </a:xfrm>
          <a:prstGeom prst="rect">
            <a:avLst/>
          </a:prstGeom>
        </p:spPr>
      </p:pic>
      <p:sp>
        <p:nvSpPr>
          <p:cNvPr id="203" name="Text 170"/>
          <p:cNvSpPr/>
          <p:nvPr/>
        </p:nvSpPr>
        <p:spPr>
          <a:xfrm>
            <a:off x="7443597" y="2489454"/>
            <a:ext cx="1080135" cy="195453"/>
          </a:xfrm>
          <a:prstGeom prst="rect">
            <a:avLst/>
          </a:prstGeom>
          <a:noFill/>
          <a:ln/>
        </p:spPr>
        <p:txBody>
          <a:bodyPr wrap="square" lIns="0" tIns="0" rIns="0" bIns="0" rtlCol="0" anchor="ctr"/>
          <a:lstStyle/>
          <a:p>
            <a:r>
              <a:rPr lang="en-US" sz="326" dirty="0">
                <a:solidFill>
                  <a:srgbClr val="E8EAF6"/>
                </a:solidFill>
                <a:latin typeface="Arial" pitchFamily="34" charset="0"/>
                <a:ea typeface="Arial" pitchFamily="34" charset="-122"/>
                <a:cs typeface="Arial" pitchFamily="34" charset="-120"/>
              </a:rPr>
              <a:t>No bespoke integration per tool —</a:t>
            </a:r>
            <a:endParaRPr lang="en-US" sz="326" dirty="0"/>
          </a:p>
          <a:p>
            <a:r>
              <a:rPr lang="en-US" sz="326" dirty="0">
                <a:solidFill>
                  <a:srgbClr val="E8EAF6"/>
                </a:solidFill>
                <a:latin typeface="Arial" pitchFamily="34" charset="0"/>
                <a:ea typeface="Arial" pitchFamily="34" charset="-122"/>
                <a:cs typeface="Arial" pitchFamily="34" charset="-120"/>
              </a:rPr>
              <a:t>add a server, every skill gains it</a:t>
            </a:r>
            <a:endParaRPr lang="en-US" sz="326" dirty="0"/>
          </a:p>
        </p:txBody>
      </p:sp>
      <p:sp>
        <p:nvSpPr>
          <p:cNvPr id="204" name="Shape 171"/>
          <p:cNvSpPr/>
          <p:nvPr/>
        </p:nvSpPr>
        <p:spPr>
          <a:xfrm>
            <a:off x="7263575" y="2736342"/>
            <a:ext cx="1275588" cy="236601"/>
          </a:xfrm>
          <a:prstGeom prst="roundRect">
            <a:avLst>
              <a:gd name="adj" fmla="val 13043"/>
            </a:avLst>
          </a:prstGeom>
          <a:solidFill>
            <a:srgbClr val="12121F"/>
          </a:solidFill>
          <a:ln w="12700">
            <a:solidFill>
              <a:srgbClr val="232338"/>
            </a:solidFill>
            <a:prstDash val="solid"/>
          </a:ln>
        </p:spPr>
      </p:sp>
      <p:pic>
        <p:nvPicPr>
          <p:cNvPr id="205" name="Image 31" descr="/sessions/zealous-intelligent-mayer/mnt/outputs/icons5/n_shield.png"/>
          <p:cNvPicPr>
            <a:picLocks noChangeAspect="1"/>
          </p:cNvPicPr>
          <p:nvPr/>
        </p:nvPicPr>
        <p:blipFill>
          <a:blip r:embed="rId26"/>
          <a:stretch>
            <a:fillRect/>
          </a:stretch>
        </p:blipFill>
        <p:spPr>
          <a:xfrm>
            <a:off x="7309866" y="2803208"/>
            <a:ext cx="102870" cy="102870"/>
          </a:xfrm>
          <a:prstGeom prst="rect">
            <a:avLst/>
          </a:prstGeom>
        </p:spPr>
      </p:pic>
      <p:sp>
        <p:nvSpPr>
          <p:cNvPr id="206" name="Text 172"/>
          <p:cNvSpPr/>
          <p:nvPr/>
        </p:nvSpPr>
        <p:spPr>
          <a:xfrm>
            <a:off x="7443597" y="2756916"/>
            <a:ext cx="1080135" cy="195453"/>
          </a:xfrm>
          <a:prstGeom prst="rect">
            <a:avLst/>
          </a:prstGeom>
          <a:noFill/>
          <a:ln/>
        </p:spPr>
        <p:txBody>
          <a:bodyPr wrap="square" lIns="0" tIns="0" rIns="0" bIns="0" rtlCol="0" anchor="ctr"/>
          <a:lstStyle/>
          <a:p>
            <a:r>
              <a:rPr lang="en-US" sz="326" dirty="0">
                <a:solidFill>
                  <a:srgbClr val="E8EAF6"/>
                </a:solidFill>
                <a:latin typeface="Arial" pitchFamily="34" charset="0"/>
                <a:ea typeface="Arial" pitchFamily="34" charset="-122"/>
                <a:cs typeface="Arial" pitchFamily="34" charset="-120"/>
              </a:rPr>
              <a:t>Credentials stay in Key Vault;</a:t>
            </a:r>
            <a:endParaRPr lang="en-US" sz="326" dirty="0"/>
          </a:p>
          <a:p>
            <a:r>
              <a:rPr lang="en-US" sz="326" dirty="0">
                <a:solidFill>
                  <a:srgbClr val="E8EAF6"/>
                </a:solidFill>
                <a:latin typeface="Arial" pitchFamily="34" charset="0"/>
                <a:ea typeface="Arial" pitchFamily="34" charset="-122"/>
                <a:cs typeface="Arial" pitchFamily="34" charset="-120"/>
              </a:rPr>
              <a:t>access scoped by Entra ID</a:t>
            </a:r>
            <a:endParaRPr lang="en-US" sz="326" dirty="0"/>
          </a:p>
        </p:txBody>
      </p:sp>
      <p:sp>
        <p:nvSpPr>
          <p:cNvPr id="207" name="Shape 173"/>
          <p:cNvSpPr/>
          <p:nvPr/>
        </p:nvSpPr>
        <p:spPr>
          <a:xfrm>
            <a:off x="3596259" y="3106674"/>
            <a:ext cx="1368171" cy="1645920"/>
          </a:xfrm>
          <a:prstGeom prst="roundRect">
            <a:avLst>
              <a:gd name="adj" fmla="val 2256"/>
            </a:avLst>
          </a:prstGeom>
          <a:solidFill>
            <a:srgbClr val="0D0D18"/>
          </a:solidFill>
          <a:ln w="12700">
            <a:solidFill>
              <a:srgbClr val="22D3EE"/>
            </a:solidFill>
            <a:prstDash val="solid"/>
          </a:ln>
        </p:spPr>
      </p:sp>
      <p:sp>
        <p:nvSpPr>
          <p:cNvPr id="208" name="Shape 174"/>
          <p:cNvSpPr/>
          <p:nvPr/>
        </p:nvSpPr>
        <p:spPr>
          <a:xfrm>
            <a:off x="3647694" y="3147822"/>
            <a:ext cx="1234440" cy="138875"/>
          </a:xfrm>
          <a:prstGeom prst="roundRect">
            <a:avLst>
              <a:gd name="adj" fmla="val 14815"/>
            </a:avLst>
          </a:prstGeom>
          <a:solidFill>
            <a:srgbClr val="12121F"/>
          </a:solidFill>
          <a:ln w="12700">
            <a:solidFill>
              <a:srgbClr val="22D3EE"/>
            </a:solidFill>
            <a:prstDash val="solid"/>
          </a:ln>
        </p:spPr>
      </p:sp>
      <p:sp>
        <p:nvSpPr>
          <p:cNvPr id="209" name="Shape 175"/>
          <p:cNvSpPr/>
          <p:nvPr/>
        </p:nvSpPr>
        <p:spPr>
          <a:xfrm>
            <a:off x="3693985" y="3194113"/>
            <a:ext cx="46292" cy="46292"/>
          </a:xfrm>
          <a:prstGeom prst="roundRect">
            <a:avLst>
              <a:gd name="adj" fmla="val 22222"/>
            </a:avLst>
          </a:prstGeom>
          <a:solidFill>
            <a:srgbClr val="C77DFF"/>
          </a:solidFill>
          <a:ln/>
        </p:spPr>
      </p:sp>
      <p:sp>
        <p:nvSpPr>
          <p:cNvPr id="210" name="Text 176"/>
          <p:cNvSpPr/>
          <p:nvPr/>
        </p:nvSpPr>
        <p:spPr>
          <a:xfrm>
            <a:off x="3760851" y="3163252"/>
            <a:ext cx="1080135" cy="108014"/>
          </a:xfrm>
          <a:prstGeom prst="rect">
            <a:avLst/>
          </a:prstGeom>
          <a:noFill/>
          <a:ln/>
        </p:spPr>
        <p:txBody>
          <a:bodyPr wrap="square" lIns="0" tIns="0" rIns="0" bIns="0" rtlCol="0" anchor="ctr"/>
          <a:lstStyle/>
          <a:p>
            <a:r>
              <a:rPr lang="en-US" sz="478" b="1" dirty="0">
                <a:solidFill>
                  <a:srgbClr val="E8EAF6"/>
                </a:solidFill>
                <a:latin typeface="Courier New" pitchFamily="34" charset="0"/>
                <a:ea typeface="Courier New" pitchFamily="34" charset="-122"/>
                <a:cs typeface="Courier New" pitchFamily="34" charset="-120"/>
              </a:rPr>
              <a:t>SECTION 4 — Knowledge Sources</a:t>
            </a:r>
            <a:endParaRPr lang="en-US" sz="478" dirty="0"/>
          </a:p>
        </p:txBody>
      </p:sp>
      <p:pic>
        <p:nvPicPr>
          <p:cNvPr id="211" name="Image 32" descr="/sessions/zealous-intelligent-mayer/mnt/outputs/icons5/f_claude.png"/>
          <p:cNvPicPr>
            <a:picLocks noChangeAspect="1"/>
          </p:cNvPicPr>
          <p:nvPr/>
        </p:nvPicPr>
        <p:blipFill>
          <a:blip r:embed="rId15"/>
          <a:stretch>
            <a:fillRect/>
          </a:stretch>
        </p:blipFill>
        <p:spPr>
          <a:xfrm>
            <a:off x="3678555" y="3358706"/>
            <a:ext cx="102870" cy="102870"/>
          </a:xfrm>
          <a:prstGeom prst="rect">
            <a:avLst/>
          </a:prstGeom>
        </p:spPr>
      </p:pic>
      <p:sp>
        <p:nvSpPr>
          <p:cNvPr id="212" name="Text 177"/>
          <p:cNvSpPr/>
          <p:nvPr/>
        </p:nvSpPr>
        <p:spPr>
          <a:xfrm>
            <a:off x="3812286" y="3343275"/>
            <a:ext cx="699516" cy="133731"/>
          </a:xfrm>
          <a:prstGeom prst="rect">
            <a:avLst/>
          </a:prstGeom>
          <a:noFill/>
          <a:ln/>
        </p:spPr>
        <p:txBody>
          <a:bodyPr wrap="square" lIns="0" tIns="0" rIns="0" bIns="0" rtlCol="0" anchor="ctr"/>
          <a:lstStyle/>
          <a:p>
            <a:r>
              <a:rPr lang="en-US" sz="360" b="1" dirty="0">
                <a:solidFill>
                  <a:srgbClr val="FDE047"/>
                </a:solidFill>
                <a:latin typeface="Courier New" pitchFamily="34" charset="0"/>
                <a:ea typeface="Courier New" pitchFamily="34" charset="-122"/>
                <a:cs typeface="Courier New" pitchFamily="34" charset="-120"/>
              </a:rPr>
              <a:t>CLAUDE.md</a:t>
            </a:r>
            <a:endParaRPr lang="en-US" sz="360" dirty="0"/>
          </a:p>
        </p:txBody>
      </p:sp>
      <p:sp>
        <p:nvSpPr>
          <p:cNvPr id="213" name="Shape 178"/>
          <p:cNvSpPr/>
          <p:nvPr/>
        </p:nvSpPr>
        <p:spPr>
          <a:xfrm>
            <a:off x="4511802" y="3348419"/>
            <a:ext cx="401193" cy="123444"/>
          </a:xfrm>
          <a:prstGeom prst="roundRect">
            <a:avLst>
              <a:gd name="adj" fmla="val 16667"/>
            </a:avLst>
          </a:prstGeom>
          <a:solidFill>
            <a:srgbClr val="0F0F1C"/>
          </a:solidFill>
          <a:ln w="12700">
            <a:solidFill>
              <a:srgbClr val="FDE047"/>
            </a:solidFill>
            <a:prstDash val="solid"/>
          </a:ln>
        </p:spPr>
      </p:sp>
      <p:sp>
        <p:nvSpPr>
          <p:cNvPr id="214" name="Text 179"/>
          <p:cNvSpPr/>
          <p:nvPr/>
        </p:nvSpPr>
        <p:spPr>
          <a:xfrm>
            <a:off x="4537520" y="3348419"/>
            <a:ext cx="349758" cy="123444"/>
          </a:xfrm>
          <a:prstGeom prst="rect">
            <a:avLst/>
          </a:prstGeom>
          <a:noFill/>
          <a:ln/>
        </p:spPr>
        <p:txBody>
          <a:bodyPr wrap="square" lIns="0" tIns="0" rIns="0" bIns="0" rtlCol="0" anchor="ctr"/>
          <a:lstStyle/>
          <a:p>
            <a:pPr algn="ctr"/>
            <a:r>
              <a:rPr lang="en-US" sz="293" b="1" dirty="0">
                <a:solidFill>
                  <a:srgbClr val="FDE047"/>
                </a:solidFill>
                <a:latin typeface="Courier New" pitchFamily="34" charset="0"/>
                <a:ea typeface="Courier New" pitchFamily="34" charset="-122"/>
                <a:cs typeface="Courier New" pitchFamily="34" charset="-120"/>
              </a:rPr>
              <a:t>Always-on context</a:t>
            </a:r>
            <a:endParaRPr lang="en-US" sz="293" dirty="0"/>
          </a:p>
        </p:txBody>
      </p:sp>
      <p:pic>
        <p:nvPicPr>
          <p:cNvPr id="215" name="Image 33" descr="/sessions/zealous-intelligent-mayer/mnt/outputs/icons5/f_skill.png"/>
          <p:cNvPicPr>
            <a:picLocks noChangeAspect="1"/>
          </p:cNvPicPr>
          <p:nvPr/>
        </p:nvPicPr>
        <p:blipFill>
          <a:blip r:embed="rId27"/>
          <a:stretch>
            <a:fillRect/>
          </a:stretch>
        </p:blipFill>
        <p:spPr>
          <a:xfrm>
            <a:off x="3678555" y="3533585"/>
            <a:ext cx="102870" cy="102870"/>
          </a:xfrm>
          <a:prstGeom prst="rect">
            <a:avLst/>
          </a:prstGeom>
        </p:spPr>
      </p:pic>
      <p:sp>
        <p:nvSpPr>
          <p:cNvPr id="216" name="Text 180"/>
          <p:cNvSpPr/>
          <p:nvPr/>
        </p:nvSpPr>
        <p:spPr>
          <a:xfrm>
            <a:off x="3812286" y="3518154"/>
            <a:ext cx="699516" cy="133731"/>
          </a:xfrm>
          <a:prstGeom prst="rect">
            <a:avLst/>
          </a:prstGeom>
          <a:noFill/>
          <a:ln/>
        </p:spPr>
        <p:txBody>
          <a:bodyPr wrap="square" lIns="0" tIns="0" rIns="0" bIns="0" rtlCol="0" anchor="ctr"/>
          <a:lstStyle/>
          <a:p>
            <a:r>
              <a:rPr lang="en-US" sz="360" b="1" dirty="0">
                <a:solidFill>
                  <a:srgbClr val="22D3EE"/>
                </a:solidFill>
                <a:latin typeface="Courier New" pitchFamily="34" charset="0"/>
                <a:ea typeface="Courier New" pitchFamily="34" charset="-122"/>
                <a:cs typeface="Courier New" pitchFamily="34" charset="-120"/>
              </a:rPr>
              <a:t>spec-review</a:t>
            </a:r>
            <a:endParaRPr lang="en-US" sz="360" dirty="0"/>
          </a:p>
        </p:txBody>
      </p:sp>
      <p:pic>
        <p:nvPicPr>
          <p:cNvPr id="217" name="Image 34" descr="/sessions/zealous-intelligent-mayer/mnt/outputs/icons5/f_skill.png"/>
          <p:cNvPicPr>
            <a:picLocks noChangeAspect="1"/>
          </p:cNvPicPr>
          <p:nvPr/>
        </p:nvPicPr>
        <p:blipFill>
          <a:blip r:embed="rId27"/>
          <a:stretch>
            <a:fillRect/>
          </a:stretch>
        </p:blipFill>
        <p:spPr>
          <a:xfrm>
            <a:off x="3678555" y="3708464"/>
            <a:ext cx="102870" cy="102870"/>
          </a:xfrm>
          <a:prstGeom prst="rect">
            <a:avLst/>
          </a:prstGeom>
        </p:spPr>
      </p:pic>
      <p:sp>
        <p:nvSpPr>
          <p:cNvPr id="218" name="Text 181"/>
          <p:cNvSpPr/>
          <p:nvPr/>
        </p:nvSpPr>
        <p:spPr>
          <a:xfrm>
            <a:off x="3812286" y="3693033"/>
            <a:ext cx="699516" cy="133731"/>
          </a:xfrm>
          <a:prstGeom prst="rect">
            <a:avLst/>
          </a:prstGeom>
          <a:noFill/>
          <a:ln/>
        </p:spPr>
        <p:txBody>
          <a:bodyPr wrap="square" lIns="0" tIns="0" rIns="0" bIns="0" rtlCol="0" anchor="ctr"/>
          <a:lstStyle/>
          <a:p>
            <a:r>
              <a:rPr lang="en-US" sz="360" b="1" dirty="0">
                <a:solidFill>
                  <a:srgbClr val="22D3EE"/>
                </a:solidFill>
                <a:latin typeface="Courier New" pitchFamily="34" charset="0"/>
                <a:ea typeface="Courier New" pitchFamily="34" charset="-122"/>
                <a:cs typeface="Courier New" pitchFamily="34" charset="-120"/>
              </a:rPr>
              <a:t>deviation-triage</a:t>
            </a:r>
            <a:endParaRPr lang="en-US" sz="360" dirty="0"/>
          </a:p>
        </p:txBody>
      </p:sp>
      <p:pic>
        <p:nvPicPr>
          <p:cNvPr id="219" name="Image 35" descr="/sessions/zealous-intelligent-mayer/mnt/outputs/icons5/f_skill.png"/>
          <p:cNvPicPr>
            <a:picLocks noChangeAspect="1"/>
          </p:cNvPicPr>
          <p:nvPr/>
        </p:nvPicPr>
        <p:blipFill>
          <a:blip r:embed="rId27"/>
          <a:stretch>
            <a:fillRect/>
          </a:stretch>
        </p:blipFill>
        <p:spPr>
          <a:xfrm>
            <a:off x="3678555" y="3883343"/>
            <a:ext cx="102870" cy="102870"/>
          </a:xfrm>
          <a:prstGeom prst="rect">
            <a:avLst/>
          </a:prstGeom>
        </p:spPr>
      </p:pic>
      <p:sp>
        <p:nvSpPr>
          <p:cNvPr id="220" name="Text 182"/>
          <p:cNvSpPr/>
          <p:nvPr/>
        </p:nvSpPr>
        <p:spPr>
          <a:xfrm>
            <a:off x="3812286" y="3867912"/>
            <a:ext cx="699516" cy="133731"/>
          </a:xfrm>
          <a:prstGeom prst="rect">
            <a:avLst/>
          </a:prstGeom>
          <a:noFill/>
          <a:ln/>
        </p:spPr>
        <p:txBody>
          <a:bodyPr wrap="square" lIns="0" tIns="0" rIns="0" bIns="0" rtlCol="0" anchor="ctr"/>
          <a:lstStyle/>
          <a:p>
            <a:r>
              <a:rPr lang="en-US" sz="360" b="1" dirty="0">
                <a:solidFill>
                  <a:srgbClr val="22D3EE"/>
                </a:solidFill>
                <a:latin typeface="Courier New" pitchFamily="34" charset="0"/>
                <a:ea typeface="Courier New" pitchFamily="34" charset="-122"/>
                <a:cs typeface="Courier New" pitchFamily="34" charset="-120"/>
              </a:rPr>
              <a:t>plant-report</a:t>
            </a:r>
            <a:endParaRPr lang="en-US" sz="360" dirty="0"/>
          </a:p>
        </p:txBody>
      </p:sp>
      <p:pic>
        <p:nvPicPr>
          <p:cNvPr id="221" name="Image 36" descr="/sessions/zealous-intelligent-mayer/mnt/outputs/icons5/f_ref.png"/>
          <p:cNvPicPr>
            <a:picLocks noChangeAspect="1"/>
          </p:cNvPicPr>
          <p:nvPr/>
        </p:nvPicPr>
        <p:blipFill>
          <a:blip r:embed="rId28"/>
          <a:stretch>
            <a:fillRect/>
          </a:stretch>
        </p:blipFill>
        <p:spPr>
          <a:xfrm>
            <a:off x="3678555" y="4058222"/>
            <a:ext cx="102870" cy="102870"/>
          </a:xfrm>
          <a:prstGeom prst="rect">
            <a:avLst/>
          </a:prstGeom>
        </p:spPr>
      </p:pic>
      <p:sp>
        <p:nvSpPr>
          <p:cNvPr id="222" name="Text 183"/>
          <p:cNvSpPr/>
          <p:nvPr/>
        </p:nvSpPr>
        <p:spPr>
          <a:xfrm>
            <a:off x="3812286" y="4042791"/>
            <a:ext cx="699516" cy="133731"/>
          </a:xfrm>
          <a:prstGeom prst="rect">
            <a:avLst/>
          </a:prstGeom>
          <a:noFill/>
          <a:ln/>
        </p:spPr>
        <p:txBody>
          <a:bodyPr wrap="square" lIns="0" tIns="0" rIns="0" bIns="0" rtlCol="0" anchor="ctr"/>
          <a:lstStyle/>
          <a:p>
            <a:r>
              <a:rPr lang="en-US" sz="360" b="1" dirty="0">
                <a:solidFill>
                  <a:srgbClr val="8B93A7"/>
                </a:solidFill>
                <a:latin typeface="Courier New" pitchFamily="34" charset="0"/>
                <a:ea typeface="Courier New" pitchFamily="34" charset="-122"/>
                <a:cs typeface="Courier New" pitchFamily="34" charset="-120"/>
              </a:rPr>
              <a:t>Reference docs / specs</a:t>
            </a:r>
            <a:endParaRPr lang="en-US" sz="360" dirty="0"/>
          </a:p>
        </p:txBody>
      </p:sp>
      <p:sp>
        <p:nvSpPr>
          <p:cNvPr id="223" name="Shape 184"/>
          <p:cNvSpPr/>
          <p:nvPr/>
        </p:nvSpPr>
        <p:spPr>
          <a:xfrm>
            <a:off x="3657981" y="4289679"/>
            <a:ext cx="1244727" cy="133731"/>
          </a:xfrm>
          <a:prstGeom prst="roundRect">
            <a:avLst>
              <a:gd name="adj" fmla="val 15385"/>
            </a:avLst>
          </a:prstGeom>
          <a:solidFill>
            <a:srgbClr val="0F0F1C"/>
          </a:solidFill>
          <a:ln w="12700">
            <a:solidFill>
              <a:srgbClr val="22D3EE"/>
            </a:solidFill>
            <a:prstDash val="solid"/>
          </a:ln>
        </p:spPr>
      </p:sp>
      <p:sp>
        <p:nvSpPr>
          <p:cNvPr id="224" name="Text 185"/>
          <p:cNvSpPr/>
          <p:nvPr/>
        </p:nvSpPr>
        <p:spPr>
          <a:xfrm>
            <a:off x="3683699" y="4289679"/>
            <a:ext cx="1193292" cy="133731"/>
          </a:xfrm>
          <a:prstGeom prst="rect">
            <a:avLst/>
          </a:prstGeom>
          <a:noFill/>
          <a:ln/>
        </p:spPr>
        <p:txBody>
          <a:bodyPr wrap="square" lIns="0" tIns="0" rIns="0" bIns="0" rtlCol="0" anchor="ctr"/>
          <a:lstStyle/>
          <a:p>
            <a:pPr algn="ctr"/>
            <a:r>
              <a:rPr lang="en-US" sz="371" b="1" dirty="0">
                <a:solidFill>
                  <a:srgbClr val="22D3EE"/>
                </a:solidFill>
                <a:latin typeface="Courier New" pitchFamily="34" charset="0"/>
                <a:ea typeface="Courier New" pitchFamily="34" charset="-122"/>
                <a:cs typeface="Courier New" pitchFamily="34" charset="-120"/>
              </a:rPr>
              <a:t>Skills = WHAT to know</a:t>
            </a:r>
            <a:endParaRPr lang="en-US" sz="371" dirty="0"/>
          </a:p>
        </p:txBody>
      </p:sp>
      <p:sp>
        <p:nvSpPr>
          <p:cNvPr id="225" name="Shape 186"/>
          <p:cNvSpPr/>
          <p:nvPr/>
        </p:nvSpPr>
        <p:spPr>
          <a:xfrm>
            <a:off x="3657981" y="4443984"/>
            <a:ext cx="1244727" cy="133731"/>
          </a:xfrm>
          <a:prstGeom prst="roundRect">
            <a:avLst>
              <a:gd name="adj" fmla="val 15385"/>
            </a:avLst>
          </a:prstGeom>
          <a:solidFill>
            <a:srgbClr val="0F0F1C"/>
          </a:solidFill>
          <a:ln w="12700">
            <a:solidFill>
              <a:srgbClr val="4ADE80"/>
            </a:solidFill>
            <a:prstDash val="solid"/>
          </a:ln>
        </p:spPr>
      </p:sp>
      <p:sp>
        <p:nvSpPr>
          <p:cNvPr id="226" name="Text 187"/>
          <p:cNvSpPr/>
          <p:nvPr/>
        </p:nvSpPr>
        <p:spPr>
          <a:xfrm>
            <a:off x="3683699" y="4443984"/>
            <a:ext cx="1193292" cy="133731"/>
          </a:xfrm>
          <a:prstGeom prst="rect">
            <a:avLst/>
          </a:prstGeom>
          <a:noFill/>
          <a:ln/>
        </p:spPr>
        <p:txBody>
          <a:bodyPr wrap="square" lIns="0" tIns="0" rIns="0" bIns="0" rtlCol="0" anchor="ctr"/>
          <a:lstStyle/>
          <a:p>
            <a:pPr algn="ctr"/>
            <a:r>
              <a:rPr lang="en-US" sz="371" b="1" dirty="0">
                <a:solidFill>
                  <a:srgbClr val="4ADE80"/>
                </a:solidFill>
                <a:latin typeface="Courier New" pitchFamily="34" charset="0"/>
                <a:ea typeface="Courier New" pitchFamily="34" charset="-122"/>
                <a:cs typeface="Courier New" pitchFamily="34" charset="-120"/>
              </a:rPr>
              <a:t>MCP    = HOW to connect</a:t>
            </a:r>
            <a:endParaRPr lang="en-US" sz="371" dirty="0"/>
          </a:p>
        </p:txBody>
      </p:sp>
      <p:sp>
        <p:nvSpPr>
          <p:cNvPr id="227" name="Shape 188"/>
          <p:cNvSpPr/>
          <p:nvPr/>
        </p:nvSpPr>
        <p:spPr>
          <a:xfrm>
            <a:off x="3657981" y="4598289"/>
            <a:ext cx="1244727" cy="133731"/>
          </a:xfrm>
          <a:prstGeom prst="roundRect">
            <a:avLst>
              <a:gd name="adj" fmla="val 15385"/>
            </a:avLst>
          </a:prstGeom>
          <a:solidFill>
            <a:srgbClr val="0F0F1C"/>
          </a:solidFill>
          <a:ln w="12700">
            <a:solidFill>
              <a:srgbClr val="F472B6"/>
            </a:solidFill>
            <a:prstDash val="solid"/>
          </a:ln>
        </p:spPr>
      </p:sp>
      <p:sp>
        <p:nvSpPr>
          <p:cNvPr id="228" name="Text 189"/>
          <p:cNvSpPr/>
          <p:nvPr/>
        </p:nvSpPr>
        <p:spPr>
          <a:xfrm>
            <a:off x="3683699" y="4598289"/>
            <a:ext cx="1193292" cy="133731"/>
          </a:xfrm>
          <a:prstGeom prst="rect">
            <a:avLst/>
          </a:prstGeom>
          <a:noFill/>
          <a:ln/>
        </p:spPr>
        <p:txBody>
          <a:bodyPr wrap="square" lIns="0" tIns="0" rIns="0" bIns="0" rtlCol="0" anchor="ctr"/>
          <a:lstStyle/>
          <a:p>
            <a:pPr algn="ctr"/>
            <a:r>
              <a:rPr lang="en-US" sz="371" b="1" dirty="0">
                <a:solidFill>
                  <a:srgbClr val="F472B6"/>
                </a:solidFill>
                <a:latin typeface="Courier New" pitchFamily="34" charset="0"/>
                <a:ea typeface="Courier New" pitchFamily="34" charset="-122"/>
                <a:cs typeface="Courier New" pitchFamily="34" charset="-120"/>
              </a:rPr>
              <a:t>Hooks  = WHEN to automate</a:t>
            </a:r>
            <a:endParaRPr lang="en-US" sz="371" dirty="0"/>
          </a:p>
        </p:txBody>
      </p:sp>
      <p:sp>
        <p:nvSpPr>
          <p:cNvPr id="229" name="Shape 190"/>
          <p:cNvSpPr/>
          <p:nvPr/>
        </p:nvSpPr>
        <p:spPr>
          <a:xfrm>
            <a:off x="7206996" y="3106674"/>
            <a:ext cx="1388745" cy="1645920"/>
          </a:xfrm>
          <a:prstGeom prst="roundRect">
            <a:avLst>
              <a:gd name="adj" fmla="val 2222"/>
            </a:avLst>
          </a:prstGeom>
          <a:solidFill>
            <a:srgbClr val="0D0D18"/>
          </a:solidFill>
          <a:ln w="12700">
            <a:solidFill>
              <a:srgbClr val="22D3EE"/>
            </a:solidFill>
            <a:prstDash val="solid"/>
          </a:ln>
        </p:spPr>
      </p:sp>
      <p:sp>
        <p:nvSpPr>
          <p:cNvPr id="230" name="Shape 191"/>
          <p:cNvSpPr/>
          <p:nvPr/>
        </p:nvSpPr>
        <p:spPr>
          <a:xfrm>
            <a:off x="7258431" y="3147822"/>
            <a:ext cx="1193292" cy="138875"/>
          </a:xfrm>
          <a:prstGeom prst="roundRect">
            <a:avLst>
              <a:gd name="adj" fmla="val 14815"/>
            </a:avLst>
          </a:prstGeom>
          <a:solidFill>
            <a:srgbClr val="12121F"/>
          </a:solidFill>
          <a:ln w="12700">
            <a:solidFill>
              <a:srgbClr val="22D3EE"/>
            </a:solidFill>
            <a:prstDash val="solid"/>
          </a:ln>
        </p:spPr>
      </p:sp>
      <p:sp>
        <p:nvSpPr>
          <p:cNvPr id="231" name="Shape 192"/>
          <p:cNvSpPr/>
          <p:nvPr/>
        </p:nvSpPr>
        <p:spPr>
          <a:xfrm>
            <a:off x="7304722" y="3194113"/>
            <a:ext cx="46292" cy="46292"/>
          </a:xfrm>
          <a:prstGeom prst="roundRect">
            <a:avLst>
              <a:gd name="adj" fmla="val 22222"/>
            </a:avLst>
          </a:prstGeom>
          <a:solidFill>
            <a:srgbClr val="C77DFF"/>
          </a:solidFill>
          <a:ln/>
        </p:spPr>
      </p:sp>
      <p:sp>
        <p:nvSpPr>
          <p:cNvPr id="232" name="Text 193"/>
          <p:cNvSpPr/>
          <p:nvPr/>
        </p:nvSpPr>
        <p:spPr>
          <a:xfrm>
            <a:off x="7371588" y="3163252"/>
            <a:ext cx="1038987" cy="108014"/>
          </a:xfrm>
          <a:prstGeom prst="rect">
            <a:avLst/>
          </a:prstGeom>
          <a:noFill/>
          <a:ln/>
        </p:spPr>
        <p:txBody>
          <a:bodyPr wrap="square" lIns="0" tIns="0" rIns="0" bIns="0" rtlCol="0" anchor="ctr"/>
          <a:lstStyle/>
          <a:p>
            <a:r>
              <a:rPr lang="en-US" sz="478" b="1" dirty="0">
                <a:solidFill>
                  <a:srgbClr val="E8EAF6"/>
                </a:solidFill>
                <a:latin typeface="Courier New" pitchFamily="34" charset="0"/>
                <a:ea typeface="Courier New" pitchFamily="34" charset="-122"/>
                <a:cs typeface="Courier New" pitchFamily="34" charset="-120"/>
              </a:rPr>
              <a:t>SECTION 8 — How They Stack</a:t>
            </a:r>
            <a:endParaRPr lang="en-US" sz="478" dirty="0"/>
          </a:p>
        </p:txBody>
      </p:sp>
      <p:sp>
        <p:nvSpPr>
          <p:cNvPr id="233" name="Shape 194"/>
          <p:cNvSpPr/>
          <p:nvPr/>
        </p:nvSpPr>
        <p:spPr>
          <a:xfrm>
            <a:off x="7258431" y="3332988"/>
            <a:ext cx="956691" cy="174879"/>
          </a:xfrm>
          <a:prstGeom prst="roundRect">
            <a:avLst>
              <a:gd name="adj" fmla="val 17647"/>
            </a:avLst>
          </a:prstGeom>
          <a:solidFill>
            <a:srgbClr val="12121F"/>
          </a:solidFill>
          <a:ln w="12700">
            <a:solidFill>
              <a:srgbClr val="C77DFF"/>
            </a:solidFill>
            <a:prstDash val="solid"/>
          </a:ln>
        </p:spPr>
      </p:sp>
      <p:pic>
        <p:nvPicPr>
          <p:cNvPr id="234" name="Image 37" descr="/sessions/zealous-intelligent-mayer/mnt/outputs/icons5/c7_plug.png"/>
          <p:cNvPicPr>
            <a:picLocks noChangeAspect="1"/>
          </p:cNvPicPr>
          <p:nvPr/>
        </p:nvPicPr>
        <p:blipFill>
          <a:blip r:embed="rId16"/>
          <a:stretch>
            <a:fillRect/>
          </a:stretch>
        </p:blipFill>
        <p:spPr>
          <a:xfrm>
            <a:off x="7294435" y="3374136"/>
            <a:ext cx="87440" cy="87440"/>
          </a:xfrm>
          <a:prstGeom prst="rect">
            <a:avLst/>
          </a:prstGeom>
        </p:spPr>
      </p:pic>
      <p:sp>
        <p:nvSpPr>
          <p:cNvPr id="235" name="Text 195"/>
          <p:cNvSpPr/>
          <p:nvPr/>
        </p:nvSpPr>
        <p:spPr>
          <a:xfrm>
            <a:off x="7402449" y="3348419"/>
            <a:ext cx="781812" cy="72009"/>
          </a:xfrm>
          <a:prstGeom prst="rect">
            <a:avLst/>
          </a:prstGeom>
          <a:noFill/>
          <a:ln/>
        </p:spPr>
        <p:txBody>
          <a:bodyPr wrap="square" lIns="0" tIns="0" rIns="0" bIns="0" rtlCol="0" anchor="ctr"/>
          <a:lstStyle/>
          <a:p>
            <a:r>
              <a:rPr lang="en-US" sz="349" b="1" dirty="0">
                <a:solidFill>
                  <a:srgbClr val="C77DFF"/>
                </a:solidFill>
                <a:latin typeface="Courier New" pitchFamily="34" charset="0"/>
                <a:ea typeface="Courier New" pitchFamily="34" charset="-122"/>
                <a:cs typeface="Courier New" pitchFamily="34" charset="-120"/>
              </a:rPr>
              <a:t>PLUGINS</a:t>
            </a:r>
            <a:endParaRPr lang="en-US" sz="349" dirty="0"/>
          </a:p>
        </p:txBody>
      </p:sp>
      <p:sp>
        <p:nvSpPr>
          <p:cNvPr id="236" name="Text 196"/>
          <p:cNvSpPr/>
          <p:nvPr/>
        </p:nvSpPr>
        <p:spPr>
          <a:xfrm>
            <a:off x="7402449" y="3420427"/>
            <a:ext cx="781812" cy="66866"/>
          </a:xfrm>
          <a:prstGeom prst="rect">
            <a:avLst/>
          </a:prstGeom>
          <a:noFill/>
          <a:ln/>
        </p:spPr>
        <p:txBody>
          <a:bodyPr wrap="square" lIns="0" tIns="0" rIns="0" bIns="0" rtlCol="0" anchor="ctr"/>
          <a:lstStyle/>
          <a:p>
            <a:r>
              <a:rPr lang="en-US" sz="293" dirty="0">
                <a:solidFill>
                  <a:srgbClr val="8B93A7"/>
                </a:solidFill>
                <a:latin typeface="Arial" pitchFamily="34" charset="0"/>
                <a:ea typeface="Arial" pitchFamily="34" charset="-122"/>
                <a:cs typeface="Arial" pitchFamily="34" charset="-120"/>
              </a:rPr>
              <a:t>package layer · bundles everything</a:t>
            </a:r>
            <a:endParaRPr lang="en-US" sz="293" dirty="0"/>
          </a:p>
        </p:txBody>
      </p:sp>
      <p:sp>
        <p:nvSpPr>
          <p:cNvPr id="237" name="Shape 197"/>
          <p:cNvSpPr/>
          <p:nvPr/>
        </p:nvSpPr>
        <p:spPr>
          <a:xfrm>
            <a:off x="7258431" y="3549015"/>
            <a:ext cx="956691" cy="174879"/>
          </a:xfrm>
          <a:prstGeom prst="roundRect">
            <a:avLst>
              <a:gd name="adj" fmla="val 17647"/>
            </a:avLst>
          </a:prstGeom>
          <a:solidFill>
            <a:srgbClr val="12121F"/>
          </a:solidFill>
          <a:ln w="12700">
            <a:solidFill>
              <a:srgbClr val="22D3EE"/>
            </a:solidFill>
            <a:prstDash val="solid"/>
          </a:ln>
        </p:spPr>
      </p:sp>
      <p:pic>
        <p:nvPicPr>
          <p:cNvPr id="238" name="Image 38" descr="/sessions/zealous-intelligent-mayer/mnt/outputs/icons5/c7_skills.png"/>
          <p:cNvPicPr>
            <a:picLocks noChangeAspect="1"/>
          </p:cNvPicPr>
          <p:nvPr/>
        </p:nvPicPr>
        <p:blipFill>
          <a:blip r:embed="rId10"/>
          <a:stretch>
            <a:fillRect/>
          </a:stretch>
        </p:blipFill>
        <p:spPr>
          <a:xfrm>
            <a:off x="7294435" y="3590163"/>
            <a:ext cx="87440" cy="87440"/>
          </a:xfrm>
          <a:prstGeom prst="rect">
            <a:avLst/>
          </a:prstGeom>
        </p:spPr>
      </p:pic>
      <p:sp>
        <p:nvSpPr>
          <p:cNvPr id="239" name="Text 198"/>
          <p:cNvSpPr/>
          <p:nvPr/>
        </p:nvSpPr>
        <p:spPr>
          <a:xfrm>
            <a:off x="7402449" y="3564446"/>
            <a:ext cx="781812" cy="72009"/>
          </a:xfrm>
          <a:prstGeom prst="rect">
            <a:avLst/>
          </a:prstGeom>
          <a:noFill/>
          <a:ln/>
        </p:spPr>
        <p:txBody>
          <a:bodyPr wrap="square" lIns="0" tIns="0" rIns="0" bIns="0" rtlCol="0" anchor="ctr"/>
          <a:lstStyle/>
          <a:p>
            <a:r>
              <a:rPr lang="en-US" sz="349" b="1" dirty="0">
                <a:solidFill>
                  <a:srgbClr val="22D3EE"/>
                </a:solidFill>
                <a:latin typeface="Courier New" pitchFamily="34" charset="0"/>
                <a:ea typeface="Courier New" pitchFamily="34" charset="-122"/>
                <a:cs typeface="Courier New" pitchFamily="34" charset="-120"/>
              </a:rPr>
              <a:t>SKILLS</a:t>
            </a:r>
            <a:endParaRPr lang="en-US" sz="349" dirty="0"/>
          </a:p>
        </p:txBody>
      </p:sp>
      <p:sp>
        <p:nvSpPr>
          <p:cNvPr id="240" name="Text 199"/>
          <p:cNvSpPr/>
          <p:nvPr/>
        </p:nvSpPr>
        <p:spPr>
          <a:xfrm>
            <a:off x="7402449" y="3636454"/>
            <a:ext cx="781812" cy="66866"/>
          </a:xfrm>
          <a:prstGeom prst="rect">
            <a:avLst/>
          </a:prstGeom>
          <a:noFill/>
          <a:ln/>
        </p:spPr>
        <p:txBody>
          <a:bodyPr wrap="square" lIns="0" tIns="0" rIns="0" bIns="0" rtlCol="0" anchor="ctr"/>
          <a:lstStyle/>
          <a:p>
            <a:r>
              <a:rPr lang="en-US" sz="293" dirty="0">
                <a:solidFill>
                  <a:srgbClr val="8B93A7"/>
                </a:solidFill>
                <a:latin typeface="Arial" pitchFamily="34" charset="0"/>
                <a:ea typeface="Arial" pitchFamily="34" charset="-122"/>
                <a:cs typeface="Arial" pitchFamily="34" charset="-120"/>
              </a:rPr>
              <a:t>knowledge &amp; workflows</a:t>
            </a:r>
            <a:endParaRPr lang="en-US" sz="293" dirty="0"/>
          </a:p>
        </p:txBody>
      </p:sp>
      <p:sp>
        <p:nvSpPr>
          <p:cNvPr id="241" name="Shape 200"/>
          <p:cNvSpPr/>
          <p:nvPr/>
        </p:nvSpPr>
        <p:spPr>
          <a:xfrm>
            <a:off x="7258431" y="3765042"/>
            <a:ext cx="462915" cy="174879"/>
          </a:xfrm>
          <a:prstGeom prst="roundRect">
            <a:avLst>
              <a:gd name="adj" fmla="val 17647"/>
            </a:avLst>
          </a:prstGeom>
          <a:solidFill>
            <a:srgbClr val="12121F"/>
          </a:solidFill>
          <a:ln w="12700">
            <a:solidFill>
              <a:srgbClr val="4ADE80"/>
            </a:solidFill>
            <a:prstDash val="solid"/>
          </a:ln>
        </p:spPr>
      </p:sp>
      <p:pic>
        <p:nvPicPr>
          <p:cNvPr id="242" name="Image 39" descr="/sessions/zealous-intelligent-mayer/mnt/outputs/icons5/c7_mcp.png"/>
          <p:cNvPicPr>
            <a:picLocks noChangeAspect="1"/>
          </p:cNvPicPr>
          <p:nvPr/>
        </p:nvPicPr>
        <p:blipFill>
          <a:blip r:embed="rId13"/>
          <a:stretch>
            <a:fillRect/>
          </a:stretch>
        </p:blipFill>
        <p:spPr>
          <a:xfrm>
            <a:off x="7294435" y="3806190"/>
            <a:ext cx="87440" cy="87440"/>
          </a:xfrm>
          <a:prstGeom prst="rect">
            <a:avLst/>
          </a:prstGeom>
        </p:spPr>
      </p:pic>
      <p:sp>
        <p:nvSpPr>
          <p:cNvPr id="243" name="Text 201"/>
          <p:cNvSpPr/>
          <p:nvPr/>
        </p:nvSpPr>
        <p:spPr>
          <a:xfrm>
            <a:off x="7402449" y="3780473"/>
            <a:ext cx="288036" cy="72009"/>
          </a:xfrm>
          <a:prstGeom prst="rect">
            <a:avLst/>
          </a:prstGeom>
          <a:noFill/>
          <a:ln/>
        </p:spPr>
        <p:txBody>
          <a:bodyPr wrap="square" lIns="0" tIns="0" rIns="0" bIns="0" rtlCol="0" anchor="ctr"/>
          <a:lstStyle/>
          <a:p>
            <a:r>
              <a:rPr lang="en-US" sz="349" b="1" dirty="0">
                <a:solidFill>
                  <a:srgbClr val="4ADE80"/>
                </a:solidFill>
                <a:latin typeface="Courier New" pitchFamily="34" charset="0"/>
                <a:ea typeface="Courier New" pitchFamily="34" charset="-122"/>
                <a:cs typeface="Courier New" pitchFamily="34" charset="-120"/>
              </a:rPr>
              <a:t>MCP</a:t>
            </a:r>
            <a:endParaRPr lang="en-US" sz="349" dirty="0"/>
          </a:p>
        </p:txBody>
      </p:sp>
      <p:sp>
        <p:nvSpPr>
          <p:cNvPr id="244" name="Text 202"/>
          <p:cNvSpPr/>
          <p:nvPr/>
        </p:nvSpPr>
        <p:spPr>
          <a:xfrm>
            <a:off x="7402449" y="3852481"/>
            <a:ext cx="288036" cy="66866"/>
          </a:xfrm>
          <a:prstGeom prst="rect">
            <a:avLst/>
          </a:prstGeom>
          <a:noFill/>
          <a:ln/>
        </p:spPr>
        <p:txBody>
          <a:bodyPr wrap="square" lIns="0" tIns="0" rIns="0" bIns="0" rtlCol="0" anchor="ctr"/>
          <a:lstStyle/>
          <a:p>
            <a:r>
              <a:rPr lang="en-US" sz="293" dirty="0">
                <a:solidFill>
                  <a:srgbClr val="8B93A7"/>
                </a:solidFill>
                <a:latin typeface="Arial" pitchFamily="34" charset="0"/>
                <a:ea typeface="Arial" pitchFamily="34" charset="-122"/>
                <a:cs typeface="Arial" pitchFamily="34" charset="-120"/>
              </a:rPr>
              <a:t>external connections</a:t>
            </a:r>
            <a:endParaRPr lang="en-US" sz="293" dirty="0"/>
          </a:p>
        </p:txBody>
      </p:sp>
      <p:sp>
        <p:nvSpPr>
          <p:cNvPr id="245" name="Shape 203"/>
          <p:cNvSpPr/>
          <p:nvPr/>
        </p:nvSpPr>
        <p:spPr>
          <a:xfrm>
            <a:off x="7752207" y="3765042"/>
            <a:ext cx="462915" cy="174879"/>
          </a:xfrm>
          <a:prstGeom prst="roundRect">
            <a:avLst>
              <a:gd name="adj" fmla="val 17647"/>
            </a:avLst>
          </a:prstGeom>
          <a:solidFill>
            <a:srgbClr val="12121F"/>
          </a:solidFill>
          <a:ln w="12700">
            <a:solidFill>
              <a:srgbClr val="22D3EE"/>
            </a:solidFill>
            <a:prstDash val="solid"/>
          </a:ln>
        </p:spPr>
      </p:sp>
      <p:pic>
        <p:nvPicPr>
          <p:cNvPr id="246" name="Image 40" descr="/sessions/zealous-intelligent-mayer/mnt/outputs/icons5/b8_tools.png"/>
          <p:cNvPicPr>
            <a:picLocks noChangeAspect="1"/>
          </p:cNvPicPr>
          <p:nvPr/>
        </p:nvPicPr>
        <p:blipFill>
          <a:blip r:embed="rId29"/>
          <a:stretch>
            <a:fillRect/>
          </a:stretch>
        </p:blipFill>
        <p:spPr>
          <a:xfrm>
            <a:off x="7788211" y="3806190"/>
            <a:ext cx="87440" cy="87440"/>
          </a:xfrm>
          <a:prstGeom prst="rect">
            <a:avLst/>
          </a:prstGeom>
        </p:spPr>
      </p:pic>
      <p:sp>
        <p:nvSpPr>
          <p:cNvPr id="247" name="Text 204"/>
          <p:cNvSpPr/>
          <p:nvPr/>
        </p:nvSpPr>
        <p:spPr>
          <a:xfrm>
            <a:off x="7896225" y="3780473"/>
            <a:ext cx="288036" cy="72009"/>
          </a:xfrm>
          <a:prstGeom prst="rect">
            <a:avLst/>
          </a:prstGeom>
          <a:noFill/>
          <a:ln/>
        </p:spPr>
        <p:txBody>
          <a:bodyPr wrap="square" lIns="0" tIns="0" rIns="0" bIns="0" rtlCol="0" anchor="ctr"/>
          <a:lstStyle/>
          <a:p>
            <a:r>
              <a:rPr lang="en-US" sz="349" b="1" dirty="0">
                <a:solidFill>
                  <a:srgbClr val="22D3EE"/>
                </a:solidFill>
                <a:latin typeface="Courier New" pitchFamily="34" charset="0"/>
                <a:ea typeface="Courier New" pitchFamily="34" charset="-122"/>
                <a:cs typeface="Courier New" pitchFamily="34" charset="-120"/>
              </a:rPr>
              <a:t>TOOLS</a:t>
            </a:r>
            <a:endParaRPr lang="en-US" sz="349" dirty="0"/>
          </a:p>
        </p:txBody>
      </p:sp>
      <p:sp>
        <p:nvSpPr>
          <p:cNvPr id="248" name="Text 205"/>
          <p:cNvSpPr/>
          <p:nvPr/>
        </p:nvSpPr>
        <p:spPr>
          <a:xfrm>
            <a:off x="7896225" y="3852481"/>
            <a:ext cx="288036" cy="66866"/>
          </a:xfrm>
          <a:prstGeom prst="rect">
            <a:avLst/>
          </a:prstGeom>
          <a:noFill/>
          <a:ln/>
        </p:spPr>
        <p:txBody>
          <a:bodyPr wrap="square" lIns="0" tIns="0" rIns="0" bIns="0" rtlCol="0" anchor="ctr"/>
          <a:lstStyle/>
          <a:p>
            <a:r>
              <a:rPr lang="en-US" sz="293" dirty="0">
                <a:solidFill>
                  <a:srgbClr val="8B93A7"/>
                </a:solidFill>
                <a:latin typeface="Arial" pitchFamily="34" charset="0"/>
                <a:ea typeface="Arial" pitchFamily="34" charset="-122"/>
                <a:cs typeface="Arial" pitchFamily="34" charset="-120"/>
              </a:rPr>
              <a:t>built-in capabilities</a:t>
            </a:r>
            <a:endParaRPr lang="en-US" sz="293" dirty="0"/>
          </a:p>
        </p:txBody>
      </p:sp>
      <p:sp>
        <p:nvSpPr>
          <p:cNvPr id="249" name="Shape 206"/>
          <p:cNvSpPr/>
          <p:nvPr/>
        </p:nvSpPr>
        <p:spPr>
          <a:xfrm>
            <a:off x="7258431" y="3981069"/>
            <a:ext cx="956691" cy="174879"/>
          </a:xfrm>
          <a:prstGeom prst="roundRect">
            <a:avLst>
              <a:gd name="adj" fmla="val 17647"/>
            </a:avLst>
          </a:prstGeom>
          <a:solidFill>
            <a:srgbClr val="12121F"/>
          </a:solidFill>
          <a:ln w="12700">
            <a:solidFill>
              <a:srgbClr val="4ADE80"/>
            </a:solidFill>
            <a:prstDash val="solid"/>
          </a:ln>
        </p:spPr>
      </p:sp>
      <p:pic>
        <p:nvPicPr>
          <p:cNvPr id="250" name="Image 41" descr="/sessions/zealous-intelligent-mayer/mnt/outputs/icons5/b8_sub.png"/>
          <p:cNvPicPr>
            <a:picLocks noChangeAspect="1"/>
          </p:cNvPicPr>
          <p:nvPr/>
        </p:nvPicPr>
        <p:blipFill>
          <a:blip r:embed="rId30"/>
          <a:stretch>
            <a:fillRect/>
          </a:stretch>
        </p:blipFill>
        <p:spPr>
          <a:xfrm>
            <a:off x="7294435" y="4022217"/>
            <a:ext cx="87440" cy="87440"/>
          </a:xfrm>
          <a:prstGeom prst="rect">
            <a:avLst/>
          </a:prstGeom>
        </p:spPr>
      </p:pic>
      <p:sp>
        <p:nvSpPr>
          <p:cNvPr id="251" name="Text 207"/>
          <p:cNvSpPr/>
          <p:nvPr/>
        </p:nvSpPr>
        <p:spPr>
          <a:xfrm>
            <a:off x="7402449" y="3996500"/>
            <a:ext cx="781812" cy="72009"/>
          </a:xfrm>
          <a:prstGeom prst="rect">
            <a:avLst/>
          </a:prstGeom>
          <a:noFill/>
          <a:ln/>
        </p:spPr>
        <p:txBody>
          <a:bodyPr wrap="square" lIns="0" tIns="0" rIns="0" bIns="0" rtlCol="0" anchor="ctr"/>
          <a:lstStyle/>
          <a:p>
            <a:r>
              <a:rPr lang="en-US" sz="349" b="1" dirty="0">
                <a:solidFill>
                  <a:srgbClr val="4ADE80"/>
                </a:solidFill>
                <a:latin typeface="Courier New" pitchFamily="34" charset="0"/>
                <a:ea typeface="Courier New" pitchFamily="34" charset="-122"/>
                <a:cs typeface="Courier New" pitchFamily="34" charset="-120"/>
              </a:rPr>
              <a:t>SUBAGENTS</a:t>
            </a:r>
            <a:endParaRPr lang="en-US" sz="349" dirty="0"/>
          </a:p>
        </p:txBody>
      </p:sp>
      <p:sp>
        <p:nvSpPr>
          <p:cNvPr id="252" name="Text 208"/>
          <p:cNvSpPr/>
          <p:nvPr/>
        </p:nvSpPr>
        <p:spPr>
          <a:xfrm>
            <a:off x="7402449" y="4068508"/>
            <a:ext cx="781812" cy="66866"/>
          </a:xfrm>
          <a:prstGeom prst="rect">
            <a:avLst/>
          </a:prstGeom>
          <a:noFill/>
          <a:ln/>
        </p:spPr>
        <p:txBody>
          <a:bodyPr wrap="square" lIns="0" tIns="0" rIns="0" bIns="0" rtlCol="0" anchor="ctr"/>
          <a:lstStyle/>
          <a:p>
            <a:r>
              <a:rPr lang="en-US" sz="293" dirty="0">
                <a:solidFill>
                  <a:srgbClr val="8B93A7"/>
                </a:solidFill>
                <a:latin typeface="Arial" pitchFamily="34" charset="0"/>
                <a:ea typeface="Arial" pitchFamily="34" charset="-122"/>
                <a:cs typeface="Arial" pitchFamily="34" charset="-120"/>
              </a:rPr>
              <a:t>isolated execution</a:t>
            </a:r>
            <a:endParaRPr lang="en-US" sz="293" dirty="0"/>
          </a:p>
        </p:txBody>
      </p:sp>
      <p:sp>
        <p:nvSpPr>
          <p:cNvPr id="253" name="Shape 209"/>
          <p:cNvSpPr/>
          <p:nvPr/>
        </p:nvSpPr>
        <p:spPr>
          <a:xfrm>
            <a:off x="7258431" y="4197096"/>
            <a:ext cx="956691" cy="174879"/>
          </a:xfrm>
          <a:prstGeom prst="roundRect">
            <a:avLst>
              <a:gd name="adj" fmla="val 17647"/>
            </a:avLst>
          </a:prstGeom>
          <a:solidFill>
            <a:srgbClr val="12121F"/>
          </a:solidFill>
          <a:ln w="12700">
            <a:solidFill>
              <a:srgbClr val="FB923C"/>
            </a:solidFill>
            <a:prstDash val="solid"/>
          </a:ln>
        </p:spPr>
      </p:sp>
      <p:pic>
        <p:nvPicPr>
          <p:cNvPr id="254" name="Image 42" descr="/sessions/zealous-intelligent-mayer/mnt/outputs/icons5/c7_hooks.png"/>
          <p:cNvPicPr>
            <a:picLocks noChangeAspect="1"/>
          </p:cNvPicPr>
          <p:nvPr/>
        </p:nvPicPr>
        <p:blipFill>
          <a:blip r:embed="rId14"/>
          <a:stretch>
            <a:fillRect/>
          </a:stretch>
        </p:blipFill>
        <p:spPr>
          <a:xfrm>
            <a:off x="7294435" y="4238244"/>
            <a:ext cx="87440" cy="87440"/>
          </a:xfrm>
          <a:prstGeom prst="rect">
            <a:avLst/>
          </a:prstGeom>
        </p:spPr>
      </p:pic>
      <p:sp>
        <p:nvSpPr>
          <p:cNvPr id="255" name="Text 210"/>
          <p:cNvSpPr/>
          <p:nvPr/>
        </p:nvSpPr>
        <p:spPr>
          <a:xfrm>
            <a:off x="7402449" y="4212527"/>
            <a:ext cx="781812" cy="72009"/>
          </a:xfrm>
          <a:prstGeom prst="rect">
            <a:avLst/>
          </a:prstGeom>
          <a:noFill/>
          <a:ln/>
        </p:spPr>
        <p:txBody>
          <a:bodyPr wrap="square" lIns="0" tIns="0" rIns="0" bIns="0" rtlCol="0" anchor="ctr"/>
          <a:lstStyle/>
          <a:p>
            <a:r>
              <a:rPr lang="en-US" sz="349" b="1" dirty="0">
                <a:solidFill>
                  <a:srgbClr val="FB923C"/>
                </a:solidFill>
                <a:latin typeface="Courier New" pitchFamily="34" charset="0"/>
                <a:ea typeface="Courier New" pitchFamily="34" charset="-122"/>
                <a:cs typeface="Courier New" pitchFamily="34" charset="-120"/>
              </a:rPr>
              <a:t>HOOKS</a:t>
            </a:r>
            <a:endParaRPr lang="en-US" sz="349" dirty="0"/>
          </a:p>
        </p:txBody>
      </p:sp>
      <p:sp>
        <p:nvSpPr>
          <p:cNvPr id="256" name="Text 211"/>
          <p:cNvSpPr/>
          <p:nvPr/>
        </p:nvSpPr>
        <p:spPr>
          <a:xfrm>
            <a:off x="7402449" y="4284535"/>
            <a:ext cx="781812" cy="66866"/>
          </a:xfrm>
          <a:prstGeom prst="rect">
            <a:avLst/>
          </a:prstGeom>
          <a:noFill/>
          <a:ln/>
        </p:spPr>
        <p:txBody>
          <a:bodyPr wrap="square" lIns="0" tIns="0" rIns="0" bIns="0" rtlCol="0" anchor="ctr"/>
          <a:lstStyle/>
          <a:p>
            <a:r>
              <a:rPr lang="en-US" sz="293" dirty="0">
                <a:solidFill>
                  <a:srgbClr val="8B93A7"/>
                </a:solidFill>
                <a:latin typeface="Arial" pitchFamily="34" charset="0"/>
                <a:ea typeface="Arial" pitchFamily="34" charset="-122"/>
                <a:cs typeface="Arial" pitchFamily="34" charset="-120"/>
              </a:rPr>
              <a:t>deterministic automation</a:t>
            </a:r>
            <a:endParaRPr lang="en-US" sz="293" dirty="0"/>
          </a:p>
        </p:txBody>
      </p:sp>
      <p:sp>
        <p:nvSpPr>
          <p:cNvPr id="257" name="Shape 212"/>
          <p:cNvSpPr/>
          <p:nvPr/>
        </p:nvSpPr>
        <p:spPr>
          <a:xfrm>
            <a:off x="7258431" y="4413123"/>
            <a:ext cx="956691" cy="174879"/>
          </a:xfrm>
          <a:prstGeom prst="roundRect">
            <a:avLst>
              <a:gd name="adj" fmla="val 17647"/>
            </a:avLst>
          </a:prstGeom>
          <a:solidFill>
            <a:srgbClr val="12121F"/>
          </a:solidFill>
          <a:ln w="12700">
            <a:solidFill>
              <a:srgbClr val="FDE047"/>
            </a:solidFill>
            <a:prstDash val="solid"/>
          </a:ln>
        </p:spPr>
      </p:sp>
      <p:pic>
        <p:nvPicPr>
          <p:cNvPr id="258" name="Image 43" descr="/sessions/zealous-intelligent-mayer/mnt/outputs/icons5/c7_md.png"/>
          <p:cNvPicPr>
            <a:picLocks noChangeAspect="1"/>
          </p:cNvPicPr>
          <p:nvPr/>
        </p:nvPicPr>
        <p:blipFill>
          <a:blip r:embed="rId15"/>
          <a:stretch>
            <a:fillRect/>
          </a:stretch>
        </p:blipFill>
        <p:spPr>
          <a:xfrm>
            <a:off x="7294435" y="4454271"/>
            <a:ext cx="87440" cy="87440"/>
          </a:xfrm>
          <a:prstGeom prst="rect">
            <a:avLst/>
          </a:prstGeom>
        </p:spPr>
      </p:pic>
      <p:sp>
        <p:nvSpPr>
          <p:cNvPr id="259" name="Text 213"/>
          <p:cNvSpPr/>
          <p:nvPr/>
        </p:nvSpPr>
        <p:spPr>
          <a:xfrm>
            <a:off x="7402449" y="4428554"/>
            <a:ext cx="781812" cy="72009"/>
          </a:xfrm>
          <a:prstGeom prst="rect">
            <a:avLst/>
          </a:prstGeom>
          <a:noFill/>
          <a:ln/>
        </p:spPr>
        <p:txBody>
          <a:bodyPr wrap="square" lIns="0" tIns="0" rIns="0" bIns="0" rtlCol="0" anchor="ctr"/>
          <a:lstStyle/>
          <a:p>
            <a:r>
              <a:rPr lang="en-US" sz="349" b="1" dirty="0">
                <a:solidFill>
                  <a:srgbClr val="FDE047"/>
                </a:solidFill>
                <a:latin typeface="Courier New" pitchFamily="34" charset="0"/>
                <a:ea typeface="Courier New" pitchFamily="34" charset="-122"/>
                <a:cs typeface="Courier New" pitchFamily="34" charset="-120"/>
              </a:rPr>
              <a:t>CLAUDE.md</a:t>
            </a:r>
            <a:endParaRPr lang="en-US" sz="349" dirty="0"/>
          </a:p>
        </p:txBody>
      </p:sp>
      <p:sp>
        <p:nvSpPr>
          <p:cNvPr id="260" name="Text 214"/>
          <p:cNvSpPr/>
          <p:nvPr/>
        </p:nvSpPr>
        <p:spPr>
          <a:xfrm>
            <a:off x="7402449" y="4500562"/>
            <a:ext cx="781812" cy="66866"/>
          </a:xfrm>
          <a:prstGeom prst="rect">
            <a:avLst/>
          </a:prstGeom>
          <a:noFill/>
          <a:ln/>
        </p:spPr>
        <p:txBody>
          <a:bodyPr wrap="square" lIns="0" tIns="0" rIns="0" bIns="0" rtlCol="0" anchor="ctr"/>
          <a:lstStyle/>
          <a:p>
            <a:r>
              <a:rPr lang="en-US" sz="293" dirty="0">
                <a:solidFill>
                  <a:srgbClr val="8B93A7"/>
                </a:solidFill>
                <a:latin typeface="Arial" pitchFamily="34" charset="0"/>
                <a:ea typeface="Arial" pitchFamily="34" charset="-122"/>
                <a:cs typeface="Arial" pitchFamily="34" charset="-120"/>
              </a:rPr>
              <a:t>always-on context</a:t>
            </a:r>
            <a:endParaRPr lang="en-US" sz="293" dirty="0"/>
          </a:p>
        </p:txBody>
      </p:sp>
      <p:sp>
        <p:nvSpPr>
          <p:cNvPr id="261" name="Shape 215"/>
          <p:cNvSpPr/>
          <p:nvPr/>
        </p:nvSpPr>
        <p:spPr>
          <a:xfrm>
            <a:off x="7736777" y="3507867"/>
            <a:ext cx="0" cy="41148"/>
          </a:xfrm>
          <a:prstGeom prst="line">
            <a:avLst/>
          </a:prstGeom>
          <a:noFill/>
          <a:ln w="12700">
            <a:solidFill>
              <a:srgbClr val="8B93A7"/>
            </a:solidFill>
            <a:prstDash val="solid"/>
            <a:tailEnd type="triangle"/>
          </a:ln>
        </p:spPr>
      </p:sp>
      <p:sp>
        <p:nvSpPr>
          <p:cNvPr id="262" name="Shape 216"/>
          <p:cNvSpPr/>
          <p:nvPr/>
        </p:nvSpPr>
        <p:spPr>
          <a:xfrm>
            <a:off x="7736777" y="3723894"/>
            <a:ext cx="0" cy="41148"/>
          </a:xfrm>
          <a:prstGeom prst="line">
            <a:avLst/>
          </a:prstGeom>
          <a:noFill/>
          <a:ln w="12700">
            <a:solidFill>
              <a:srgbClr val="8B93A7"/>
            </a:solidFill>
            <a:prstDash val="solid"/>
            <a:tailEnd type="triangle"/>
          </a:ln>
        </p:spPr>
      </p:sp>
      <p:sp>
        <p:nvSpPr>
          <p:cNvPr id="263" name="Shape 217"/>
          <p:cNvSpPr/>
          <p:nvPr/>
        </p:nvSpPr>
        <p:spPr>
          <a:xfrm>
            <a:off x="7736777" y="3939921"/>
            <a:ext cx="0" cy="41148"/>
          </a:xfrm>
          <a:prstGeom prst="line">
            <a:avLst/>
          </a:prstGeom>
          <a:noFill/>
          <a:ln w="12700">
            <a:solidFill>
              <a:srgbClr val="8B93A7"/>
            </a:solidFill>
            <a:prstDash val="solid"/>
            <a:tailEnd type="triangle"/>
          </a:ln>
        </p:spPr>
      </p:sp>
      <p:sp>
        <p:nvSpPr>
          <p:cNvPr id="264" name="Shape 218"/>
          <p:cNvSpPr/>
          <p:nvPr/>
        </p:nvSpPr>
        <p:spPr>
          <a:xfrm>
            <a:off x="7736777" y="4155948"/>
            <a:ext cx="0" cy="41148"/>
          </a:xfrm>
          <a:prstGeom prst="line">
            <a:avLst/>
          </a:prstGeom>
          <a:noFill/>
          <a:ln w="12700">
            <a:solidFill>
              <a:srgbClr val="8B93A7"/>
            </a:solidFill>
            <a:prstDash val="solid"/>
            <a:tailEnd type="triangle"/>
          </a:ln>
        </p:spPr>
      </p:sp>
      <p:sp>
        <p:nvSpPr>
          <p:cNvPr id="265" name="Shape 219"/>
          <p:cNvSpPr/>
          <p:nvPr/>
        </p:nvSpPr>
        <p:spPr>
          <a:xfrm>
            <a:off x="7736777" y="4371975"/>
            <a:ext cx="0" cy="41148"/>
          </a:xfrm>
          <a:prstGeom prst="line">
            <a:avLst/>
          </a:prstGeom>
          <a:noFill/>
          <a:ln w="12700">
            <a:solidFill>
              <a:srgbClr val="8B93A7"/>
            </a:solidFill>
            <a:prstDash val="solid"/>
            <a:tailEnd type="triangle"/>
          </a:ln>
        </p:spPr>
      </p:sp>
      <p:sp>
        <p:nvSpPr>
          <p:cNvPr id="266" name="Shape 220"/>
          <p:cNvSpPr/>
          <p:nvPr/>
        </p:nvSpPr>
        <p:spPr>
          <a:xfrm>
            <a:off x="8256270" y="3332988"/>
            <a:ext cx="0" cy="1255014"/>
          </a:xfrm>
          <a:prstGeom prst="line">
            <a:avLst/>
          </a:prstGeom>
          <a:noFill/>
          <a:ln w="12700">
            <a:solidFill>
              <a:srgbClr val="8B93A7"/>
            </a:solidFill>
            <a:prstDash val="solid"/>
          </a:ln>
        </p:spPr>
      </p:sp>
      <p:sp>
        <p:nvSpPr>
          <p:cNvPr id="267" name="Text 221"/>
          <p:cNvSpPr/>
          <p:nvPr/>
        </p:nvSpPr>
        <p:spPr>
          <a:xfrm>
            <a:off x="8287131" y="3703320"/>
            <a:ext cx="277749" cy="308610"/>
          </a:xfrm>
          <a:prstGeom prst="rect">
            <a:avLst/>
          </a:prstGeom>
          <a:noFill/>
          <a:ln/>
        </p:spPr>
        <p:txBody>
          <a:bodyPr wrap="square" lIns="0" tIns="0" rIns="0" bIns="0" rtlCol="0" anchor="ctr"/>
          <a:lstStyle/>
          <a:p>
            <a:pPr>
              <a:lnSpc>
                <a:spcPct val="105000"/>
              </a:lnSpc>
            </a:pPr>
            <a:r>
              <a:rPr lang="en-US" sz="326" b="1" dirty="0">
                <a:solidFill>
                  <a:srgbClr val="E8EAF6"/>
                </a:solidFill>
                <a:latin typeface="Courier New" pitchFamily="34" charset="0"/>
                <a:ea typeface="Courier New" pitchFamily="34" charset="-122"/>
                <a:cs typeface="Courier New" pitchFamily="34" charset="-120"/>
              </a:rPr>
              <a:t>The</a:t>
            </a:r>
            <a:endParaRPr lang="en-US" sz="326" dirty="0"/>
          </a:p>
          <a:p>
            <a:pPr>
              <a:lnSpc>
                <a:spcPct val="105000"/>
              </a:lnSpc>
            </a:pPr>
            <a:r>
              <a:rPr lang="en-US" sz="326" b="1" dirty="0">
                <a:solidFill>
                  <a:srgbClr val="E8EAF6"/>
                </a:solidFill>
                <a:latin typeface="Courier New" pitchFamily="34" charset="0"/>
                <a:ea typeface="Courier New" pitchFamily="34" charset="-122"/>
                <a:cs typeface="Courier New" pitchFamily="34" charset="-120"/>
              </a:rPr>
              <a:t>Agent</a:t>
            </a:r>
            <a:endParaRPr lang="en-US" sz="326" dirty="0"/>
          </a:p>
          <a:p>
            <a:pPr>
              <a:lnSpc>
                <a:spcPct val="105000"/>
              </a:lnSpc>
            </a:pPr>
            <a:r>
              <a:rPr lang="en-US" sz="326" b="1" dirty="0">
                <a:solidFill>
                  <a:srgbClr val="E8EAF6"/>
                </a:solidFill>
                <a:latin typeface="Courier New" pitchFamily="34" charset="0"/>
                <a:ea typeface="Courier New" pitchFamily="34" charset="-122"/>
                <a:cs typeface="Courier New" pitchFamily="34" charset="-120"/>
              </a:rPr>
              <a:t>Extension</a:t>
            </a:r>
            <a:endParaRPr lang="en-US" sz="326" dirty="0"/>
          </a:p>
          <a:p>
            <a:pPr>
              <a:lnSpc>
                <a:spcPct val="105000"/>
              </a:lnSpc>
            </a:pPr>
            <a:r>
              <a:rPr lang="en-US" sz="326" b="1" dirty="0">
                <a:solidFill>
                  <a:srgbClr val="E8EAF6"/>
                </a:solidFill>
                <a:latin typeface="Courier New" pitchFamily="34" charset="0"/>
                <a:ea typeface="Courier New" pitchFamily="34" charset="-122"/>
                <a:cs typeface="Courier New" pitchFamily="34" charset="-120"/>
              </a:rPr>
              <a:t>Stack</a:t>
            </a:r>
            <a:endParaRPr lang="en-US" sz="326" dirty="0"/>
          </a:p>
        </p:txBody>
      </p:sp>
      <p:sp>
        <p:nvSpPr>
          <p:cNvPr id="268" name="Shape 222"/>
          <p:cNvSpPr/>
          <p:nvPr/>
        </p:nvSpPr>
        <p:spPr>
          <a:xfrm>
            <a:off x="3596259" y="4824603"/>
            <a:ext cx="1368171" cy="1759077"/>
          </a:xfrm>
          <a:prstGeom prst="roundRect">
            <a:avLst>
              <a:gd name="adj" fmla="val 2256"/>
            </a:avLst>
          </a:prstGeom>
          <a:solidFill>
            <a:srgbClr val="0D0D18"/>
          </a:solidFill>
          <a:ln w="12700">
            <a:solidFill>
              <a:srgbClr val="22D3EE"/>
            </a:solidFill>
            <a:prstDash val="solid"/>
          </a:ln>
        </p:spPr>
      </p:sp>
      <p:sp>
        <p:nvSpPr>
          <p:cNvPr id="269" name="Shape 223"/>
          <p:cNvSpPr/>
          <p:nvPr/>
        </p:nvSpPr>
        <p:spPr>
          <a:xfrm>
            <a:off x="3647694" y="4865751"/>
            <a:ext cx="874395" cy="138875"/>
          </a:xfrm>
          <a:prstGeom prst="roundRect">
            <a:avLst>
              <a:gd name="adj" fmla="val 14815"/>
            </a:avLst>
          </a:prstGeom>
          <a:solidFill>
            <a:srgbClr val="12121F"/>
          </a:solidFill>
          <a:ln w="12700">
            <a:solidFill>
              <a:srgbClr val="22D3EE"/>
            </a:solidFill>
            <a:prstDash val="solid"/>
          </a:ln>
        </p:spPr>
      </p:sp>
      <p:sp>
        <p:nvSpPr>
          <p:cNvPr id="270" name="Shape 224"/>
          <p:cNvSpPr/>
          <p:nvPr/>
        </p:nvSpPr>
        <p:spPr>
          <a:xfrm>
            <a:off x="3693985" y="4912042"/>
            <a:ext cx="46292" cy="46292"/>
          </a:xfrm>
          <a:prstGeom prst="roundRect">
            <a:avLst>
              <a:gd name="adj" fmla="val 22222"/>
            </a:avLst>
          </a:prstGeom>
          <a:solidFill>
            <a:srgbClr val="C77DFF"/>
          </a:solidFill>
          <a:ln/>
        </p:spPr>
      </p:sp>
      <p:sp>
        <p:nvSpPr>
          <p:cNvPr id="271" name="Text 225"/>
          <p:cNvSpPr/>
          <p:nvPr/>
        </p:nvSpPr>
        <p:spPr>
          <a:xfrm>
            <a:off x="3760851" y="4881181"/>
            <a:ext cx="720090" cy="108014"/>
          </a:xfrm>
          <a:prstGeom prst="rect">
            <a:avLst/>
          </a:prstGeom>
          <a:noFill/>
          <a:ln/>
        </p:spPr>
        <p:txBody>
          <a:bodyPr wrap="square" lIns="0" tIns="0" rIns="0" bIns="0" rtlCol="0" anchor="ctr"/>
          <a:lstStyle/>
          <a:p>
            <a:r>
              <a:rPr lang="en-US" sz="478" b="1" dirty="0">
                <a:solidFill>
                  <a:srgbClr val="E8EAF6"/>
                </a:solidFill>
                <a:latin typeface="Courier New" pitchFamily="34" charset="0"/>
                <a:ea typeface="Courier New" pitchFamily="34" charset="-122"/>
                <a:cs typeface="Courier New" pitchFamily="34" charset="-120"/>
              </a:rPr>
              <a:t>SECTION 6 — Hooks</a:t>
            </a:r>
            <a:endParaRPr lang="en-US" sz="478" dirty="0"/>
          </a:p>
        </p:txBody>
      </p:sp>
      <p:pic>
        <p:nvPicPr>
          <p:cNvPr id="272" name="Image 44" descr="/sessions/zealous-intelligent-mayer/mnt/outputs/icons5/h_bolt.png"/>
          <p:cNvPicPr>
            <a:picLocks noChangeAspect="1"/>
          </p:cNvPicPr>
          <p:nvPr/>
        </p:nvPicPr>
        <p:blipFill>
          <a:blip r:embed="rId31"/>
          <a:stretch>
            <a:fillRect/>
          </a:stretch>
        </p:blipFill>
        <p:spPr>
          <a:xfrm>
            <a:off x="3740277" y="5061204"/>
            <a:ext cx="267462" cy="267462"/>
          </a:xfrm>
          <a:prstGeom prst="rect">
            <a:avLst/>
          </a:prstGeom>
        </p:spPr>
      </p:pic>
      <p:sp>
        <p:nvSpPr>
          <p:cNvPr id="273" name="Shape 226"/>
          <p:cNvSpPr/>
          <p:nvPr/>
        </p:nvSpPr>
        <p:spPr>
          <a:xfrm>
            <a:off x="4069461" y="5071491"/>
            <a:ext cx="246888" cy="246888"/>
          </a:xfrm>
          <a:prstGeom prst="ellipse">
            <a:avLst/>
          </a:prstGeom>
          <a:solidFill>
            <a:srgbClr val="FFFFFF">
              <a:alpha val="0"/>
            </a:srgbClr>
          </a:solidFill>
          <a:ln w="19050">
            <a:solidFill>
              <a:srgbClr val="F472B6"/>
            </a:solidFill>
            <a:prstDash val="solid"/>
          </a:ln>
        </p:spPr>
      </p:sp>
      <p:sp>
        <p:nvSpPr>
          <p:cNvPr id="274" name="Shape 227"/>
          <p:cNvSpPr/>
          <p:nvPr/>
        </p:nvSpPr>
        <p:spPr>
          <a:xfrm>
            <a:off x="4162044" y="5164074"/>
            <a:ext cx="61722" cy="61722"/>
          </a:xfrm>
          <a:prstGeom prst="ellipse">
            <a:avLst/>
          </a:prstGeom>
          <a:solidFill>
            <a:srgbClr val="F472B6"/>
          </a:solidFill>
          <a:ln/>
        </p:spPr>
      </p:sp>
      <p:sp>
        <p:nvSpPr>
          <p:cNvPr id="275" name="Text 228"/>
          <p:cNvSpPr/>
          <p:nvPr/>
        </p:nvSpPr>
        <p:spPr>
          <a:xfrm>
            <a:off x="4378071" y="5143500"/>
            <a:ext cx="514350" cy="102870"/>
          </a:xfrm>
          <a:prstGeom prst="rect">
            <a:avLst/>
          </a:prstGeom>
          <a:noFill/>
          <a:ln/>
        </p:spPr>
        <p:txBody>
          <a:bodyPr wrap="square" lIns="0" tIns="0" rIns="0" bIns="0" rtlCol="0" anchor="ctr"/>
          <a:lstStyle/>
          <a:p>
            <a:r>
              <a:rPr lang="en-US" sz="338" i="1" dirty="0">
                <a:solidFill>
                  <a:srgbClr val="8B93A7"/>
                </a:solidFill>
                <a:latin typeface="Arial" pitchFamily="34" charset="0"/>
                <a:ea typeface="Arial" pitchFamily="34" charset="-122"/>
                <a:cs typeface="Arial" pitchFamily="34" charset="-120"/>
              </a:rPr>
              <a:t>Fire outside the loop</a:t>
            </a:r>
            <a:endParaRPr lang="en-US" sz="338" dirty="0"/>
          </a:p>
        </p:txBody>
      </p:sp>
      <p:sp>
        <p:nvSpPr>
          <p:cNvPr id="276" name="Shape 229"/>
          <p:cNvSpPr/>
          <p:nvPr/>
        </p:nvSpPr>
        <p:spPr>
          <a:xfrm>
            <a:off x="3657981" y="5400675"/>
            <a:ext cx="1244727" cy="226314"/>
          </a:xfrm>
          <a:prstGeom prst="roundRect">
            <a:avLst>
              <a:gd name="adj" fmla="val 13636"/>
            </a:avLst>
          </a:prstGeom>
          <a:solidFill>
            <a:srgbClr val="12101C"/>
          </a:solidFill>
          <a:ln w="12700">
            <a:solidFill>
              <a:srgbClr val="F87171"/>
            </a:solidFill>
            <a:prstDash val="solid"/>
          </a:ln>
        </p:spPr>
      </p:sp>
      <p:pic>
        <p:nvPicPr>
          <p:cNvPr id="277" name="Image 45" descr="/sessions/zealous-intelligent-mayer/mnt/outputs/icons5/h_pre.png"/>
          <p:cNvPicPr>
            <a:picLocks noChangeAspect="1"/>
          </p:cNvPicPr>
          <p:nvPr/>
        </p:nvPicPr>
        <p:blipFill>
          <a:blip r:embed="rId32"/>
          <a:stretch>
            <a:fillRect/>
          </a:stretch>
        </p:blipFill>
        <p:spPr>
          <a:xfrm>
            <a:off x="3699129" y="5467541"/>
            <a:ext cx="92583" cy="92583"/>
          </a:xfrm>
          <a:prstGeom prst="rect">
            <a:avLst/>
          </a:prstGeom>
        </p:spPr>
      </p:pic>
      <p:sp>
        <p:nvSpPr>
          <p:cNvPr id="278" name="Text 230"/>
          <p:cNvSpPr/>
          <p:nvPr/>
        </p:nvSpPr>
        <p:spPr>
          <a:xfrm>
            <a:off x="3822573" y="5421249"/>
            <a:ext cx="1038987" cy="72009"/>
          </a:xfrm>
          <a:prstGeom prst="rect">
            <a:avLst/>
          </a:prstGeom>
          <a:noFill/>
          <a:ln/>
        </p:spPr>
        <p:txBody>
          <a:bodyPr wrap="square" lIns="0" tIns="0" rIns="0" bIns="0" rtlCol="0" anchor="ctr"/>
          <a:lstStyle/>
          <a:p>
            <a:r>
              <a:rPr lang="en-US" sz="360" b="1" dirty="0">
                <a:solidFill>
                  <a:srgbClr val="F87171"/>
                </a:solidFill>
                <a:latin typeface="Courier New" pitchFamily="34" charset="0"/>
                <a:ea typeface="Courier New" pitchFamily="34" charset="-122"/>
                <a:cs typeface="Courier New" pitchFamily="34" charset="-120"/>
              </a:rPr>
              <a:t>PRE-TOOL</a:t>
            </a:r>
            <a:endParaRPr lang="en-US" sz="360" dirty="0"/>
          </a:p>
        </p:txBody>
      </p:sp>
      <p:sp>
        <p:nvSpPr>
          <p:cNvPr id="279" name="Text 231"/>
          <p:cNvSpPr/>
          <p:nvPr/>
        </p:nvSpPr>
        <p:spPr>
          <a:xfrm>
            <a:off x="3822573" y="5493258"/>
            <a:ext cx="1038987" cy="123444"/>
          </a:xfrm>
          <a:prstGeom prst="rect">
            <a:avLst/>
          </a:prstGeom>
          <a:noFill/>
          <a:ln/>
        </p:spPr>
        <p:txBody>
          <a:bodyPr wrap="square" lIns="0" tIns="0" rIns="0" bIns="0" rtlCol="0" anchor="ctr"/>
          <a:lstStyle/>
          <a:p>
            <a:r>
              <a:rPr lang="en-US" sz="304" dirty="0">
                <a:solidFill>
                  <a:srgbClr val="E8EAF6"/>
                </a:solidFill>
                <a:latin typeface="Arial" pitchFamily="34" charset="0"/>
                <a:ea typeface="Arial" pitchFamily="34" charset="-122"/>
                <a:cs typeface="Arial" pitchFamily="34" charset="-120"/>
              </a:rPr>
              <a:t>runs BEFORE tool execution — blocks unsafe SAP writes</a:t>
            </a:r>
            <a:endParaRPr lang="en-US" sz="304" dirty="0"/>
          </a:p>
        </p:txBody>
      </p:sp>
      <p:sp>
        <p:nvSpPr>
          <p:cNvPr id="280" name="Shape 232"/>
          <p:cNvSpPr/>
          <p:nvPr/>
        </p:nvSpPr>
        <p:spPr>
          <a:xfrm>
            <a:off x="3657981" y="5647563"/>
            <a:ext cx="1244727" cy="226314"/>
          </a:xfrm>
          <a:prstGeom prst="roundRect">
            <a:avLst>
              <a:gd name="adj" fmla="val 13636"/>
            </a:avLst>
          </a:prstGeom>
          <a:solidFill>
            <a:srgbClr val="12101C"/>
          </a:solidFill>
          <a:ln w="12700">
            <a:solidFill>
              <a:srgbClr val="FB923C"/>
            </a:solidFill>
            <a:prstDash val="solid"/>
          </a:ln>
        </p:spPr>
      </p:sp>
      <p:pic>
        <p:nvPicPr>
          <p:cNvPr id="281" name="Image 46" descr="/sessions/zealous-intelligent-mayer/mnt/outputs/icons5/h_post.png"/>
          <p:cNvPicPr>
            <a:picLocks noChangeAspect="1"/>
          </p:cNvPicPr>
          <p:nvPr/>
        </p:nvPicPr>
        <p:blipFill>
          <a:blip r:embed="rId33"/>
          <a:stretch>
            <a:fillRect/>
          </a:stretch>
        </p:blipFill>
        <p:spPr>
          <a:xfrm>
            <a:off x="3699129" y="5714429"/>
            <a:ext cx="92583" cy="92583"/>
          </a:xfrm>
          <a:prstGeom prst="rect">
            <a:avLst/>
          </a:prstGeom>
        </p:spPr>
      </p:pic>
      <p:sp>
        <p:nvSpPr>
          <p:cNvPr id="282" name="Text 233"/>
          <p:cNvSpPr/>
          <p:nvPr/>
        </p:nvSpPr>
        <p:spPr>
          <a:xfrm>
            <a:off x="3822573" y="5668137"/>
            <a:ext cx="1038987" cy="72009"/>
          </a:xfrm>
          <a:prstGeom prst="rect">
            <a:avLst/>
          </a:prstGeom>
          <a:noFill/>
          <a:ln/>
        </p:spPr>
        <p:txBody>
          <a:bodyPr wrap="square" lIns="0" tIns="0" rIns="0" bIns="0" rtlCol="0" anchor="ctr"/>
          <a:lstStyle/>
          <a:p>
            <a:r>
              <a:rPr lang="en-US" sz="360" b="1" dirty="0">
                <a:solidFill>
                  <a:srgbClr val="FB923C"/>
                </a:solidFill>
                <a:latin typeface="Courier New" pitchFamily="34" charset="0"/>
                <a:ea typeface="Courier New" pitchFamily="34" charset="-122"/>
                <a:cs typeface="Courier New" pitchFamily="34" charset="-120"/>
              </a:rPr>
              <a:t>POST-TOOL</a:t>
            </a:r>
            <a:endParaRPr lang="en-US" sz="360" dirty="0"/>
          </a:p>
        </p:txBody>
      </p:sp>
      <p:sp>
        <p:nvSpPr>
          <p:cNvPr id="283" name="Text 234"/>
          <p:cNvSpPr/>
          <p:nvPr/>
        </p:nvSpPr>
        <p:spPr>
          <a:xfrm>
            <a:off x="3822573" y="5740146"/>
            <a:ext cx="1038987" cy="123444"/>
          </a:xfrm>
          <a:prstGeom prst="rect">
            <a:avLst/>
          </a:prstGeom>
          <a:noFill/>
          <a:ln/>
        </p:spPr>
        <p:txBody>
          <a:bodyPr wrap="square" lIns="0" tIns="0" rIns="0" bIns="0" rtlCol="0" anchor="ctr"/>
          <a:lstStyle/>
          <a:p>
            <a:r>
              <a:rPr lang="en-US" sz="304" dirty="0">
                <a:solidFill>
                  <a:srgbClr val="E8EAF6"/>
                </a:solidFill>
                <a:latin typeface="Arial" pitchFamily="34" charset="0"/>
                <a:ea typeface="Arial" pitchFamily="34" charset="-122"/>
                <a:cs typeface="Arial" pitchFamily="34" charset="-120"/>
              </a:rPr>
              <a:t>runs AFTER tool execution — logs, formats, files records</a:t>
            </a:r>
            <a:endParaRPr lang="en-US" sz="304" dirty="0"/>
          </a:p>
        </p:txBody>
      </p:sp>
      <p:sp>
        <p:nvSpPr>
          <p:cNvPr id="284" name="Shape 235"/>
          <p:cNvSpPr/>
          <p:nvPr/>
        </p:nvSpPr>
        <p:spPr>
          <a:xfrm>
            <a:off x="3657981" y="5894451"/>
            <a:ext cx="1244727" cy="226314"/>
          </a:xfrm>
          <a:prstGeom prst="roundRect">
            <a:avLst>
              <a:gd name="adj" fmla="val 13636"/>
            </a:avLst>
          </a:prstGeom>
          <a:solidFill>
            <a:srgbClr val="12101C"/>
          </a:solidFill>
          <a:ln w="12700">
            <a:solidFill>
              <a:srgbClr val="22D3EE"/>
            </a:solidFill>
            <a:prstDash val="solid"/>
          </a:ln>
        </p:spPr>
      </p:sp>
      <p:pic>
        <p:nvPicPr>
          <p:cNvPr id="285" name="Image 47" descr="/sessions/zealous-intelligent-mayer/mnt/outputs/icons5/h_edit.png"/>
          <p:cNvPicPr>
            <a:picLocks noChangeAspect="1"/>
          </p:cNvPicPr>
          <p:nvPr/>
        </p:nvPicPr>
        <p:blipFill>
          <a:blip r:embed="rId34"/>
          <a:stretch>
            <a:fillRect/>
          </a:stretch>
        </p:blipFill>
        <p:spPr>
          <a:xfrm>
            <a:off x="3699129" y="5961317"/>
            <a:ext cx="92583" cy="92583"/>
          </a:xfrm>
          <a:prstGeom prst="rect">
            <a:avLst/>
          </a:prstGeom>
        </p:spPr>
      </p:pic>
      <p:sp>
        <p:nvSpPr>
          <p:cNvPr id="286" name="Text 236"/>
          <p:cNvSpPr/>
          <p:nvPr/>
        </p:nvSpPr>
        <p:spPr>
          <a:xfrm>
            <a:off x="3822573" y="5915025"/>
            <a:ext cx="1038987" cy="72009"/>
          </a:xfrm>
          <a:prstGeom prst="rect">
            <a:avLst/>
          </a:prstGeom>
          <a:noFill/>
          <a:ln/>
        </p:spPr>
        <p:txBody>
          <a:bodyPr wrap="square" lIns="0" tIns="0" rIns="0" bIns="0" rtlCol="0" anchor="ctr"/>
          <a:lstStyle/>
          <a:p>
            <a:r>
              <a:rPr lang="en-US" sz="360" b="1" dirty="0">
                <a:solidFill>
                  <a:srgbClr val="22D3EE"/>
                </a:solidFill>
                <a:latin typeface="Courier New" pitchFamily="34" charset="0"/>
                <a:ea typeface="Courier New" pitchFamily="34" charset="-122"/>
                <a:cs typeface="Courier New" pitchFamily="34" charset="-120"/>
              </a:rPr>
              <a:t>ON-EDIT</a:t>
            </a:r>
            <a:endParaRPr lang="en-US" sz="360" dirty="0"/>
          </a:p>
        </p:txBody>
      </p:sp>
      <p:sp>
        <p:nvSpPr>
          <p:cNvPr id="287" name="Text 237"/>
          <p:cNvSpPr/>
          <p:nvPr/>
        </p:nvSpPr>
        <p:spPr>
          <a:xfrm>
            <a:off x="3822573" y="5987034"/>
            <a:ext cx="1038987" cy="123444"/>
          </a:xfrm>
          <a:prstGeom prst="rect">
            <a:avLst/>
          </a:prstGeom>
          <a:noFill/>
          <a:ln/>
        </p:spPr>
        <p:txBody>
          <a:bodyPr wrap="square" lIns="0" tIns="0" rIns="0" bIns="0" rtlCol="0" anchor="ctr"/>
          <a:lstStyle/>
          <a:p>
            <a:r>
              <a:rPr lang="en-US" sz="304" dirty="0">
                <a:solidFill>
                  <a:srgbClr val="E8EAF6"/>
                </a:solidFill>
                <a:latin typeface="Arial" pitchFamily="34" charset="0"/>
                <a:ea typeface="Arial" pitchFamily="34" charset="-122"/>
                <a:cs typeface="Arial" pitchFamily="34" charset="-120"/>
              </a:rPr>
              <a:t>fires when spec or SOP files change</a:t>
            </a:r>
            <a:endParaRPr lang="en-US" sz="304" dirty="0"/>
          </a:p>
        </p:txBody>
      </p:sp>
      <p:sp>
        <p:nvSpPr>
          <p:cNvPr id="288" name="Shape 238"/>
          <p:cNvSpPr/>
          <p:nvPr/>
        </p:nvSpPr>
        <p:spPr>
          <a:xfrm>
            <a:off x="3657981" y="6141339"/>
            <a:ext cx="1244727" cy="226314"/>
          </a:xfrm>
          <a:prstGeom prst="roundRect">
            <a:avLst>
              <a:gd name="adj" fmla="val 13636"/>
            </a:avLst>
          </a:prstGeom>
          <a:solidFill>
            <a:srgbClr val="12101C"/>
          </a:solidFill>
          <a:ln w="12700">
            <a:solidFill>
              <a:srgbClr val="FDE047"/>
            </a:solidFill>
            <a:prstDash val="solid"/>
          </a:ln>
        </p:spPr>
      </p:sp>
      <p:pic>
        <p:nvPicPr>
          <p:cNvPr id="289" name="Image 48" descr="/sessions/zealous-intelligent-mayer/mnt/outputs/icons5/h_note.png"/>
          <p:cNvPicPr>
            <a:picLocks noChangeAspect="1"/>
          </p:cNvPicPr>
          <p:nvPr/>
        </p:nvPicPr>
        <p:blipFill>
          <a:blip r:embed="rId35"/>
          <a:stretch>
            <a:fillRect/>
          </a:stretch>
        </p:blipFill>
        <p:spPr>
          <a:xfrm>
            <a:off x="3699129" y="6208205"/>
            <a:ext cx="92583" cy="92583"/>
          </a:xfrm>
          <a:prstGeom prst="rect">
            <a:avLst/>
          </a:prstGeom>
        </p:spPr>
      </p:pic>
      <p:sp>
        <p:nvSpPr>
          <p:cNvPr id="290" name="Text 239"/>
          <p:cNvSpPr/>
          <p:nvPr/>
        </p:nvSpPr>
        <p:spPr>
          <a:xfrm>
            <a:off x="3822573" y="6161913"/>
            <a:ext cx="1038987" cy="72009"/>
          </a:xfrm>
          <a:prstGeom prst="rect">
            <a:avLst/>
          </a:prstGeom>
          <a:noFill/>
          <a:ln/>
        </p:spPr>
        <p:txBody>
          <a:bodyPr wrap="square" lIns="0" tIns="0" rIns="0" bIns="0" rtlCol="0" anchor="ctr"/>
          <a:lstStyle/>
          <a:p>
            <a:r>
              <a:rPr lang="en-US" sz="360" b="1" dirty="0">
                <a:solidFill>
                  <a:srgbClr val="FDE047"/>
                </a:solidFill>
                <a:latin typeface="Courier New" pitchFamily="34" charset="0"/>
                <a:ea typeface="Courier New" pitchFamily="34" charset="-122"/>
                <a:cs typeface="Courier New" pitchFamily="34" charset="-120"/>
              </a:rPr>
              <a:t>ON-NOTIFICATION</a:t>
            </a:r>
            <a:endParaRPr lang="en-US" sz="360" dirty="0"/>
          </a:p>
        </p:txBody>
      </p:sp>
      <p:sp>
        <p:nvSpPr>
          <p:cNvPr id="291" name="Text 240"/>
          <p:cNvSpPr/>
          <p:nvPr/>
        </p:nvSpPr>
        <p:spPr>
          <a:xfrm>
            <a:off x="3822573" y="6233922"/>
            <a:ext cx="1038987" cy="123444"/>
          </a:xfrm>
          <a:prstGeom prst="rect">
            <a:avLst/>
          </a:prstGeom>
          <a:noFill/>
          <a:ln/>
        </p:spPr>
        <p:txBody>
          <a:bodyPr wrap="square" lIns="0" tIns="0" rIns="0" bIns="0" rtlCol="0" anchor="ctr"/>
          <a:lstStyle/>
          <a:p>
            <a:r>
              <a:rPr lang="en-US" sz="304" dirty="0">
                <a:solidFill>
                  <a:srgbClr val="E8EAF6"/>
                </a:solidFill>
                <a:latin typeface="Arial" pitchFamily="34" charset="0"/>
                <a:ea typeface="Arial" pitchFamily="34" charset="-122"/>
                <a:cs typeface="Arial" pitchFamily="34" charset="-120"/>
              </a:rPr>
              <a:t>deviation alerts &amp; audit logging</a:t>
            </a:r>
            <a:endParaRPr lang="en-US" sz="304" dirty="0"/>
          </a:p>
        </p:txBody>
      </p:sp>
      <p:sp>
        <p:nvSpPr>
          <p:cNvPr id="292" name="Text 241"/>
          <p:cNvSpPr/>
          <p:nvPr/>
        </p:nvSpPr>
        <p:spPr>
          <a:xfrm>
            <a:off x="3657981" y="6398514"/>
            <a:ext cx="1244727" cy="72009"/>
          </a:xfrm>
          <a:prstGeom prst="rect">
            <a:avLst/>
          </a:prstGeom>
          <a:noFill/>
          <a:ln/>
        </p:spPr>
        <p:txBody>
          <a:bodyPr wrap="square" lIns="0" tIns="0" rIns="0" bIns="0" rtlCol="0" anchor="ctr"/>
          <a:lstStyle/>
          <a:p>
            <a:pPr algn="ctr"/>
            <a:r>
              <a:rPr lang="en-US" sz="338" i="1" dirty="0">
                <a:solidFill>
                  <a:srgbClr val="8B93A7"/>
                </a:solidFill>
                <a:latin typeface="Arial" pitchFamily="34" charset="0"/>
                <a:ea typeface="Arial" pitchFamily="34" charset="-122"/>
                <a:cs typeface="Arial" pitchFamily="34" charset="-120"/>
              </a:rPr>
              <a:t>Deterministic — NOT controlled by the LLM</a:t>
            </a:r>
            <a:endParaRPr lang="en-US" sz="338" dirty="0"/>
          </a:p>
        </p:txBody>
      </p:sp>
      <p:sp>
        <p:nvSpPr>
          <p:cNvPr id="293" name="Shape 242"/>
          <p:cNvSpPr/>
          <p:nvPr/>
        </p:nvSpPr>
        <p:spPr>
          <a:xfrm>
            <a:off x="3657981" y="6470523"/>
            <a:ext cx="1244727" cy="113157"/>
          </a:xfrm>
          <a:prstGeom prst="roundRect">
            <a:avLst>
              <a:gd name="adj" fmla="val 18182"/>
            </a:avLst>
          </a:prstGeom>
          <a:solidFill>
            <a:srgbClr val="0F0F1C"/>
          </a:solidFill>
          <a:ln w="12700">
            <a:solidFill>
              <a:srgbClr val="F472B6"/>
            </a:solidFill>
            <a:prstDash val="solid"/>
          </a:ln>
        </p:spPr>
      </p:sp>
      <p:sp>
        <p:nvSpPr>
          <p:cNvPr id="294" name="Text 243"/>
          <p:cNvSpPr/>
          <p:nvPr/>
        </p:nvSpPr>
        <p:spPr>
          <a:xfrm>
            <a:off x="3683699" y="6470523"/>
            <a:ext cx="1193292" cy="113157"/>
          </a:xfrm>
          <a:prstGeom prst="rect">
            <a:avLst/>
          </a:prstGeom>
          <a:noFill/>
          <a:ln/>
        </p:spPr>
        <p:txBody>
          <a:bodyPr wrap="square" lIns="0" tIns="0" rIns="0" bIns="0" rtlCol="0" anchor="ctr"/>
          <a:lstStyle/>
          <a:p>
            <a:pPr algn="ctr"/>
            <a:r>
              <a:rPr lang="en-US" sz="338" b="1" dirty="0">
                <a:solidFill>
                  <a:srgbClr val="F472B6"/>
                </a:solidFill>
                <a:latin typeface="Courier New" pitchFamily="34" charset="0"/>
                <a:ea typeface="Courier New" pitchFamily="34" charset="-122"/>
                <a:cs typeface="Courier New" pitchFamily="34" charset="-120"/>
              </a:rPr>
              <a:t>Hooks = AUTOMATION (outside agent loop)</a:t>
            </a:r>
            <a:endParaRPr lang="en-US" sz="338" dirty="0"/>
          </a:p>
        </p:txBody>
      </p:sp>
      <p:sp>
        <p:nvSpPr>
          <p:cNvPr id="295" name="Shape 244"/>
          <p:cNvSpPr/>
          <p:nvPr/>
        </p:nvSpPr>
        <p:spPr>
          <a:xfrm>
            <a:off x="7206996" y="4824603"/>
            <a:ext cx="1388745" cy="1759077"/>
          </a:xfrm>
          <a:prstGeom prst="roundRect">
            <a:avLst>
              <a:gd name="adj" fmla="val 2222"/>
            </a:avLst>
          </a:prstGeom>
          <a:solidFill>
            <a:srgbClr val="0D0D18"/>
          </a:solidFill>
          <a:ln w="12700">
            <a:solidFill>
              <a:srgbClr val="22D3EE"/>
            </a:solidFill>
            <a:prstDash val="solid"/>
          </a:ln>
        </p:spPr>
      </p:sp>
      <p:sp>
        <p:nvSpPr>
          <p:cNvPr id="296" name="Shape 245"/>
          <p:cNvSpPr/>
          <p:nvPr/>
        </p:nvSpPr>
        <p:spPr>
          <a:xfrm>
            <a:off x="7258431" y="4865751"/>
            <a:ext cx="1285875" cy="138875"/>
          </a:xfrm>
          <a:prstGeom prst="roundRect">
            <a:avLst>
              <a:gd name="adj" fmla="val 14815"/>
            </a:avLst>
          </a:prstGeom>
          <a:solidFill>
            <a:srgbClr val="12121F"/>
          </a:solidFill>
          <a:ln w="12700">
            <a:solidFill>
              <a:srgbClr val="22D3EE"/>
            </a:solidFill>
            <a:prstDash val="solid"/>
          </a:ln>
        </p:spPr>
      </p:sp>
      <p:sp>
        <p:nvSpPr>
          <p:cNvPr id="297" name="Shape 246"/>
          <p:cNvSpPr/>
          <p:nvPr/>
        </p:nvSpPr>
        <p:spPr>
          <a:xfrm>
            <a:off x="7304722" y="4912042"/>
            <a:ext cx="46292" cy="46292"/>
          </a:xfrm>
          <a:prstGeom prst="roundRect">
            <a:avLst>
              <a:gd name="adj" fmla="val 22222"/>
            </a:avLst>
          </a:prstGeom>
          <a:solidFill>
            <a:srgbClr val="C77DFF"/>
          </a:solidFill>
          <a:ln/>
        </p:spPr>
      </p:sp>
      <p:sp>
        <p:nvSpPr>
          <p:cNvPr id="298" name="Text 247"/>
          <p:cNvSpPr/>
          <p:nvPr/>
        </p:nvSpPr>
        <p:spPr>
          <a:xfrm>
            <a:off x="7371588" y="4881181"/>
            <a:ext cx="1131570" cy="108014"/>
          </a:xfrm>
          <a:prstGeom prst="rect">
            <a:avLst/>
          </a:prstGeom>
          <a:noFill/>
          <a:ln/>
        </p:spPr>
        <p:txBody>
          <a:bodyPr wrap="square" lIns="0" tIns="0" rIns="0" bIns="0" rtlCol="0" anchor="ctr"/>
          <a:lstStyle/>
          <a:p>
            <a:r>
              <a:rPr lang="en-US" sz="478" b="1" dirty="0">
                <a:solidFill>
                  <a:srgbClr val="E8EAF6"/>
                </a:solidFill>
                <a:latin typeface="Courier New" pitchFamily="34" charset="0"/>
                <a:ea typeface="Courier New" pitchFamily="34" charset="-122"/>
                <a:cs typeface="Courier New" pitchFamily="34" charset="-120"/>
              </a:rPr>
              <a:t>SECTION 9 — Real-World Example</a:t>
            </a:r>
            <a:endParaRPr lang="en-US" sz="478" dirty="0"/>
          </a:p>
        </p:txBody>
      </p:sp>
      <p:sp>
        <p:nvSpPr>
          <p:cNvPr id="299" name="Text 248"/>
          <p:cNvSpPr/>
          <p:nvPr/>
        </p:nvSpPr>
        <p:spPr>
          <a:xfrm>
            <a:off x="7268718" y="5040630"/>
            <a:ext cx="1265301" cy="133731"/>
          </a:xfrm>
          <a:prstGeom prst="rect">
            <a:avLst/>
          </a:prstGeom>
          <a:noFill/>
          <a:ln/>
        </p:spPr>
        <p:txBody>
          <a:bodyPr wrap="square" lIns="0" tIns="0" rIns="0" bIns="0" rtlCol="0" anchor="ctr"/>
          <a:lstStyle/>
          <a:p>
            <a:pPr>
              <a:lnSpc>
                <a:spcPct val="102000"/>
              </a:lnSpc>
            </a:pPr>
            <a:r>
              <a:rPr lang="en-US" sz="349" b="1" i="1" dirty="0">
                <a:solidFill>
                  <a:srgbClr val="E8EAF6"/>
                </a:solidFill>
                <a:latin typeface="Arial" pitchFamily="34" charset="0"/>
                <a:ea typeface="Arial" pitchFamily="34" charset="-122"/>
                <a:cs typeface="Arial" pitchFamily="34" charset="-120"/>
              </a:rPr>
              <a:t>“Investigate the seam-defect spike on Line 3 and write the deviation report”</a:t>
            </a:r>
            <a:endParaRPr lang="en-US" sz="349" dirty="0"/>
          </a:p>
        </p:txBody>
      </p:sp>
      <p:sp>
        <p:nvSpPr>
          <p:cNvPr id="300" name="Shape 249"/>
          <p:cNvSpPr/>
          <p:nvPr/>
        </p:nvSpPr>
        <p:spPr>
          <a:xfrm>
            <a:off x="7263575" y="5215509"/>
            <a:ext cx="1275588" cy="205740"/>
          </a:xfrm>
          <a:prstGeom prst="roundRect">
            <a:avLst>
              <a:gd name="adj" fmla="val 15000"/>
            </a:avLst>
          </a:prstGeom>
          <a:solidFill>
            <a:srgbClr val="0B0B16"/>
          </a:solidFill>
          <a:ln w="12700">
            <a:solidFill>
              <a:srgbClr val="232338"/>
            </a:solidFill>
            <a:prstDash val="dash"/>
          </a:ln>
        </p:spPr>
      </p:sp>
      <p:sp>
        <p:nvSpPr>
          <p:cNvPr id="301" name="Shape 250"/>
          <p:cNvSpPr/>
          <p:nvPr/>
        </p:nvSpPr>
        <p:spPr>
          <a:xfrm>
            <a:off x="7309866" y="5287518"/>
            <a:ext cx="61722" cy="61722"/>
          </a:xfrm>
          <a:prstGeom prst="ellipse">
            <a:avLst/>
          </a:prstGeom>
          <a:solidFill>
            <a:srgbClr val="FDE047"/>
          </a:solidFill>
          <a:ln/>
        </p:spPr>
      </p:sp>
      <p:sp>
        <p:nvSpPr>
          <p:cNvPr id="302" name="Text 251"/>
          <p:cNvSpPr/>
          <p:nvPr/>
        </p:nvSpPr>
        <p:spPr>
          <a:xfrm>
            <a:off x="7402449" y="5230940"/>
            <a:ext cx="1100709" cy="72009"/>
          </a:xfrm>
          <a:prstGeom prst="rect">
            <a:avLst/>
          </a:prstGeom>
          <a:noFill/>
          <a:ln/>
        </p:spPr>
        <p:txBody>
          <a:bodyPr wrap="square" lIns="0" tIns="0" rIns="0" bIns="0" rtlCol="0" anchor="ctr"/>
          <a:lstStyle/>
          <a:p>
            <a:r>
              <a:rPr lang="en-US" sz="338" b="1" dirty="0">
                <a:solidFill>
                  <a:srgbClr val="FDE047"/>
                </a:solidFill>
                <a:latin typeface="Courier New" pitchFamily="34" charset="0"/>
                <a:ea typeface="Courier New" pitchFamily="34" charset="-122"/>
                <a:cs typeface="Courier New" pitchFamily="34" charset="-120"/>
              </a:rPr>
              <a:t>1. CLAUDE.md loads</a:t>
            </a:r>
            <a:endParaRPr lang="en-US" sz="338" dirty="0"/>
          </a:p>
        </p:txBody>
      </p:sp>
      <p:sp>
        <p:nvSpPr>
          <p:cNvPr id="303" name="Text 252"/>
          <p:cNvSpPr/>
          <p:nvPr/>
        </p:nvSpPr>
        <p:spPr>
          <a:xfrm>
            <a:off x="7402449" y="5302949"/>
            <a:ext cx="1100709" cy="102870"/>
          </a:xfrm>
          <a:prstGeom prst="rect">
            <a:avLst/>
          </a:prstGeom>
          <a:noFill/>
          <a:ln/>
        </p:spPr>
        <p:txBody>
          <a:bodyPr wrap="square" lIns="0" tIns="0" rIns="0" bIns="0" rtlCol="0" anchor="ctr"/>
          <a:lstStyle/>
          <a:p>
            <a:r>
              <a:rPr lang="en-US" sz="315" i="1" dirty="0">
                <a:solidFill>
                  <a:srgbClr val="E8EAF6"/>
                </a:solidFill>
                <a:latin typeface="Arial" pitchFamily="34" charset="0"/>
                <a:ea typeface="Arial" pitchFamily="34" charset="-122"/>
                <a:cs typeface="Arial" pitchFamily="34" charset="-120"/>
              </a:rPr>
              <a:t>plant context, line &amp; product data</a:t>
            </a:r>
            <a:endParaRPr lang="en-US" sz="315" dirty="0"/>
          </a:p>
        </p:txBody>
      </p:sp>
      <p:sp>
        <p:nvSpPr>
          <p:cNvPr id="304" name="Shape 253"/>
          <p:cNvSpPr/>
          <p:nvPr/>
        </p:nvSpPr>
        <p:spPr>
          <a:xfrm>
            <a:off x="7263575" y="5441823"/>
            <a:ext cx="1275588" cy="205740"/>
          </a:xfrm>
          <a:prstGeom prst="roundRect">
            <a:avLst>
              <a:gd name="adj" fmla="val 15000"/>
            </a:avLst>
          </a:prstGeom>
          <a:solidFill>
            <a:srgbClr val="0B0B16"/>
          </a:solidFill>
          <a:ln w="12700">
            <a:solidFill>
              <a:srgbClr val="232338"/>
            </a:solidFill>
            <a:prstDash val="dash"/>
          </a:ln>
        </p:spPr>
      </p:sp>
      <p:sp>
        <p:nvSpPr>
          <p:cNvPr id="305" name="Shape 254"/>
          <p:cNvSpPr/>
          <p:nvPr/>
        </p:nvSpPr>
        <p:spPr>
          <a:xfrm>
            <a:off x="7309866" y="5513832"/>
            <a:ext cx="61722" cy="61722"/>
          </a:xfrm>
          <a:prstGeom prst="ellipse">
            <a:avLst/>
          </a:prstGeom>
          <a:solidFill>
            <a:srgbClr val="22D3EE"/>
          </a:solidFill>
          <a:ln/>
        </p:spPr>
      </p:sp>
      <p:sp>
        <p:nvSpPr>
          <p:cNvPr id="306" name="Text 255"/>
          <p:cNvSpPr/>
          <p:nvPr/>
        </p:nvSpPr>
        <p:spPr>
          <a:xfrm>
            <a:off x="7402449" y="5457254"/>
            <a:ext cx="1100709" cy="72009"/>
          </a:xfrm>
          <a:prstGeom prst="rect">
            <a:avLst/>
          </a:prstGeom>
          <a:noFill/>
          <a:ln/>
        </p:spPr>
        <p:txBody>
          <a:bodyPr wrap="square" lIns="0" tIns="0" rIns="0" bIns="0" rtlCol="0" anchor="ctr"/>
          <a:lstStyle/>
          <a:p>
            <a:r>
              <a:rPr lang="en-US" sz="338" b="1" dirty="0">
                <a:solidFill>
                  <a:srgbClr val="22D3EE"/>
                </a:solidFill>
                <a:latin typeface="Courier New" pitchFamily="34" charset="0"/>
                <a:ea typeface="Courier New" pitchFamily="34" charset="-122"/>
                <a:cs typeface="Courier New" pitchFamily="34" charset="-120"/>
              </a:rPr>
              <a:t>2. Skill activates</a:t>
            </a:r>
            <a:endParaRPr lang="en-US" sz="338" dirty="0"/>
          </a:p>
        </p:txBody>
      </p:sp>
      <p:sp>
        <p:nvSpPr>
          <p:cNvPr id="307" name="Text 256"/>
          <p:cNvSpPr/>
          <p:nvPr/>
        </p:nvSpPr>
        <p:spPr>
          <a:xfrm>
            <a:off x="7402449" y="5529263"/>
            <a:ext cx="1100709" cy="102870"/>
          </a:xfrm>
          <a:prstGeom prst="rect">
            <a:avLst/>
          </a:prstGeom>
          <a:noFill/>
          <a:ln/>
        </p:spPr>
        <p:txBody>
          <a:bodyPr wrap="square" lIns="0" tIns="0" rIns="0" bIns="0" rtlCol="0" anchor="ctr"/>
          <a:lstStyle/>
          <a:p>
            <a:r>
              <a:rPr lang="en-US" sz="315" i="1" dirty="0">
                <a:solidFill>
                  <a:srgbClr val="E8EAF6"/>
                </a:solidFill>
                <a:latin typeface="Arial" pitchFamily="34" charset="0"/>
                <a:ea typeface="Arial" pitchFamily="34" charset="-122"/>
                <a:cs typeface="Arial" pitchFamily="34" charset="-120"/>
              </a:rPr>
              <a:t>'deviation-triage' framework</a:t>
            </a:r>
            <a:endParaRPr lang="en-US" sz="315" dirty="0"/>
          </a:p>
        </p:txBody>
      </p:sp>
      <p:sp>
        <p:nvSpPr>
          <p:cNvPr id="308" name="Shape 257"/>
          <p:cNvSpPr/>
          <p:nvPr/>
        </p:nvSpPr>
        <p:spPr>
          <a:xfrm>
            <a:off x="7263575" y="5668137"/>
            <a:ext cx="1275588" cy="205740"/>
          </a:xfrm>
          <a:prstGeom prst="roundRect">
            <a:avLst>
              <a:gd name="adj" fmla="val 15000"/>
            </a:avLst>
          </a:prstGeom>
          <a:solidFill>
            <a:srgbClr val="0B0B16"/>
          </a:solidFill>
          <a:ln w="12700">
            <a:solidFill>
              <a:srgbClr val="232338"/>
            </a:solidFill>
            <a:prstDash val="dash"/>
          </a:ln>
        </p:spPr>
      </p:sp>
      <p:sp>
        <p:nvSpPr>
          <p:cNvPr id="309" name="Shape 258"/>
          <p:cNvSpPr/>
          <p:nvPr/>
        </p:nvSpPr>
        <p:spPr>
          <a:xfrm>
            <a:off x="7309866" y="5740146"/>
            <a:ext cx="61722" cy="61722"/>
          </a:xfrm>
          <a:prstGeom prst="ellipse">
            <a:avLst/>
          </a:prstGeom>
          <a:solidFill>
            <a:srgbClr val="22D3EE"/>
          </a:solidFill>
          <a:ln/>
        </p:spPr>
      </p:sp>
      <p:sp>
        <p:nvSpPr>
          <p:cNvPr id="310" name="Text 259"/>
          <p:cNvSpPr/>
          <p:nvPr/>
        </p:nvSpPr>
        <p:spPr>
          <a:xfrm>
            <a:off x="7402449" y="5683568"/>
            <a:ext cx="1100709" cy="72009"/>
          </a:xfrm>
          <a:prstGeom prst="rect">
            <a:avLst/>
          </a:prstGeom>
          <a:noFill/>
          <a:ln/>
        </p:spPr>
        <p:txBody>
          <a:bodyPr wrap="square" lIns="0" tIns="0" rIns="0" bIns="0" rtlCol="0" anchor="ctr"/>
          <a:lstStyle/>
          <a:p>
            <a:r>
              <a:rPr lang="en-US" sz="338" b="1" dirty="0">
                <a:solidFill>
                  <a:srgbClr val="22D3EE"/>
                </a:solidFill>
                <a:latin typeface="Courier New" pitchFamily="34" charset="0"/>
                <a:ea typeface="Courier New" pitchFamily="34" charset="-122"/>
                <a:cs typeface="Courier New" pitchFamily="34" charset="-120"/>
              </a:rPr>
              <a:t>3. MCP fires  →</a:t>
            </a:r>
            <a:endParaRPr lang="en-US" sz="338" dirty="0"/>
          </a:p>
        </p:txBody>
      </p:sp>
      <p:sp>
        <p:nvSpPr>
          <p:cNvPr id="311" name="Text 260"/>
          <p:cNvSpPr/>
          <p:nvPr/>
        </p:nvSpPr>
        <p:spPr>
          <a:xfrm>
            <a:off x="7402449" y="5755577"/>
            <a:ext cx="1100709" cy="102870"/>
          </a:xfrm>
          <a:prstGeom prst="rect">
            <a:avLst/>
          </a:prstGeom>
          <a:noFill/>
          <a:ln/>
        </p:spPr>
        <p:txBody>
          <a:bodyPr wrap="square" lIns="0" tIns="0" rIns="0" bIns="0" rtlCol="0" anchor="ctr"/>
          <a:lstStyle/>
          <a:p>
            <a:r>
              <a:rPr lang="en-US" sz="315" i="1" dirty="0">
                <a:solidFill>
                  <a:srgbClr val="E8EAF6"/>
                </a:solidFill>
                <a:latin typeface="Arial" pitchFamily="34" charset="0"/>
                <a:ea typeface="Arial" pitchFamily="34" charset="-122"/>
                <a:cs typeface="Arial" pitchFamily="34" charset="-120"/>
              </a:rPr>
              <a:t>queries AVEVA PI for seam telemetry</a:t>
            </a:r>
            <a:endParaRPr lang="en-US" sz="315" dirty="0"/>
          </a:p>
        </p:txBody>
      </p:sp>
      <p:sp>
        <p:nvSpPr>
          <p:cNvPr id="312" name="Shape 261"/>
          <p:cNvSpPr/>
          <p:nvPr/>
        </p:nvSpPr>
        <p:spPr>
          <a:xfrm>
            <a:off x="7263575" y="5894451"/>
            <a:ext cx="1275588" cy="205740"/>
          </a:xfrm>
          <a:prstGeom prst="roundRect">
            <a:avLst>
              <a:gd name="adj" fmla="val 15000"/>
            </a:avLst>
          </a:prstGeom>
          <a:solidFill>
            <a:srgbClr val="0B0B16"/>
          </a:solidFill>
          <a:ln w="12700">
            <a:solidFill>
              <a:srgbClr val="232338"/>
            </a:solidFill>
            <a:prstDash val="dash"/>
          </a:ln>
        </p:spPr>
      </p:sp>
      <p:sp>
        <p:nvSpPr>
          <p:cNvPr id="313" name="Shape 262"/>
          <p:cNvSpPr/>
          <p:nvPr/>
        </p:nvSpPr>
        <p:spPr>
          <a:xfrm>
            <a:off x="7309866" y="5966460"/>
            <a:ext cx="61722" cy="61722"/>
          </a:xfrm>
          <a:prstGeom prst="ellipse">
            <a:avLst/>
          </a:prstGeom>
          <a:solidFill>
            <a:srgbClr val="4ADE80"/>
          </a:solidFill>
          <a:ln/>
        </p:spPr>
      </p:sp>
      <p:sp>
        <p:nvSpPr>
          <p:cNvPr id="314" name="Text 263"/>
          <p:cNvSpPr/>
          <p:nvPr/>
        </p:nvSpPr>
        <p:spPr>
          <a:xfrm>
            <a:off x="7402449" y="5909882"/>
            <a:ext cx="1100709" cy="72009"/>
          </a:xfrm>
          <a:prstGeom prst="rect">
            <a:avLst/>
          </a:prstGeom>
          <a:noFill/>
          <a:ln/>
        </p:spPr>
        <p:txBody>
          <a:bodyPr wrap="square" lIns="0" tIns="0" rIns="0" bIns="0" rtlCol="0" anchor="ctr"/>
          <a:lstStyle/>
          <a:p>
            <a:r>
              <a:rPr lang="en-US" sz="338" b="1" dirty="0">
                <a:solidFill>
                  <a:srgbClr val="4ADE80"/>
                </a:solidFill>
                <a:latin typeface="Courier New" pitchFamily="34" charset="0"/>
                <a:ea typeface="Courier New" pitchFamily="34" charset="-122"/>
                <a:cs typeface="Courier New" pitchFamily="34" charset="-120"/>
              </a:rPr>
              <a:t>4. Subagent spawns →</a:t>
            </a:r>
            <a:endParaRPr lang="en-US" sz="338" dirty="0"/>
          </a:p>
        </p:txBody>
      </p:sp>
      <p:sp>
        <p:nvSpPr>
          <p:cNvPr id="315" name="Text 264"/>
          <p:cNvSpPr/>
          <p:nvPr/>
        </p:nvSpPr>
        <p:spPr>
          <a:xfrm>
            <a:off x="7402449" y="5981891"/>
            <a:ext cx="1100709" cy="102870"/>
          </a:xfrm>
          <a:prstGeom prst="rect">
            <a:avLst/>
          </a:prstGeom>
          <a:noFill/>
          <a:ln/>
        </p:spPr>
        <p:txBody>
          <a:bodyPr wrap="square" lIns="0" tIns="0" rIns="0" bIns="0" rtlCol="0" anchor="ctr"/>
          <a:lstStyle/>
          <a:p>
            <a:r>
              <a:rPr lang="en-US" sz="315" i="1" dirty="0">
                <a:solidFill>
                  <a:srgbClr val="E8EAF6"/>
                </a:solidFill>
                <a:latin typeface="Arial" pitchFamily="34" charset="0"/>
                <a:ea typeface="Arial" pitchFamily="34" charset="-122"/>
                <a:cs typeface="Arial" pitchFamily="34" charset="-120"/>
              </a:rPr>
              <a:t>quality-analyst pulls SPC charts</a:t>
            </a:r>
            <a:endParaRPr lang="en-US" sz="315" dirty="0"/>
          </a:p>
        </p:txBody>
      </p:sp>
      <p:sp>
        <p:nvSpPr>
          <p:cNvPr id="316" name="Shape 265"/>
          <p:cNvSpPr/>
          <p:nvPr/>
        </p:nvSpPr>
        <p:spPr>
          <a:xfrm>
            <a:off x="7263575" y="6120765"/>
            <a:ext cx="1275588" cy="205740"/>
          </a:xfrm>
          <a:prstGeom prst="roundRect">
            <a:avLst>
              <a:gd name="adj" fmla="val 15000"/>
            </a:avLst>
          </a:prstGeom>
          <a:solidFill>
            <a:srgbClr val="0B0B16"/>
          </a:solidFill>
          <a:ln w="12700">
            <a:solidFill>
              <a:srgbClr val="232338"/>
            </a:solidFill>
            <a:prstDash val="dash"/>
          </a:ln>
        </p:spPr>
      </p:sp>
      <p:sp>
        <p:nvSpPr>
          <p:cNvPr id="317" name="Shape 266"/>
          <p:cNvSpPr/>
          <p:nvPr/>
        </p:nvSpPr>
        <p:spPr>
          <a:xfrm>
            <a:off x="7309866" y="6192774"/>
            <a:ext cx="61722" cy="61722"/>
          </a:xfrm>
          <a:prstGeom prst="ellipse">
            <a:avLst/>
          </a:prstGeom>
          <a:solidFill>
            <a:srgbClr val="4ADE80"/>
          </a:solidFill>
          <a:ln/>
        </p:spPr>
      </p:sp>
      <p:sp>
        <p:nvSpPr>
          <p:cNvPr id="318" name="Text 267"/>
          <p:cNvSpPr/>
          <p:nvPr/>
        </p:nvSpPr>
        <p:spPr>
          <a:xfrm>
            <a:off x="7402449" y="6136196"/>
            <a:ext cx="1100709" cy="72009"/>
          </a:xfrm>
          <a:prstGeom prst="rect">
            <a:avLst/>
          </a:prstGeom>
          <a:noFill/>
          <a:ln/>
        </p:spPr>
        <p:txBody>
          <a:bodyPr wrap="square" lIns="0" tIns="0" rIns="0" bIns="0" rtlCol="0" anchor="ctr"/>
          <a:lstStyle/>
          <a:p>
            <a:r>
              <a:rPr lang="en-US" sz="338" b="1" dirty="0">
                <a:solidFill>
                  <a:srgbClr val="4ADE80"/>
                </a:solidFill>
                <a:latin typeface="Courier New" pitchFamily="34" charset="0"/>
                <a:ea typeface="Courier New" pitchFamily="34" charset="-122"/>
                <a:cs typeface="Courier New" pitchFamily="34" charset="-120"/>
              </a:rPr>
              <a:t>5. Subagent spawns →</a:t>
            </a:r>
            <a:endParaRPr lang="en-US" sz="338" dirty="0"/>
          </a:p>
        </p:txBody>
      </p:sp>
      <p:sp>
        <p:nvSpPr>
          <p:cNvPr id="319" name="Text 268"/>
          <p:cNvSpPr/>
          <p:nvPr/>
        </p:nvSpPr>
        <p:spPr>
          <a:xfrm>
            <a:off x="7402449" y="6208205"/>
            <a:ext cx="1100709" cy="102870"/>
          </a:xfrm>
          <a:prstGeom prst="rect">
            <a:avLst/>
          </a:prstGeom>
          <a:noFill/>
          <a:ln/>
        </p:spPr>
        <p:txBody>
          <a:bodyPr wrap="square" lIns="0" tIns="0" rIns="0" bIns="0" rtlCol="0" anchor="ctr"/>
          <a:lstStyle/>
          <a:p>
            <a:r>
              <a:rPr lang="en-US" sz="315" i="1" dirty="0">
                <a:solidFill>
                  <a:srgbClr val="E8EAF6"/>
                </a:solidFill>
                <a:latin typeface="Arial" pitchFamily="34" charset="0"/>
                <a:ea typeface="Arial" pitchFamily="34" charset="-122"/>
                <a:cs typeface="Arial" pitchFamily="34" charset="-120"/>
              </a:rPr>
              <a:t>supply-planner checks coil lots</a:t>
            </a:r>
            <a:endParaRPr lang="en-US" sz="315" dirty="0"/>
          </a:p>
        </p:txBody>
      </p:sp>
      <p:sp>
        <p:nvSpPr>
          <p:cNvPr id="320" name="Shape 269"/>
          <p:cNvSpPr/>
          <p:nvPr/>
        </p:nvSpPr>
        <p:spPr>
          <a:xfrm>
            <a:off x="7263575" y="6347079"/>
            <a:ext cx="1275588" cy="205740"/>
          </a:xfrm>
          <a:prstGeom prst="roundRect">
            <a:avLst>
              <a:gd name="adj" fmla="val 15000"/>
            </a:avLst>
          </a:prstGeom>
          <a:solidFill>
            <a:srgbClr val="0B0B16"/>
          </a:solidFill>
          <a:ln w="12700">
            <a:solidFill>
              <a:srgbClr val="232338"/>
            </a:solidFill>
            <a:prstDash val="dash"/>
          </a:ln>
        </p:spPr>
      </p:sp>
      <p:sp>
        <p:nvSpPr>
          <p:cNvPr id="321" name="Shape 270"/>
          <p:cNvSpPr/>
          <p:nvPr/>
        </p:nvSpPr>
        <p:spPr>
          <a:xfrm>
            <a:off x="7309866" y="6419088"/>
            <a:ext cx="61722" cy="61722"/>
          </a:xfrm>
          <a:prstGeom prst="ellipse">
            <a:avLst/>
          </a:prstGeom>
          <a:solidFill>
            <a:srgbClr val="F472B6"/>
          </a:solidFill>
          <a:ln/>
        </p:spPr>
      </p:sp>
      <p:sp>
        <p:nvSpPr>
          <p:cNvPr id="322" name="Text 271"/>
          <p:cNvSpPr/>
          <p:nvPr/>
        </p:nvSpPr>
        <p:spPr>
          <a:xfrm>
            <a:off x="7402449" y="6362510"/>
            <a:ext cx="1100709" cy="72009"/>
          </a:xfrm>
          <a:prstGeom prst="rect">
            <a:avLst/>
          </a:prstGeom>
          <a:noFill/>
          <a:ln/>
        </p:spPr>
        <p:txBody>
          <a:bodyPr wrap="square" lIns="0" tIns="0" rIns="0" bIns="0" rtlCol="0" anchor="ctr"/>
          <a:lstStyle/>
          <a:p>
            <a:r>
              <a:rPr lang="en-US" sz="338" b="1" dirty="0">
                <a:solidFill>
                  <a:srgbClr val="F472B6"/>
                </a:solidFill>
                <a:latin typeface="Courier New" pitchFamily="34" charset="0"/>
                <a:ea typeface="Courier New" pitchFamily="34" charset="-122"/>
                <a:cs typeface="Courier New" pitchFamily="34" charset="-120"/>
              </a:rPr>
              <a:t>6. Hook triggers  →</a:t>
            </a:r>
            <a:endParaRPr lang="en-US" sz="338" dirty="0"/>
          </a:p>
        </p:txBody>
      </p:sp>
      <p:sp>
        <p:nvSpPr>
          <p:cNvPr id="323" name="Text 272"/>
          <p:cNvSpPr/>
          <p:nvPr/>
        </p:nvSpPr>
        <p:spPr>
          <a:xfrm>
            <a:off x="7402449" y="6434519"/>
            <a:ext cx="1100709" cy="102870"/>
          </a:xfrm>
          <a:prstGeom prst="rect">
            <a:avLst/>
          </a:prstGeom>
          <a:noFill/>
          <a:ln/>
        </p:spPr>
        <p:txBody>
          <a:bodyPr wrap="square" lIns="0" tIns="0" rIns="0" bIns="0" rtlCol="0" anchor="ctr"/>
          <a:lstStyle/>
          <a:p>
            <a:r>
              <a:rPr lang="en-US" sz="315" i="1" dirty="0">
                <a:solidFill>
                  <a:srgbClr val="E8EAF6"/>
                </a:solidFill>
                <a:latin typeface="Arial" pitchFamily="34" charset="0"/>
                <a:ea typeface="Arial" pitchFamily="34" charset="-122"/>
                <a:cs typeface="Arial" pitchFamily="34" charset="-120"/>
              </a:rPr>
              <a:t>formats report, files the NCR</a:t>
            </a:r>
            <a:endParaRPr lang="en-US" sz="315" dirty="0"/>
          </a:p>
        </p:txBody>
      </p:sp>
      <p:sp>
        <p:nvSpPr>
          <p:cNvPr id="324" name="Shape 273"/>
          <p:cNvSpPr/>
          <p:nvPr/>
        </p:nvSpPr>
        <p:spPr>
          <a:xfrm>
            <a:off x="4964430" y="1697355"/>
            <a:ext cx="51435" cy="0"/>
          </a:xfrm>
          <a:prstGeom prst="line">
            <a:avLst/>
          </a:prstGeom>
          <a:noFill/>
          <a:ln w="12700">
            <a:solidFill>
              <a:srgbClr val="22D3EE"/>
            </a:solidFill>
            <a:prstDash val="solid"/>
            <a:tailEnd type="triangle"/>
          </a:ln>
        </p:spPr>
      </p:sp>
      <p:sp>
        <p:nvSpPr>
          <p:cNvPr id="325" name="Shape 274"/>
          <p:cNvSpPr/>
          <p:nvPr/>
        </p:nvSpPr>
        <p:spPr>
          <a:xfrm>
            <a:off x="4964430" y="4063365"/>
            <a:ext cx="51435" cy="0"/>
          </a:xfrm>
          <a:prstGeom prst="line">
            <a:avLst/>
          </a:prstGeom>
          <a:noFill/>
          <a:ln w="12700">
            <a:solidFill>
              <a:srgbClr val="22D3EE"/>
            </a:solidFill>
            <a:prstDash val="solid"/>
            <a:tailEnd type="triangle"/>
          </a:ln>
        </p:spPr>
      </p:sp>
      <p:sp>
        <p:nvSpPr>
          <p:cNvPr id="326" name="Shape 275"/>
          <p:cNvSpPr/>
          <p:nvPr/>
        </p:nvSpPr>
        <p:spPr>
          <a:xfrm>
            <a:off x="7155561" y="1697355"/>
            <a:ext cx="51435" cy="0"/>
          </a:xfrm>
          <a:prstGeom prst="line">
            <a:avLst/>
          </a:prstGeom>
          <a:noFill/>
          <a:ln w="12700">
            <a:solidFill>
              <a:srgbClr val="22D3EE"/>
            </a:solidFill>
            <a:prstDash val="solid"/>
            <a:tailEnd type="triangle"/>
          </a:ln>
        </p:spPr>
      </p:sp>
      <p:sp>
        <p:nvSpPr>
          <p:cNvPr id="327" name="Shape 276"/>
          <p:cNvSpPr/>
          <p:nvPr/>
        </p:nvSpPr>
        <p:spPr>
          <a:xfrm>
            <a:off x="7155561" y="4114800"/>
            <a:ext cx="51435" cy="0"/>
          </a:xfrm>
          <a:prstGeom prst="line">
            <a:avLst/>
          </a:prstGeom>
          <a:noFill/>
          <a:ln w="12700">
            <a:solidFill>
              <a:srgbClr val="22D3EE"/>
            </a:solidFill>
            <a:prstDash val="solid"/>
            <a:tailEnd type="triangle"/>
          </a:ln>
        </p:spPr>
      </p:sp>
      <p:sp>
        <p:nvSpPr>
          <p:cNvPr id="328" name="Shape 277"/>
          <p:cNvSpPr/>
          <p:nvPr/>
        </p:nvSpPr>
        <p:spPr>
          <a:xfrm>
            <a:off x="7155561" y="5760720"/>
            <a:ext cx="51435" cy="0"/>
          </a:xfrm>
          <a:prstGeom prst="line">
            <a:avLst/>
          </a:prstGeom>
          <a:noFill/>
          <a:ln w="12700">
            <a:solidFill>
              <a:srgbClr val="22D3EE"/>
            </a:solidFill>
            <a:prstDash val="solid"/>
            <a:tailEnd type="triangle"/>
          </a:ln>
        </p:spPr>
      </p:sp>
      <p:sp>
        <p:nvSpPr>
          <p:cNvPr id="329" name="Shape 278"/>
          <p:cNvSpPr/>
          <p:nvPr/>
        </p:nvSpPr>
        <p:spPr>
          <a:xfrm>
            <a:off x="4964430" y="5760720"/>
            <a:ext cx="51435" cy="0"/>
          </a:xfrm>
          <a:prstGeom prst="line">
            <a:avLst/>
          </a:prstGeom>
          <a:noFill/>
          <a:ln w="12700">
            <a:solidFill>
              <a:srgbClr val="22D3EE"/>
            </a:solidFill>
            <a:prstDash val="solid"/>
            <a:tailEnd type="triangle"/>
          </a:ln>
        </p:spPr>
      </p:sp>
      <p:sp>
        <p:nvSpPr>
          <p:cNvPr id="330" name="Shape 279"/>
          <p:cNvSpPr/>
          <p:nvPr/>
        </p:nvSpPr>
        <p:spPr>
          <a:xfrm>
            <a:off x="6085713" y="4752594"/>
            <a:ext cx="0" cy="72009"/>
          </a:xfrm>
          <a:prstGeom prst="line">
            <a:avLst/>
          </a:prstGeom>
          <a:noFill/>
          <a:ln w="12700">
            <a:solidFill>
              <a:srgbClr val="F472B6"/>
            </a:solidFill>
            <a:prstDash val="solid"/>
          </a:ln>
        </p:spPr>
      </p:sp>
      <p:sp>
        <p:nvSpPr>
          <p:cNvPr id="331" name="Text 280"/>
          <p:cNvSpPr/>
          <p:nvPr/>
        </p:nvSpPr>
        <p:spPr>
          <a:xfrm>
            <a:off x="3524250" y="6655689"/>
            <a:ext cx="5143500" cy="92583"/>
          </a:xfrm>
          <a:prstGeom prst="rect">
            <a:avLst/>
          </a:prstGeom>
          <a:noFill/>
          <a:ln/>
        </p:spPr>
        <p:txBody>
          <a:bodyPr wrap="square" lIns="0" tIns="0" rIns="0" bIns="0" rtlCol="0" anchor="ctr"/>
          <a:lstStyle/>
          <a:p>
            <a:pPr algn="ctr"/>
            <a:r>
              <a:rPr lang="en-US" sz="349" dirty="0">
                <a:solidFill>
                  <a:srgbClr val="8B93A7"/>
                </a:solidFill>
                <a:latin typeface="Courier New" pitchFamily="34" charset="0"/>
                <a:ea typeface="Courier New" pitchFamily="34" charset="-122"/>
                <a:cs typeface="Courier New" pitchFamily="34" charset="-120"/>
              </a:rPr>
              <a:t>Ball Corporation  ·  Manufacturing &amp; Supply Chain AI Platform  ·  adapted from a concept by Brij Kishore Pandey (@brijpandeyji)</a:t>
            </a:r>
            <a:endParaRPr lang="en-US" sz="349"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bg>
      <p:bgPr>
        <a:solidFill>
          <a:srgbClr val="0A2240"/>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00A9E0"/>
                </a:solidFill>
                <a:latin typeface="Calibri" pitchFamily="34" charset="0"/>
                <a:ea typeface="Calibri" pitchFamily="34" charset="-122"/>
                <a:cs typeface="Calibri" pitchFamily="34" charset="-120"/>
              </a:rPr>
              <a:t>DATABRICKS</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Databricks as the AI foundation for Ball</a:t>
            </a:r>
            <a:endParaRPr lang="en-US" sz="3400" dirty="0"/>
          </a:p>
        </p:txBody>
      </p:sp>
      <p:sp>
        <p:nvSpPr>
          <p:cNvPr id="4" name="Text 2"/>
          <p:cNvSpPr/>
          <p:nvPr/>
        </p:nvSpPr>
        <p:spPr>
          <a:xfrm>
            <a:off x="548640" y="1280160"/>
            <a:ext cx="11094415" cy="292608"/>
          </a:xfrm>
          <a:prstGeom prst="rect">
            <a:avLst/>
          </a:prstGeom>
          <a:noFill/>
          <a:ln/>
        </p:spPr>
        <p:txBody>
          <a:bodyPr wrap="square" lIns="0" tIns="0" rIns="0" bIns="0" rtlCol="0" anchor="ctr"/>
          <a:lstStyle/>
          <a:p>
            <a:pPr marL="0" indent="0">
              <a:buNone/>
            </a:pPr>
            <a:r>
              <a:rPr lang="en-US" sz="1250" i="1" dirty="0">
                <a:solidFill>
                  <a:srgbClr val="AEB9C4"/>
                </a:solidFill>
                <a:latin typeface="Calibri" pitchFamily="34" charset="0"/>
                <a:ea typeface="Calibri" pitchFamily="34" charset="-122"/>
                <a:cs typeface="Calibri" pitchFamily="34" charset="-120"/>
              </a:rPr>
              <a:t>Extend the governance spine Ball already has rather than standing up a second control plane.</a:t>
            </a:r>
            <a:endParaRPr lang="en-US" sz="1250" dirty="0"/>
          </a:p>
        </p:txBody>
      </p:sp>
      <p:sp>
        <p:nvSpPr>
          <p:cNvPr id="5" name="Text 3"/>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6" name="Text 4"/>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28</a:t>
            </a:r>
            <a:endParaRPr lang="en-US" sz="900" dirty="0"/>
          </a:p>
        </p:txBody>
      </p:sp>
      <p:sp>
        <p:nvSpPr>
          <p:cNvPr id="7" name="Shape 5"/>
          <p:cNvSpPr/>
          <p:nvPr/>
        </p:nvSpPr>
        <p:spPr>
          <a:xfrm>
            <a:off x="548640" y="1737360"/>
            <a:ext cx="3503066" cy="2084832"/>
          </a:xfrm>
          <a:prstGeom prst="roundRect">
            <a:avLst>
              <a:gd name="adj" fmla="val 3509"/>
            </a:avLst>
          </a:prstGeom>
          <a:solidFill>
            <a:srgbClr val="13355F"/>
          </a:solidFill>
          <a:ln w="12700">
            <a:solidFill>
              <a:srgbClr val="1B6CA8"/>
            </a:solidFill>
            <a:prstDash val="solid"/>
          </a:ln>
          <a:effectLst>
            <a:outerShdw blurRad="101600" dist="25400" dir="5400000" algn="bl" rotWithShape="0">
              <a:srgbClr val="0A2240">
                <a:alpha val="12000"/>
              </a:srgbClr>
            </a:outerShdw>
          </a:effectLst>
        </p:spPr>
      </p:sp>
      <p:sp>
        <p:nvSpPr>
          <p:cNvPr id="8" name="Text 6"/>
          <p:cNvSpPr/>
          <p:nvPr/>
        </p:nvSpPr>
        <p:spPr>
          <a:xfrm>
            <a:off x="822960" y="1901952"/>
            <a:ext cx="2954426" cy="365760"/>
          </a:xfrm>
          <a:prstGeom prst="rect">
            <a:avLst/>
          </a:prstGeom>
          <a:noFill/>
          <a:ln/>
        </p:spPr>
        <p:txBody>
          <a:bodyPr wrap="square" lIns="0" tIns="0" rIns="0" bIns="0" rtlCol="0" anchor="ctr"/>
          <a:lstStyle/>
          <a:p>
            <a:pPr marL="0" indent="0">
              <a:buNone/>
            </a:pPr>
            <a:r>
              <a:rPr lang="en-US" sz="1500" b="1" dirty="0">
                <a:solidFill>
                  <a:srgbClr val="00A9E0"/>
                </a:solidFill>
                <a:latin typeface="Calibri" pitchFamily="34" charset="0"/>
                <a:ea typeface="Calibri" pitchFamily="34" charset="-122"/>
                <a:cs typeface="Calibri" pitchFamily="34" charset="-120"/>
              </a:rPr>
              <a:t>Unity Catalog</a:t>
            </a:r>
            <a:endParaRPr lang="en-US" sz="1500" dirty="0"/>
          </a:p>
        </p:txBody>
      </p:sp>
      <p:sp>
        <p:nvSpPr>
          <p:cNvPr id="9" name="Text 7"/>
          <p:cNvSpPr/>
          <p:nvPr/>
        </p:nvSpPr>
        <p:spPr>
          <a:xfrm>
            <a:off x="822960" y="2322576"/>
            <a:ext cx="2954426" cy="1371600"/>
          </a:xfrm>
          <a:prstGeom prst="rect">
            <a:avLst/>
          </a:prstGeom>
          <a:noFill/>
          <a:ln/>
        </p:spPr>
        <p:txBody>
          <a:bodyPr wrap="square" lIns="0" tIns="0" rIns="0" bIns="0" rtlCol="0" anchor="t"/>
          <a:lstStyle/>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Now governs models, agents, MCP services and skills alongside data</a:t>
            </a:r>
            <a:endParaRPr lang="en-US" sz="1040" dirty="0"/>
          </a:p>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One set of access controls, discovery, lineage and audit for every AI asset</a:t>
            </a:r>
            <a:endParaRPr lang="en-US" sz="1040" dirty="0"/>
          </a:p>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Registration becomes the front door to the mesh</a:t>
            </a:r>
            <a:endParaRPr lang="en-US" sz="1040" dirty="0"/>
          </a:p>
        </p:txBody>
      </p:sp>
      <p:sp>
        <p:nvSpPr>
          <p:cNvPr id="10" name="Shape 8"/>
          <p:cNvSpPr/>
          <p:nvPr/>
        </p:nvSpPr>
        <p:spPr>
          <a:xfrm>
            <a:off x="4344314" y="1737360"/>
            <a:ext cx="3503066" cy="2084832"/>
          </a:xfrm>
          <a:prstGeom prst="roundRect">
            <a:avLst>
              <a:gd name="adj" fmla="val 3509"/>
            </a:avLst>
          </a:prstGeom>
          <a:solidFill>
            <a:srgbClr val="13355F"/>
          </a:solidFill>
          <a:ln w="12700">
            <a:solidFill>
              <a:srgbClr val="1B6CA8"/>
            </a:solidFill>
            <a:prstDash val="solid"/>
          </a:ln>
          <a:effectLst>
            <a:outerShdw blurRad="101600" dist="25400" dir="5400000" algn="bl" rotWithShape="0">
              <a:srgbClr val="0A2240">
                <a:alpha val="12000"/>
              </a:srgbClr>
            </a:outerShdw>
          </a:effectLst>
        </p:spPr>
      </p:sp>
      <p:sp>
        <p:nvSpPr>
          <p:cNvPr id="11" name="Text 9"/>
          <p:cNvSpPr/>
          <p:nvPr/>
        </p:nvSpPr>
        <p:spPr>
          <a:xfrm>
            <a:off x="4618634" y="1901952"/>
            <a:ext cx="2954426" cy="365760"/>
          </a:xfrm>
          <a:prstGeom prst="rect">
            <a:avLst/>
          </a:prstGeom>
          <a:noFill/>
          <a:ln/>
        </p:spPr>
        <p:txBody>
          <a:bodyPr wrap="square" lIns="0" tIns="0" rIns="0" bIns="0" rtlCol="0" anchor="ctr"/>
          <a:lstStyle/>
          <a:p>
            <a:pPr marL="0" indent="0">
              <a:buNone/>
            </a:pPr>
            <a:r>
              <a:rPr lang="en-US" sz="1500" b="1" dirty="0">
                <a:solidFill>
                  <a:srgbClr val="00A9E0"/>
                </a:solidFill>
                <a:latin typeface="Calibri" pitchFamily="34" charset="0"/>
                <a:ea typeface="Calibri" pitchFamily="34" charset="-122"/>
                <a:cs typeface="Calibri" pitchFamily="34" charset="-120"/>
              </a:rPr>
              <a:t>Unity AI Gateway</a:t>
            </a:r>
            <a:endParaRPr lang="en-US" sz="1500" dirty="0"/>
          </a:p>
        </p:txBody>
      </p:sp>
      <p:sp>
        <p:nvSpPr>
          <p:cNvPr id="12" name="Text 10"/>
          <p:cNvSpPr/>
          <p:nvPr/>
        </p:nvSpPr>
        <p:spPr>
          <a:xfrm>
            <a:off x="4618634" y="2322576"/>
            <a:ext cx="2954426" cy="1371600"/>
          </a:xfrm>
          <a:prstGeom prst="rect">
            <a:avLst/>
          </a:prstGeom>
          <a:noFill/>
          <a:ln/>
        </p:spPr>
        <p:txBody>
          <a:bodyPr wrap="square" lIns="0" tIns="0" rIns="0" bIns="0" rtlCol="0" anchor="t"/>
          <a:lstStyle/>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Runtime governance for agents: spend caps, smart routing, service policies</a:t>
            </a:r>
            <a:endParaRPr lang="en-US" sz="1040" dirty="0"/>
          </a:p>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PII guardrails applied at the boundary rather than per application</a:t>
            </a:r>
            <a:endParaRPr lang="en-US" sz="1040" dirty="0"/>
          </a:p>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Every request captured by default — no instrumentation sprawl</a:t>
            </a:r>
            <a:endParaRPr lang="en-US" sz="1040" dirty="0"/>
          </a:p>
        </p:txBody>
      </p:sp>
      <p:sp>
        <p:nvSpPr>
          <p:cNvPr id="13" name="Shape 11"/>
          <p:cNvSpPr/>
          <p:nvPr/>
        </p:nvSpPr>
        <p:spPr>
          <a:xfrm>
            <a:off x="8139989" y="1737360"/>
            <a:ext cx="3503066" cy="2084832"/>
          </a:xfrm>
          <a:prstGeom prst="roundRect">
            <a:avLst>
              <a:gd name="adj" fmla="val 3509"/>
            </a:avLst>
          </a:prstGeom>
          <a:solidFill>
            <a:srgbClr val="13355F"/>
          </a:solidFill>
          <a:ln w="12700">
            <a:solidFill>
              <a:srgbClr val="1B6CA8"/>
            </a:solidFill>
            <a:prstDash val="solid"/>
          </a:ln>
          <a:effectLst>
            <a:outerShdw blurRad="101600" dist="25400" dir="5400000" algn="bl" rotWithShape="0">
              <a:srgbClr val="0A2240">
                <a:alpha val="12000"/>
              </a:srgbClr>
            </a:outerShdw>
          </a:effectLst>
        </p:spPr>
      </p:sp>
      <p:sp>
        <p:nvSpPr>
          <p:cNvPr id="14" name="Text 12"/>
          <p:cNvSpPr/>
          <p:nvPr/>
        </p:nvSpPr>
        <p:spPr>
          <a:xfrm>
            <a:off x="8414309" y="1901952"/>
            <a:ext cx="2954426" cy="365760"/>
          </a:xfrm>
          <a:prstGeom prst="rect">
            <a:avLst/>
          </a:prstGeom>
          <a:noFill/>
          <a:ln/>
        </p:spPr>
        <p:txBody>
          <a:bodyPr wrap="square" lIns="0" tIns="0" rIns="0" bIns="0" rtlCol="0" anchor="ctr"/>
          <a:lstStyle/>
          <a:p>
            <a:pPr marL="0" indent="0">
              <a:buNone/>
            </a:pPr>
            <a:r>
              <a:rPr lang="en-US" sz="1500" b="1" dirty="0">
                <a:solidFill>
                  <a:srgbClr val="00A9E0"/>
                </a:solidFill>
                <a:latin typeface="Calibri" pitchFamily="34" charset="0"/>
                <a:ea typeface="Calibri" pitchFamily="34" charset="-122"/>
                <a:cs typeface="Calibri" pitchFamily="34" charset="-120"/>
              </a:rPr>
              <a:t>Managed MCP servers</a:t>
            </a:r>
            <a:endParaRPr lang="en-US" sz="1500" dirty="0"/>
          </a:p>
        </p:txBody>
      </p:sp>
      <p:sp>
        <p:nvSpPr>
          <p:cNvPr id="15" name="Text 13"/>
          <p:cNvSpPr/>
          <p:nvPr/>
        </p:nvSpPr>
        <p:spPr>
          <a:xfrm>
            <a:off x="8414309" y="2322576"/>
            <a:ext cx="2954426" cy="1371600"/>
          </a:xfrm>
          <a:prstGeom prst="rect">
            <a:avLst/>
          </a:prstGeom>
          <a:noFill/>
          <a:ln/>
        </p:spPr>
        <p:txBody>
          <a:bodyPr wrap="square" lIns="0" tIns="0" rIns="0" bIns="0" rtlCol="0" anchor="t"/>
          <a:lstStyle/>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Ready-to-use servers over Unity Catalog data, search indexes, Genie agents and custom functions</a:t>
            </a:r>
            <a:endParaRPr lang="en-US" sz="1040" dirty="0"/>
          </a:p>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Removes bespoke glue between agents and the lakehouse</a:t>
            </a:r>
            <a:endParaRPr lang="en-US" sz="1040" dirty="0"/>
          </a:p>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Governed and versioned like any other catalogue asset</a:t>
            </a:r>
            <a:endParaRPr lang="en-US" sz="1040" dirty="0"/>
          </a:p>
        </p:txBody>
      </p:sp>
      <p:sp>
        <p:nvSpPr>
          <p:cNvPr id="16" name="Shape 14"/>
          <p:cNvSpPr/>
          <p:nvPr/>
        </p:nvSpPr>
        <p:spPr>
          <a:xfrm>
            <a:off x="548640" y="3950208"/>
            <a:ext cx="3503066" cy="2084832"/>
          </a:xfrm>
          <a:prstGeom prst="roundRect">
            <a:avLst>
              <a:gd name="adj" fmla="val 3509"/>
            </a:avLst>
          </a:prstGeom>
          <a:solidFill>
            <a:srgbClr val="13355F"/>
          </a:solidFill>
          <a:ln w="12700">
            <a:solidFill>
              <a:srgbClr val="1B6CA8"/>
            </a:solidFill>
            <a:prstDash val="solid"/>
          </a:ln>
          <a:effectLst>
            <a:outerShdw blurRad="101600" dist="25400" dir="5400000" algn="bl" rotWithShape="0">
              <a:srgbClr val="0A2240">
                <a:alpha val="12000"/>
              </a:srgbClr>
            </a:outerShdw>
          </a:effectLst>
        </p:spPr>
      </p:sp>
      <p:sp>
        <p:nvSpPr>
          <p:cNvPr id="17" name="Text 15"/>
          <p:cNvSpPr/>
          <p:nvPr/>
        </p:nvSpPr>
        <p:spPr>
          <a:xfrm>
            <a:off x="822960" y="4114800"/>
            <a:ext cx="2954426" cy="365760"/>
          </a:xfrm>
          <a:prstGeom prst="rect">
            <a:avLst/>
          </a:prstGeom>
          <a:noFill/>
          <a:ln/>
        </p:spPr>
        <p:txBody>
          <a:bodyPr wrap="square" lIns="0" tIns="0" rIns="0" bIns="0" rtlCol="0" anchor="ctr"/>
          <a:lstStyle/>
          <a:p>
            <a:pPr marL="0" indent="0">
              <a:buNone/>
            </a:pPr>
            <a:r>
              <a:rPr lang="en-US" sz="1500" b="1" dirty="0">
                <a:solidFill>
                  <a:srgbClr val="00A9E0"/>
                </a:solidFill>
                <a:latin typeface="Calibri" pitchFamily="34" charset="0"/>
                <a:ea typeface="Calibri" pitchFamily="34" charset="-122"/>
                <a:cs typeface="Calibri" pitchFamily="34" charset="-120"/>
              </a:rPr>
              <a:t>Genie</a:t>
            </a:r>
            <a:endParaRPr lang="en-US" sz="1500" dirty="0"/>
          </a:p>
        </p:txBody>
      </p:sp>
      <p:sp>
        <p:nvSpPr>
          <p:cNvPr id="18" name="Text 16"/>
          <p:cNvSpPr/>
          <p:nvPr/>
        </p:nvSpPr>
        <p:spPr>
          <a:xfrm>
            <a:off x="822960" y="4535424"/>
            <a:ext cx="2954426" cy="1371600"/>
          </a:xfrm>
          <a:prstGeom prst="rect">
            <a:avLst/>
          </a:prstGeom>
          <a:noFill/>
          <a:ln/>
        </p:spPr>
        <p:txBody>
          <a:bodyPr wrap="square" lIns="0" tIns="0" rIns="0" bIns="0" rtlCol="0" anchor="t"/>
          <a:lstStyle/>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Conversational surface over governed data for business users</a:t>
            </a:r>
            <a:endParaRPr lang="en-US" sz="1040" dirty="0"/>
          </a:p>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Reasons over unstructured content and calls external tools via MCP</a:t>
            </a:r>
            <a:endParaRPr lang="en-US" sz="1040" dirty="0"/>
          </a:p>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Available where people already work — browser, mobile, Teams, Slack</a:t>
            </a:r>
            <a:endParaRPr lang="en-US" sz="1040" dirty="0"/>
          </a:p>
        </p:txBody>
      </p:sp>
      <p:sp>
        <p:nvSpPr>
          <p:cNvPr id="19" name="Shape 17"/>
          <p:cNvSpPr/>
          <p:nvPr/>
        </p:nvSpPr>
        <p:spPr>
          <a:xfrm>
            <a:off x="4344314" y="3950208"/>
            <a:ext cx="3503066" cy="2084832"/>
          </a:xfrm>
          <a:prstGeom prst="roundRect">
            <a:avLst>
              <a:gd name="adj" fmla="val 3509"/>
            </a:avLst>
          </a:prstGeom>
          <a:solidFill>
            <a:srgbClr val="13355F"/>
          </a:solidFill>
          <a:ln w="12700">
            <a:solidFill>
              <a:srgbClr val="1B6CA8"/>
            </a:solidFill>
            <a:prstDash val="solid"/>
          </a:ln>
          <a:effectLst>
            <a:outerShdw blurRad="101600" dist="25400" dir="5400000" algn="bl" rotWithShape="0">
              <a:srgbClr val="0A2240">
                <a:alpha val="12000"/>
              </a:srgbClr>
            </a:outerShdw>
          </a:effectLst>
        </p:spPr>
      </p:sp>
      <p:sp>
        <p:nvSpPr>
          <p:cNvPr id="20" name="Text 18"/>
          <p:cNvSpPr/>
          <p:nvPr/>
        </p:nvSpPr>
        <p:spPr>
          <a:xfrm>
            <a:off x="4618634" y="4114800"/>
            <a:ext cx="2954426" cy="365760"/>
          </a:xfrm>
          <a:prstGeom prst="rect">
            <a:avLst/>
          </a:prstGeom>
          <a:noFill/>
          <a:ln/>
        </p:spPr>
        <p:txBody>
          <a:bodyPr wrap="square" lIns="0" tIns="0" rIns="0" bIns="0" rtlCol="0" anchor="ctr"/>
          <a:lstStyle/>
          <a:p>
            <a:pPr marL="0" indent="0">
              <a:buNone/>
            </a:pPr>
            <a:r>
              <a:rPr lang="en-US" sz="1500" b="1" dirty="0">
                <a:solidFill>
                  <a:srgbClr val="00A9E0"/>
                </a:solidFill>
                <a:latin typeface="Calibri" pitchFamily="34" charset="0"/>
                <a:ea typeface="Calibri" pitchFamily="34" charset="-122"/>
                <a:cs typeface="Calibri" pitchFamily="34" charset="-120"/>
              </a:rPr>
              <a:t>Lakehouse &amp; serving</a:t>
            </a:r>
            <a:endParaRPr lang="en-US" sz="1500" dirty="0"/>
          </a:p>
        </p:txBody>
      </p:sp>
      <p:sp>
        <p:nvSpPr>
          <p:cNvPr id="21" name="Text 19"/>
          <p:cNvSpPr/>
          <p:nvPr/>
        </p:nvSpPr>
        <p:spPr>
          <a:xfrm>
            <a:off x="4618634" y="4535424"/>
            <a:ext cx="2954426" cy="1371600"/>
          </a:xfrm>
          <a:prstGeom prst="rect">
            <a:avLst/>
          </a:prstGeom>
          <a:noFill/>
          <a:ln/>
        </p:spPr>
        <p:txBody>
          <a:bodyPr wrap="square" lIns="0" tIns="0" rIns="0" bIns="0" rtlCol="0" anchor="t"/>
          <a:lstStyle/>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Single copy of data for BI, ML and agent retrieval</a:t>
            </a:r>
            <a:endParaRPr lang="en-US" sz="1040" dirty="0"/>
          </a:p>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Vector and search indexes co-located with governed tables</a:t>
            </a:r>
            <a:endParaRPr lang="en-US" sz="1040" dirty="0"/>
          </a:p>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Streaming path for plant and operational telemetry</a:t>
            </a:r>
            <a:endParaRPr lang="en-US" sz="1040" dirty="0"/>
          </a:p>
        </p:txBody>
      </p:sp>
      <p:sp>
        <p:nvSpPr>
          <p:cNvPr id="22" name="Shape 20"/>
          <p:cNvSpPr/>
          <p:nvPr/>
        </p:nvSpPr>
        <p:spPr>
          <a:xfrm>
            <a:off x="8139989" y="3950208"/>
            <a:ext cx="3503066" cy="2084832"/>
          </a:xfrm>
          <a:prstGeom prst="roundRect">
            <a:avLst>
              <a:gd name="adj" fmla="val 3509"/>
            </a:avLst>
          </a:prstGeom>
          <a:solidFill>
            <a:srgbClr val="13355F"/>
          </a:solidFill>
          <a:ln w="12700">
            <a:solidFill>
              <a:srgbClr val="1B6CA8"/>
            </a:solidFill>
            <a:prstDash val="solid"/>
          </a:ln>
          <a:effectLst>
            <a:outerShdw blurRad="101600" dist="25400" dir="5400000" algn="bl" rotWithShape="0">
              <a:srgbClr val="0A2240">
                <a:alpha val="12000"/>
              </a:srgbClr>
            </a:outerShdw>
          </a:effectLst>
        </p:spPr>
      </p:sp>
      <p:sp>
        <p:nvSpPr>
          <p:cNvPr id="23" name="Text 21"/>
          <p:cNvSpPr/>
          <p:nvPr/>
        </p:nvSpPr>
        <p:spPr>
          <a:xfrm>
            <a:off x="8414309" y="4114800"/>
            <a:ext cx="2954426" cy="365760"/>
          </a:xfrm>
          <a:prstGeom prst="rect">
            <a:avLst/>
          </a:prstGeom>
          <a:noFill/>
          <a:ln/>
        </p:spPr>
        <p:txBody>
          <a:bodyPr wrap="square" lIns="0" tIns="0" rIns="0" bIns="0" rtlCol="0" anchor="ctr"/>
          <a:lstStyle/>
          <a:p>
            <a:pPr marL="0" indent="0">
              <a:buNone/>
            </a:pPr>
            <a:r>
              <a:rPr lang="en-US" sz="1500" b="1" dirty="0">
                <a:solidFill>
                  <a:srgbClr val="00A9E0"/>
                </a:solidFill>
                <a:latin typeface="Calibri" pitchFamily="34" charset="0"/>
                <a:ea typeface="Calibri" pitchFamily="34" charset="-122"/>
                <a:cs typeface="Calibri" pitchFamily="34" charset="-120"/>
              </a:rPr>
              <a:t>ML &amp; evaluation</a:t>
            </a:r>
            <a:endParaRPr lang="en-US" sz="1500" dirty="0"/>
          </a:p>
        </p:txBody>
      </p:sp>
      <p:sp>
        <p:nvSpPr>
          <p:cNvPr id="24" name="Text 22"/>
          <p:cNvSpPr/>
          <p:nvPr/>
        </p:nvSpPr>
        <p:spPr>
          <a:xfrm>
            <a:off x="8414309" y="4535424"/>
            <a:ext cx="2954426" cy="1371600"/>
          </a:xfrm>
          <a:prstGeom prst="rect">
            <a:avLst/>
          </a:prstGeom>
          <a:noFill/>
          <a:ln/>
        </p:spPr>
        <p:txBody>
          <a:bodyPr wrap="square" lIns="0" tIns="0" rIns="0" bIns="0" rtlCol="0" anchor="t"/>
          <a:lstStyle/>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Model serving, fine-tuning and batch inference under the same governance</a:t>
            </a:r>
            <a:endParaRPr lang="en-US" sz="1040" dirty="0"/>
          </a:p>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Experiment tracking and evaluation runs as first-class artefacts</a:t>
            </a:r>
            <a:endParaRPr lang="en-US" sz="1040" dirty="0"/>
          </a:p>
          <a:p>
            <a:pPr marL="342900" indent="-342900">
              <a:lnSpc>
                <a:spcPts val="1350"/>
              </a:lnSpc>
              <a:spcAft>
                <a:spcPts val="500"/>
              </a:spcAft>
              <a:buSzPct val="100000"/>
              <a:buChar char="•"/>
            </a:pPr>
            <a:r>
              <a:rPr lang="en-US" sz="1040" dirty="0">
                <a:solidFill>
                  <a:srgbClr val="FFFFFF"/>
                </a:solidFill>
                <a:latin typeface="Calibri" pitchFamily="34" charset="0"/>
                <a:ea typeface="Calibri" pitchFamily="34" charset="-122"/>
                <a:cs typeface="Calibri" pitchFamily="34" charset="-120"/>
              </a:rPr>
              <a:t>Lineage from an agent answer back to the source table</a:t>
            </a:r>
            <a:endParaRPr lang="en-US" sz="104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INTEGRATION</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DE.AI IDE ↔ Databricks integration</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29</a:t>
            </a:r>
            <a:endParaRPr lang="en-US" sz="900" dirty="0"/>
          </a:p>
        </p:txBody>
      </p:sp>
      <p:sp>
        <p:nvSpPr>
          <p:cNvPr id="6" name="Shape 4"/>
          <p:cNvSpPr/>
          <p:nvPr/>
        </p:nvSpPr>
        <p:spPr>
          <a:xfrm>
            <a:off x="548640" y="1481328"/>
            <a:ext cx="5318608" cy="4480560"/>
          </a:xfrm>
          <a:prstGeom prst="roundRect">
            <a:avLst>
              <a:gd name="adj" fmla="val 1633"/>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7" name="Text 5"/>
          <p:cNvSpPr/>
          <p:nvPr/>
        </p:nvSpPr>
        <p:spPr>
          <a:xfrm>
            <a:off x="859536" y="1700784"/>
            <a:ext cx="4696816" cy="365760"/>
          </a:xfrm>
          <a:prstGeom prst="rect">
            <a:avLst/>
          </a:prstGeom>
          <a:noFill/>
          <a:ln/>
        </p:spPr>
        <p:txBody>
          <a:bodyPr wrap="square" lIns="0" tIns="0" rIns="0" bIns="0" rtlCol="0" anchor="ctr"/>
          <a:lstStyle/>
          <a:p>
            <a:pPr marL="0" indent="0">
              <a:buNone/>
            </a:pPr>
            <a:r>
              <a:rPr lang="en-US" sz="1500" b="1" dirty="0">
                <a:solidFill>
                  <a:srgbClr val="0A2240"/>
                </a:solidFill>
                <a:latin typeface="Calibri" pitchFamily="34" charset="0"/>
                <a:ea typeface="Calibri" pitchFamily="34" charset="-122"/>
                <a:cs typeface="Calibri" pitchFamily="34" charset="-120"/>
              </a:rPr>
              <a:t>What the integration delivers</a:t>
            </a:r>
            <a:endParaRPr lang="en-US" sz="1500" dirty="0"/>
          </a:p>
        </p:txBody>
      </p:sp>
      <p:sp>
        <p:nvSpPr>
          <p:cNvPr id="8" name="Text 6"/>
          <p:cNvSpPr/>
          <p:nvPr/>
        </p:nvSpPr>
        <p:spPr>
          <a:xfrm>
            <a:off x="859536" y="2231136"/>
            <a:ext cx="4696816" cy="3566160"/>
          </a:xfrm>
          <a:prstGeom prst="rect">
            <a:avLst/>
          </a:prstGeom>
          <a:noFill/>
          <a:ln/>
        </p:spPr>
        <p:txBody>
          <a:bodyPr wrap="square" lIns="0" tIns="0" rIns="0" bIns="0" rtlCol="0" anchor="t"/>
          <a:lstStyle/>
          <a:p>
            <a:pPr marL="342900" indent="-342900">
              <a:lnSpc>
                <a:spcPts val="1600"/>
              </a:lnSpc>
              <a:spcAft>
                <a:spcPts val="900"/>
              </a:spcAft>
              <a:buSzPct val="100000"/>
              <a:buChar char="•"/>
            </a:pPr>
            <a:r>
              <a:rPr lang="en-US" sz="1200" dirty="0">
                <a:solidFill>
                  <a:srgbClr val="16222E"/>
                </a:solidFill>
                <a:latin typeface="Calibri" pitchFamily="34" charset="0"/>
                <a:ea typeface="Calibri" pitchFamily="34" charset="-122"/>
                <a:cs typeface="Calibri" pitchFamily="34" charset="-120"/>
              </a:rPr>
              <a:t>Data engineers work in their own IDE with an AI agent that can see the governed catalogue — schemas, lineage, ownership and quality signals</a:t>
            </a:r>
            <a:endParaRPr lang="en-US" sz="1200" dirty="0"/>
          </a:p>
          <a:p>
            <a:pPr marL="342900" indent="-342900">
              <a:lnSpc>
                <a:spcPts val="1600"/>
              </a:lnSpc>
              <a:spcAft>
                <a:spcPts val="900"/>
              </a:spcAft>
              <a:buSzPct val="100000"/>
              <a:buChar char="•"/>
            </a:pPr>
            <a:r>
              <a:rPr lang="en-US" sz="1200" dirty="0">
                <a:solidFill>
                  <a:srgbClr val="16222E"/>
                </a:solidFill>
                <a:latin typeface="Calibri" pitchFamily="34" charset="0"/>
                <a:ea typeface="Calibri" pitchFamily="34" charset="-122"/>
                <a:cs typeface="Calibri" pitchFamily="34" charset="-120"/>
              </a:rPr>
              <a:t>The agent authors and refactors pipeline code with real table context instead of guessing at column names</a:t>
            </a:r>
            <a:endParaRPr lang="en-US" sz="1200" dirty="0"/>
          </a:p>
          <a:p>
            <a:pPr marL="342900" indent="-342900">
              <a:lnSpc>
                <a:spcPts val="1600"/>
              </a:lnSpc>
              <a:spcAft>
                <a:spcPts val="900"/>
              </a:spcAft>
              <a:buSzPct val="100000"/>
              <a:buChar char="•"/>
            </a:pPr>
            <a:r>
              <a:rPr lang="en-US" sz="1200" dirty="0">
                <a:solidFill>
                  <a:srgbClr val="16222E"/>
                </a:solidFill>
                <a:latin typeface="Calibri" pitchFamily="34" charset="0"/>
                <a:ea typeface="Calibri" pitchFamily="34" charset="-122"/>
                <a:cs typeface="Calibri" pitchFamily="34" charset="-120"/>
              </a:rPr>
              <a:t>Test data and validation queries generated against actual profiles, not synthetic assumptions</a:t>
            </a:r>
            <a:endParaRPr lang="en-US" sz="1200" dirty="0"/>
          </a:p>
          <a:p>
            <a:pPr marL="342900" indent="-342900">
              <a:lnSpc>
                <a:spcPts val="1600"/>
              </a:lnSpc>
              <a:spcAft>
                <a:spcPts val="900"/>
              </a:spcAft>
              <a:buSzPct val="100000"/>
              <a:buChar char="•"/>
            </a:pPr>
            <a:r>
              <a:rPr lang="en-US" sz="1200" dirty="0">
                <a:solidFill>
                  <a:srgbClr val="16222E"/>
                </a:solidFill>
                <a:latin typeface="Calibri" pitchFamily="34" charset="0"/>
                <a:ea typeface="Calibri" pitchFamily="34" charset="-122"/>
                <a:cs typeface="Calibri" pitchFamily="34" charset="-120"/>
              </a:rPr>
              <a:t>Jobs, notebooks and workflows deployed through the same CI/CD path as application code</a:t>
            </a:r>
            <a:endParaRPr lang="en-US" sz="1200" dirty="0"/>
          </a:p>
          <a:p>
            <a:pPr marL="342900" indent="-342900">
              <a:lnSpc>
                <a:spcPts val="1600"/>
              </a:lnSpc>
              <a:spcAft>
                <a:spcPts val="900"/>
              </a:spcAft>
              <a:buSzPct val="100000"/>
              <a:buChar char="•"/>
            </a:pPr>
            <a:r>
              <a:rPr lang="en-US" sz="1200" dirty="0">
                <a:solidFill>
                  <a:srgbClr val="16222E"/>
                </a:solidFill>
                <a:latin typeface="Calibri" pitchFamily="34" charset="0"/>
                <a:ea typeface="Calibri" pitchFamily="34" charset="-122"/>
                <a:cs typeface="Calibri" pitchFamily="34" charset="-120"/>
              </a:rPr>
              <a:t>Every agent action attributable to the engineer's identity and their existing Unity Catalog entitlements</a:t>
            </a:r>
            <a:endParaRPr lang="en-US" sz="1200" dirty="0"/>
          </a:p>
          <a:p>
            <a:pPr marL="342900" indent="-342900">
              <a:lnSpc>
                <a:spcPts val="1600"/>
              </a:lnSpc>
              <a:spcAft>
                <a:spcPts val="900"/>
              </a:spcAft>
              <a:buSzPct val="100000"/>
              <a:buChar char="•"/>
            </a:pPr>
            <a:r>
              <a:rPr lang="en-US" sz="1200" dirty="0">
                <a:solidFill>
                  <a:srgbClr val="16222E"/>
                </a:solidFill>
                <a:latin typeface="Calibri" pitchFamily="34" charset="0"/>
                <a:ea typeface="Calibri" pitchFamily="34" charset="-122"/>
                <a:cs typeface="Calibri" pitchFamily="34" charset="-120"/>
              </a:rPr>
              <a:t>Model traffic from the IDE routed through the AI gateway like any other workload</a:t>
            </a:r>
            <a:endParaRPr lang="en-US" sz="1200" dirty="0"/>
          </a:p>
        </p:txBody>
      </p:sp>
      <p:sp>
        <p:nvSpPr>
          <p:cNvPr id="9" name="Text 7"/>
          <p:cNvSpPr/>
          <p:nvPr/>
        </p:nvSpPr>
        <p:spPr>
          <a:xfrm>
            <a:off x="6324448" y="1444752"/>
            <a:ext cx="5318608" cy="365760"/>
          </a:xfrm>
          <a:prstGeom prst="rect">
            <a:avLst/>
          </a:prstGeom>
          <a:noFill/>
          <a:ln/>
        </p:spPr>
        <p:txBody>
          <a:bodyPr wrap="square" lIns="0" tIns="0" rIns="0" bIns="0" rtlCol="0" anchor="ctr"/>
          <a:lstStyle/>
          <a:p>
            <a:pPr marL="0" indent="0">
              <a:buNone/>
            </a:pPr>
            <a:r>
              <a:rPr lang="en-US" sz="1500" b="1" dirty="0">
                <a:solidFill>
                  <a:srgbClr val="0A2240"/>
                </a:solidFill>
                <a:latin typeface="Calibri" pitchFamily="34" charset="0"/>
                <a:ea typeface="Calibri" pitchFamily="34" charset="-122"/>
                <a:cs typeface="Calibri" pitchFamily="34" charset="-120"/>
              </a:rPr>
              <a:t>Provisioning tasks</a:t>
            </a:r>
            <a:endParaRPr lang="en-US" sz="1500" dirty="0"/>
          </a:p>
        </p:txBody>
      </p:sp>
      <p:sp>
        <p:nvSpPr>
          <p:cNvPr id="10" name="Shape 8"/>
          <p:cNvSpPr/>
          <p:nvPr/>
        </p:nvSpPr>
        <p:spPr>
          <a:xfrm>
            <a:off x="6324448" y="1956816"/>
            <a:ext cx="347472" cy="347472"/>
          </a:xfrm>
          <a:prstGeom prst="ellipse">
            <a:avLst/>
          </a:prstGeom>
          <a:solidFill>
            <a:srgbClr val="1B6CA8"/>
          </a:solidFill>
          <a:ln w="12700">
            <a:solidFill>
              <a:srgbClr val="1B6CA8"/>
            </a:solidFill>
            <a:prstDash val="solid"/>
          </a:ln>
        </p:spPr>
      </p:sp>
      <p:sp>
        <p:nvSpPr>
          <p:cNvPr id="11" name="Text 9"/>
          <p:cNvSpPr/>
          <p:nvPr/>
        </p:nvSpPr>
        <p:spPr>
          <a:xfrm>
            <a:off x="6324448" y="195681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2" name="Text 10"/>
          <p:cNvSpPr/>
          <p:nvPr/>
        </p:nvSpPr>
        <p:spPr>
          <a:xfrm>
            <a:off x="6781648" y="1920240"/>
            <a:ext cx="4861408" cy="438912"/>
          </a:xfrm>
          <a:prstGeom prst="rect">
            <a:avLst/>
          </a:prstGeom>
          <a:noFill/>
          <a:ln/>
        </p:spPr>
        <p:txBody>
          <a:bodyPr wrap="square" lIns="0" tIns="0" rIns="0" bIns="0" rtlCol="0" anchor="ctr"/>
          <a:lstStyle/>
          <a:p>
            <a:pPr marL="0" indent="0">
              <a:lnSpc>
                <a:spcPts val="1300"/>
              </a:lnSpc>
              <a:buNone/>
            </a:pPr>
            <a:r>
              <a:rPr lang="en-US" sz="1100" dirty="0">
                <a:solidFill>
                  <a:srgbClr val="16222E"/>
                </a:solidFill>
                <a:latin typeface="Calibri" pitchFamily="34" charset="0"/>
                <a:ea typeface="Calibri" pitchFamily="34" charset="-122"/>
                <a:cs typeface="Calibri" pitchFamily="34" charset="-120"/>
              </a:rPr>
              <a:t>Approve the IDE and agent extension set; publish a standard developer image</a:t>
            </a:r>
            <a:endParaRPr lang="en-US" sz="1100" dirty="0"/>
          </a:p>
        </p:txBody>
      </p:sp>
      <p:sp>
        <p:nvSpPr>
          <p:cNvPr id="13" name="Shape 11"/>
          <p:cNvSpPr/>
          <p:nvPr/>
        </p:nvSpPr>
        <p:spPr>
          <a:xfrm>
            <a:off x="6324448" y="2459736"/>
            <a:ext cx="347472" cy="347472"/>
          </a:xfrm>
          <a:prstGeom prst="ellipse">
            <a:avLst/>
          </a:prstGeom>
          <a:solidFill>
            <a:srgbClr val="1B6CA8"/>
          </a:solidFill>
          <a:ln w="12700">
            <a:solidFill>
              <a:srgbClr val="1B6CA8"/>
            </a:solidFill>
            <a:prstDash val="solid"/>
          </a:ln>
        </p:spPr>
      </p:sp>
      <p:sp>
        <p:nvSpPr>
          <p:cNvPr id="14" name="Text 12"/>
          <p:cNvSpPr/>
          <p:nvPr/>
        </p:nvSpPr>
        <p:spPr>
          <a:xfrm>
            <a:off x="6324448" y="245973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6781648" y="2423160"/>
            <a:ext cx="4861408" cy="438912"/>
          </a:xfrm>
          <a:prstGeom prst="rect">
            <a:avLst/>
          </a:prstGeom>
          <a:noFill/>
          <a:ln/>
        </p:spPr>
        <p:txBody>
          <a:bodyPr wrap="square" lIns="0" tIns="0" rIns="0" bIns="0" rtlCol="0" anchor="ctr"/>
          <a:lstStyle/>
          <a:p>
            <a:pPr marL="0" indent="0">
              <a:lnSpc>
                <a:spcPts val="1300"/>
              </a:lnSpc>
              <a:buNone/>
            </a:pPr>
            <a:r>
              <a:rPr lang="en-US" sz="1100" dirty="0">
                <a:solidFill>
                  <a:srgbClr val="16222E"/>
                </a:solidFill>
                <a:latin typeface="Calibri" pitchFamily="34" charset="0"/>
                <a:ea typeface="Calibri" pitchFamily="34" charset="-122"/>
                <a:cs typeface="Calibri" pitchFamily="34" charset="-120"/>
              </a:rPr>
              <a:t>Register the Databricks MCP server (Unity Catalog + search + functions) in the tool registry</a:t>
            </a:r>
            <a:endParaRPr lang="en-US" sz="1100" dirty="0"/>
          </a:p>
        </p:txBody>
      </p:sp>
      <p:sp>
        <p:nvSpPr>
          <p:cNvPr id="16" name="Shape 14"/>
          <p:cNvSpPr/>
          <p:nvPr/>
        </p:nvSpPr>
        <p:spPr>
          <a:xfrm>
            <a:off x="6324448" y="2962656"/>
            <a:ext cx="347472" cy="347472"/>
          </a:xfrm>
          <a:prstGeom prst="ellipse">
            <a:avLst/>
          </a:prstGeom>
          <a:solidFill>
            <a:srgbClr val="1B6CA8"/>
          </a:solidFill>
          <a:ln w="12700">
            <a:solidFill>
              <a:srgbClr val="1B6CA8"/>
            </a:solidFill>
            <a:prstDash val="solid"/>
          </a:ln>
        </p:spPr>
      </p:sp>
      <p:sp>
        <p:nvSpPr>
          <p:cNvPr id="17" name="Text 15"/>
          <p:cNvSpPr/>
          <p:nvPr/>
        </p:nvSpPr>
        <p:spPr>
          <a:xfrm>
            <a:off x="6324448" y="296265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p:nvPr/>
        </p:nvSpPr>
        <p:spPr>
          <a:xfrm>
            <a:off x="6781648" y="2926080"/>
            <a:ext cx="4861408" cy="438912"/>
          </a:xfrm>
          <a:prstGeom prst="rect">
            <a:avLst/>
          </a:prstGeom>
          <a:noFill/>
          <a:ln/>
        </p:spPr>
        <p:txBody>
          <a:bodyPr wrap="square" lIns="0" tIns="0" rIns="0" bIns="0" rtlCol="0" anchor="ctr"/>
          <a:lstStyle/>
          <a:p>
            <a:pPr marL="0" indent="0">
              <a:lnSpc>
                <a:spcPts val="1300"/>
              </a:lnSpc>
              <a:buNone/>
            </a:pPr>
            <a:r>
              <a:rPr lang="en-US" sz="1100" dirty="0">
                <a:solidFill>
                  <a:srgbClr val="16222E"/>
                </a:solidFill>
                <a:latin typeface="Calibri" pitchFamily="34" charset="0"/>
                <a:ea typeface="Calibri" pitchFamily="34" charset="-122"/>
                <a:cs typeface="Calibri" pitchFamily="34" charset="-120"/>
              </a:rPr>
              <a:t>Configure OAuth so the IDE agent acts as the signed-in engineer, never as a shared service principal</a:t>
            </a:r>
            <a:endParaRPr lang="en-US" sz="1100" dirty="0"/>
          </a:p>
        </p:txBody>
      </p:sp>
      <p:sp>
        <p:nvSpPr>
          <p:cNvPr id="19" name="Shape 17"/>
          <p:cNvSpPr/>
          <p:nvPr/>
        </p:nvSpPr>
        <p:spPr>
          <a:xfrm>
            <a:off x="6324448" y="3465576"/>
            <a:ext cx="347472" cy="347472"/>
          </a:xfrm>
          <a:prstGeom prst="ellipse">
            <a:avLst/>
          </a:prstGeom>
          <a:solidFill>
            <a:srgbClr val="1B6CA8"/>
          </a:solidFill>
          <a:ln w="12700">
            <a:solidFill>
              <a:srgbClr val="1B6CA8"/>
            </a:solidFill>
            <a:prstDash val="solid"/>
          </a:ln>
        </p:spPr>
      </p:sp>
      <p:sp>
        <p:nvSpPr>
          <p:cNvPr id="20" name="Text 18"/>
          <p:cNvSpPr/>
          <p:nvPr/>
        </p:nvSpPr>
        <p:spPr>
          <a:xfrm>
            <a:off x="6324448" y="346557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1" name="Text 19"/>
          <p:cNvSpPr/>
          <p:nvPr/>
        </p:nvSpPr>
        <p:spPr>
          <a:xfrm>
            <a:off x="6781648" y="3429000"/>
            <a:ext cx="4861408" cy="438912"/>
          </a:xfrm>
          <a:prstGeom prst="rect">
            <a:avLst/>
          </a:prstGeom>
          <a:noFill/>
          <a:ln/>
        </p:spPr>
        <p:txBody>
          <a:bodyPr wrap="square" lIns="0" tIns="0" rIns="0" bIns="0" rtlCol="0" anchor="ctr"/>
          <a:lstStyle/>
          <a:p>
            <a:pPr marL="0" indent="0">
              <a:lnSpc>
                <a:spcPts val="1300"/>
              </a:lnSpc>
              <a:buNone/>
            </a:pPr>
            <a:r>
              <a:rPr lang="en-US" sz="1100" dirty="0">
                <a:solidFill>
                  <a:srgbClr val="16222E"/>
                </a:solidFill>
                <a:latin typeface="Calibri" pitchFamily="34" charset="0"/>
                <a:ea typeface="Calibri" pitchFamily="34" charset="-122"/>
                <a:cs typeface="Calibri" pitchFamily="34" charset="-120"/>
              </a:rPr>
              <a:t>Scope entitlements: development catalogues by default; production read requires explicit grant</a:t>
            </a:r>
            <a:endParaRPr lang="en-US" sz="1100" dirty="0"/>
          </a:p>
        </p:txBody>
      </p:sp>
      <p:sp>
        <p:nvSpPr>
          <p:cNvPr id="22" name="Shape 20"/>
          <p:cNvSpPr/>
          <p:nvPr/>
        </p:nvSpPr>
        <p:spPr>
          <a:xfrm>
            <a:off x="6324448" y="3968496"/>
            <a:ext cx="347472" cy="347472"/>
          </a:xfrm>
          <a:prstGeom prst="ellipse">
            <a:avLst/>
          </a:prstGeom>
          <a:solidFill>
            <a:srgbClr val="0A2240"/>
          </a:solidFill>
          <a:ln w="12700">
            <a:solidFill>
              <a:srgbClr val="0A2240"/>
            </a:solidFill>
            <a:prstDash val="solid"/>
          </a:ln>
        </p:spPr>
      </p:sp>
      <p:sp>
        <p:nvSpPr>
          <p:cNvPr id="23" name="Text 21"/>
          <p:cNvSpPr/>
          <p:nvPr/>
        </p:nvSpPr>
        <p:spPr>
          <a:xfrm>
            <a:off x="6324448" y="396849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4" name="Text 22"/>
          <p:cNvSpPr/>
          <p:nvPr/>
        </p:nvSpPr>
        <p:spPr>
          <a:xfrm>
            <a:off x="6781648" y="3931920"/>
            <a:ext cx="4861408" cy="438912"/>
          </a:xfrm>
          <a:prstGeom prst="rect">
            <a:avLst/>
          </a:prstGeom>
          <a:noFill/>
          <a:ln/>
        </p:spPr>
        <p:txBody>
          <a:bodyPr wrap="square" lIns="0" tIns="0" rIns="0" bIns="0" rtlCol="0" anchor="ctr"/>
          <a:lstStyle/>
          <a:p>
            <a:pPr marL="0" indent="0">
              <a:lnSpc>
                <a:spcPts val="1300"/>
              </a:lnSpc>
              <a:buNone/>
            </a:pPr>
            <a:r>
              <a:rPr lang="en-US" sz="1100" dirty="0">
                <a:solidFill>
                  <a:srgbClr val="16222E"/>
                </a:solidFill>
                <a:latin typeface="Calibri" pitchFamily="34" charset="0"/>
                <a:ea typeface="Calibri" pitchFamily="34" charset="-122"/>
                <a:cs typeface="Calibri" pitchFamily="34" charset="-120"/>
              </a:rPr>
              <a:t>Route the IDE's model traffic through the AI gateway; tag spend to the engineering cost centre</a:t>
            </a:r>
            <a:endParaRPr lang="en-US" sz="1100" dirty="0"/>
          </a:p>
        </p:txBody>
      </p:sp>
      <p:sp>
        <p:nvSpPr>
          <p:cNvPr id="25" name="Shape 23"/>
          <p:cNvSpPr/>
          <p:nvPr/>
        </p:nvSpPr>
        <p:spPr>
          <a:xfrm>
            <a:off x="6324448" y="4471416"/>
            <a:ext cx="347472" cy="347472"/>
          </a:xfrm>
          <a:prstGeom prst="ellipse">
            <a:avLst/>
          </a:prstGeom>
          <a:solidFill>
            <a:srgbClr val="0A2240"/>
          </a:solidFill>
          <a:ln w="12700">
            <a:solidFill>
              <a:srgbClr val="0A2240"/>
            </a:solidFill>
            <a:prstDash val="solid"/>
          </a:ln>
        </p:spPr>
      </p:sp>
      <p:sp>
        <p:nvSpPr>
          <p:cNvPr id="26" name="Text 24"/>
          <p:cNvSpPr/>
          <p:nvPr/>
        </p:nvSpPr>
        <p:spPr>
          <a:xfrm>
            <a:off x="6324448" y="447141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7" name="Text 25"/>
          <p:cNvSpPr/>
          <p:nvPr/>
        </p:nvSpPr>
        <p:spPr>
          <a:xfrm>
            <a:off x="6781648" y="4434840"/>
            <a:ext cx="4861408" cy="438912"/>
          </a:xfrm>
          <a:prstGeom prst="rect">
            <a:avLst/>
          </a:prstGeom>
          <a:noFill/>
          <a:ln/>
        </p:spPr>
        <p:txBody>
          <a:bodyPr wrap="square" lIns="0" tIns="0" rIns="0" bIns="0" rtlCol="0" anchor="ctr"/>
          <a:lstStyle/>
          <a:p>
            <a:pPr marL="0" indent="0">
              <a:lnSpc>
                <a:spcPts val="1300"/>
              </a:lnSpc>
              <a:buNone/>
            </a:pPr>
            <a:r>
              <a:rPr lang="en-US" sz="1100" dirty="0">
                <a:solidFill>
                  <a:srgbClr val="16222E"/>
                </a:solidFill>
                <a:latin typeface="Calibri" pitchFamily="34" charset="0"/>
                <a:ea typeface="Calibri" pitchFamily="34" charset="-122"/>
                <a:cs typeface="Calibri" pitchFamily="34" charset="-120"/>
              </a:rPr>
              <a:t>Add provenance tagging so AI-assisted commits are identifiable in the repository</a:t>
            </a:r>
            <a:endParaRPr lang="en-US" sz="1100" dirty="0"/>
          </a:p>
        </p:txBody>
      </p:sp>
      <p:sp>
        <p:nvSpPr>
          <p:cNvPr id="28" name="Shape 26"/>
          <p:cNvSpPr/>
          <p:nvPr/>
        </p:nvSpPr>
        <p:spPr>
          <a:xfrm>
            <a:off x="6324448" y="4974336"/>
            <a:ext cx="347472" cy="347472"/>
          </a:xfrm>
          <a:prstGeom prst="ellipse">
            <a:avLst/>
          </a:prstGeom>
          <a:solidFill>
            <a:srgbClr val="0A2240"/>
          </a:solidFill>
          <a:ln w="12700">
            <a:solidFill>
              <a:srgbClr val="0A2240"/>
            </a:solidFill>
            <a:prstDash val="solid"/>
          </a:ln>
        </p:spPr>
      </p:sp>
      <p:sp>
        <p:nvSpPr>
          <p:cNvPr id="29" name="Text 27"/>
          <p:cNvSpPr/>
          <p:nvPr/>
        </p:nvSpPr>
        <p:spPr>
          <a:xfrm>
            <a:off x="6324448" y="497433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0" name="Text 28"/>
          <p:cNvSpPr/>
          <p:nvPr/>
        </p:nvSpPr>
        <p:spPr>
          <a:xfrm>
            <a:off x="6781648" y="4937760"/>
            <a:ext cx="4861408" cy="438912"/>
          </a:xfrm>
          <a:prstGeom prst="rect">
            <a:avLst/>
          </a:prstGeom>
          <a:noFill/>
          <a:ln/>
        </p:spPr>
        <p:txBody>
          <a:bodyPr wrap="square" lIns="0" tIns="0" rIns="0" bIns="0" rtlCol="0" anchor="ctr"/>
          <a:lstStyle/>
          <a:p>
            <a:pPr marL="0" indent="0">
              <a:lnSpc>
                <a:spcPts val="1300"/>
              </a:lnSpc>
              <a:buNone/>
            </a:pPr>
            <a:r>
              <a:rPr lang="en-US" sz="1100" dirty="0">
                <a:solidFill>
                  <a:srgbClr val="16222E"/>
                </a:solidFill>
                <a:latin typeface="Calibri" pitchFamily="34" charset="0"/>
                <a:ea typeface="Calibri" pitchFamily="34" charset="-122"/>
                <a:cs typeface="Calibri" pitchFamily="34" charset="-120"/>
              </a:rPr>
              <a:t>Enable trace export to the observability stack — prompts, tool calls and cost per session</a:t>
            </a:r>
            <a:endParaRPr lang="en-US" sz="1100" dirty="0"/>
          </a:p>
        </p:txBody>
      </p:sp>
      <p:sp>
        <p:nvSpPr>
          <p:cNvPr id="31" name="Shape 29"/>
          <p:cNvSpPr/>
          <p:nvPr/>
        </p:nvSpPr>
        <p:spPr>
          <a:xfrm>
            <a:off x="6324448" y="5477256"/>
            <a:ext cx="347472" cy="347472"/>
          </a:xfrm>
          <a:prstGeom prst="ellipse">
            <a:avLst/>
          </a:prstGeom>
          <a:solidFill>
            <a:srgbClr val="0A2240"/>
          </a:solidFill>
          <a:ln w="12700">
            <a:solidFill>
              <a:srgbClr val="0A2240"/>
            </a:solidFill>
            <a:prstDash val="solid"/>
          </a:ln>
        </p:spPr>
      </p:sp>
      <p:sp>
        <p:nvSpPr>
          <p:cNvPr id="32" name="Text 30"/>
          <p:cNvSpPr/>
          <p:nvPr/>
        </p:nvSpPr>
        <p:spPr>
          <a:xfrm>
            <a:off x="6324448" y="547725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33" name="Text 31"/>
          <p:cNvSpPr/>
          <p:nvPr/>
        </p:nvSpPr>
        <p:spPr>
          <a:xfrm>
            <a:off x="6781648" y="5440680"/>
            <a:ext cx="4861408" cy="438912"/>
          </a:xfrm>
          <a:prstGeom prst="rect">
            <a:avLst/>
          </a:prstGeom>
          <a:noFill/>
          <a:ln/>
        </p:spPr>
        <p:txBody>
          <a:bodyPr wrap="square" lIns="0" tIns="0" rIns="0" bIns="0" rtlCol="0" anchor="ctr"/>
          <a:lstStyle/>
          <a:p>
            <a:pPr marL="0" indent="0">
              <a:lnSpc>
                <a:spcPts val="1300"/>
              </a:lnSpc>
              <a:buNone/>
            </a:pPr>
            <a:r>
              <a:rPr lang="en-US" sz="1100" dirty="0">
                <a:solidFill>
                  <a:srgbClr val="16222E"/>
                </a:solidFill>
                <a:latin typeface="Calibri" pitchFamily="34" charset="0"/>
                <a:ea typeface="Calibri" pitchFamily="34" charset="-122"/>
                <a:cs typeface="Calibri" pitchFamily="34" charset="-120"/>
              </a:rPr>
              <a:t>Publish golden-path examples: an ingestion job, a DQ check and a semantic model built with the agent</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INTEGRATION</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JD Edwards + Claude via an MCP server</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30</a:t>
            </a:r>
            <a:endParaRPr lang="en-US" sz="900" dirty="0"/>
          </a:p>
        </p:txBody>
      </p:sp>
      <p:sp>
        <p:nvSpPr>
          <p:cNvPr id="6" name="Shape 4"/>
          <p:cNvSpPr/>
          <p:nvPr/>
        </p:nvSpPr>
        <p:spPr>
          <a:xfrm>
            <a:off x="548640" y="1572768"/>
            <a:ext cx="2014057" cy="1481328"/>
          </a:xfrm>
          <a:prstGeom prst="roundRect">
            <a:avLst>
              <a:gd name="adj" fmla="val 4938"/>
            </a:avLst>
          </a:prstGeom>
          <a:solidFill>
            <a:srgbClr val="00A9E0"/>
          </a:solidFill>
          <a:ln w="12700">
            <a:solidFill>
              <a:srgbClr val="333333"/>
            </a:solidFill>
            <a:prstDash val="solid"/>
          </a:ln>
          <a:effectLst>
            <a:outerShdw blurRad="101600" dist="25400" dir="5400000" algn="bl" rotWithShape="0">
              <a:srgbClr val="0A2240">
                <a:alpha val="12000"/>
              </a:srgbClr>
            </a:outerShdw>
          </a:effectLst>
        </p:spPr>
      </p:sp>
      <p:sp>
        <p:nvSpPr>
          <p:cNvPr id="7" name="Text 5"/>
          <p:cNvSpPr/>
          <p:nvPr/>
        </p:nvSpPr>
        <p:spPr>
          <a:xfrm>
            <a:off x="676656" y="1700784"/>
            <a:ext cx="1758025" cy="457200"/>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User / Agent</a:t>
            </a:r>
            <a:endParaRPr lang="en-US" sz="1300" dirty="0"/>
          </a:p>
        </p:txBody>
      </p:sp>
      <p:sp>
        <p:nvSpPr>
          <p:cNvPr id="8" name="Text 6"/>
          <p:cNvSpPr/>
          <p:nvPr/>
        </p:nvSpPr>
        <p:spPr>
          <a:xfrm>
            <a:off x="676656" y="2157984"/>
            <a:ext cx="1758025" cy="786384"/>
          </a:xfrm>
          <a:prstGeom prst="rect">
            <a:avLst/>
          </a:prstGeom>
          <a:noFill/>
          <a:ln/>
        </p:spPr>
        <p:txBody>
          <a:bodyPr wrap="square" lIns="0" tIns="0" rIns="0" bIns="0" rtlCol="0" anchor="t"/>
          <a:lstStyle/>
          <a:p>
            <a:pPr marL="0" indent="0" algn="ctr">
              <a:lnSpc>
                <a:spcPts val="1200"/>
              </a:lnSpc>
              <a:buNone/>
            </a:pPr>
            <a:r>
              <a:rPr lang="en-US" sz="980" dirty="0">
                <a:solidFill>
                  <a:srgbClr val="0A2240"/>
                </a:solidFill>
                <a:latin typeface="Calibri" pitchFamily="34" charset="0"/>
                <a:ea typeface="Calibri" pitchFamily="34" charset="-122"/>
                <a:cs typeface="Calibri" pitchFamily="34" charset="-120"/>
              </a:rPr>
              <a:t>Business user or supervising agent issues an intent</a:t>
            </a:r>
            <a:endParaRPr lang="en-US" sz="980" dirty="0"/>
          </a:p>
        </p:txBody>
      </p:sp>
      <p:sp>
        <p:nvSpPr>
          <p:cNvPr id="9" name="Text 7"/>
          <p:cNvSpPr/>
          <p:nvPr/>
        </p:nvSpPr>
        <p:spPr>
          <a:xfrm>
            <a:off x="2507833" y="2048256"/>
            <a:ext cx="365760" cy="457200"/>
          </a:xfrm>
          <a:prstGeom prst="rect">
            <a:avLst/>
          </a:prstGeom>
          <a:noFill/>
          <a:ln/>
        </p:spPr>
        <p:txBody>
          <a:bodyPr wrap="square" lIns="0" tIns="0" rIns="0" bIns="0" rtlCol="0" anchor="ctr"/>
          <a:lstStyle/>
          <a:p>
            <a:pPr marL="0" indent="0" algn="ctr">
              <a:buNone/>
            </a:pPr>
            <a:r>
              <a:rPr lang="en-US" sz="2000" b="1" dirty="0">
                <a:solidFill>
                  <a:srgbClr val="AEB9C4"/>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2818729" y="1572768"/>
            <a:ext cx="2014057" cy="1481328"/>
          </a:xfrm>
          <a:prstGeom prst="roundRect">
            <a:avLst>
              <a:gd name="adj" fmla="val 4938"/>
            </a:avLst>
          </a:prstGeom>
          <a:solidFill>
            <a:srgbClr val="1B6CA8"/>
          </a:solidFill>
          <a:ln w="12700">
            <a:solidFill>
              <a:srgbClr val="333333"/>
            </a:solidFill>
            <a:prstDash val="solid"/>
          </a:ln>
          <a:effectLst>
            <a:outerShdw blurRad="101600" dist="25400" dir="5400000" algn="bl" rotWithShape="0">
              <a:srgbClr val="0A2240">
                <a:alpha val="12000"/>
              </a:srgbClr>
            </a:outerShdw>
          </a:effectLst>
        </p:spPr>
      </p:sp>
      <p:sp>
        <p:nvSpPr>
          <p:cNvPr id="11" name="Text 9"/>
          <p:cNvSpPr/>
          <p:nvPr/>
        </p:nvSpPr>
        <p:spPr>
          <a:xfrm>
            <a:off x="2946745" y="1700784"/>
            <a:ext cx="1758025"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AI Gateway</a:t>
            </a:r>
            <a:endParaRPr lang="en-US" sz="1300" dirty="0"/>
          </a:p>
        </p:txBody>
      </p:sp>
      <p:sp>
        <p:nvSpPr>
          <p:cNvPr id="12" name="Text 10"/>
          <p:cNvSpPr/>
          <p:nvPr/>
        </p:nvSpPr>
        <p:spPr>
          <a:xfrm>
            <a:off x="2946745" y="2157984"/>
            <a:ext cx="1758025" cy="786384"/>
          </a:xfrm>
          <a:prstGeom prst="rect">
            <a:avLst/>
          </a:prstGeom>
          <a:noFill/>
          <a:ln/>
        </p:spPr>
        <p:txBody>
          <a:bodyPr wrap="square" lIns="0" tIns="0" rIns="0" bIns="0" rtlCol="0" anchor="t"/>
          <a:lstStyle/>
          <a:p>
            <a:pPr marL="0" indent="0" algn="ctr">
              <a:lnSpc>
                <a:spcPts val="1200"/>
              </a:lnSpc>
              <a:buNone/>
            </a:pPr>
            <a:r>
              <a:rPr lang="en-US" sz="980" dirty="0">
                <a:solidFill>
                  <a:srgbClr val="FFFFFF"/>
                </a:solidFill>
                <a:latin typeface="Calibri" pitchFamily="34" charset="0"/>
                <a:ea typeface="Calibri" pitchFamily="34" charset="-122"/>
                <a:cs typeface="Calibri" pitchFamily="34" charset="-120"/>
              </a:rPr>
              <a:t>Identity, policy, guardrails, routing, spend control, full capture</a:t>
            </a:r>
            <a:endParaRPr lang="en-US" sz="980" dirty="0"/>
          </a:p>
        </p:txBody>
      </p:sp>
      <p:sp>
        <p:nvSpPr>
          <p:cNvPr id="13" name="Text 11"/>
          <p:cNvSpPr/>
          <p:nvPr/>
        </p:nvSpPr>
        <p:spPr>
          <a:xfrm>
            <a:off x="4777923" y="2048256"/>
            <a:ext cx="365760" cy="457200"/>
          </a:xfrm>
          <a:prstGeom prst="rect">
            <a:avLst/>
          </a:prstGeom>
          <a:noFill/>
          <a:ln/>
        </p:spPr>
        <p:txBody>
          <a:bodyPr wrap="square" lIns="0" tIns="0" rIns="0" bIns="0" rtlCol="0" anchor="ctr"/>
          <a:lstStyle/>
          <a:p>
            <a:pPr marL="0" indent="0" algn="ctr">
              <a:buNone/>
            </a:pPr>
            <a:r>
              <a:rPr lang="en-US" sz="2000" b="1" dirty="0">
                <a:solidFill>
                  <a:srgbClr val="AEB9C4"/>
                </a:solidFill>
                <a:latin typeface="Calibri" pitchFamily="34" charset="0"/>
                <a:ea typeface="Calibri" pitchFamily="34" charset="-122"/>
                <a:cs typeface="Calibri" pitchFamily="34" charset="-120"/>
              </a:rPr>
              <a:t>→</a:t>
            </a:r>
            <a:endParaRPr lang="en-US" sz="2000" dirty="0"/>
          </a:p>
        </p:txBody>
      </p:sp>
      <p:sp>
        <p:nvSpPr>
          <p:cNvPr id="14" name="Shape 12"/>
          <p:cNvSpPr/>
          <p:nvPr/>
        </p:nvSpPr>
        <p:spPr>
          <a:xfrm>
            <a:off x="5088819" y="1572768"/>
            <a:ext cx="2014057" cy="1481328"/>
          </a:xfrm>
          <a:prstGeom prst="roundRect">
            <a:avLst>
              <a:gd name="adj" fmla="val 4938"/>
            </a:avLst>
          </a:prstGeom>
          <a:solidFill>
            <a:srgbClr val="0A2240"/>
          </a:solidFill>
          <a:ln w="12700">
            <a:solidFill>
              <a:srgbClr val="333333"/>
            </a:solidFill>
            <a:prstDash val="solid"/>
          </a:ln>
          <a:effectLst>
            <a:outerShdw blurRad="101600" dist="25400" dir="5400000" algn="bl" rotWithShape="0">
              <a:srgbClr val="0A2240">
                <a:alpha val="12000"/>
              </a:srgbClr>
            </a:outerShdw>
          </a:effectLst>
        </p:spPr>
      </p:sp>
      <p:sp>
        <p:nvSpPr>
          <p:cNvPr id="15" name="Text 13"/>
          <p:cNvSpPr/>
          <p:nvPr/>
        </p:nvSpPr>
        <p:spPr>
          <a:xfrm>
            <a:off x="5216835" y="1700784"/>
            <a:ext cx="1758025"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Claude</a:t>
            </a:r>
            <a:endParaRPr lang="en-US" sz="1300" dirty="0"/>
          </a:p>
        </p:txBody>
      </p:sp>
      <p:sp>
        <p:nvSpPr>
          <p:cNvPr id="16" name="Text 14"/>
          <p:cNvSpPr/>
          <p:nvPr/>
        </p:nvSpPr>
        <p:spPr>
          <a:xfrm>
            <a:off x="5216835" y="2157984"/>
            <a:ext cx="1758025" cy="786384"/>
          </a:xfrm>
          <a:prstGeom prst="rect">
            <a:avLst/>
          </a:prstGeom>
          <a:noFill/>
          <a:ln/>
        </p:spPr>
        <p:txBody>
          <a:bodyPr wrap="square" lIns="0" tIns="0" rIns="0" bIns="0" rtlCol="0" anchor="t"/>
          <a:lstStyle/>
          <a:p>
            <a:pPr marL="0" indent="0" algn="ctr">
              <a:lnSpc>
                <a:spcPts val="1200"/>
              </a:lnSpc>
              <a:buNone/>
            </a:pPr>
            <a:r>
              <a:rPr lang="en-US" sz="980" dirty="0">
                <a:solidFill>
                  <a:srgbClr val="FFFFFF"/>
                </a:solidFill>
                <a:latin typeface="Calibri" pitchFamily="34" charset="0"/>
                <a:ea typeface="Calibri" pitchFamily="34" charset="-122"/>
                <a:cs typeface="Calibri" pitchFamily="34" charset="-120"/>
              </a:rPr>
              <a:t>Plans the task, selects tools, synthesises the response with citations</a:t>
            </a:r>
            <a:endParaRPr lang="en-US" sz="980" dirty="0"/>
          </a:p>
        </p:txBody>
      </p:sp>
      <p:sp>
        <p:nvSpPr>
          <p:cNvPr id="17" name="Text 15"/>
          <p:cNvSpPr/>
          <p:nvPr/>
        </p:nvSpPr>
        <p:spPr>
          <a:xfrm>
            <a:off x="7048012" y="2048256"/>
            <a:ext cx="365760" cy="457200"/>
          </a:xfrm>
          <a:prstGeom prst="rect">
            <a:avLst/>
          </a:prstGeom>
          <a:noFill/>
          <a:ln/>
        </p:spPr>
        <p:txBody>
          <a:bodyPr wrap="square" lIns="0" tIns="0" rIns="0" bIns="0" rtlCol="0" anchor="ctr"/>
          <a:lstStyle/>
          <a:p>
            <a:pPr marL="0" indent="0" algn="ctr">
              <a:buNone/>
            </a:pPr>
            <a:r>
              <a:rPr lang="en-US" sz="2000" b="1" dirty="0">
                <a:solidFill>
                  <a:srgbClr val="AEB9C4"/>
                </a:solidFill>
                <a:latin typeface="Calibri" pitchFamily="34" charset="0"/>
                <a:ea typeface="Calibri" pitchFamily="34" charset="-122"/>
                <a:cs typeface="Calibri" pitchFamily="34" charset="-120"/>
              </a:rPr>
              <a:t>→</a:t>
            </a:r>
            <a:endParaRPr lang="en-US" sz="2000" dirty="0"/>
          </a:p>
        </p:txBody>
      </p:sp>
      <p:sp>
        <p:nvSpPr>
          <p:cNvPr id="18" name="Shape 16"/>
          <p:cNvSpPr/>
          <p:nvPr/>
        </p:nvSpPr>
        <p:spPr>
          <a:xfrm>
            <a:off x="7358908" y="1572768"/>
            <a:ext cx="2014057" cy="1481328"/>
          </a:xfrm>
          <a:prstGeom prst="roundRect">
            <a:avLst>
              <a:gd name="adj" fmla="val 4938"/>
            </a:avLst>
          </a:prstGeom>
          <a:solidFill>
            <a:srgbClr val="13355F"/>
          </a:solidFill>
          <a:ln w="12700">
            <a:solidFill>
              <a:srgbClr val="333333"/>
            </a:solidFill>
            <a:prstDash val="solid"/>
          </a:ln>
          <a:effectLst>
            <a:outerShdw blurRad="101600" dist="25400" dir="5400000" algn="bl" rotWithShape="0">
              <a:srgbClr val="0A2240">
                <a:alpha val="12000"/>
              </a:srgbClr>
            </a:outerShdw>
          </a:effectLst>
        </p:spPr>
      </p:sp>
      <p:sp>
        <p:nvSpPr>
          <p:cNvPr id="19" name="Text 17"/>
          <p:cNvSpPr/>
          <p:nvPr/>
        </p:nvSpPr>
        <p:spPr>
          <a:xfrm>
            <a:off x="7486924" y="1700784"/>
            <a:ext cx="1758025"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JDE MCP Server</a:t>
            </a:r>
            <a:endParaRPr lang="en-US" sz="1300" dirty="0"/>
          </a:p>
        </p:txBody>
      </p:sp>
      <p:sp>
        <p:nvSpPr>
          <p:cNvPr id="20" name="Text 18"/>
          <p:cNvSpPr/>
          <p:nvPr/>
        </p:nvSpPr>
        <p:spPr>
          <a:xfrm>
            <a:off x="7486924" y="2157984"/>
            <a:ext cx="1758025" cy="786384"/>
          </a:xfrm>
          <a:prstGeom prst="rect">
            <a:avLst/>
          </a:prstGeom>
          <a:noFill/>
          <a:ln/>
        </p:spPr>
        <p:txBody>
          <a:bodyPr wrap="square" lIns="0" tIns="0" rIns="0" bIns="0" rtlCol="0" anchor="t"/>
          <a:lstStyle/>
          <a:p>
            <a:pPr marL="0" indent="0" algn="ctr">
              <a:lnSpc>
                <a:spcPts val="1200"/>
              </a:lnSpc>
              <a:buNone/>
            </a:pPr>
            <a:r>
              <a:rPr lang="en-US" sz="980" dirty="0">
                <a:solidFill>
                  <a:srgbClr val="FFFFFF"/>
                </a:solidFill>
                <a:latin typeface="Calibri" pitchFamily="34" charset="0"/>
                <a:ea typeface="Calibri" pitchFamily="34" charset="-122"/>
                <a:cs typeface="Calibri" pitchFamily="34" charset="-120"/>
              </a:rPr>
              <a:t>Discovery · introspection · execution over AIS and Orchestrator</a:t>
            </a:r>
            <a:endParaRPr lang="en-US" sz="980" dirty="0"/>
          </a:p>
        </p:txBody>
      </p:sp>
      <p:sp>
        <p:nvSpPr>
          <p:cNvPr id="21" name="Text 19"/>
          <p:cNvSpPr/>
          <p:nvPr/>
        </p:nvSpPr>
        <p:spPr>
          <a:xfrm>
            <a:off x="9318102" y="2048256"/>
            <a:ext cx="365760" cy="457200"/>
          </a:xfrm>
          <a:prstGeom prst="rect">
            <a:avLst/>
          </a:prstGeom>
          <a:noFill/>
          <a:ln/>
        </p:spPr>
        <p:txBody>
          <a:bodyPr wrap="square" lIns="0" tIns="0" rIns="0" bIns="0" rtlCol="0" anchor="ctr"/>
          <a:lstStyle/>
          <a:p>
            <a:pPr marL="0" indent="0" algn="ctr">
              <a:buNone/>
            </a:pPr>
            <a:r>
              <a:rPr lang="en-US" sz="2000" b="1" dirty="0">
                <a:solidFill>
                  <a:srgbClr val="AEB9C4"/>
                </a:solidFill>
                <a:latin typeface="Calibri" pitchFamily="34" charset="0"/>
                <a:ea typeface="Calibri" pitchFamily="34" charset="-122"/>
                <a:cs typeface="Calibri" pitchFamily="34" charset="-120"/>
              </a:rPr>
              <a:t>→</a:t>
            </a:r>
            <a:endParaRPr lang="en-US" sz="2000" dirty="0"/>
          </a:p>
        </p:txBody>
      </p:sp>
      <p:sp>
        <p:nvSpPr>
          <p:cNvPr id="22" name="Shape 20"/>
          <p:cNvSpPr/>
          <p:nvPr/>
        </p:nvSpPr>
        <p:spPr>
          <a:xfrm>
            <a:off x="9628998" y="1572768"/>
            <a:ext cx="2014057" cy="1481328"/>
          </a:xfrm>
          <a:prstGeom prst="roundRect">
            <a:avLst>
              <a:gd name="adj" fmla="val 4938"/>
            </a:avLst>
          </a:prstGeom>
          <a:solidFill>
            <a:srgbClr val="5A6B7B"/>
          </a:solidFill>
          <a:ln w="12700">
            <a:solidFill>
              <a:srgbClr val="333333"/>
            </a:solidFill>
            <a:prstDash val="solid"/>
          </a:ln>
          <a:effectLst>
            <a:outerShdw blurRad="101600" dist="25400" dir="5400000" algn="bl" rotWithShape="0">
              <a:srgbClr val="0A2240">
                <a:alpha val="12000"/>
              </a:srgbClr>
            </a:outerShdw>
          </a:effectLst>
        </p:spPr>
      </p:sp>
      <p:sp>
        <p:nvSpPr>
          <p:cNvPr id="23" name="Text 21"/>
          <p:cNvSpPr/>
          <p:nvPr/>
        </p:nvSpPr>
        <p:spPr>
          <a:xfrm>
            <a:off x="9757014" y="1700784"/>
            <a:ext cx="1758025"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JD Edwards E1</a:t>
            </a:r>
            <a:endParaRPr lang="en-US" sz="1300" dirty="0"/>
          </a:p>
        </p:txBody>
      </p:sp>
      <p:sp>
        <p:nvSpPr>
          <p:cNvPr id="24" name="Text 22"/>
          <p:cNvSpPr/>
          <p:nvPr/>
        </p:nvSpPr>
        <p:spPr>
          <a:xfrm>
            <a:off x="9757014" y="2157984"/>
            <a:ext cx="1758025" cy="786384"/>
          </a:xfrm>
          <a:prstGeom prst="rect">
            <a:avLst/>
          </a:prstGeom>
          <a:noFill/>
          <a:ln/>
        </p:spPr>
        <p:txBody>
          <a:bodyPr wrap="square" lIns="0" tIns="0" rIns="0" bIns="0" rtlCol="0" anchor="t"/>
          <a:lstStyle/>
          <a:p>
            <a:pPr marL="0" indent="0" algn="ctr">
              <a:lnSpc>
                <a:spcPts val="1200"/>
              </a:lnSpc>
              <a:buNone/>
            </a:pPr>
            <a:r>
              <a:rPr lang="en-US" sz="980" dirty="0">
                <a:solidFill>
                  <a:srgbClr val="FFFFFF"/>
                </a:solidFill>
                <a:latin typeface="Calibri" pitchFamily="34" charset="0"/>
                <a:ea typeface="Calibri" pitchFamily="34" charset="-122"/>
                <a:cs typeface="Calibri" pitchFamily="34" charset="-120"/>
              </a:rPr>
              <a:t>AIS Server · Orchestrator Studio · role-based security unchanged</a:t>
            </a:r>
            <a:endParaRPr lang="en-US" sz="980" dirty="0"/>
          </a:p>
        </p:txBody>
      </p:sp>
      <p:sp>
        <p:nvSpPr>
          <p:cNvPr id="25" name="Shape 23"/>
          <p:cNvSpPr/>
          <p:nvPr/>
        </p:nvSpPr>
        <p:spPr>
          <a:xfrm>
            <a:off x="548640" y="3255264"/>
            <a:ext cx="3503066" cy="2615184"/>
          </a:xfrm>
          <a:prstGeom prst="roundRect">
            <a:avLst>
              <a:gd name="adj" fmla="val 2797"/>
            </a:avLst>
          </a:prstGeom>
          <a:solidFill>
            <a:srgbClr val="FFFFFF"/>
          </a:solidFill>
          <a:ln w="12700">
            <a:solidFill>
              <a:srgbClr val="E4EBF2"/>
            </a:solidFill>
            <a:prstDash val="solid"/>
          </a:ln>
          <a:effectLst>
            <a:outerShdw blurRad="101600" dist="25400" dir="5400000" algn="bl" rotWithShape="0">
              <a:srgbClr val="0A2240">
                <a:alpha val="12000"/>
              </a:srgbClr>
            </a:outerShdw>
          </a:effectLst>
        </p:spPr>
      </p:sp>
      <p:sp>
        <p:nvSpPr>
          <p:cNvPr id="26" name="Text 24"/>
          <p:cNvSpPr/>
          <p:nvPr/>
        </p:nvSpPr>
        <p:spPr>
          <a:xfrm>
            <a:off x="804672" y="3419856"/>
            <a:ext cx="2991002" cy="365760"/>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What the MCP server exposes</a:t>
            </a:r>
            <a:endParaRPr lang="en-US" sz="1300" dirty="0"/>
          </a:p>
        </p:txBody>
      </p:sp>
      <p:sp>
        <p:nvSpPr>
          <p:cNvPr id="27" name="Text 25"/>
          <p:cNvSpPr/>
          <p:nvPr/>
        </p:nvSpPr>
        <p:spPr>
          <a:xfrm>
            <a:off x="804672" y="3840480"/>
            <a:ext cx="2991002" cy="1883664"/>
          </a:xfrm>
          <a:prstGeom prst="rect">
            <a:avLst/>
          </a:prstGeom>
          <a:noFill/>
          <a:ln/>
        </p:spPr>
        <p:txBody>
          <a:bodyPr wrap="square" lIns="0" tIns="0" rIns="0" bIns="0" rtlCol="0" anchor="t"/>
          <a:lstStyle/>
          <a:p>
            <a:pPr marL="342900" indent="-342900">
              <a:lnSpc>
                <a:spcPts val="13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Discovery — list the orchestrations an agent is permitted to see</a:t>
            </a:r>
            <a:endParaRPr lang="en-US" sz="1050" dirty="0"/>
          </a:p>
          <a:p>
            <a:pPr marL="342900" indent="-342900">
              <a:lnSpc>
                <a:spcPts val="13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Introspection — fetch input schemas and output shapes so calls are typed</a:t>
            </a:r>
            <a:endParaRPr lang="en-US" sz="1050" dirty="0"/>
          </a:p>
          <a:p>
            <a:pPr marL="342900" indent="-342900">
              <a:lnSpc>
                <a:spcPts val="13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Execution — run an orchestration with a structured, validated payload</a:t>
            </a:r>
            <a:endParaRPr lang="en-US" sz="1050" dirty="0"/>
          </a:p>
          <a:p>
            <a:pPr marL="342900" indent="-342900">
              <a:lnSpc>
                <a:spcPts val="13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Query — read business data through AIS with the user's own entitlements</a:t>
            </a:r>
            <a:endParaRPr lang="en-US" sz="1050" dirty="0"/>
          </a:p>
        </p:txBody>
      </p:sp>
      <p:sp>
        <p:nvSpPr>
          <p:cNvPr id="28" name="Shape 26"/>
          <p:cNvSpPr/>
          <p:nvPr/>
        </p:nvSpPr>
        <p:spPr>
          <a:xfrm>
            <a:off x="4344314" y="3255264"/>
            <a:ext cx="3503066" cy="2615184"/>
          </a:xfrm>
          <a:prstGeom prst="roundRect">
            <a:avLst>
              <a:gd name="adj" fmla="val 2797"/>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29" name="Text 27"/>
          <p:cNvSpPr/>
          <p:nvPr/>
        </p:nvSpPr>
        <p:spPr>
          <a:xfrm>
            <a:off x="4600346" y="3419856"/>
            <a:ext cx="2991002" cy="365760"/>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Controls that stay in place</a:t>
            </a:r>
            <a:endParaRPr lang="en-US" sz="1300" dirty="0"/>
          </a:p>
        </p:txBody>
      </p:sp>
      <p:sp>
        <p:nvSpPr>
          <p:cNvPr id="30" name="Text 28"/>
          <p:cNvSpPr/>
          <p:nvPr/>
        </p:nvSpPr>
        <p:spPr>
          <a:xfrm>
            <a:off x="4600346" y="3840480"/>
            <a:ext cx="2991002" cy="1883664"/>
          </a:xfrm>
          <a:prstGeom prst="rect">
            <a:avLst/>
          </a:prstGeom>
          <a:noFill/>
          <a:ln/>
        </p:spPr>
        <p:txBody>
          <a:bodyPr wrap="square" lIns="0" tIns="0" rIns="0" bIns="0" rtlCol="0" anchor="t"/>
          <a:lstStyle/>
          <a:p>
            <a:pPr marL="342900" indent="-342900">
              <a:lnSpc>
                <a:spcPts val="13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JDE role-based security is authoritative: if the user cannot see payroll, the agent cannot retrieve it</a:t>
            </a:r>
            <a:endParaRPr lang="en-US" sz="1050" dirty="0"/>
          </a:p>
          <a:p>
            <a:pPr marL="342900" indent="-342900">
              <a:lnSpc>
                <a:spcPts val="13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Write operations run only through approved orchestrations, never ad-hoc</a:t>
            </a:r>
            <a:endParaRPr lang="en-US" sz="1050" dirty="0"/>
          </a:p>
          <a:p>
            <a:pPr marL="342900" indent="-342900">
              <a:lnSpc>
                <a:spcPts val="13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Every call logged with user, orchestration, payload and result</a:t>
            </a:r>
            <a:endParaRPr lang="en-US" sz="1050" dirty="0"/>
          </a:p>
          <a:p>
            <a:pPr marL="342900" indent="-342900">
              <a:lnSpc>
                <a:spcPts val="13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Rate limits protect the AIS server from agent retry storms</a:t>
            </a:r>
            <a:endParaRPr lang="en-US" sz="1050" dirty="0"/>
          </a:p>
        </p:txBody>
      </p:sp>
      <p:sp>
        <p:nvSpPr>
          <p:cNvPr id="31" name="Shape 29"/>
          <p:cNvSpPr/>
          <p:nvPr/>
        </p:nvSpPr>
        <p:spPr>
          <a:xfrm>
            <a:off x="8139989" y="3255264"/>
            <a:ext cx="3503066" cy="2615184"/>
          </a:xfrm>
          <a:prstGeom prst="roundRect">
            <a:avLst>
              <a:gd name="adj" fmla="val 2797"/>
            </a:avLst>
          </a:prstGeom>
          <a:solidFill>
            <a:srgbClr val="FFFFFF"/>
          </a:solidFill>
          <a:ln w="12700">
            <a:solidFill>
              <a:srgbClr val="E4EBF2"/>
            </a:solidFill>
            <a:prstDash val="solid"/>
          </a:ln>
          <a:effectLst>
            <a:outerShdw blurRad="101600" dist="25400" dir="5400000" algn="bl" rotWithShape="0">
              <a:srgbClr val="0A2240">
                <a:alpha val="12000"/>
              </a:srgbClr>
            </a:outerShdw>
          </a:effectLst>
        </p:spPr>
      </p:sp>
      <p:sp>
        <p:nvSpPr>
          <p:cNvPr id="32" name="Text 30"/>
          <p:cNvSpPr/>
          <p:nvPr/>
        </p:nvSpPr>
        <p:spPr>
          <a:xfrm>
            <a:off x="8396021" y="3419856"/>
            <a:ext cx="2991002" cy="365760"/>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Provisioning sequence</a:t>
            </a:r>
            <a:endParaRPr lang="en-US" sz="1300" dirty="0"/>
          </a:p>
        </p:txBody>
      </p:sp>
      <p:sp>
        <p:nvSpPr>
          <p:cNvPr id="33" name="Text 31"/>
          <p:cNvSpPr/>
          <p:nvPr/>
        </p:nvSpPr>
        <p:spPr>
          <a:xfrm>
            <a:off x="8396021" y="3840480"/>
            <a:ext cx="2991002" cy="1883664"/>
          </a:xfrm>
          <a:prstGeom prst="rect">
            <a:avLst/>
          </a:prstGeom>
          <a:noFill/>
          <a:ln/>
        </p:spPr>
        <p:txBody>
          <a:bodyPr wrap="square" lIns="0" tIns="0" rIns="0" bIns="0" rtlCol="0" anchor="t"/>
          <a:lstStyle/>
          <a:p>
            <a:pPr marL="342900" indent="-342900">
              <a:lnSpc>
                <a:spcPts val="13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Inventory orchestrations; classify each read/write and by risk</a:t>
            </a:r>
            <a:endParaRPr lang="en-US" sz="1050" dirty="0"/>
          </a:p>
          <a:p>
            <a:pPr marL="342900" indent="-342900">
              <a:lnSpc>
                <a:spcPts val="13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Stand up the MCP server in a non-production environment against a test E1 instance</a:t>
            </a:r>
            <a:endParaRPr lang="en-US" sz="1050" dirty="0"/>
          </a:p>
          <a:p>
            <a:pPr marL="342900" indent="-342900">
              <a:lnSpc>
                <a:spcPts val="13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Publish read-only tools first; validate against a gold question set</a:t>
            </a:r>
            <a:endParaRPr lang="en-US" sz="1050" dirty="0"/>
          </a:p>
          <a:p>
            <a:pPr marL="342900" indent="-342900">
              <a:lnSpc>
                <a:spcPts val="1300"/>
              </a:lnSpc>
              <a:spcAft>
                <a:spcPts val="600"/>
              </a:spcAft>
              <a:buSzPct val="100000"/>
              <a:buChar char="•"/>
            </a:pPr>
            <a:r>
              <a:rPr lang="en-US" sz="1050" dirty="0">
                <a:solidFill>
                  <a:srgbClr val="16222E"/>
                </a:solidFill>
                <a:latin typeface="Calibri" pitchFamily="34" charset="0"/>
                <a:ea typeface="Calibri" pitchFamily="34" charset="-122"/>
                <a:cs typeface="Calibri" pitchFamily="34" charset="-120"/>
              </a:rPr>
              <a:t>Introduce write tools one process at a time, each with an approval checkpoint</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INTEGRATION</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SAP IDE integration — work in progress</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31</a:t>
            </a:r>
            <a:endParaRPr lang="en-US" sz="900" dirty="0"/>
          </a:p>
        </p:txBody>
      </p:sp>
      <p:sp>
        <p:nvSpPr>
          <p:cNvPr id="6" name="Shape 4"/>
          <p:cNvSpPr/>
          <p:nvPr/>
        </p:nvSpPr>
        <p:spPr>
          <a:xfrm>
            <a:off x="548640" y="1481328"/>
            <a:ext cx="5318608" cy="2194560"/>
          </a:xfrm>
          <a:prstGeom prst="roundRect">
            <a:avLst>
              <a:gd name="adj" fmla="val 3333"/>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7" name="Text 5"/>
          <p:cNvSpPr/>
          <p:nvPr/>
        </p:nvSpPr>
        <p:spPr>
          <a:xfrm>
            <a:off x="859536" y="1682496"/>
            <a:ext cx="4696816" cy="365760"/>
          </a:xfrm>
          <a:prstGeom prst="rect">
            <a:avLst/>
          </a:prstGeom>
          <a:noFill/>
          <a:ln/>
        </p:spPr>
        <p:txBody>
          <a:bodyPr wrap="square" lIns="0" tIns="0" rIns="0" bIns="0" rtlCol="0" anchor="ctr"/>
          <a:lstStyle/>
          <a:p>
            <a:pPr marL="0" indent="0">
              <a:buNone/>
            </a:pPr>
            <a:r>
              <a:rPr lang="en-US" sz="1500" b="1" dirty="0">
                <a:solidFill>
                  <a:srgbClr val="0A2240"/>
                </a:solidFill>
                <a:latin typeface="Calibri" pitchFamily="34" charset="0"/>
                <a:ea typeface="Calibri" pitchFamily="34" charset="-122"/>
                <a:cs typeface="Calibri" pitchFamily="34" charset="-120"/>
              </a:rPr>
              <a:t>Where this stands today [CONFIRM]</a:t>
            </a:r>
            <a:endParaRPr lang="en-US" sz="1500" dirty="0"/>
          </a:p>
        </p:txBody>
      </p:sp>
      <p:sp>
        <p:nvSpPr>
          <p:cNvPr id="8" name="Text 6"/>
          <p:cNvSpPr/>
          <p:nvPr/>
        </p:nvSpPr>
        <p:spPr>
          <a:xfrm>
            <a:off x="859536" y="2121408"/>
            <a:ext cx="4696816" cy="1371600"/>
          </a:xfrm>
          <a:prstGeom prst="rect">
            <a:avLst/>
          </a:prstGeom>
          <a:noFill/>
          <a:ln/>
        </p:spPr>
        <p:txBody>
          <a:bodyPr wrap="square" lIns="0" tIns="0" rIns="0" bIns="0" rtlCol="0" anchor="t"/>
          <a:lstStyle/>
          <a:p>
            <a:pPr marL="342900" indent="-342900">
              <a:lnSpc>
                <a:spcPts val="1500"/>
              </a:lnSpc>
              <a:spcAft>
                <a:spcPts val="700"/>
              </a:spcAft>
              <a:buSzPct val="100000"/>
              <a:buChar char="•"/>
            </a:pPr>
            <a:r>
              <a:rPr lang="en-US" sz="1180" dirty="0">
                <a:solidFill>
                  <a:srgbClr val="16222E"/>
                </a:solidFill>
                <a:latin typeface="Calibri" pitchFamily="34" charset="0"/>
                <a:ea typeface="Calibri" pitchFamily="34" charset="-122"/>
                <a:cs typeface="Calibri" pitchFamily="34" charset="-120"/>
              </a:rPr>
              <a:t>Integration work is under way; no standardised, governed pattern is agreed yet</a:t>
            </a:r>
            <a:endParaRPr lang="en-US" sz="1180" dirty="0"/>
          </a:p>
          <a:p>
            <a:pPr marL="342900" indent="-342900">
              <a:lnSpc>
                <a:spcPts val="1500"/>
              </a:lnSpc>
              <a:spcAft>
                <a:spcPts val="700"/>
              </a:spcAft>
              <a:buSzPct val="100000"/>
              <a:buChar char="•"/>
            </a:pPr>
            <a:r>
              <a:rPr lang="en-US" sz="1180" dirty="0">
                <a:solidFill>
                  <a:srgbClr val="16222E"/>
                </a:solidFill>
                <a:latin typeface="Calibri" pitchFamily="34" charset="0"/>
                <a:ea typeface="Calibri" pitchFamily="34" charset="-122"/>
                <a:cs typeface="Calibri" pitchFamily="34" charset="-120"/>
              </a:rPr>
              <a:t>Development tooling and AI assistance in the SAP stack are being evaluated in parallel with the JDE work</a:t>
            </a:r>
            <a:endParaRPr lang="en-US" sz="1180" dirty="0"/>
          </a:p>
          <a:p>
            <a:pPr marL="342900" indent="-342900">
              <a:lnSpc>
                <a:spcPts val="1500"/>
              </a:lnSpc>
              <a:spcAft>
                <a:spcPts val="700"/>
              </a:spcAft>
              <a:buSzPct val="100000"/>
              <a:buChar char="•"/>
            </a:pPr>
            <a:r>
              <a:rPr lang="en-US" sz="1180" dirty="0">
                <a:solidFill>
                  <a:srgbClr val="16222E"/>
                </a:solidFill>
                <a:latin typeface="Calibri" pitchFamily="34" charset="0"/>
                <a:ea typeface="Calibri" pitchFamily="34" charset="-122"/>
                <a:cs typeface="Calibri" pitchFamily="34" charset="-120"/>
              </a:rPr>
              <a:t>Decision pending on whether SAP agent access goes through the same MCP and gateway pattern as JDE</a:t>
            </a:r>
            <a:endParaRPr lang="en-US" sz="1180" dirty="0"/>
          </a:p>
        </p:txBody>
      </p:sp>
      <p:sp>
        <p:nvSpPr>
          <p:cNvPr id="9" name="Shape 7"/>
          <p:cNvSpPr/>
          <p:nvPr/>
        </p:nvSpPr>
        <p:spPr>
          <a:xfrm>
            <a:off x="548640" y="3877056"/>
            <a:ext cx="5318608" cy="2084832"/>
          </a:xfrm>
          <a:prstGeom prst="roundRect">
            <a:avLst>
              <a:gd name="adj" fmla="val 3509"/>
            </a:avLst>
          </a:prstGeom>
          <a:solidFill>
            <a:srgbClr val="0A2240"/>
          </a:solidFill>
          <a:ln w="12700">
            <a:solidFill>
              <a:srgbClr val="0A2240"/>
            </a:solidFill>
            <a:prstDash val="solid"/>
          </a:ln>
          <a:effectLst>
            <a:outerShdw blurRad="101600" dist="25400" dir="5400000" algn="bl" rotWithShape="0">
              <a:srgbClr val="0A2240">
                <a:alpha val="12000"/>
              </a:srgbClr>
            </a:outerShdw>
          </a:effectLst>
        </p:spPr>
      </p:sp>
      <p:sp>
        <p:nvSpPr>
          <p:cNvPr id="10" name="Text 8"/>
          <p:cNvSpPr/>
          <p:nvPr/>
        </p:nvSpPr>
        <p:spPr>
          <a:xfrm>
            <a:off x="859536" y="4059936"/>
            <a:ext cx="4696816" cy="365760"/>
          </a:xfrm>
          <a:prstGeom prst="rect">
            <a:avLst/>
          </a:prstGeom>
          <a:noFill/>
          <a:ln/>
        </p:spPr>
        <p:txBody>
          <a:bodyPr wrap="square" lIns="0" tIns="0" rIns="0" bIns="0" rtlCol="0" anchor="ctr"/>
          <a:lstStyle/>
          <a:p>
            <a:pPr marL="0" indent="0">
              <a:buNone/>
            </a:pPr>
            <a:r>
              <a:rPr lang="en-US" sz="1500" b="1" dirty="0">
                <a:solidFill>
                  <a:srgbClr val="00A9E0"/>
                </a:solidFill>
                <a:latin typeface="Calibri" pitchFamily="34" charset="0"/>
                <a:ea typeface="Calibri" pitchFamily="34" charset="-122"/>
                <a:cs typeface="Calibri" pitchFamily="34" charset="-120"/>
              </a:rPr>
              <a:t>The recommendation</a:t>
            </a:r>
            <a:endParaRPr lang="en-US" sz="1500" dirty="0"/>
          </a:p>
        </p:txBody>
      </p:sp>
      <p:sp>
        <p:nvSpPr>
          <p:cNvPr id="11" name="Text 9"/>
          <p:cNvSpPr/>
          <p:nvPr/>
        </p:nvSpPr>
        <p:spPr>
          <a:xfrm>
            <a:off x="859536" y="4480560"/>
            <a:ext cx="4696816" cy="1298448"/>
          </a:xfrm>
          <a:prstGeom prst="rect">
            <a:avLst/>
          </a:prstGeom>
          <a:noFill/>
          <a:ln/>
        </p:spPr>
        <p:txBody>
          <a:bodyPr wrap="square" lIns="0" tIns="0" rIns="0" bIns="0" rtlCol="0" anchor="t"/>
          <a:lstStyle/>
          <a:p>
            <a:pPr marL="0" indent="0">
              <a:lnSpc>
                <a:spcPts val="1700"/>
              </a:lnSpc>
              <a:buNone/>
            </a:pPr>
            <a:r>
              <a:rPr lang="en-US" sz="1200" dirty="0">
                <a:solidFill>
                  <a:srgbClr val="FFFFFF"/>
                </a:solidFill>
                <a:latin typeface="Calibri" pitchFamily="34" charset="0"/>
                <a:ea typeface="Calibri" pitchFamily="34" charset="-122"/>
                <a:cs typeface="Calibri" pitchFamily="34" charset="-120"/>
              </a:rPr>
              <a:t>Hold SAP to the same architectural contract as JD Edwards: one MCP tool surface, identity propagated from the end user, writes only through approved, deterministic services, and all model traffic through the AI gateway. Divergence here is how Ball would end up with two AI estates to govern.</a:t>
            </a:r>
            <a:endParaRPr lang="en-US" sz="1200" dirty="0"/>
          </a:p>
        </p:txBody>
      </p:sp>
      <p:sp>
        <p:nvSpPr>
          <p:cNvPr id="12" name="Text 10"/>
          <p:cNvSpPr/>
          <p:nvPr/>
        </p:nvSpPr>
        <p:spPr>
          <a:xfrm>
            <a:off x="6324448" y="1444752"/>
            <a:ext cx="5318608" cy="365760"/>
          </a:xfrm>
          <a:prstGeom prst="rect">
            <a:avLst/>
          </a:prstGeom>
          <a:noFill/>
          <a:ln/>
        </p:spPr>
        <p:txBody>
          <a:bodyPr wrap="square" lIns="0" tIns="0" rIns="0" bIns="0" rtlCol="0" anchor="ctr"/>
          <a:lstStyle/>
          <a:p>
            <a:pPr marL="0" indent="0">
              <a:buNone/>
            </a:pPr>
            <a:r>
              <a:rPr lang="en-US" sz="1500" b="1" dirty="0">
                <a:solidFill>
                  <a:srgbClr val="0A2240"/>
                </a:solidFill>
                <a:latin typeface="Calibri" pitchFamily="34" charset="0"/>
                <a:ea typeface="Calibri" pitchFamily="34" charset="-122"/>
                <a:cs typeface="Calibri" pitchFamily="34" charset="-120"/>
              </a:rPr>
              <a:t>Open decisions to close</a:t>
            </a:r>
            <a:endParaRPr lang="en-US" sz="1500" dirty="0"/>
          </a:p>
        </p:txBody>
      </p:sp>
      <p:sp>
        <p:nvSpPr>
          <p:cNvPr id="13" name="Shape 11"/>
          <p:cNvSpPr/>
          <p:nvPr/>
        </p:nvSpPr>
        <p:spPr>
          <a:xfrm>
            <a:off x="6324448" y="1938528"/>
            <a:ext cx="5318608" cy="603504"/>
          </a:xfrm>
          <a:prstGeom prst="rect">
            <a:avLst/>
          </a:prstGeom>
          <a:solidFill>
            <a:srgbClr val="FFFFFF"/>
          </a:solidFill>
          <a:ln w="12700">
            <a:solidFill>
              <a:srgbClr val="333333"/>
            </a:solidFill>
            <a:prstDash val="solid"/>
          </a:ln>
        </p:spPr>
      </p:sp>
      <p:sp>
        <p:nvSpPr>
          <p:cNvPr id="14" name="Text 12"/>
          <p:cNvSpPr/>
          <p:nvPr/>
        </p:nvSpPr>
        <p:spPr>
          <a:xfrm>
            <a:off x="6507328" y="1938528"/>
            <a:ext cx="1463040" cy="603504"/>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Tool surface</a:t>
            </a:r>
            <a:endParaRPr lang="en-US" sz="1150" dirty="0"/>
          </a:p>
        </p:txBody>
      </p:sp>
      <p:sp>
        <p:nvSpPr>
          <p:cNvPr id="15" name="Text 13"/>
          <p:cNvSpPr/>
          <p:nvPr/>
        </p:nvSpPr>
        <p:spPr>
          <a:xfrm>
            <a:off x="8016088" y="1938528"/>
            <a:ext cx="3444088" cy="603504"/>
          </a:xfrm>
          <a:prstGeom prst="rect">
            <a:avLst/>
          </a:prstGeom>
          <a:noFill/>
          <a:ln/>
        </p:spPr>
        <p:txBody>
          <a:bodyPr wrap="square" lIns="0" tIns="0" rIns="0" bIns="0" rtlCol="0" anchor="ctr"/>
          <a:lstStyle/>
          <a:p>
            <a:pPr marL="0" indent="0">
              <a:lnSpc>
                <a:spcPts val="1300"/>
              </a:lnSpc>
              <a:buNone/>
            </a:pPr>
            <a:r>
              <a:rPr lang="en-US" sz="1080" dirty="0">
                <a:solidFill>
                  <a:srgbClr val="16222E"/>
                </a:solidFill>
                <a:latin typeface="Calibri" pitchFamily="34" charset="0"/>
                <a:ea typeface="Calibri" pitchFamily="34" charset="-122"/>
                <a:cs typeface="Calibri" pitchFamily="34" charset="-120"/>
              </a:rPr>
              <a:t>OData/RFC services, BAPIs, or an integration-layer abstraction as the agent-facing contract?</a:t>
            </a:r>
            <a:endParaRPr lang="en-US" sz="1080" dirty="0"/>
          </a:p>
        </p:txBody>
      </p:sp>
      <p:sp>
        <p:nvSpPr>
          <p:cNvPr id="16" name="Shape 14"/>
          <p:cNvSpPr/>
          <p:nvPr/>
        </p:nvSpPr>
        <p:spPr>
          <a:xfrm>
            <a:off x="6324448" y="2615184"/>
            <a:ext cx="5318608" cy="603504"/>
          </a:xfrm>
          <a:prstGeom prst="rect">
            <a:avLst/>
          </a:prstGeom>
          <a:solidFill>
            <a:srgbClr val="F1F5F9"/>
          </a:solidFill>
          <a:ln w="12700">
            <a:solidFill>
              <a:srgbClr val="333333"/>
            </a:solidFill>
            <a:prstDash val="solid"/>
          </a:ln>
        </p:spPr>
      </p:sp>
      <p:sp>
        <p:nvSpPr>
          <p:cNvPr id="17" name="Text 15"/>
          <p:cNvSpPr/>
          <p:nvPr/>
        </p:nvSpPr>
        <p:spPr>
          <a:xfrm>
            <a:off x="6507328" y="2615184"/>
            <a:ext cx="1463040" cy="603504"/>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Identity</a:t>
            </a:r>
            <a:endParaRPr lang="en-US" sz="1150" dirty="0"/>
          </a:p>
        </p:txBody>
      </p:sp>
      <p:sp>
        <p:nvSpPr>
          <p:cNvPr id="18" name="Text 16"/>
          <p:cNvSpPr/>
          <p:nvPr/>
        </p:nvSpPr>
        <p:spPr>
          <a:xfrm>
            <a:off x="8016088" y="2615184"/>
            <a:ext cx="3444088" cy="603504"/>
          </a:xfrm>
          <a:prstGeom prst="rect">
            <a:avLst/>
          </a:prstGeom>
          <a:noFill/>
          <a:ln/>
        </p:spPr>
        <p:txBody>
          <a:bodyPr wrap="square" lIns="0" tIns="0" rIns="0" bIns="0" rtlCol="0" anchor="ctr"/>
          <a:lstStyle/>
          <a:p>
            <a:pPr marL="0" indent="0">
              <a:lnSpc>
                <a:spcPts val="1300"/>
              </a:lnSpc>
              <a:buNone/>
            </a:pPr>
            <a:r>
              <a:rPr lang="en-US" sz="1080" dirty="0">
                <a:solidFill>
                  <a:srgbClr val="16222E"/>
                </a:solidFill>
                <a:latin typeface="Calibri" pitchFamily="34" charset="0"/>
                <a:ea typeface="Calibri" pitchFamily="34" charset="-122"/>
                <a:cs typeface="Calibri" pitchFamily="34" charset="-120"/>
              </a:rPr>
              <a:t>How does end-user identity propagate from the agent through to SAP authorisation objects?</a:t>
            </a:r>
            <a:endParaRPr lang="en-US" sz="1080" dirty="0"/>
          </a:p>
        </p:txBody>
      </p:sp>
      <p:sp>
        <p:nvSpPr>
          <p:cNvPr id="19" name="Shape 17"/>
          <p:cNvSpPr/>
          <p:nvPr/>
        </p:nvSpPr>
        <p:spPr>
          <a:xfrm>
            <a:off x="6324448" y="3291840"/>
            <a:ext cx="5318608" cy="603504"/>
          </a:xfrm>
          <a:prstGeom prst="rect">
            <a:avLst/>
          </a:prstGeom>
          <a:solidFill>
            <a:srgbClr val="FFFFFF"/>
          </a:solidFill>
          <a:ln w="12700">
            <a:solidFill>
              <a:srgbClr val="333333"/>
            </a:solidFill>
            <a:prstDash val="solid"/>
          </a:ln>
        </p:spPr>
      </p:sp>
      <p:sp>
        <p:nvSpPr>
          <p:cNvPr id="20" name="Text 18"/>
          <p:cNvSpPr/>
          <p:nvPr/>
        </p:nvSpPr>
        <p:spPr>
          <a:xfrm>
            <a:off x="6507328" y="3291840"/>
            <a:ext cx="1463040" cy="603504"/>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Data residency</a:t>
            </a:r>
            <a:endParaRPr lang="en-US" sz="1150" dirty="0"/>
          </a:p>
        </p:txBody>
      </p:sp>
      <p:sp>
        <p:nvSpPr>
          <p:cNvPr id="21" name="Text 19"/>
          <p:cNvSpPr/>
          <p:nvPr/>
        </p:nvSpPr>
        <p:spPr>
          <a:xfrm>
            <a:off x="8016088" y="3291840"/>
            <a:ext cx="3444088" cy="603504"/>
          </a:xfrm>
          <a:prstGeom prst="rect">
            <a:avLst/>
          </a:prstGeom>
          <a:noFill/>
          <a:ln/>
        </p:spPr>
        <p:txBody>
          <a:bodyPr wrap="square" lIns="0" tIns="0" rIns="0" bIns="0" rtlCol="0" anchor="ctr"/>
          <a:lstStyle/>
          <a:p>
            <a:pPr marL="0" indent="0">
              <a:lnSpc>
                <a:spcPts val="1300"/>
              </a:lnSpc>
              <a:buNone/>
            </a:pPr>
            <a:r>
              <a:rPr lang="en-US" sz="1080" dirty="0">
                <a:solidFill>
                  <a:srgbClr val="16222E"/>
                </a:solidFill>
                <a:latin typeface="Calibri" pitchFamily="34" charset="0"/>
                <a:ea typeface="Calibri" pitchFamily="34" charset="-122"/>
                <a:cs typeface="Calibri" pitchFamily="34" charset="-120"/>
              </a:rPr>
              <a:t>Which SAP data classes may leave the estate for inference, and which must be processed in region?</a:t>
            </a:r>
            <a:endParaRPr lang="en-US" sz="1080" dirty="0"/>
          </a:p>
        </p:txBody>
      </p:sp>
      <p:sp>
        <p:nvSpPr>
          <p:cNvPr id="22" name="Shape 20"/>
          <p:cNvSpPr/>
          <p:nvPr/>
        </p:nvSpPr>
        <p:spPr>
          <a:xfrm>
            <a:off x="6324448" y="3968496"/>
            <a:ext cx="5318608" cy="603504"/>
          </a:xfrm>
          <a:prstGeom prst="rect">
            <a:avLst/>
          </a:prstGeom>
          <a:solidFill>
            <a:srgbClr val="F1F5F9"/>
          </a:solidFill>
          <a:ln w="12700">
            <a:solidFill>
              <a:srgbClr val="333333"/>
            </a:solidFill>
            <a:prstDash val="solid"/>
          </a:ln>
        </p:spPr>
      </p:sp>
      <p:sp>
        <p:nvSpPr>
          <p:cNvPr id="23" name="Text 21"/>
          <p:cNvSpPr/>
          <p:nvPr/>
        </p:nvSpPr>
        <p:spPr>
          <a:xfrm>
            <a:off x="6507328" y="3968496"/>
            <a:ext cx="1463040" cy="603504"/>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Landscape scope</a:t>
            </a:r>
            <a:endParaRPr lang="en-US" sz="1150" dirty="0"/>
          </a:p>
        </p:txBody>
      </p:sp>
      <p:sp>
        <p:nvSpPr>
          <p:cNvPr id="24" name="Text 22"/>
          <p:cNvSpPr/>
          <p:nvPr/>
        </p:nvSpPr>
        <p:spPr>
          <a:xfrm>
            <a:off x="8016088" y="3968496"/>
            <a:ext cx="3444088" cy="603504"/>
          </a:xfrm>
          <a:prstGeom prst="rect">
            <a:avLst/>
          </a:prstGeom>
          <a:noFill/>
          <a:ln/>
        </p:spPr>
        <p:txBody>
          <a:bodyPr wrap="square" lIns="0" tIns="0" rIns="0" bIns="0" rtlCol="0" anchor="ctr"/>
          <a:lstStyle/>
          <a:p>
            <a:pPr marL="0" indent="0">
              <a:lnSpc>
                <a:spcPts val="1300"/>
              </a:lnSpc>
              <a:buNone/>
            </a:pPr>
            <a:r>
              <a:rPr lang="en-US" sz="1080" dirty="0">
                <a:solidFill>
                  <a:srgbClr val="16222E"/>
                </a:solidFill>
                <a:latin typeface="Calibri" pitchFamily="34" charset="0"/>
                <a:ea typeface="Calibri" pitchFamily="34" charset="-122"/>
                <a:cs typeface="Calibri" pitchFamily="34" charset="-120"/>
              </a:rPr>
              <a:t>Which systems and clients are in scope, and how are non-production landscapes used for agent testing?</a:t>
            </a:r>
            <a:endParaRPr lang="en-US" sz="1080" dirty="0"/>
          </a:p>
        </p:txBody>
      </p:sp>
      <p:sp>
        <p:nvSpPr>
          <p:cNvPr id="25" name="Shape 23"/>
          <p:cNvSpPr/>
          <p:nvPr/>
        </p:nvSpPr>
        <p:spPr>
          <a:xfrm>
            <a:off x="6324448" y="4645152"/>
            <a:ext cx="5318608" cy="603504"/>
          </a:xfrm>
          <a:prstGeom prst="rect">
            <a:avLst/>
          </a:prstGeom>
          <a:solidFill>
            <a:srgbClr val="FFFFFF"/>
          </a:solidFill>
          <a:ln w="12700">
            <a:solidFill>
              <a:srgbClr val="333333"/>
            </a:solidFill>
            <a:prstDash val="solid"/>
          </a:ln>
        </p:spPr>
      </p:sp>
      <p:sp>
        <p:nvSpPr>
          <p:cNvPr id="26" name="Text 24"/>
          <p:cNvSpPr/>
          <p:nvPr/>
        </p:nvSpPr>
        <p:spPr>
          <a:xfrm>
            <a:off x="6507328" y="4645152"/>
            <a:ext cx="1463040" cy="603504"/>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Vendor overlap</a:t>
            </a:r>
            <a:endParaRPr lang="en-US" sz="1150" dirty="0"/>
          </a:p>
        </p:txBody>
      </p:sp>
      <p:sp>
        <p:nvSpPr>
          <p:cNvPr id="27" name="Text 25"/>
          <p:cNvSpPr/>
          <p:nvPr/>
        </p:nvSpPr>
        <p:spPr>
          <a:xfrm>
            <a:off x="8016088" y="4645152"/>
            <a:ext cx="3444088" cy="603504"/>
          </a:xfrm>
          <a:prstGeom prst="rect">
            <a:avLst/>
          </a:prstGeom>
          <a:noFill/>
          <a:ln/>
        </p:spPr>
        <p:txBody>
          <a:bodyPr wrap="square" lIns="0" tIns="0" rIns="0" bIns="0" rtlCol="0" anchor="ctr"/>
          <a:lstStyle/>
          <a:p>
            <a:pPr marL="0" indent="0">
              <a:lnSpc>
                <a:spcPts val="1300"/>
              </a:lnSpc>
              <a:buNone/>
            </a:pPr>
            <a:r>
              <a:rPr lang="en-US" sz="1080" dirty="0">
                <a:solidFill>
                  <a:srgbClr val="16222E"/>
                </a:solidFill>
                <a:latin typeface="Calibri" pitchFamily="34" charset="0"/>
                <a:ea typeface="Calibri" pitchFamily="34" charset="-122"/>
                <a:cs typeface="Calibri" pitchFamily="34" charset="-120"/>
              </a:rPr>
              <a:t>Where do SAP-native AI capabilities and the Ball platform overlap, and which wins for which use case?</a:t>
            </a:r>
            <a:endParaRPr lang="en-US" sz="1080" dirty="0"/>
          </a:p>
        </p:txBody>
      </p:sp>
      <p:sp>
        <p:nvSpPr>
          <p:cNvPr id="28" name="Shape 26"/>
          <p:cNvSpPr/>
          <p:nvPr/>
        </p:nvSpPr>
        <p:spPr>
          <a:xfrm>
            <a:off x="6324448" y="5321808"/>
            <a:ext cx="5318608" cy="603504"/>
          </a:xfrm>
          <a:prstGeom prst="rect">
            <a:avLst/>
          </a:prstGeom>
          <a:solidFill>
            <a:srgbClr val="F1F5F9"/>
          </a:solidFill>
          <a:ln w="12700">
            <a:solidFill>
              <a:srgbClr val="333333"/>
            </a:solidFill>
            <a:prstDash val="solid"/>
          </a:ln>
        </p:spPr>
      </p:sp>
      <p:sp>
        <p:nvSpPr>
          <p:cNvPr id="29" name="Text 27"/>
          <p:cNvSpPr/>
          <p:nvPr/>
        </p:nvSpPr>
        <p:spPr>
          <a:xfrm>
            <a:off x="6507328" y="5321808"/>
            <a:ext cx="1463040" cy="603504"/>
          </a:xfrm>
          <a:prstGeom prst="rect">
            <a:avLst/>
          </a:prstGeom>
          <a:noFill/>
          <a:ln/>
        </p:spPr>
        <p:txBody>
          <a:bodyPr wrap="square" lIns="0" tIns="0" rIns="0" bIns="0" rtlCol="0" anchor="ctr"/>
          <a:lstStyle/>
          <a:p>
            <a:pPr marL="0" indent="0">
              <a:buNone/>
            </a:pPr>
            <a:r>
              <a:rPr lang="en-US" sz="1150" b="1" dirty="0">
                <a:solidFill>
                  <a:srgbClr val="1B6CA8"/>
                </a:solidFill>
                <a:latin typeface="Calibri" pitchFamily="34" charset="0"/>
                <a:ea typeface="Calibri" pitchFamily="34" charset="-122"/>
                <a:cs typeface="Calibri" pitchFamily="34" charset="-120"/>
              </a:rPr>
              <a:t>Sequencing</a:t>
            </a:r>
            <a:endParaRPr lang="en-US" sz="1150" dirty="0"/>
          </a:p>
        </p:txBody>
      </p:sp>
      <p:sp>
        <p:nvSpPr>
          <p:cNvPr id="30" name="Text 28"/>
          <p:cNvSpPr/>
          <p:nvPr/>
        </p:nvSpPr>
        <p:spPr>
          <a:xfrm>
            <a:off x="8016088" y="5321808"/>
            <a:ext cx="3444088" cy="603504"/>
          </a:xfrm>
          <a:prstGeom prst="rect">
            <a:avLst/>
          </a:prstGeom>
          <a:noFill/>
          <a:ln/>
        </p:spPr>
        <p:txBody>
          <a:bodyPr wrap="square" lIns="0" tIns="0" rIns="0" bIns="0" rtlCol="0" anchor="ctr"/>
          <a:lstStyle/>
          <a:p>
            <a:pPr marL="0" indent="0">
              <a:lnSpc>
                <a:spcPts val="1300"/>
              </a:lnSpc>
              <a:buNone/>
            </a:pPr>
            <a:r>
              <a:rPr lang="en-US" sz="1080" dirty="0">
                <a:solidFill>
                  <a:srgbClr val="16222E"/>
                </a:solidFill>
                <a:latin typeface="Calibri" pitchFamily="34" charset="0"/>
                <a:ea typeface="Calibri" pitchFamily="34" charset="-122"/>
                <a:cs typeface="Calibri" pitchFamily="34" charset="-120"/>
              </a:rPr>
              <a:t>Does SAP follow the JDE pattern once proven, or run in parallel with its own pod?</a:t>
            </a:r>
            <a:endParaRPr lang="en-US" sz="108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4 · STACK</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The Ball AI technology stack</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32</a:t>
            </a:r>
            <a:endParaRPr lang="en-US" sz="900" dirty="0"/>
          </a:p>
        </p:txBody>
      </p:sp>
      <p:sp>
        <p:nvSpPr>
          <p:cNvPr id="6" name="Shape 4"/>
          <p:cNvSpPr/>
          <p:nvPr/>
        </p:nvSpPr>
        <p:spPr>
          <a:xfrm>
            <a:off x="548640" y="1408176"/>
            <a:ext cx="2606040" cy="448056"/>
          </a:xfrm>
          <a:prstGeom prst="roundRect">
            <a:avLst>
              <a:gd name="adj" fmla="val 10204"/>
            </a:avLst>
          </a:prstGeom>
          <a:solidFill>
            <a:srgbClr val="1B6CA8"/>
          </a:solidFill>
          <a:ln w="12700">
            <a:solidFill>
              <a:srgbClr val="333333"/>
            </a:solidFill>
            <a:prstDash val="solid"/>
          </a:ln>
        </p:spPr>
      </p:sp>
      <p:sp>
        <p:nvSpPr>
          <p:cNvPr id="7" name="Text 5"/>
          <p:cNvSpPr/>
          <p:nvPr/>
        </p:nvSpPr>
        <p:spPr>
          <a:xfrm>
            <a:off x="658368" y="1408176"/>
            <a:ext cx="2386584" cy="44805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Experience</a:t>
            </a:r>
            <a:endParaRPr lang="en-US" sz="1150" dirty="0"/>
          </a:p>
        </p:txBody>
      </p:sp>
      <p:sp>
        <p:nvSpPr>
          <p:cNvPr id="8" name="Shape 6"/>
          <p:cNvSpPr/>
          <p:nvPr/>
        </p:nvSpPr>
        <p:spPr>
          <a:xfrm>
            <a:off x="3291840" y="1408176"/>
            <a:ext cx="8351215" cy="448056"/>
          </a:xfrm>
          <a:prstGeom prst="roundRect">
            <a:avLst>
              <a:gd name="adj" fmla="val 10204"/>
            </a:avLst>
          </a:prstGeom>
          <a:solidFill>
            <a:srgbClr val="FFFFFF"/>
          </a:solidFill>
          <a:ln w="12700">
            <a:solidFill>
              <a:srgbClr val="E4EBF2"/>
            </a:solidFill>
            <a:prstDash val="solid"/>
          </a:ln>
        </p:spPr>
      </p:sp>
      <p:sp>
        <p:nvSpPr>
          <p:cNvPr id="9" name="Text 7"/>
          <p:cNvSpPr/>
          <p:nvPr/>
        </p:nvSpPr>
        <p:spPr>
          <a:xfrm>
            <a:off x="3456432" y="1408176"/>
            <a:ext cx="8022031" cy="448056"/>
          </a:xfrm>
          <a:prstGeom prst="rect">
            <a:avLst/>
          </a:prstGeom>
          <a:noFill/>
          <a:ln/>
        </p:spPr>
        <p:txBody>
          <a:bodyPr wrap="square" lIns="0" tIns="0" rIns="0" bIns="0" rtlCol="0" anchor="ctr"/>
          <a:lstStyle/>
          <a:p>
            <a:pPr marL="0" indent="0">
              <a:buNone/>
            </a:pPr>
            <a:r>
              <a:rPr lang="en-US" sz="1030" dirty="0">
                <a:solidFill>
                  <a:srgbClr val="16222E"/>
                </a:solidFill>
                <a:latin typeface="Calibri" pitchFamily="34" charset="0"/>
                <a:ea typeface="Calibri" pitchFamily="34" charset="-122"/>
                <a:cs typeface="Calibri" pitchFamily="34" charset="-120"/>
              </a:rPr>
              <a:t>Genie · Teams and browser agents · agents embedded in JDE, SAP and QA tooling · IDE agents · scheduled and event-driven agents</a:t>
            </a:r>
            <a:endParaRPr lang="en-US" sz="1030" dirty="0"/>
          </a:p>
        </p:txBody>
      </p:sp>
      <p:sp>
        <p:nvSpPr>
          <p:cNvPr id="10" name="Shape 8"/>
          <p:cNvSpPr/>
          <p:nvPr/>
        </p:nvSpPr>
        <p:spPr>
          <a:xfrm>
            <a:off x="548640" y="1906524"/>
            <a:ext cx="2606040" cy="448056"/>
          </a:xfrm>
          <a:prstGeom prst="roundRect">
            <a:avLst>
              <a:gd name="adj" fmla="val 10204"/>
            </a:avLst>
          </a:prstGeom>
          <a:solidFill>
            <a:srgbClr val="1B6CA8"/>
          </a:solidFill>
          <a:ln w="12700">
            <a:solidFill>
              <a:srgbClr val="333333"/>
            </a:solidFill>
            <a:prstDash val="solid"/>
          </a:ln>
        </p:spPr>
      </p:sp>
      <p:sp>
        <p:nvSpPr>
          <p:cNvPr id="11" name="Text 9"/>
          <p:cNvSpPr/>
          <p:nvPr/>
        </p:nvSpPr>
        <p:spPr>
          <a:xfrm>
            <a:off x="658368" y="1906524"/>
            <a:ext cx="2386584" cy="44805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Agents &amp; orchestration</a:t>
            </a:r>
            <a:endParaRPr lang="en-US" sz="1150" dirty="0"/>
          </a:p>
        </p:txBody>
      </p:sp>
      <p:sp>
        <p:nvSpPr>
          <p:cNvPr id="12" name="Shape 10"/>
          <p:cNvSpPr/>
          <p:nvPr/>
        </p:nvSpPr>
        <p:spPr>
          <a:xfrm>
            <a:off x="3291840" y="1906524"/>
            <a:ext cx="8351215" cy="448056"/>
          </a:xfrm>
          <a:prstGeom prst="roundRect">
            <a:avLst>
              <a:gd name="adj" fmla="val 10204"/>
            </a:avLst>
          </a:prstGeom>
          <a:solidFill>
            <a:srgbClr val="F1F5F9"/>
          </a:solidFill>
          <a:ln w="12700">
            <a:solidFill>
              <a:srgbClr val="E4EBF2"/>
            </a:solidFill>
            <a:prstDash val="solid"/>
          </a:ln>
        </p:spPr>
      </p:sp>
      <p:sp>
        <p:nvSpPr>
          <p:cNvPr id="13" name="Text 11"/>
          <p:cNvSpPr/>
          <p:nvPr/>
        </p:nvSpPr>
        <p:spPr>
          <a:xfrm>
            <a:off x="3456432" y="1906524"/>
            <a:ext cx="8022031" cy="448056"/>
          </a:xfrm>
          <a:prstGeom prst="rect">
            <a:avLst/>
          </a:prstGeom>
          <a:noFill/>
          <a:ln/>
        </p:spPr>
        <p:txBody>
          <a:bodyPr wrap="square" lIns="0" tIns="0" rIns="0" bIns="0" rtlCol="0" anchor="ctr"/>
          <a:lstStyle/>
          <a:p>
            <a:pPr marL="0" indent="0">
              <a:buNone/>
            </a:pPr>
            <a:r>
              <a:rPr lang="en-US" sz="1030" dirty="0">
                <a:solidFill>
                  <a:srgbClr val="16222E"/>
                </a:solidFill>
                <a:latin typeface="Calibri" pitchFamily="34" charset="0"/>
                <a:ea typeface="Calibri" pitchFamily="34" charset="-122"/>
                <a:cs typeface="Calibri" pitchFamily="34" charset="-120"/>
              </a:rPr>
              <a:t>Agentic mesh runtime · agent registry · supervisor and delegation patterns · human-in-the-loop approval routing</a:t>
            </a:r>
            <a:endParaRPr lang="en-US" sz="1030" dirty="0"/>
          </a:p>
        </p:txBody>
      </p:sp>
      <p:sp>
        <p:nvSpPr>
          <p:cNvPr id="14" name="Shape 12"/>
          <p:cNvSpPr/>
          <p:nvPr/>
        </p:nvSpPr>
        <p:spPr>
          <a:xfrm>
            <a:off x="548640" y="2404872"/>
            <a:ext cx="2606040" cy="448056"/>
          </a:xfrm>
          <a:prstGeom prst="roundRect">
            <a:avLst>
              <a:gd name="adj" fmla="val 10204"/>
            </a:avLst>
          </a:prstGeom>
          <a:solidFill>
            <a:srgbClr val="1B6CA8"/>
          </a:solidFill>
          <a:ln w="12700">
            <a:solidFill>
              <a:srgbClr val="333333"/>
            </a:solidFill>
            <a:prstDash val="solid"/>
          </a:ln>
        </p:spPr>
      </p:sp>
      <p:sp>
        <p:nvSpPr>
          <p:cNvPr id="15" name="Text 13"/>
          <p:cNvSpPr/>
          <p:nvPr/>
        </p:nvSpPr>
        <p:spPr>
          <a:xfrm>
            <a:off x="658368" y="2404872"/>
            <a:ext cx="2386584" cy="44805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Context</a:t>
            </a:r>
            <a:endParaRPr lang="en-US" sz="1150" dirty="0"/>
          </a:p>
        </p:txBody>
      </p:sp>
      <p:sp>
        <p:nvSpPr>
          <p:cNvPr id="16" name="Shape 14"/>
          <p:cNvSpPr/>
          <p:nvPr/>
        </p:nvSpPr>
        <p:spPr>
          <a:xfrm>
            <a:off x="3291840" y="2404872"/>
            <a:ext cx="8351215" cy="448056"/>
          </a:xfrm>
          <a:prstGeom prst="roundRect">
            <a:avLst>
              <a:gd name="adj" fmla="val 10204"/>
            </a:avLst>
          </a:prstGeom>
          <a:solidFill>
            <a:srgbClr val="FFFFFF"/>
          </a:solidFill>
          <a:ln w="12700">
            <a:solidFill>
              <a:srgbClr val="E4EBF2"/>
            </a:solidFill>
            <a:prstDash val="solid"/>
          </a:ln>
        </p:spPr>
      </p:sp>
      <p:sp>
        <p:nvSpPr>
          <p:cNvPr id="17" name="Text 15"/>
          <p:cNvSpPr/>
          <p:nvPr/>
        </p:nvSpPr>
        <p:spPr>
          <a:xfrm>
            <a:off x="3456432" y="2404872"/>
            <a:ext cx="8022031" cy="448056"/>
          </a:xfrm>
          <a:prstGeom prst="rect">
            <a:avLst/>
          </a:prstGeom>
          <a:noFill/>
          <a:ln/>
        </p:spPr>
        <p:txBody>
          <a:bodyPr wrap="square" lIns="0" tIns="0" rIns="0" bIns="0" rtlCol="0" anchor="ctr"/>
          <a:lstStyle/>
          <a:p>
            <a:pPr marL="0" indent="0">
              <a:buNone/>
            </a:pPr>
            <a:r>
              <a:rPr lang="en-US" sz="1030" dirty="0">
                <a:solidFill>
                  <a:srgbClr val="16222E"/>
                </a:solidFill>
                <a:latin typeface="Calibri" pitchFamily="34" charset="0"/>
                <a:ea typeface="Calibri" pitchFamily="34" charset="-122"/>
                <a:cs typeface="Calibri" pitchFamily="34" charset="-120"/>
              </a:rPr>
              <a:t>Context packs · retrieval and reranking services · semantic and metric layer · short-term, entity and institutional memory</a:t>
            </a:r>
            <a:endParaRPr lang="en-US" sz="1030" dirty="0"/>
          </a:p>
        </p:txBody>
      </p:sp>
      <p:sp>
        <p:nvSpPr>
          <p:cNvPr id="18" name="Shape 16"/>
          <p:cNvSpPr/>
          <p:nvPr/>
        </p:nvSpPr>
        <p:spPr>
          <a:xfrm>
            <a:off x="548640" y="2903220"/>
            <a:ext cx="2606040" cy="448056"/>
          </a:xfrm>
          <a:prstGeom prst="roundRect">
            <a:avLst>
              <a:gd name="adj" fmla="val 10204"/>
            </a:avLst>
          </a:prstGeom>
          <a:solidFill>
            <a:srgbClr val="1B6CA8"/>
          </a:solidFill>
          <a:ln w="12700">
            <a:solidFill>
              <a:srgbClr val="333333"/>
            </a:solidFill>
            <a:prstDash val="solid"/>
          </a:ln>
        </p:spPr>
      </p:sp>
      <p:sp>
        <p:nvSpPr>
          <p:cNvPr id="19" name="Text 17"/>
          <p:cNvSpPr/>
          <p:nvPr/>
        </p:nvSpPr>
        <p:spPr>
          <a:xfrm>
            <a:off x="658368" y="2903220"/>
            <a:ext cx="2386584" cy="44805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Tools (MCP)</a:t>
            </a:r>
            <a:endParaRPr lang="en-US" sz="1150" dirty="0"/>
          </a:p>
        </p:txBody>
      </p:sp>
      <p:sp>
        <p:nvSpPr>
          <p:cNvPr id="20" name="Shape 18"/>
          <p:cNvSpPr/>
          <p:nvPr/>
        </p:nvSpPr>
        <p:spPr>
          <a:xfrm>
            <a:off x="3291840" y="2903220"/>
            <a:ext cx="8351215" cy="448056"/>
          </a:xfrm>
          <a:prstGeom prst="roundRect">
            <a:avLst>
              <a:gd name="adj" fmla="val 10204"/>
            </a:avLst>
          </a:prstGeom>
          <a:solidFill>
            <a:srgbClr val="F1F5F9"/>
          </a:solidFill>
          <a:ln w="12700">
            <a:solidFill>
              <a:srgbClr val="E4EBF2"/>
            </a:solidFill>
            <a:prstDash val="solid"/>
          </a:ln>
        </p:spPr>
      </p:sp>
      <p:sp>
        <p:nvSpPr>
          <p:cNvPr id="21" name="Text 19"/>
          <p:cNvSpPr/>
          <p:nvPr/>
        </p:nvSpPr>
        <p:spPr>
          <a:xfrm>
            <a:off x="3456432" y="2903220"/>
            <a:ext cx="8022031" cy="448056"/>
          </a:xfrm>
          <a:prstGeom prst="rect">
            <a:avLst/>
          </a:prstGeom>
          <a:noFill/>
          <a:ln/>
        </p:spPr>
        <p:txBody>
          <a:bodyPr wrap="square" lIns="0" tIns="0" rIns="0" bIns="0" rtlCol="0" anchor="ctr"/>
          <a:lstStyle/>
          <a:p>
            <a:pPr marL="0" indent="0">
              <a:buNone/>
            </a:pPr>
            <a:r>
              <a:rPr lang="en-US" sz="1030" dirty="0">
                <a:solidFill>
                  <a:srgbClr val="16222E"/>
                </a:solidFill>
                <a:latin typeface="Calibri" pitchFamily="34" charset="0"/>
                <a:ea typeface="Calibri" pitchFamily="34" charset="-122"/>
                <a:cs typeface="Calibri" pitchFamily="34" charset="-120"/>
              </a:rPr>
              <a:t>Six governed MCP servers · deterministic orchestrations exposed as tools · versioned, permission-scoped schemas</a:t>
            </a:r>
            <a:endParaRPr lang="en-US" sz="1030" dirty="0"/>
          </a:p>
        </p:txBody>
      </p:sp>
      <p:sp>
        <p:nvSpPr>
          <p:cNvPr id="22" name="Shape 20"/>
          <p:cNvSpPr/>
          <p:nvPr/>
        </p:nvSpPr>
        <p:spPr>
          <a:xfrm>
            <a:off x="548640" y="3401568"/>
            <a:ext cx="2606040" cy="448056"/>
          </a:xfrm>
          <a:prstGeom prst="roundRect">
            <a:avLst>
              <a:gd name="adj" fmla="val 10204"/>
            </a:avLst>
          </a:prstGeom>
          <a:solidFill>
            <a:srgbClr val="0A2240"/>
          </a:solidFill>
          <a:ln w="12700">
            <a:solidFill>
              <a:srgbClr val="333333"/>
            </a:solidFill>
            <a:prstDash val="solid"/>
          </a:ln>
        </p:spPr>
      </p:sp>
      <p:sp>
        <p:nvSpPr>
          <p:cNvPr id="23" name="Text 21"/>
          <p:cNvSpPr/>
          <p:nvPr/>
        </p:nvSpPr>
        <p:spPr>
          <a:xfrm>
            <a:off x="658368" y="3401568"/>
            <a:ext cx="2386584" cy="44805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Gateway &amp; policy</a:t>
            </a:r>
            <a:endParaRPr lang="en-US" sz="1150" dirty="0"/>
          </a:p>
        </p:txBody>
      </p:sp>
      <p:sp>
        <p:nvSpPr>
          <p:cNvPr id="24" name="Shape 22"/>
          <p:cNvSpPr/>
          <p:nvPr/>
        </p:nvSpPr>
        <p:spPr>
          <a:xfrm>
            <a:off x="3291840" y="3401568"/>
            <a:ext cx="8351215" cy="448056"/>
          </a:xfrm>
          <a:prstGeom prst="roundRect">
            <a:avLst>
              <a:gd name="adj" fmla="val 10204"/>
            </a:avLst>
          </a:prstGeom>
          <a:solidFill>
            <a:srgbClr val="FFFFFF"/>
          </a:solidFill>
          <a:ln w="12700">
            <a:solidFill>
              <a:srgbClr val="E4EBF2"/>
            </a:solidFill>
            <a:prstDash val="solid"/>
          </a:ln>
        </p:spPr>
      </p:sp>
      <p:sp>
        <p:nvSpPr>
          <p:cNvPr id="25" name="Text 23"/>
          <p:cNvSpPr/>
          <p:nvPr/>
        </p:nvSpPr>
        <p:spPr>
          <a:xfrm>
            <a:off x="3456432" y="3401568"/>
            <a:ext cx="8022031" cy="448056"/>
          </a:xfrm>
          <a:prstGeom prst="rect">
            <a:avLst/>
          </a:prstGeom>
          <a:noFill/>
          <a:ln/>
        </p:spPr>
        <p:txBody>
          <a:bodyPr wrap="square" lIns="0" tIns="0" rIns="0" bIns="0" rtlCol="0" anchor="ctr"/>
          <a:lstStyle/>
          <a:p>
            <a:pPr marL="0" indent="0">
              <a:buNone/>
            </a:pPr>
            <a:r>
              <a:rPr lang="en-US" sz="1030" dirty="0">
                <a:solidFill>
                  <a:srgbClr val="16222E"/>
                </a:solidFill>
                <a:latin typeface="Calibri" pitchFamily="34" charset="0"/>
                <a:ea typeface="Calibri" pitchFamily="34" charset="-122"/>
                <a:cs typeface="Calibri" pitchFamily="34" charset="-120"/>
              </a:rPr>
              <a:t>Model routing and fallback · spend caps and rate limits · PII redaction · prompt-injection defence · residency enforcement · request capture</a:t>
            </a:r>
            <a:endParaRPr lang="en-US" sz="1030" dirty="0"/>
          </a:p>
        </p:txBody>
      </p:sp>
      <p:sp>
        <p:nvSpPr>
          <p:cNvPr id="26" name="Shape 24"/>
          <p:cNvSpPr/>
          <p:nvPr/>
        </p:nvSpPr>
        <p:spPr>
          <a:xfrm>
            <a:off x="548640" y="3899916"/>
            <a:ext cx="2606040" cy="448056"/>
          </a:xfrm>
          <a:prstGeom prst="roundRect">
            <a:avLst>
              <a:gd name="adj" fmla="val 10204"/>
            </a:avLst>
          </a:prstGeom>
          <a:solidFill>
            <a:srgbClr val="1B6CA8"/>
          </a:solidFill>
          <a:ln w="12700">
            <a:solidFill>
              <a:srgbClr val="333333"/>
            </a:solidFill>
            <a:prstDash val="solid"/>
          </a:ln>
        </p:spPr>
      </p:sp>
      <p:sp>
        <p:nvSpPr>
          <p:cNvPr id="27" name="Text 25"/>
          <p:cNvSpPr/>
          <p:nvPr/>
        </p:nvSpPr>
        <p:spPr>
          <a:xfrm>
            <a:off x="658368" y="3899916"/>
            <a:ext cx="2386584" cy="44805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Models</a:t>
            </a:r>
            <a:endParaRPr lang="en-US" sz="1150" dirty="0"/>
          </a:p>
        </p:txBody>
      </p:sp>
      <p:sp>
        <p:nvSpPr>
          <p:cNvPr id="28" name="Shape 26"/>
          <p:cNvSpPr/>
          <p:nvPr/>
        </p:nvSpPr>
        <p:spPr>
          <a:xfrm>
            <a:off x="3291840" y="3899916"/>
            <a:ext cx="8351215" cy="448056"/>
          </a:xfrm>
          <a:prstGeom prst="roundRect">
            <a:avLst>
              <a:gd name="adj" fmla="val 10204"/>
            </a:avLst>
          </a:prstGeom>
          <a:solidFill>
            <a:srgbClr val="F1F5F9"/>
          </a:solidFill>
          <a:ln w="12700">
            <a:solidFill>
              <a:srgbClr val="E4EBF2"/>
            </a:solidFill>
            <a:prstDash val="solid"/>
          </a:ln>
        </p:spPr>
      </p:sp>
      <p:sp>
        <p:nvSpPr>
          <p:cNvPr id="29" name="Text 27"/>
          <p:cNvSpPr/>
          <p:nvPr/>
        </p:nvSpPr>
        <p:spPr>
          <a:xfrm>
            <a:off x="3456432" y="3899916"/>
            <a:ext cx="8022031" cy="448056"/>
          </a:xfrm>
          <a:prstGeom prst="rect">
            <a:avLst/>
          </a:prstGeom>
          <a:noFill/>
          <a:ln/>
        </p:spPr>
        <p:txBody>
          <a:bodyPr wrap="square" lIns="0" tIns="0" rIns="0" bIns="0" rtlCol="0" anchor="ctr"/>
          <a:lstStyle/>
          <a:p>
            <a:pPr marL="0" indent="0">
              <a:buNone/>
            </a:pPr>
            <a:r>
              <a:rPr lang="en-US" sz="1030" dirty="0">
                <a:solidFill>
                  <a:srgbClr val="16222E"/>
                </a:solidFill>
                <a:latin typeface="Calibri" pitchFamily="34" charset="0"/>
                <a:ea typeface="Calibri" pitchFamily="34" charset="-122"/>
                <a:cs typeface="Calibri" pitchFamily="34" charset="-120"/>
              </a:rPr>
              <a:t>Frontier models incl. Claude · open-weight models for narrow tasks · embedding and reranking models · task-based routing</a:t>
            </a:r>
            <a:endParaRPr lang="en-US" sz="1030" dirty="0"/>
          </a:p>
        </p:txBody>
      </p:sp>
      <p:sp>
        <p:nvSpPr>
          <p:cNvPr id="30" name="Shape 28"/>
          <p:cNvSpPr/>
          <p:nvPr/>
        </p:nvSpPr>
        <p:spPr>
          <a:xfrm>
            <a:off x="548640" y="4398264"/>
            <a:ext cx="2606040" cy="448056"/>
          </a:xfrm>
          <a:prstGeom prst="roundRect">
            <a:avLst>
              <a:gd name="adj" fmla="val 10204"/>
            </a:avLst>
          </a:prstGeom>
          <a:solidFill>
            <a:srgbClr val="0A2240"/>
          </a:solidFill>
          <a:ln w="12700">
            <a:solidFill>
              <a:srgbClr val="333333"/>
            </a:solidFill>
            <a:prstDash val="solid"/>
          </a:ln>
        </p:spPr>
      </p:sp>
      <p:sp>
        <p:nvSpPr>
          <p:cNvPr id="31" name="Text 29"/>
          <p:cNvSpPr/>
          <p:nvPr/>
        </p:nvSpPr>
        <p:spPr>
          <a:xfrm>
            <a:off x="658368" y="4398264"/>
            <a:ext cx="2386584" cy="44805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Data &amp; governance</a:t>
            </a:r>
            <a:endParaRPr lang="en-US" sz="1150" dirty="0"/>
          </a:p>
        </p:txBody>
      </p:sp>
      <p:sp>
        <p:nvSpPr>
          <p:cNvPr id="32" name="Shape 30"/>
          <p:cNvSpPr/>
          <p:nvPr/>
        </p:nvSpPr>
        <p:spPr>
          <a:xfrm>
            <a:off x="3291840" y="4398264"/>
            <a:ext cx="8351215" cy="448056"/>
          </a:xfrm>
          <a:prstGeom prst="roundRect">
            <a:avLst>
              <a:gd name="adj" fmla="val 10204"/>
            </a:avLst>
          </a:prstGeom>
          <a:solidFill>
            <a:srgbClr val="FFFFFF"/>
          </a:solidFill>
          <a:ln w="12700">
            <a:solidFill>
              <a:srgbClr val="E4EBF2"/>
            </a:solidFill>
            <a:prstDash val="solid"/>
          </a:ln>
        </p:spPr>
      </p:sp>
      <p:sp>
        <p:nvSpPr>
          <p:cNvPr id="33" name="Text 31"/>
          <p:cNvSpPr/>
          <p:nvPr/>
        </p:nvSpPr>
        <p:spPr>
          <a:xfrm>
            <a:off x="3456432" y="4398264"/>
            <a:ext cx="8022031" cy="448056"/>
          </a:xfrm>
          <a:prstGeom prst="rect">
            <a:avLst/>
          </a:prstGeom>
          <a:noFill/>
          <a:ln/>
        </p:spPr>
        <p:txBody>
          <a:bodyPr wrap="square" lIns="0" tIns="0" rIns="0" bIns="0" rtlCol="0" anchor="ctr"/>
          <a:lstStyle/>
          <a:p>
            <a:pPr marL="0" indent="0">
              <a:buNone/>
            </a:pPr>
            <a:r>
              <a:rPr lang="en-US" sz="1030" dirty="0">
                <a:solidFill>
                  <a:srgbClr val="16222E"/>
                </a:solidFill>
                <a:latin typeface="Calibri" pitchFamily="34" charset="0"/>
                <a:ea typeface="Calibri" pitchFamily="34" charset="-122"/>
                <a:cs typeface="Calibri" pitchFamily="34" charset="-120"/>
              </a:rPr>
              <a:t>Databricks lakehouse · Unity Catalog over data, models, agents, MCP services and skills · vector and search indexes · lineage</a:t>
            </a:r>
            <a:endParaRPr lang="en-US" sz="1030" dirty="0"/>
          </a:p>
        </p:txBody>
      </p:sp>
      <p:sp>
        <p:nvSpPr>
          <p:cNvPr id="34" name="Shape 32"/>
          <p:cNvSpPr/>
          <p:nvPr/>
        </p:nvSpPr>
        <p:spPr>
          <a:xfrm>
            <a:off x="548640" y="4896612"/>
            <a:ext cx="2606040" cy="448056"/>
          </a:xfrm>
          <a:prstGeom prst="roundRect">
            <a:avLst>
              <a:gd name="adj" fmla="val 10204"/>
            </a:avLst>
          </a:prstGeom>
          <a:solidFill>
            <a:srgbClr val="1B6CA8"/>
          </a:solidFill>
          <a:ln w="12700">
            <a:solidFill>
              <a:srgbClr val="333333"/>
            </a:solidFill>
            <a:prstDash val="solid"/>
          </a:ln>
        </p:spPr>
      </p:sp>
      <p:sp>
        <p:nvSpPr>
          <p:cNvPr id="35" name="Text 33"/>
          <p:cNvSpPr/>
          <p:nvPr/>
        </p:nvSpPr>
        <p:spPr>
          <a:xfrm>
            <a:off x="658368" y="4896612"/>
            <a:ext cx="2386584" cy="44805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Delivery &amp; assurance</a:t>
            </a:r>
            <a:endParaRPr lang="en-US" sz="1150" dirty="0"/>
          </a:p>
        </p:txBody>
      </p:sp>
      <p:sp>
        <p:nvSpPr>
          <p:cNvPr id="36" name="Shape 34"/>
          <p:cNvSpPr/>
          <p:nvPr/>
        </p:nvSpPr>
        <p:spPr>
          <a:xfrm>
            <a:off x="3291840" y="4896612"/>
            <a:ext cx="8351215" cy="448056"/>
          </a:xfrm>
          <a:prstGeom prst="roundRect">
            <a:avLst>
              <a:gd name="adj" fmla="val 10204"/>
            </a:avLst>
          </a:prstGeom>
          <a:solidFill>
            <a:srgbClr val="F1F5F9"/>
          </a:solidFill>
          <a:ln w="12700">
            <a:solidFill>
              <a:srgbClr val="E4EBF2"/>
            </a:solidFill>
            <a:prstDash val="solid"/>
          </a:ln>
        </p:spPr>
      </p:sp>
      <p:sp>
        <p:nvSpPr>
          <p:cNvPr id="37" name="Text 35"/>
          <p:cNvSpPr/>
          <p:nvPr/>
        </p:nvSpPr>
        <p:spPr>
          <a:xfrm>
            <a:off x="3456432" y="4896612"/>
            <a:ext cx="8022031" cy="448056"/>
          </a:xfrm>
          <a:prstGeom prst="rect">
            <a:avLst/>
          </a:prstGeom>
          <a:noFill/>
          <a:ln/>
        </p:spPr>
        <p:txBody>
          <a:bodyPr wrap="square" lIns="0" tIns="0" rIns="0" bIns="0" rtlCol="0" anchor="ctr"/>
          <a:lstStyle/>
          <a:p>
            <a:pPr marL="0" indent="0">
              <a:buNone/>
            </a:pPr>
            <a:r>
              <a:rPr lang="en-US" sz="1030" dirty="0">
                <a:solidFill>
                  <a:srgbClr val="16222E"/>
                </a:solidFill>
                <a:latin typeface="Calibri" pitchFamily="34" charset="0"/>
                <a:ea typeface="Calibri" pitchFamily="34" charset="-122"/>
                <a:cs typeface="Calibri" pitchFamily="34" charset="-120"/>
              </a:rPr>
              <a:t>Harness pipelines and Agent DLC · evaluation harness · OpenTelemetry tracing · cost attribution · drift and regression detection</a:t>
            </a:r>
            <a:endParaRPr lang="en-US" sz="1030" dirty="0"/>
          </a:p>
        </p:txBody>
      </p:sp>
      <p:sp>
        <p:nvSpPr>
          <p:cNvPr id="38" name="Shape 36"/>
          <p:cNvSpPr/>
          <p:nvPr/>
        </p:nvSpPr>
        <p:spPr>
          <a:xfrm>
            <a:off x="548640" y="5394960"/>
            <a:ext cx="2606040" cy="448056"/>
          </a:xfrm>
          <a:prstGeom prst="roundRect">
            <a:avLst>
              <a:gd name="adj" fmla="val 10204"/>
            </a:avLst>
          </a:prstGeom>
          <a:solidFill>
            <a:srgbClr val="1B6CA8"/>
          </a:solidFill>
          <a:ln w="12700">
            <a:solidFill>
              <a:srgbClr val="333333"/>
            </a:solidFill>
            <a:prstDash val="solid"/>
          </a:ln>
        </p:spPr>
      </p:sp>
      <p:sp>
        <p:nvSpPr>
          <p:cNvPr id="39" name="Text 37"/>
          <p:cNvSpPr/>
          <p:nvPr/>
        </p:nvSpPr>
        <p:spPr>
          <a:xfrm>
            <a:off x="658368" y="5394960"/>
            <a:ext cx="2386584" cy="44805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Systems of record</a:t>
            </a:r>
            <a:endParaRPr lang="en-US" sz="1150" dirty="0"/>
          </a:p>
        </p:txBody>
      </p:sp>
      <p:sp>
        <p:nvSpPr>
          <p:cNvPr id="40" name="Shape 38"/>
          <p:cNvSpPr/>
          <p:nvPr/>
        </p:nvSpPr>
        <p:spPr>
          <a:xfrm>
            <a:off x="3291840" y="5394960"/>
            <a:ext cx="8351215" cy="448056"/>
          </a:xfrm>
          <a:prstGeom prst="roundRect">
            <a:avLst>
              <a:gd name="adj" fmla="val 10204"/>
            </a:avLst>
          </a:prstGeom>
          <a:solidFill>
            <a:srgbClr val="FFFFFF"/>
          </a:solidFill>
          <a:ln w="12700">
            <a:solidFill>
              <a:srgbClr val="E4EBF2"/>
            </a:solidFill>
            <a:prstDash val="solid"/>
          </a:ln>
        </p:spPr>
      </p:sp>
      <p:sp>
        <p:nvSpPr>
          <p:cNvPr id="41" name="Text 39"/>
          <p:cNvSpPr/>
          <p:nvPr/>
        </p:nvSpPr>
        <p:spPr>
          <a:xfrm>
            <a:off x="3456432" y="5394960"/>
            <a:ext cx="8022031" cy="448056"/>
          </a:xfrm>
          <a:prstGeom prst="rect">
            <a:avLst/>
          </a:prstGeom>
          <a:noFill/>
          <a:ln/>
        </p:spPr>
        <p:txBody>
          <a:bodyPr wrap="square" lIns="0" tIns="0" rIns="0" bIns="0" rtlCol="0" anchor="ctr"/>
          <a:lstStyle/>
          <a:p>
            <a:pPr marL="0" indent="0">
              <a:buNone/>
            </a:pPr>
            <a:r>
              <a:rPr lang="en-US" sz="1030" dirty="0">
                <a:solidFill>
                  <a:srgbClr val="16222E"/>
                </a:solidFill>
                <a:latin typeface="Calibri" pitchFamily="34" charset="0"/>
                <a:ea typeface="Calibri" pitchFamily="34" charset="-122"/>
                <a:cs typeface="Calibri" pitchFamily="34" charset="-120"/>
              </a:rPr>
              <a:t>JD Edwards EnterpriseOne · SAP · MES and plant historians · WMS · CRM · document and quality repositories</a:t>
            </a:r>
            <a:endParaRPr lang="en-US" sz="1030" dirty="0"/>
          </a:p>
        </p:txBody>
      </p:sp>
      <p:sp>
        <p:nvSpPr>
          <p:cNvPr id="42" name="Text 40"/>
          <p:cNvSpPr/>
          <p:nvPr/>
        </p:nvSpPr>
        <p:spPr>
          <a:xfrm>
            <a:off x="548640" y="5961888"/>
            <a:ext cx="11094415" cy="274320"/>
          </a:xfrm>
          <a:prstGeom prst="rect">
            <a:avLst/>
          </a:prstGeom>
          <a:noFill/>
          <a:ln/>
        </p:spPr>
        <p:txBody>
          <a:bodyPr wrap="square" lIns="0" tIns="0" rIns="0" bIns="0" rtlCol="0" anchor="ctr"/>
          <a:lstStyle/>
          <a:p>
            <a:pPr marL="0" indent="0">
              <a:buNone/>
            </a:pPr>
            <a:r>
              <a:rPr lang="en-US" sz="1200" b="1" i="1" dirty="0">
                <a:solidFill>
                  <a:srgbClr val="1B6CA8"/>
                </a:solidFill>
                <a:latin typeface="Calibri" pitchFamily="34" charset="0"/>
                <a:ea typeface="Calibri" pitchFamily="34" charset="-122"/>
                <a:cs typeface="Calibri" pitchFamily="34" charset="-120"/>
              </a:rPr>
              <a:t>Principle: one gateway, one catalogue, one tool protocol. Everything else is replaceable.</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5 · ADLC</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ADLC — the AI development lifecycle</a:t>
            </a:r>
            <a:endParaRPr lang="en-US" sz="3400" dirty="0"/>
          </a:p>
        </p:txBody>
      </p:sp>
      <p:sp>
        <p:nvSpPr>
          <p:cNvPr id="4" name="Text 2"/>
          <p:cNvSpPr/>
          <p:nvPr/>
        </p:nvSpPr>
        <p:spPr>
          <a:xfrm>
            <a:off x="548640" y="1280160"/>
            <a:ext cx="11094415" cy="292608"/>
          </a:xfrm>
          <a:prstGeom prst="rect">
            <a:avLst/>
          </a:prstGeom>
          <a:noFill/>
          <a:ln/>
        </p:spPr>
        <p:txBody>
          <a:bodyPr wrap="square" lIns="0" tIns="0" rIns="0" bIns="0" rtlCol="0" anchor="ctr"/>
          <a:lstStyle/>
          <a:p>
            <a:pPr marL="0" indent="0">
              <a:buNone/>
            </a:pPr>
            <a:r>
              <a:rPr lang="en-US" sz="1250" i="1" dirty="0">
                <a:solidFill>
                  <a:srgbClr val="5A6B7B"/>
                </a:solidFill>
                <a:latin typeface="Calibri" pitchFamily="34" charset="0"/>
                <a:ea typeface="Calibri" pitchFamily="34" charset="-122"/>
                <a:cs typeface="Calibri" pitchFamily="34" charset="-120"/>
              </a:rPr>
              <a:t>How an idea becomes a governed agent in production, and how it gets safely retired.</a:t>
            </a:r>
            <a:endParaRPr lang="en-US" sz="1250" dirty="0"/>
          </a:p>
        </p:txBody>
      </p:sp>
      <p:sp>
        <p:nvSpPr>
          <p:cNvPr id="5" name="Text 3"/>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6" name="Text 4"/>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33</a:t>
            </a:r>
            <a:endParaRPr lang="en-US" sz="900" dirty="0"/>
          </a:p>
        </p:txBody>
      </p:sp>
      <p:sp>
        <p:nvSpPr>
          <p:cNvPr id="7" name="Shape 5"/>
          <p:cNvSpPr/>
          <p:nvPr/>
        </p:nvSpPr>
        <p:spPr>
          <a:xfrm>
            <a:off x="548640" y="1737360"/>
            <a:ext cx="2595296" cy="2103120"/>
          </a:xfrm>
          <a:prstGeom prst="roundRect">
            <a:avLst>
              <a:gd name="adj" fmla="val 3478"/>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8" name="Shape 6"/>
          <p:cNvSpPr/>
          <p:nvPr/>
        </p:nvSpPr>
        <p:spPr>
          <a:xfrm>
            <a:off x="768096" y="1901952"/>
            <a:ext cx="402336" cy="402336"/>
          </a:xfrm>
          <a:prstGeom prst="ellipse">
            <a:avLst/>
          </a:prstGeom>
          <a:solidFill>
            <a:srgbClr val="1B6CA8"/>
          </a:solidFill>
          <a:ln w="12700">
            <a:solidFill>
              <a:srgbClr val="1B6CA8"/>
            </a:solidFill>
            <a:prstDash val="solid"/>
          </a:ln>
        </p:spPr>
      </p:sp>
      <p:sp>
        <p:nvSpPr>
          <p:cNvPr id="9" name="Text 7"/>
          <p:cNvSpPr/>
          <p:nvPr/>
        </p:nvSpPr>
        <p:spPr>
          <a:xfrm>
            <a:off x="768096" y="1901952"/>
            <a:ext cx="402336" cy="40233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01</a:t>
            </a:r>
            <a:endParaRPr lang="en-US" sz="1150" dirty="0"/>
          </a:p>
        </p:txBody>
      </p:sp>
      <p:sp>
        <p:nvSpPr>
          <p:cNvPr id="10" name="Text 8"/>
          <p:cNvSpPr/>
          <p:nvPr/>
        </p:nvSpPr>
        <p:spPr>
          <a:xfrm>
            <a:off x="1261872" y="1901952"/>
            <a:ext cx="1662608" cy="402336"/>
          </a:xfrm>
          <a:prstGeom prst="rect">
            <a:avLst/>
          </a:prstGeom>
          <a:noFill/>
          <a:ln/>
        </p:spPr>
        <p:txBody>
          <a:bodyPr wrap="square" lIns="0" tIns="0" rIns="0" bIns="0" rtlCol="0" anchor="ctr"/>
          <a:lstStyle/>
          <a:p>
            <a:pPr marL="0" indent="0">
              <a:buNone/>
            </a:pPr>
            <a:r>
              <a:rPr lang="en-US" sz="1500" b="1" dirty="0">
                <a:solidFill>
                  <a:srgbClr val="0A2240"/>
                </a:solidFill>
                <a:latin typeface="Cambria" pitchFamily="34" charset="0"/>
                <a:ea typeface="Cambria" pitchFamily="34" charset="-122"/>
                <a:cs typeface="Cambria" pitchFamily="34" charset="-120"/>
              </a:rPr>
              <a:t>Frame</a:t>
            </a:r>
            <a:endParaRPr lang="en-US" sz="1500" dirty="0"/>
          </a:p>
        </p:txBody>
      </p:sp>
      <p:sp>
        <p:nvSpPr>
          <p:cNvPr id="11" name="Text 9"/>
          <p:cNvSpPr/>
          <p:nvPr/>
        </p:nvSpPr>
        <p:spPr>
          <a:xfrm>
            <a:off x="786384" y="2377440"/>
            <a:ext cx="2119808" cy="1371600"/>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Business outcome and owner named</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Deterministic, assisted or agentic decided</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Data classification and residency assessed</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Success measure and gold set defined up front</a:t>
            </a:r>
            <a:endParaRPr lang="en-US" sz="980" dirty="0"/>
          </a:p>
        </p:txBody>
      </p:sp>
      <p:sp>
        <p:nvSpPr>
          <p:cNvPr id="12" name="Shape 10"/>
          <p:cNvSpPr/>
          <p:nvPr/>
        </p:nvSpPr>
        <p:spPr>
          <a:xfrm>
            <a:off x="3381680" y="1737360"/>
            <a:ext cx="2595296" cy="2103120"/>
          </a:xfrm>
          <a:prstGeom prst="roundRect">
            <a:avLst>
              <a:gd name="adj" fmla="val 3478"/>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13" name="Shape 11"/>
          <p:cNvSpPr/>
          <p:nvPr/>
        </p:nvSpPr>
        <p:spPr>
          <a:xfrm>
            <a:off x="3601136" y="1901952"/>
            <a:ext cx="402336" cy="402336"/>
          </a:xfrm>
          <a:prstGeom prst="ellipse">
            <a:avLst/>
          </a:prstGeom>
          <a:solidFill>
            <a:srgbClr val="1B6CA8"/>
          </a:solidFill>
          <a:ln w="12700">
            <a:solidFill>
              <a:srgbClr val="1B6CA8"/>
            </a:solidFill>
            <a:prstDash val="solid"/>
          </a:ln>
        </p:spPr>
      </p:sp>
      <p:sp>
        <p:nvSpPr>
          <p:cNvPr id="14" name="Text 12"/>
          <p:cNvSpPr/>
          <p:nvPr/>
        </p:nvSpPr>
        <p:spPr>
          <a:xfrm>
            <a:off x="3601136" y="1901952"/>
            <a:ext cx="402336" cy="40233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02</a:t>
            </a:r>
            <a:endParaRPr lang="en-US" sz="1150" dirty="0"/>
          </a:p>
        </p:txBody>
      </p:sp>
      <p:sp>
        <p:nvSpPr>
          <p:cNvPr id="15" name="Text 13"/>
          <p:cNvSpPr/>
          <p:nvPr/>
        </p:nvSpPr>
        <p:spPr>
          <a:xfrm>
            <a:off x="4094912" y="1901952"/>
            <a:ext cx="1662608" cy="402336"/>
          </a:xfrm>
          <a:prstGeom prst="rect">
            <a:avLst/>
          </a:prstGeom>
          <a:noFill/>
          <a:ln/>
        </p:spPr>
        <p:txBody>
          <a:bodyPr wrap="square" lIns="0" tIns="0" rIns="0" bIns="0" rtlCol="0" anchor="ctr"/>
          <a:lstStyle/>
          <a:p>
            <a:pPr marL="0" indent="0">
              <a:buNone/>
            </a:pPr>
            <a:r>
              <a:rPr lang="en-US" sz="1500" b="1" dirty="0">
                <a:solidFill>
                  <a:srgbClr val="0A2240"/>
                </a:solidFill>
                <a:latin typeface="Cambria" pitchFamily="34" charset="0"/>
                <a:ea typeface="Cambria" pitchFamily="34" charset="-122"/>
                <a:cs typeface="Cambria" pitchFamily="34" charset="-120"/>
              </a:rPr>
              <a:t>Build</a:t>
            </a:r>
            <a:endParaRPr lang="en-US" sz="1500" dirty="0"/>
          </a:p>
        </p:txBody>
      </p:sp>
      <p:sp>
        <p:nvSpPr>
          <p:cNvPr id="16" name="Text 14"/>
          <p:cNvSpPr/>
          <p:nvPr/>
        </p:nvSpPr>
        <p:spPr>
          <a:xfrm>
            <a:off x="3619424" y="2377440"/>
            <a:ext cx="2119808" cy="1371600"/>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Context pack authored and versioned</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Tool manifest scoped to least privilege</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Agent defined as code — prompt, context, tools, policy</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Peer review as with application code</a:t>
            </a:r>
            <a:endParaRPr lang="en-US" sz="980" dirty="0"/>
          </a:p>
        </p:txBody>
      </p:sp>
      <p:sp>
        <p:nvSpPr>
          <p:cNvPr id="17" name="Shape 15"/>
          <p:cNvSpPr/>
          <p:nvPr/>
        </p:nvSpPr>
        <p:spPr>
          <a:xfrm>
            <a:off x="6214720" y="1737360"/>
            <a:ext cx="2595296" cy="2103120"/>
          </a:xfrm>
          <a:prstGeom prst="roundRect">
            <a:avLst>
              <a:gd name="adj" fmla="val 3478"/>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18" name="Shape 16"/>
          <p:cNvSpPr/>
          <p:nvPr/>
        </p:nvSpPr>
        <p:spPr>
          <a:xfrm>
            <a:off x="6434176" y="1901952"/>
            <a:ext cx="402336" cy="402336"/>
          </a:xfrm>
          <a:prstGeom prst="ellipse">
            <a:avLst/>
          </a:prstGeom>
          <a:solidFill>
            <a:srgbClr val="1B6CA8"/>
          </a:solidFill>
          <a:ln w="12700">
            <a:solidFill>
              <a:srgbClr val="1B6CA8"/>
            </a:solidFill>
            <a:prstDash val="solid"/>
          </a:ln>
        </p:spPr>
      </p:sp>
      <p:sp>
        <p:nvSpPr>
          <p:cNvPr id="19" name="Text 17"/>
          <p:cNvSpPr/>
          <p:nvPr/>
        </p:nvSpPr>
        <p:spPr>
          <a:xfrm>
            <a:off x="6434176" y="1901952"/>
            <a:ext cx="402336" cy="40233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03</a:t>
            </a:r>
            <a:endParaRPr lang="en-US" sz="1150" dirty="0"/>
          </a:p>
        </p:txBody>
      </p:sp>
      <p:sp>
        <p:nvSpPr>
          <p:cNvPr id="20" name="Text 18"/>
          <p:cNvSpPr/>
          <p:nvPr/>
        </p:nvSpPr>
        <p:spPr>
          <a:xfrm>
            <a:off x="6927952" y="1901952"/>
            <a:ext cx="1662608" cy="402336"/>
          </a:xfrm>
          <a:prstGeom prst="rect">
            <a:avLst/>
          </a:prstGeom>
          <a:noFill/>
          <a:ln/>
        </p:spPr>
        <p:txBody>
          <a:bodyPr wrap="square" lIns="0" tIns="0" rIns="0" bIns="0" rtlCol="0" anchor="ctr"/>
          <a:lstStyle/>
          <a:p>
            <a:pPr marL="0" indent="0">
              <a:buNone/>
            </a:pPr>
            <a:r>
              <a:rPr lang="en-US" sz="1500" b="1" dirty="0">
                <a:solidFill>
                  <a:srgbClr val="0A2240"/>
                </a:solidFill>
                <a:latin typeface="Cambria" pitchFamily="34" charset="0"/>
                <a:ea typeface="Cambria" pitchFamily="34" charset="-122"/>
                <a:cs typeface="Cambria" pitchFamily="34" charset="-120"/>
              </a:rPr>
              <a:t>Evaluate</a:t>
            </a:r>
            <a:endParaRPr lang="en-US" sz="1500" dirty="0"/>
          </a:p>
        </p:txBody>
      </p:sp>
      <p:sp>
        <p:nvSpPr>
          <p:cNvPr id="21" name="Text 19"/>
          <p:cNvSpPr/>
          <p:nvPr/>
        </p:nvSpPr>
        <p:spPr>
          <a:xfrm>
            <a:off x="6452464" y="2377440"/>
            <a:ext cx="2119808" cy="1371600"/>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Run against the gold set; score accuracy, groundedness, refusal behaviour</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Adversarial and prompt-injection testing</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Cost and latency profiling</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Sign-off by the domain steward</a:t>
            </a:r>
            <a:endParaRPr lang="en-US" sz="980" dirty="0"/>
          </a:p>
        </p:txBody>
      </p:sp>
      <p:sp>
        <p:nvSpPr>
          <p:cNvPr id="22" name="Shape 20"/>
          <p:cNvSpPr/>
          <p:nvPr/>
        </p:nvSpPr>
        <p:spPr>
          <a:xfrm>
            <a:off x="9047759" y="1737360"/>
            <a:ext cx="2595296" cy="2103120"/>
          </a:xfrm>
          <a:prstGeom prst="roundRect">
            <a:avLst>
              <a:gd name="adj" fmla="val 3478"/>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23" name="Shape 21"/>
          <p:cNvSpPr/>
          <p:nvPr/>
        </p:nvSpPr>
        <p:spPr>
          <a:xfrm>
            <a:off x="9267215" y="1901952"/>
            <a:ext cx="402336" cy="402336"/>
          </a:xfrm>
          <a:prstGeom prst="ellipse">
            <a:avLst/>
          </a:prstGeom>
          <a:solidFill>
            <a:srgbClr val="1B6CA8"/>
          </a:solidFill>
          <a:ln w="12700">
            <a:solidFill>
              <a:srgbClr val="1B6CA8"/>
            </a:solidFill>
            <a:prstDash val="solid"/>
          </a:ln>
        </p:spPr>
      </p:sp>
      <p:sp>
        <p:nvSpPr>
          <p:cNvPr id="24" name="Text 22"/>
          <p:cNvSpPr/>
          <p:nvPr/>
        </p:nvSpPr>
        <p:spPr>
          <a:xfrm>
            <a:off x="9267215" y="1901952"/>
            <a:ext cx="402336" cy="40233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04</a:t>
            </a:r>
            <a:endParaRPr lang="en-US" sz="1150" dirty="0"/>
          </a:p>
        </p:txBody>
      </p:sp>
      <p:sp>
        <p:nvSpPr>
          <p:cNvPr id="25" name="Text 23"/>
          <p:cNvSpPr/>
          <p:nvPr/>
        </p:nvSpPr>
        <p:spPr>
          <a:xfrm>
            <a:off x="9760991" y="1901952"/>
            <a:ext cx="1662608" cy="402336"/>
          </a:xfrm>
          <a:prstGeom prst="rect">
            <a:avLst/>
          </a:prstGeom>
          <a:noFill/>
          <a:ln/>
        </p:spPr>
        <p:txBody>
          <a:bodyPr wrap="square" lIns="0" tIns="0" rIns="0" bIns="0" rtlCol="0" anchor="ctr"/>
          <a:lstStyle/>
          <a:p>
            <a:pPr marL="0" indent="0">
              <a:buNone/>
            </a:pPr>
            <a:r>
              <a:rPr lang="en-US" sz="1500" b="1" dirty="0">
                <a:solidFill>
                  <a:srgbClr val="0A2240"/>
                </a:solidFill>
                <a:latin typeface="Cambria" pitchFamily="34" charset="0"/>
                <a:ea typeface="Cambria" pitchFamily="34" charset="-122"/>
                <a:cs typeface="Cambria" pitchFamily="34" charset="-120"/>
              </a:rPr>
              <a:t>Release</a:t>
            </a:r>
            <a:endParaRPr lang="en-US" sz="1500" dirty="0"/>
          </a:p>
        </p:txBody>
      </p:sp>
      <p:sp>
        <p:nvSpPr>
          <p:cNvPr id="26" name="Text 24"/>
          <p:cNvSpPr/>
          <p:nvPr/>
        </p:nvSpPr>
        <p:spPr>
          <a:xfrm>
            <a:off x="9285503" y="2377440"/>
            <a:ext cx="2119808" cy="1371600"/>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Promote through dev, test and production</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Canary to a limited user group first</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Rollback plan and kill switch tested, not assumed</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Registered in the catalogue with an owner and SLA</a:t>
            </a:r>
            <a:endParaRPr lang="en-US" sz="980" dirty="0"/>
          </a:p>
        </p:txBody>
      </p:sp>
      <p:sp>
        <p:nvSpPr>
          <p:cNvPr id="27" name="Shape 25"/>
          <p:cNvSpPr/>
          <p:nvPr/>
        </p:nvSpPr>
        <p:spPr>
          <a:xfrm>
            <a:off x="548640" y="3950208"/>
            <a:ext cx="2595296" cy="2103120"/>
          </a:xfrm>
          <a:prstGeom prst="roundRect">
            <a:avLst>
              <a:gd name="adj" fmla="val 3478"/>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28" name="Shape 26"/>
          <p:cNvSpPr/>
          <p:nvPr/>
        </p:nvSpPr>
        <p:spPr>
          <a:xfrm>
            <a:off x="768096" y="4114800"/>
            <a:ext cx="402336" cy="402336"/>
          </a:xfrm>
          <a:prstGeom prst="ellipse">
            <a:avLst/>
          </a:prstGeom>
          <a:solidFill>
            <a:srgbClr val="1B6CA8"/>
          </a:solidFill>
          <a:ln w="12700">
            <a:solidFill>
              <a:srgbClr val="1B6CA8"/>
            </a:solidFill>
            <a:prstDash val="solid"/>
          </a:ln>
        </p:spPr>
      </p:sp>
      <p:sp>
        <p:nvSpPr>
          <p:cNvPr id="29" name="Text 27"/>
          <p:cNvSpPr/>
          <p:nvPr/>
        </p:nvSpPr>
        <p:spPr>
          <a:xfrm>
            <a:off x="768096" y="4114800"/>
            <a:ext cx="402336" cy="40233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05</a:t>
            </a:r>
            <a:endParaRPr lang="en-US" sz="1150" dirty="0"/>
          </a:p>
        </p:txBody>
      </p:sp>
      <p:sp>
        <p:nvSpPr>
          <p:cNvPr id="30" name="Text 28"/>
          <p:cNvSpPr/>
          <p:nvPr/>
        </p:nvSpPr>
        <p:spPr>
          <a:xfrm>
            <a:off x="1261872" y="4114800"/>
            <a:ext cx="1662608" cy="402336"/>
          </a:xfrm>
          <a:prstGeom prst="rect">
            <a:avLst/>
          </a:prstGeom>
          <a:noFill/>
          <a:ln/>
        </p:spPr>
        <p:txBody>
          <a:bodyPr wrap="square" lIns="0" tIns="0" rIns="0" bIns="0" rtlCol="0" anchor="ctr"/>
          <a:lstStyle/>
          <a:p>
            <a:pPr marL="0" indent="0">
              <a:buNone/>
            </a:pPr>
            <a:r>
              <a:rPr lang="en-US" sz="1500" b="1" dirty="0">
                <a:solidFill>
                  <a:srgbClr val="0A2240"/>
                </a:solidFill>
                <a:latin typeface="Cambria" pitchFamily="34" charset="0"/>
                <a:ea typeface="Cambria" pitchFamily="34" charset="-122"/>
                <a:cs typeface="Cambria" pitchFamily="34" charset="-120"/>
              </a:rPr>
              <a:t>Operate</a:t>
            </a:r>
            <a:endParaRPr lang="en-US" sz="1500" dirty="0"/>
          </a:p>
        </p:txBody>
      </p:sp>
      <p:sp>
        <p:nvSpPr>
          <p:cNvPr id="31" name="Text 29"/>
          <p:cNvSpPr/>
          <p:nvPr/>
        </p:nvSpPr>
        <p:spPr>
          <a:xfrm>
            <a:off x="786384" y="4590288"/>
            <a:ext cx="2119808" cy="1371600"/>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Trace every run: context, tools, model version, cost, outcome</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Human review queue for low-confidence output</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Incident process for agent failures</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Spend and usage reported to the domain</a:t>
            </a:r>
            <a:endParaRPr lang="en-US" sz="980" dirty="0"/>
          </a:p>
        </p:txBody>
      </p:sp>
      <p:sp>
        <p:nvSpPr>
          <p:cNvPr id="32" name="Shape 30"/>
          <p:cNvSpPr/>
          <p:nvPr/>
        </p:nvSpPr>
        <p:spPr>
          <a:xfrm>
            <a:off x="3381680" y="3950208"/>
            <a:ext cx="2595296" cy="2103120"/>
          </a:xfrm>
          <a:prstGeom prst="roundRect">
            <a:avLst>
              <a:gd name="adj" fmla="val 3478"/>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33" name="Shape 31"/>
          <p:cNvSpPr/>
          <p:nvPr/>
        </p:nvSpPr>
        <p:spPr>
          <a:xfrm>
            <a:off x="3601136" y="4114800"/>
            <a:ext cx="402336" cy="402336"/>
          </a:xfrm>
          <a:prstGeom prst="ellipse">
            <a:avLst/>
          </a:prstGeom>
          <a:solidFill>
            <a:srgbClr val="1B6CA8"/>
          </a:solidFill>
          <a:ln w="12700">
            <a:solidFill>
              <a:srgbClr val="1B6CA8"/>
            </a:solidFill>
            <a:prstDash val="solid"/>
          </a:ln>
        </p:spPr>
      </p:sp>
      <p:sp>
        <p:nvSpPr>
          <p:cNvPr id="34" name="Text 32"/>
          <p:cNvSpPr/>
          <p:nvPr/>
        </p:nvSpPr>
        <p:spPr>
          <a:xfrm>
            <a:off x="3601136" y="4114800"/>
            <a:ext cx="402336" cy="40233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06</a:t>
            </a:r>
            <a:endParaRPr lang="en-US" sz="1150" dirty="0"/>
          </a:p>
        </p:txBody>
      </p:sp>
      <p:sp>
        <p:nvSpPr>
          <p:cNvPr id="35" name="Text 33"/>
          <p:cNvSpPr/>
          <p:nvPr/>
        </p:nvSpPr>
        <p:spPr>
          <a:xfrm>
            <a:off x="4094912" y="4114800"/>
            <a:ext cx="1662608" cy="402336"/>
          </a:xfrm>
          <a:prstGeom prst="rect">
            <a:avLst/>
          </a:prstGeom>
          <a:noFill/>
          <a:ln/>
        </p:spPr>
        <p:txBody>
          <a:bodyPr wrap="square" lIns="0" tIns="0" rIns="0" bIns="0" rtlCol="0" anchor="ctr"/>
          <a:lstStyle/>
          <a:p>
            <a:pPr marL="0" indent="0">
              <a:buNone/>
            </a:pPr>
            <a:r>
              <a:rPr lang="en-US" sz="1500" b="1" dirty="0">
                <a:solidFill>
                  <a:srgbClr val="0A2240"/>
                </a:solidFill>
                <a:latin typeface="Cambria" pitchFamily="34" charset="0"/>
                <a:ea typeface="Cambria" pitchFamily="34" charset="-122"/>
                <a:cs typeface="Cambria" pitchFamily="34" charset="-120"/>
              </a:rPr>
              <a:t>Improve</a:t>
            </a:r>
            <a:endParaRPr lang="en-US" sz="1500" dirty="0"/>
          </a:p>
        </p:txBody>
      </p:sp>
      <p:sp>
        <p:nvSpPr>
          <p:cNvPr id="36" name="Text 34"/>
          <p:cNvSpPr/>
          <p:nvPr/>
        </p:nvSpPr>
        <p:spPr>
          <a:xfrm>
            <a:off x="3619424" y="4590288"/>
            <a:ext cx="2119808" cy="1371600"/>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Regression suite on every context or model change</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Drift detection against the gold set</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Feedback loop from review queue into the context pack</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Periodic re-certification</a:t>
            </a:r>
            <a:endParaRPr lang="en-US" sz="980" dirty="0"/>
          </a:p>
        </p:txBody>
      </p:sp>
      <p:sp>
        <p:nvSpPr>
          <p:cNvPr id="37" name="Shape 35"/>
          <p:cNvSpPr/>
          <p:nvPr/>
        </p:nvSpPr>
        <p:spPr>
          <a:xfrm>
            <a:off x="6214720" y="3950208"/>
            <a:ext cx="2595296" cy="2103120"/>
          </a:xfrm>
          <a:prstGeom prst="roundRect">
            <a:avLst>
              <a:gd name="adj" fmla="val 3478"/>
            </a:avLst>
          </a:prstGeom>
          <a:solidFill>
            <a:srgbClr val="F1F5F9"/>
          </a:solidFill>
          <a:ln w="12700">
            <a:solidFill>
              <a:srgbClr val="E4EBF2"/>
            </a:solidFill>
            <a:prstDash val="solid"/>
          </a:ln>
          <a:effectLst>
            <a:outerShdw blurRad="101600" dist="25400" dir="5400000" algn="bl" rotWithShape="0">
              <a:srgbClr val="0A2240">
                <a:alpha val="12000"/>
              </a:srgbClr>
            </a:outerShdw>
          </a:effectLst>
        </p:spPr>
      </p:sp>
      <p:sp>
        <p:nvSpPr>
          <p:cNvPr id="38" name="Shape 36"/>
          <p:cNvSpPr/>
          <p:nvPr/>
        </p:nvSpPr>
        <p:spPr>
          <a:xfrm>
            <a:off x="6434176" y="4114800"/>
            <a:ext cx="402336" cy="402336"/>
          </a:xfrm>
          <a:prstGeom prst="ellipse">
            <a:avLst/>
          </a:prstGeom>
          <a:solidFill>
            <a:srgbClr val="1B6CA8"/>
          </a:solidFill>
          <a:ln w="12700">
            <a:solidFill>
              <a:srgbClr val="1B6CA8"/>
            </a:solidFill>
            <a:prstDash val="solid"/>
          </a:ln>
        </p:spPr>
      </p:sp>
      <p:sp>
        <p:nvSpPr>
          <p:cNvPr id="39" name="Text 37"/>
          <p:cNvSpPr/>
          <p:nvPr/>
        </p:nvSpPr>
        <p:spPr>
          <a:xfrm>
            <a:off x="6434176" y="4114800"/>
            <a:ext cx="402336" cy="40233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07</a:t>
            </a:r>
            <a:endParaRPr lang="en-US" sz="1150" dirty="0"/>
          </a:p>
        </p:txBody>
      </p:sp>
      <p:sp>
        <p:nvSpPr>
          <p:cNvPr id="40" name="Text 38"/>
          <p:cNvSpPr/>
          <p:nvPr/>
        </p:nvSpPr>
        <p:spPr>
          <a:xfrm>
            <a:off x="6927952" y="4114800"/>
            <a:ext cx="1662608" cy="402336"/>
          </a:xfrm>
          <a:prstGeom prst="rect">
            <a:avLst/>
          </a:prstGeom>
          <a:noFill/>
          <a:ln/>
        </p:spPr>
        <p:txBody>
          <a:bodyPr wrap="square" lIns="0" tIns="0" rIns="0" bIns="0" rtlCol="0" anchor="ctr"/>
          <a:lstStyle/>
          <a:p>
            <a:pPr marL="0" indent="0">
              <a:buNone/>
            </a:pPr>
            <a:r>
              <a:rPr lang="en-US" sz="1500" b="1" dirty="0">
                <a:solidFill>
                  <a:srgbClr val="0A2240"/>
                </a:solidFill>
                <a:latin typeface="Cambria" pitchFamily="34" charset="0"/>
                <a:ea typeface="Cambria" pitchFamily="34" charset="-122"/>
                <a:cs typeface="Cambria" pitchFamily="34" charset="-120"/>
              </a:rPr>
              <a:t>Retire</a:t>
            </a:r>
            <a:endParaRPr lang="en-US" sz="1500" dirty="0"/>
          </a:p>
        </p:txBody>
      </p:sp>
      <p:sp>
        <p:nvSpPr>
          <p:cNvPr id="41" name="Text 39"/>
          <p:cNvSpPr/>
          <p:nvPr/>
        </p:nvSpPr>
        <p:spPr>
          <a:xfrm>
            <a:off x="6452464" y="4590288"/>
            <a:ext cx="2119808" cy="1371600"/>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Deprecation notice with a migration path</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Tool credentials revoked</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Traces retained per the retention policy</a:t>
            </a:r>
            <a:endParaRPr lang="en-US" sz="980" dirty="0"/>
          </a:p>
          <a:p>
            <a:pPr marL="342900" indent="-342900">
              <a:lnSpc>
                <a:spcPts val="1250"/>
              </a:lnSpc>
              <a:spcAft>
                <a:spcPts val="400"/>
              </a:spcAft>
              <a:buSzPct val="100000"/>
              <a:buChar char="•"/>
            </a:pPr>
            <a:r>
              <a:rPr lang="en-US" sz="980" dirty="0">
                <a:solidFill>
                  <a:srgbClr val="16222E"/>
                </a:solidFill>
                <a:latin typeface="Calibri" pitchFamily="34" charset="0"/>
                <a:ea typeface="Calibri" pitchFamily="34" charset="-122"/>
                <a:cs typeface="Calibri" pitchFamily="34" charset="-120"/>
              </a:rPr>
              <a:t>Catalogue entry archived, not deleted</a:t>
            </a:r>
            <a:endParaRPr lang="en-US" sz="980" dirty="0"/>
          </a:p>
        </p:txBody>
      </p:sp>
      <p:sp>
        <p:nvSpPr>
          <p:cNvPr id="42" name="Shape 40"/>
          <p:cNvSpPr/>
          <p:nvPr/>
        </p:nvSpPr>
        <p:spPr>
          <a:xfrm>
            <a:off x="9047759" y="3950208"/>
            <a:ext cx="2595296" cy="2103120"/>
          </a:xfrm>
          <a:prstGeom prst="roundRect">
            <a:avLst>
              <a:gd name="adj" fmla="val 3478"/>
            </a:avLst>
          </a:prstGeom>
          <a:solidFill>
            <a:srgbClr val="0A2240"/>
          </a:solidFill>
          <a:ln w="12700">
            <a:solidFill>
              <a:srgbClr val="0A2240"/>
            </a:solidFill>
            <a:prstDash val="solid"/>
          </a:ln>
          <a:effectLst>
            <a:outerShdw blurRad="101600" dist="25400" dir="5400000" algn="bl" rotWithShape="0">
              <a:srgbClr val="0A2240">
                <a:alpha val="12000"/>
              </a:srgbClr>
            </a:outerShdw>
          </a:effectLst>
        </p:spPr>
      </p:sp>
      <p:sp>
        <p:nvSpPr>
          <p:cNvPr id="43" name="Text 41"/>
          <p:cNvSpPr/>
          <p:nvPr/>
        </p:nvSpPr>
        <p:spPr>
          <a:xfrm>
            <a:off x="9285503" y="4114800"/>
            <a:ext cx="2119808" cy="402336"/>
          </a:xfrm>
          <a:prstGeom prst="rect">
            <a:avLst/>
          </a:prstGeom>
          <a:noFill/>
          <a:ln/>
        </p:spPr>
        <p:txBody>
          <a:bodyPr wrap="square" lIns="0" tIns="0" rIns="0" bIns="0" rtlCol="0" anchor="ctr"/>
          <a:lstStyle/>
          <a:p>
            <a:pPr marL="0" indent="0">
              <a:buNone/>
            </a:pPr>
            <a:r>
              <a:rPr lang="en-US" sz="1300" b="1" dirty="0">
                <a:solidFill>
                  <a:srgbClr val="00A9E0"/>
                </a:solidFill>
                <a:latin typeface="Calibri" pitchFamily="34" charset="0"/>
                <a:ea typeface="Calibri" pitchFamily="34" charset="-122"/>
                <a:cs typeface="Calibri" pitchFamily="34" charset="-120"/>
              </a:rPr>
              <a:t>Applies to every agent</a:t>
            </a:r>
            <a:endParaRPr lang="en-US" sz="1300" dirty="0"/>
          </a:p>
        </p:txBody>
      </p:sp>
      <p:sp>
        <p:nvSpPr>
          <p:cNvPr id="44" name="Text 42"/>
          <p:cNvSpPr/>
          <p:nvPr/>
        </p:nvSpPr>
        <p:spPr>
          <a:xfrm>
            <a:off x="9285503" y="4590288"/>
            <a:ext cx="2119808" cy="1371600"/>
          </a:xfrm>
          <a:prstGeom prst="rect">
            <a:avLst/>
          </a:prstGeom>
          <a:noFill/>
          <a:ln/>
        </p:spPr>
        <p:txBody>
          <a:bodyPr wrap="square" lIns="0" tIns="0" rIns="0" bIns="0" rtlCol="0" anchor="t"/>
          <a:lstStyle/>
          <a:p>
            <a:pPr marL="342900" indent="-342900">
              <a:lnSpc>
                <a:spcPts val="1250"/>
              </a:lnSpc>
              <a:spcAft>
                <a:spcPts val="400"/>
              </a:spcAft>
              <a:buSzPct val="100000"/>
              <a:buChar char="•"/>
            </a:pPr>
            <a:r>
              <a:rPr lang="en-US" sz="980" dirty="0">
                <a:solidFill>
                  <a:srgbClr val="FFFFFF"/>
                </a:solidFill>
                <a:latin typeface="Calibri" pitchFamily="34" charset="0"/>
                <a:ea typeface="Calibri" pitchFamily="34" charset="-122"/>
                <a:cs typeface="Calibri" pitchFamily="34" charset="-120"/>
              </a:rPr>
              <a:t>No exceptions for pilots, proofs of concept or vendor-supplied agents</a:t>
            </a:r>
            <a:endParaRPr lang="en-US" sz="980" dirty="0"/>
          </a:p>
          <a:p>
            <a:pPr marL="342900" indent="-342900">
              <a:lnSpc>
                <a:spcPts val="1250"/>
              </a:lnSpc>
              <a:spcAft>
                <a:spcPts val="400"/>
              </a:spcAft>
              <a:buSzPct val="100000"/>
              <a:buChar char="•"/>
            </a:pPr>
            <a:r>
              <a:rPr lang="en-US" sz="980" dirty="0">
                <a:solidFill>
                  <a:srgbClr val="FFFFFF"/>
                </a:solidFill>
                <a:latin typeface="Calibri" pitchFamily="34" charset="0"/>
                <a:ea typeface="Calibri" pitchFamily="34" charset="-122"/>
                <a:cs typeface="Calibri" pitchFamily="34" charset="-120"/>
              </a:rPr>
              <a:t>A third-party agent that touches Ball data enters at Evaluate</a:t>
            </a:r>
            <a:endParaRPr lang="en-US" sz="980" dirty="0"/>
          </a:p>
          <a:p>
            <a:pPr marL="342900" indent="-342900">
              <a:lnSpc>
                <a:spcPts val="1250"/>
              </a:lnSpc>
              <a:spcAft>
                <a:spcPts val="400"/>
              </a:spcAft>
              <a:buSzPct val="100000"/>
              <a:buChar char="•"/>
            </a:pPr>
            <a:r>
              <a:rPr lang="en-US" sz="980" dirty="0">
                <a:solidFill>
                  <a:srgbClr val="FFFFFF"/>
                </a:solidFill>
                <a:latin typeface="Calibri" pitchFamily="34" charset="0"/>
                <a:ea typeface="Calibri" pitchFamily="34" charset="-122"/>
                <a:cs typeface="Calibri" pitchFamily="34" charset="-120"/>
              </a:rPr>
              <a:t>The ADLC is enforced by the pipeline, not by a review board</a:t>
            </a:r>
            <a:endParaRPr lang="en-US" sz="98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6 · MCP</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The six MCP servers to provision</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34</a:t>
            </a:r>
            <a:endParaRPr lang="en-US" sz="9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2945892"/>
        </p:xfrm>
        <a:graphic>
          <a:graphicData uri="http://schemas.openxmlformats.org/drawingml/2006/table">
            <a:tbl>
              <a:tblPr/>
              <a:tblGrid>
                <a:gridCol w="4572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3520440">
                  <a:extLst>
                    <a:ext uri="{9D8B030D-6E8A-4147-A177-3AD203B41FA5}">
                      <a16:colId xmlns:a16="http://schemas.microsoft.com/office/drawing/2014/main" val="20002"/>
                    </a:ext>
                  </a:extLst>
                </a:gridCol>
                <a:gridCol w="2606040">
                  <a:extLst>
                    <a:ext uri="{9D8B030D-6E8A-4147-A177-3AD203B41FA5}">
                      <a16:colId xmlns:a16="http://schemas.microsoft.com/office/drawing/2014/main" val="20003"/>
                    </a:ext>
                  </a:extLst>
                </a:gridCol>
                <a:gridCol w="2450592">
                  <a:extLst>
                    <a:ext uri="{9D8B030D-6E8A-4147-A177-3AD203B41FA5}">
                      <a16:colId xmlns:a16="http://schemas.microsoft.com/office/drawing/2014/main" val="20004"/>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Server</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Exposes</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Primary consumers</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Write path</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extLst>
                  <a:ext uri="{0D108BD9-81ED-4DB2-BD59-A6C34878D82A}">
                    <a16:rowId xmlns:a16="http://schemas.microsoft.com/office/drawing/2014/main" val="10000"/>
                  </a:ext>
                </a:extLst>
              </a:tr>
              <a:tr h="0">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1</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JD Edwards E1</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Orchestration discovery, introspection and execution; AIS data queries; application sessions</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Supply chain, finance, plant operations, master data</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Approved orchestrations only, with approval checkpoint</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2</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Databricks / Unity Catalog</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Governed tables, search and vector indexes, Genie agents, registered functions</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Analytics, data engineering, every retrieval-based agent</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Read-only; writes via governed jobs</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0">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3</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Enterprise knowledge</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SOPs, work instructions, specifications, quality records, policies — permission-filtered</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QA, engineering, manufacturing, compliance, HR</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Read-only</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4</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DevOps &amp; engineering</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Repositories, pipelines, issues, build and deployment status, incident records</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Engineering, harness engineering, worker agents</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Guarded: branch protection and approvals enforced</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0">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5</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Collaboration &amp; workflow</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Email, calendar, chat, ticketing and approval workflows</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Every business-facing agent needing human hand-off</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Sending and task creation, scoped per agent</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6</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SAP</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Business objects and services under the same contract as JDE — subject to the open decisions</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Finance, procurement, and shared processes</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40" dirty="0">
                          <a:solidFill>
                            <a:srgbClr val="16222E"/>
                          </a:solidFill>
                          <a:latin typeface="Calibri" pitchFamily="34" charset="0"/>
                          <a:ea typeface="Calibri" pitchFamily="34" charset="-122"/>
                          <a:cs typeface="Calibri" pitchFamily="34" charset="-120"/>
                        </a:rPr>
                        <a:t>Deferred until the architectural contract is agreed</a:t>
                      </a:r>
                      <a:endParaRPr lang="en-US" sz="94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bl>
          </a:graphicData>
        </a:graphic>
      </p:graphicFrame>
      <p:sp>
        <p:nvSpPr>
          <p:cNvPr id="7" name="Text 4"/>
          <p:cNvSpPr/>
          <p:nvPr/>
        </p:nvSpPr>
        <p:spPr>
          <a:xfrm>
            <a:off x="548640" y="5943600"/>
            <a:ext cx="11094415" cy="310896"/>
          </a:xfrm>
          <a:prstGeom prst="rect">
            <a:avLst/>
          </a:prstGeom>
          <a:noFill/>
          <a:ln/>
        </p:spPr>
        <p:txBody>
          <a:bodyPr wrap="square" lIns="0" tIns="0" rIns="0" bIns="0" rtlCol="0" anchor="ctr"/>
          <a:lstStyle/>
          <a:p>
            <a:pPr marL="0" indent="0">
              <a:buNone/>
            </a:pPr>
            <a:r>
              <a:rPr lang="en-US" sz="1100" b="1" i="1" dirty="0">
                <a:solidFill>
                  <a:srgbClr val="1B6CA8"/>
                </a:solidFill>
                <a:latin typeface="Calibri" pitchFamily="34" charset="0"/>
                <a:ea typeface="Calibri" pitchFamily="34" charset="-122"/>
                <a:cs typeface="Calibri" pitchFamily="34" charset="-120"/>
              </a:rPr>
              <a:t>Each server is a governed asset: registered in the catalogue, versioned, permission-scoped, rate-limited and traced. None of them is a shared credential.</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6 · MCP</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100" b="1" dirty="0">
                <a:solidFill>
                  <a:srgbClr val="0A2240"/>
                </a:solidFill>
                <a:latin typeface="Cambria" pitchFamily="34" charset="0"/>
                <a:ea typeface="Cambria" pitchFamily="34" charset="-122"/>
                <a:cs typeface="Cambria" pitchFamily="34" charset="-120"/>
              </a:rPr>
              <a:t>Provisioning an MCP server — the repeatable task sequence</a:t>
            </a:r>
            <a:endParaRPr lang="en-US" sz="31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548640" y="1481328"/>
            <a:ext cx="5318608" cy="1060704"/>
          </a:xfrm>
          <a:prstGeom prst="roundRect">
            <a:avLst>
              <a:gd name="adj" fmla="val 6897"/>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7" name="Shape 5"/>
          <p:cNvSpPr/>
          <p:nvPr/>
        </p:nvSpPr>
        <p:spPr>
          <a:xfrm>
            <a:off x="768096" y="1609344"/>
            <a:ext cx="347472" cy="347472"/>
          </a:xfrm>
          <a:prstGeom prst="ellipse">
            <a:avLst/>
          </a:prstGeom>
          <a:solidFill>
            <a:srgbClr val="00A9E0"/>
          </a:solidFill>
          <a:ln w="12700">
            <a:solidFill>
              <a:srgbClr val="00A9E0"/>
            </a:solidFill>
            <a:prstDash val="solid"/>
          </a:ln>
        </p:spPr>
      </p:sp>
      <p:sp>
        <p:nvSpPr>
          <p:cNvPr id="8" name="Text 6"/>
          <p:cNvSpPr/>
          <p:nvPr/>
        </p:nvSpPr>
        <p:spPr>
          <a:xfrm>
            <a:off x="768096" y="1609344"/>
            <a:ext cx="347472" cy="347472"/>
          </a:xfrm>
          <a:prstGeom prst="rect">
            <a:avLst/>
          </a:prstGeom>
          <a:noFill/>
          <a:ln/>
        </p:spPr>
        <p:txBody>
          <a:bodyPr wrap="square" lIns="0" tIns="0" rIns="0" bIns="0" rtlCol="0" anchor="ctr"/>
          <a:lstStyle/>
          <a:p>
            <a:pPr marL="0" indent="0" algn="ctr">
              <a:buNone/>
            </a:pPr>
            <a:r>
              <a:rPr lang="en-US" sz="1150" b="1" dirty="0">
                <a:solidFill>
                  <a:srgbClr val="0A2240"/>
                </a:solidFill>
                <a:latin typeface="Calibri" pitchFamily="34" charset="0"/>
                <a:ea typeface="Calibri" pitchFamily="34" charset="-122"/>
                <a:cs typeface="Calibri" pitchFamily="34" charset="-120"/>
              </a:rPr>
              <a:t>01</a:t>
            </a:r>
            <a:endParaRPr lang="en-US" sz="1150" dirty="0"/>
          </a:p>
        </p:txBody>
      </p:sp>
      <p:sp>
        <p:nvSpPr>
          <p:cNvPr id="9" name="Text 7"/>
          <p:cNvSpPr/>
          <p:nvPr/>
        </p:nvSpPr>
        <p:spPr>
          <a:xfrm>
            <a:off x="1207008" y="1609344"/>
            <a:ext cx="4440784" cy="347472"/>
          </a:xfrm>
          <a:prstGeom prst="rect">
            <a:avLst/>
          </a:prstGeom>
          <a:noFill/>
          <a:ln/>
        </p:spPr>
        <p:txBody>
          <a:bodyPr wrap="square" lIns="0" tIns="0" rIns="0" bIns="0" rtlCol="0" anchor="ctr"/>
          <a:lstStyle/>
          <a:p>
            <a:pPr marL="0" indent="0">
              <a:buNone/>
            </a:pPr>
            <a:r>
              <a:rPr lang="en-US" sz="1250" b="1" dirty="0">
                <a:solidFill>
                  <a:srgbClr val="0A2240"/>
                </a:solidFill>
                <a:latin typeface="Calibri" pitchFamily="34" charset="0"/>
                <a:ea typeface="Calibri" pitchFamily="34" charset="-122"/>
                <a:cs typeface="Calibri" pitchFamily="34" charset="-120"/>
              </a:rPr>
              <a:t>Scope &amp; classify</a:t>
            </a:r>
            <a:endParaRPr lang="en-US" sz="1250" dirty="0"/>
          </a:p>
        </p:txBody>
      </p:sp>
      <p:sp>
        <p:nvSpPr>
          <p:cNvPr id="10" name="Text 8"/>
          <p:cNvSpPr/>
          <p:nvPr/>
        </p:nvSpPr>
        <p:spPr>
          <a:xfrm>
            <a:off x="786384" y="1993392"/>
            <a:ext cx="4843120" cy="438912"/>
          </a:xfrm>
          <a:prstGeom prst="rect">
            <a:avLst/>
          </a:prstGeom>
          <a:noFill/>
          <a:ln/>
        </p:spPr>
        <p:txBody>
          <a:bodyPr wrap="square" lIns="0" tIns="0" rIns="0" bIns="0" rtlCol="0" anchor="t"/>
          <a:lstStyle/>
          <a:p>
            <a:pPr marL="0" indent="0">
              <a:lnSpc>
                <a:spcPts val="1200"/>
              </a:lnSpc>
              <a:buNone/>
            </a:pPr>
            <a:r>
              <a:rPr lang="en-US" sz="950" dirty="0">
                <a:solidFill>
                  <a:srgbClr val="5A6B7B"/>
                </a:solidFill>
                <a:latin typeface="Calibri" pitchFamily="34" charset="0"/>
                <a:ea typeface="Calibri" pitchFamily="34" charset="-122"/>
                <a:cs typeface="Calibri" pitchFamily="34" charset="-120"/>
              </a:rPr>
              <a:t>Name the source system, the owning team and the data classes in scope. Record residency and retention constraints. Produce the tool inventory: every capability the server will expose, marked read or write.</a:t>
            </a:r>
            <a:endParaRPr lang="en-US" sz="950" dirty="0"/>
          </a:p>
        </p:txBody>
      </p:sp>
      <p:sp>
        <p:nvSpPr>
          <p:cNvPr id="11" name="Shape 9"/>
          <p:cNvSpPr/>
          <p:nvPr/>
        </p:nvSpPr>
        <p:spPr>
          <a:xfrm>
            <a:off x="548640" y="2615184"/>
            <a:ext cx="5318608" cy="1060704"/>
          </a:xfrm>
          <a:prstGeom prst="roundRect">
            <a:avLst>
              <a:gd name="adj" fmla="val 6897"/>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2" name="Shape 10"/>
          <p:cNvSpPr/>
          <p:nvPr/>
        </p:nvSpPr>
        <p:spPr>
          <a:xfrm>
            <a:off x="768096" y="2743200"/>
            <a:ext cx="347472" cy="347472"/>
          </a:xfrm>
          <a:prstGeom prst="ellipse">
            <a:avLst/>
          </a:prstGeom>
          <a:solidFill>
            <a:srgbClr val="00A9E0"/>
          </a:solidFill>
          <a:ln w="12700">
            <a:solidFill>
              <a:srgbClr val="00A9E0"/>
            </a:solidFill>
            <a:prstDash val="solid"/>
          </a:ln>
        </p:spPr>
      </p:sp>
      <p:sp>
        <p:nvSpPr>
          <p:cNvPr id="13" name="Text 11"/>
          <p:cNvSpPr/>
          <p:nvPr/>
        </p:nvSpPr>
        <p:spPr>
          <a:xfrm>
            <a:off x="768096" y="2743200"/>
            <a:ext cx="347472" cy="347472"/>
          </a:xfrm>
          <a:prstGeom prst="rect">
            <a:avLst/>
          </a:prstGeom>
          <a:noFill/>
          <a:ln/>
        </p:spPr>
        <p:txBody>
          <a:bodyPr wrap="square" lIns="0" tIns="0" rIns="0" bIns="0" rtlCol="0" anchor="ctr"/>
          <a:lstStyle/>
          <a:p>
            <a:pPr marL="0" indent="0" algn="ctr">
              <a:buNone/>
            </a:pPr>
            <a:r>
              <a:rPr lang="en-US" sz="1150" b="1" dirty="0">
                <a:solidFill>
                  <a:srgbClr val="0A2240"/>
                </a:solidFill>
                <a:latin typeface="Calibri" pitchFamily="34" charset="0"/>
                <a:ea typeface="Calibri" pitchFamily="34" charset="-122"/>
                <a:cs typeface="Calibri" pitchFamily="34" charset="-120"/>
              </a:rPr>
              <a:t>02</a:t>
            </a:r>
            <a:endParaRPr lang="en-US" sz="1150" dirty="0"/>
          </a:p>
        </p:txBody>
      </p:sp>
      <p:sp>
        <p:nvSpPr>
          <p:cNvPr id="14" name="Text 12"/>
          <p:cNvSpPr/>
          <p:nvPr/>
        </p:nvSpPr>
        <p:spPr>
          <a:xfrm>
            <a:off x="1207008" y="2743200"/>
            <a:ext cx="4440784" cy="347472"/>
          </a:xfrm>
          <a:prstGeom prst="rect">
            <a:avLst/>
          </a:prstGeom>
          <a:noFill/>
          <a:ln/>
        </p:spPr>
        <p:txBody>
          <a:bodyPr wrap="square" lIns="0" tIns="0" rIns="0" bIns="0" rtlCol="0" anchor="ctr"/>
          <a:lstStyle/>
          <a:p>
            <a:pPr marL="0" indent="0">
              <a:buNone/>
            </a:pPr>
            <a:r>
              <a:rPr lang="en-US" sz="1250" b="1" dirty="0">
                <a:solidFill>
                  <a:srgbClr val="0A2240"/>
                </a:solidFill>
                <a:latin typeface="Calibri" pitchFamily="34" charset="0"/>
                <a:ea typeface="Calibri" pitchFamily="34" charset="-122"/>
                <a:cs typeface="Calibri" pitchFamily="34" charset="-120"/>
              </a:rPr>
              <a:t>Security design</a:t>
            </a:r>
            <a:endParaRPr lang="en-US" sz="1250" dirty="0"/>
          </a:p>
        </p:txBody>
      </p:sp>
      <p:sp>
        <p:nvSpPr>
          <p:cNvPr id="15" name="Text 13"/>
          <p:cNvSpPr/>
          <p:nvPr/>
        </p:nvSpPr>
        <p:spPr>
          <a:xfrm>
            <a:off x="786384" y="3127248"/>
            <a:ext cx="4843120" cy="438912"/>
          </a:xfrm>
          <a:prstGeom prst="rect">
            <a:avLst/>
          </a:prstGeom>
          <a:noFill/>
          <a:ln/>
        </p:spPr>
        <p:txBody>
          <a:bodyPr wrap="square" lIns="0" tIns="0" rIns="0" bIns="0" rtlCol="0" anchor="t"/>
          <a:lstStyle/>
          <a:p>
            <a:pPr marL="0" indent="0">
              <a:lnSpc>
                <a:spcPts val="1200"/>
              </a:lnSpc>
              <a:buNone/>
            </a:pPr>
            <a:r>
              <a:rPr lang="en-US" sz="950" dirty="0">
                <a:solidFill>
                  <a:srgbClr val="5A6B7B"/>
                </a:solidFill>
                <a:latin typeface="Calibri" pitchFamily="34" charset="0"/>
                <a:ea typeface="Calibri" pitchFamily="34" charset="-122"/>
                <a:cs typeface="Calibri" pitchFamily="34" charset="-120"/>
              </a:rPr>
              <a:t>Choose the authentication pattern — OAuth with end-user identity propagation, never a shared service principal. Map source-system roles to tool visibility. Agree the audit record format with Internal Audit.</a:t>
            </a:r>
            <a:endParaRPr lang="en-US" sz="950" dirty="0"/>
          </a:p>
        </p:txBody>
      </p:sp>
      <p:sp>
        <p:nvSpPr>
          <p:cNvPr id="16" name="Shape 14"/>
          <p:cNvSpPr/>
          <p:nvPr/>
        </p:nvSpPr>
        <p:spPr>
          <a:xfrm>
            <a:off x="548640" y="3749040"/>
            <a:ext cx="5318608" cy="1060704"/>
          </a:xfrm>
          <a:prstGeom prst="roundRect">
            <a:avLst>
              <a:gd name="adj" fmla="val 6897"/>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7" name="Shape 15"/>
          <p:cNvSpPr/>
          <p:nvPr/>
        </p:nvSpPr>
        <p:spPr>
          <a:xfrm>
            <a:off x="768096" y="3877056"/>
            <a:ext cx="347472" cy="347472"/>
          </a:xfrm>
          <a:prstGeom prst="ellipse">
            <a:avLst/>
          </a:prstGeom>
          <a:solidFill>
            <a:srgbClr val="00A9E0"/>
          </a:solidFill>
          <a:ln w="12700">
            <a:solidFill>
              <a:srgbClr val="00A9E0"/>
            </a:solidFill>
            <a:prstDash val="solid"/>
          </a:ln>
        </p:spPr>
      </p:sp>
      <p:sp>
        <p:nvSpPr>
          <p:cNvPr id="18" name="Text 16"/>
          <p:cNvSpPr/>
          <p:nvPr/>
        </p:nvSpPr>
        <p:spPr>
          <a:xfrm>
            <a:off x="768096" y="3877056"/>
            <a:ext cx="347472" cy="347472"/>
          </a:xfrm>
          <a:prstGeom prst="rect">
            <a:avLst/>
          </a:prstGeom>
          <a:noFill/>
          <a:ln/>
        </p:spPr>
        <p:txBody>
          <a:bodyPr wrap="square" lIns="0" tIns="0" rIns="0" bIns="0" rtlCol="0" anchor="ctr"/>
          <a:lstStyle/>
          <a:p>
            <a:pPr marL="0" indent="0" algn="ctr">
              <a:buNone/>
            </a:pPr>
            <a:r>
              <a:rPr lang="en-US" sz="1150" b="1" dirty="0">
                <a:solidFill>
                  <a:srgbClr val="0A2240"/>
                </a:solidFill>
                <a:latin typeface="Calibri" pitchFamily="34" charset="0"/>
                <a:ea typeface="Calibri" pitchFamily="34" charset="-122"/>
                <a:cs typeface="Calibri" pitchFamily="34" charset="-120"/>
              </a:rPr>
              <a:t>03</a:t>
            </a:r>
            <a:endParaRPr lang="en-US" sz="1150" dirty="0"/>
          </a:p>
        </p:txBody>
      </p:sp>
      <p:sp>
        <p:nvSpPr>
          <p:cNvPr id="19" name="Text 17"/>
          <p:cNvSpPr/>
          <p:nvPr/>
        </p:nvSpPr>
        <p:spPr>
          <a:xfrm>
            <a:off x="1207008" y="3877056"/>
            <a:ext cx="4440784" cy="347472"/>
          </a:xfrm>
          <a:prstGeom prst="rect">
            <a:avLst/>
          </a:prstGeom>
          <a:noFill/>
          <a:ln/>
        </p:spPr>
        <p:txBody>
          <a:bodyPr wrap="square" lIns="0" tIns="0" rIns="0" bIns="0" rtlCol="0" anchor="ctr"/>
          <a:lstStyle/>
          <a:p>
            <a:pPr marL="0" indent="0">
              <a:buNone/>
            </a:pPr>
            <a:r>
              <a:rPr lang="en-US" sz="1250" b="1" dirty="0">
                <a:solidFill>
                  <a:srgbClr val="0A2240"/>
                </a:solidFill>
                <a:latin typeface="Calibri" pitchFamily="34" charset="0"/>
                <a:ea typeface="Calibri" pitchFamily="34" charset="-122"/>
                <a:cs typeface="Calibri" pitchFamily="34" charset="-120"/>
              </a:rPr>
              <a:t>Build in non-production</a:t>
            </a:r>
            <a:endParaRPr lang="en-US" sz="1250" dirty="0"/>
          </a:p>
        </p:txBody>
      </p:sp>
      <p:sp>
        <p:nvSpPr>
          <p:cNvPr id="20" name="Text 18"/>
          <p:cNvSpPr/>
          <p:nvPr/>
        </p:nvSpPr>
        <p:spPr>
          <a:xfrm>
            <a:off x="786384" y="4261104"/>
            <a:ext cx="4843120" cy="438912"/>
          </a:xfrm>
          <a:prstGeom prst="rect">
            <a:avLst/>
          </a:prstGeom>
          <a:noFill/>
          <a:ln/>
        </p:spPr>
        <p:txBody>
          <a:bodyPr wrap="square" lIns="0" tIns="0" rIns="0" bIns="0" rtlCol="0" anchor="t"/>
          <a:lstStyle/>
          <a:p>
            <a:pPr marL="0" indent="0">
              <a:lnSpc>
                <a:spcPts val="1200"/>
              </a:lnSpc>
              <a:buNone/>
            </a:pPr>
            <a:r>
              <a:rPr lang="en-US" sz="950" dirty="0">
                <a:solidFill>
                  <a:srgbClr val="5A6B7B"/>
                </a:solidFill>
                <a:latin typeface="Calibri" pitchFamily="34" charset="0"/>
                <a:ea typeface="Calibri" pitchFamily="34" charset="-122"/>
                <a:cs typeface="Calibri" pitchFamily="34" charset="-120"/>
              </a:rPr>
              <a:t>Deploy the server against a non-production instance of the source. Implement discovery, introspection and execution. Write typed schemas and worked examples for every tool description.</a:t>
            </a:r>
            <a:endParaRPr lang="en-US" sz="950" dirty="0"/>
          </a:p>
        </p:txBody>
      </p:sp>
      <p:sp>
        <p:nvSpPr>
          <p:cNvPr id="21" name="Shape 19"/>
          <p:cNvSpPr/>
          <p:nvPr/>
        </p:nvSpPr>
        <p:spPr>
          <a:xfrm>
            <a:off x="548640" y="4882896"/>
            <a:ext cx="5318608" cy="1060704"/>
          </a:xfrm>
          <a:prstGeom prst="roundRect">
            <a:avLst>
              <a:gd name="adj" fmla="val 6897"/>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2" name="Shape 20"/>
          <p:cNvSpPr/>
          <p:nvPr/>
        </p:nvSpPr>
        <p:spPr>
          <a:xfrm>
            <a:off x="768096" y="5010912"/>
            <a:ext cx="347472" cy="347472"/>
          </a:xfrm>
          <a:prstGeom prst="ellipse">
            <a:avLst/>
          </a:prstGeom>
          <a:solidFill>
            <a:srgbClr val="00A9E0"/>
          </a:solidFill>
          <a:ln w="12700">
            <a:solidFill>
              <a:srgbClr val="00A9E0"/>
            </a:solidFill>
            <a:prstDash val="solid"/>
          </a:ln>
        </p:spPr>
      </p:sp>
      <p:sp>
        <p:nvSpPr>
          <p:cNvPr id="23" name="Text 21"/>
          <p:cNvSpPr/>
          <p:nvPr/>
        </p:nvSpPr>
        <p:spPr>
          <a:xfrm>
            <a:off x="768096" y="5010912"/>
            <a:ext cx="347472" cy="347472"/>
          </a:xfrm>
          <a:prstGeom prst="rect">
            <a:avLst/>
          </a:prstGeom>
          <a:noFill/>
          <a:ln/>
        </p:spPr>
        <p:txBody>
          <a:bodyPr wrap="square" lIns="0" tIns="0" rIns="0" bIns="0" rtlCol="0" anchor="ctr"/>
          <a:lstStyle/>
          <a:p>
            <a:pPr marL="0" indent="0" algn="ctr">
              <a:buNone/>
            </a:pPr>
            <a:r>
              <a:rPr lang="en-US" sz="1150" b="1" dirty="0">
                <a:solidFill>
                  <a:srgbClr val="0A2240"/>
                </a:solidFill>
                <a:latin typeface="Calibri" pitchFamily="34" charset="0"/>
                <a:ea typeface="Calibri" pitchFamily="34" charset="-122"/>
                <a:cs typeface="Calibri" pitchFamily="34" charset="-120"/>
              </a:rPr>
              <a:t>04</a:t>
            </a:r>
            <a:endParaRPr lang="en-US" sz="1150" dirty="0"/>
          </a:p>
        </p:txBody>
      </p:sp>
      <p:sp>
        <p:nvSpPr>
          <p:cNvPr id="24" name="Text 22"/>
          <p:cNvSpPr/>
          <p:nvPr/>
        </p:nvSpPr>
        <p:spPr>
          <a:xfrm>
            <a:off x="1207008" y="5010912"/>
            <a:ext cx="4440784" cy="347472"/>
          </a:xfrm>
          <a:prstGeom prst="rect">
            <a:avLst/>
          </a:prstGeom>
          <a:noFill/>
          <a:ln/>
        </p:spPr>
        <p:txBody>
          <a:bodyPr wrap="square" lIns="0" tIns="0" rIns="0" bIns="0" rtlCol="0" anchor="ctr"/>
          <a:lstStyle/>
          <a:p>
            <a:pPr marL="0" indent="0">
              <a:buNone/>
            </a:pPr>
            <a:r>
              <a:rPr lang="en-US" sz="1250" b="1" dirty="0">
                <a:solidFill>
                  <a:srgbClr val="0A2240"/>
                </a:solidFill>
                <a:latin typeface="Calibri" pitchFamily="34" charset="0"/>
                <a:ea typeface="Calibri" pitchFamily="34" charset="-122"/>
                <a:cs typeface="Calibri" pitchFamily="34" charset="-120"/>
              </a:rPr>
              <a:t>Harden</a:t>
            </a:r>
            <a:endParaRPr lang="en-US" sz="1250" dirty="0"/>
          </a:p>
        </p:txBody>
      </p:sp>
      <p:sp>
        <p:nvSpPr>
          <p:cNvPr id="25" name="Text 23"/>
          <p:cNvSpPr/>
          <p:nvPr/>
        </p:nvSpPr>
        <p:spPr>
          <a:xfrm>
            <a:off x="786384" y="5394960"/>
            <a:ext cx="4843120" cy="438912"/>
          </a:xfrm>
          <a:prstGeom prst="rect">
            <a:avLst/>
          </a:prstGeom>
          <a:noFill/>
          <a:ln/>
        </p:spPr>
        <p:txBody>
          <a:bodyPr wrap="square" lIns="0" tIns="0" rIns="0" bIns="0" rtlCol="0" anchor="t"/>
          <a:lstStyle/>
          <a:p>
            <a:pPr marL="0" indent="0">
              <a:lnSpc>
                <a:spcPts val="1200"/>
              </a:lnSpc>
              <a:buNone/>
            </a:pPr>
            <a:r>
              <a:rPr lang="en-US" sz="950" dirty="0">
                <a:solidFill>
                  <a:srgbClr val="5A6B7B"/>
                </a:solidFill>
                <a:latin typeface="Calibri" pitchFamily="34" charset="0"/>
                <a:ea typeface="Calibri" pitchFamily="34" charset="-122"/>
                <a:cs typeface="Calibri" pitchFamily="34" charset="-120"/>
              </a:rPr>
              <a:t>Rate limits and circuit breakers to protect the source system. Input validation and output size caps. Redaction of sensitive fields. Deterministic error handling that an agent can reason about.</a:t>
            </a:r>
            <a:endParaRPr lang="en-US" sz="950" dirty="0"/>
          </a:p>
        </p:txBody>
      </p:sp>
      <p:sp>
        <p:nvSpPr>
          <p:cNvPr id="26" name="Shape 24"/>
          <p:cNvSpPr/>
          <p:nvPr/>
        </p:nvSpPr>
        <p:spPr>
          <a:xfrm>
            <a:off x="6324448" y="1481328"/>
            <a:ext cx="5318608" cy="1060704"/>
          </a:xfrm>
          <a:prstGeom prst="roundRect">
            <a:avLst>
              <a:gd name="adj" fmla="val 6897"/>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7" name="Shape 25"/>
          <p:cNvSpPr/>
          <p:nvPr/>
        </p:nvSpPr>
        <p:spPr>
          <a:xfrm>
            <a:off x="6543904" y="1609344"/>
            <a:ext cx="347472" cy="347472"/>
          </a:xfrm>
          <a:prstGeom prst="ellipse">
            <a:avLst/>
          </a:prstGeom>
          <a:solidFill>
            <a:srgbClr val="1B6CA8"/>
          </a:solidFill>
          <a:ln w="12700">
            <a:solidFill>
              <a:srgbClr val="1B6CA8"/>
            </a:solidFill>
            <a:prstDash val="solid"/>
          </a:ln>
        </p:spPr>
      </p:sp>
      <p:sp>
        <p:nvSpPr>
          <p:cNvPr id="28" name="Text 26"/>
          <p:cNvSpPr/>
          <p:nvPr/>
        </p:nvSpPr>
        <p:spPr>
          <a:xfrm>
            <a:off x="6543904" y="1609344"/>
            <a:ext cx="34747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05</a:t>
            </a:r>
            <a:endParaRPr lang="en-US" sz="1150" dirty="0"/>
          </a:p>
        </p:txBody>
      </p:sp>
      <p:sp>
        <p:nvSpPr>
          <p:cNvPr id="29" name="Text 27"/>
          <p:cNvSpPr/>
          <p:nvPr/>
        </p:nvSpPr>
        <p:spPr>
          <a:xfrm>
            <a:off x="6982816" y="1609344"/>
            <a:ext cx="4440784" cy="347472"/>
          </a:xfrm>
          <a:prstGeom prst="rect">
            <a:avLst/>
          </a:prstGeom>
          <a:noFill/>
          <a:ln/>
        </p:spPr>
        <p:txBody>
          <a:bodyPr wrap="square" lIns="0" tIns="0" rIns="0" bIns="0" rtlCol="0" anchor="ctr"/>
          <a:lstStyle/>
          <a:p>
            <a:pPr marL="0" indent="0">
              <a:buNone/>
            </a:pPr>
            <a:r>
              <a:rPr lang="en-US" sz="1250" b="1" dirty="0">
                <a:solidFill>
                  <a:srgbClr val="0A2240"/>
                </a:solidFill>
                <a:latin typeface="Calibri" pitchFamily="34" charset="0"/>
                <a:ea typeface="Calibri" pitchFamily="34" charset="-122"/>
                <a:cs typeface="Calibri" pitchFamily="34" charset="-120"/>
              </a:rPr>
              <a:t>Evaluate</a:t>
            </a:r>
            <a:endParaRPr lang="en-US" sz="1250" dirty="0"/>
          </a:p>
        </p:txBody>
      </p:sp>
      <p:sp>
        <p:nvSpPr>
          <p:cNvPr id="30" name="Text 28"/>
          <p:cNvSpPr/>
          <p:nvPr/>
        </p:nvSpPr>
        <p:spPr>
          <a:xfrm>
            <a:off x="6562192" y="1993392"/>
            <a:ext cx="4843120" cy="438912"/>
          </a:xfrm>
          <a:prstGeom prst="rect">
            <a:avLst/>
          </a:prstGeom>
          <a:noFill/>
          <a:ln/>
        </p:spPr>
        <p:txBody>
          <a:bodyPr wrap="square" lIns="0" tIns="0" rIns="0" bIns="0" rtlCol="0" anchor="t"/>
          <a:lstStyle/>
          <a:p>
            <a:pPr marL="0" indent="0">
              <a:lnSpc>
                <a:spcPts val="1200"/>
              </a:lnSpc>
              <a:buNone/>
            </a:pPr>
            <a:r>
              <a:rPr lang="en-US" sz="950" dirty="0">
                <a:solidFill>
                  <a:srgbClr val="5A6B7B"/>
                </a:solidFill>
                <a:latin typeface="Calibri" pitchFamily="34" charset="0"/>
                <a:ea typeface="Calibri" pitchFamily="34" charset="-122"/>
                <a:cs typeface="Calibri" pitchFamily="34" charset="-120"/>
              </a:rPr>
              <a:t>Run the gold question set through an agent using only this server. Score accuracy, correct tool selection and refusal behaviour. Adversarial test: attempt privilege escalation and prompt injection through tool output.</a:t>
            </a:r>
            <a:endParaRPr lang="en-US" sz="950" dirty="0"/>
          </a:p>
        </p:txBody>
      </p:sp>
      <p:sp>
        <p:nvSpPr>
          <p:cNvPr id="31" name="Shape 29"/>
          <p:cNvSpPr/>
          <p:nvPr/>
        </p:nvSpPr>
        <p:spPr>
          <a:xfrm>
            <a:off x="6324448" y="2615184"/>
            <a:ext cx="5318608" cy="1060704"/>
          </a:xfrm>
          <a:prstGeom prst="roundRect">
            <a:avLst>
              <a:gd name="adj" fmla="val 6897"/>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32" name="Shape 30"/>
          <p:cNvSpPr/>
          <p:nvPr/>
        </p:nvSpPr>
        <p:spPr>
          <a:xfrm>
            <a:off x="6543904" y="2743200"/>
            <a:ext cx="347472" cy="347472"/>
          </a:xfrm>
          <a:prstGeom prst="ellipse">
            <a:avLst/>
          </a:prstGeom>
          <a:solidFill>
            <a:srgbClr val="1B6CA8"/>
          </a:solidFill>
          <a:ln w="12700">
            <a:solidFill>
              <a:srgbClr val="1B6CA8"/>
            </a:solidFill>
            <a:prstDash val="solid"/>
          </a:ln>
        </p:spPr>
      </p:sp>
      <p:sp>
        <p:nvSpPr>
          <p:cNvPr id="33" name="Text 31"/>
          <p:cNvSpPr/>
          <p:nvPr/>
        </p:nvSpPr>
        <p:spPr>
          <a:xfrm>
            <a:off x="6543904" y="2743200"/>
            <a:ext cx="34747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06</a:t>
            </a:r>
            <a:endParaRPr lang="en-US" sz="1150" dirty="0"/>
          </a:p>
        </p:txBody>
      </p:sp>
      <p:sp>
        <p:nvSpPr>
          <p:cNvPr id="34" name="Text 32"/>
          <p:cNvSpPr/>
          <p:nvPr/>
        </p:nvSpPr>
        <p:spPr>
          <a:xfrm>
            <a:off x="6982816" y="2743200"/>
            <a:ext cx="4440784" cy="347472"/>
          </a:xfrm>
          <a:prstGeom prst="rect">
            <a:avLst/>
          </a:prstGeom>
          <a:noFill/>
          <a:ln/>
        </p:spPr>
        <p:txBody>
          <a:bodyPr wrap="square" lIns="0" tIns="0" rIns="0" bIns="0" rtlCol="0" anchor="ctr"/>
          <a:lstStyle/>
          <a:p>
            <a:pPr marL="0" indent="0">
              <a:buNone/>
            </a:pPr>
            <a:r>
              <a:rPr lang="en-US" sz="1250" b="1" dirty="0">
                <a:solidFill>
                  <a:srgbClr val="0A2240"/>
                </a:solidFill>
                <a:latin typeface="Calibri" pitchFamily="34" charset="0"/>
                <a:ea typeface="Calibri" pitchFamily="34" charset="-122"/>
                <a:cs typeface="Calibri" pitchFamily="34" charset="-120"/>
              </a:rPr>
              <a:t>Register &amp; publish</a:t>
            </a:r>
            <a:endParaRPr lang="en-US" sz="1250" dirty="0"/>
          </a:p>
        </p:txBody>
      </p:sp>
      <p:sp>
        <p:nvSpPr>
          <p:cNvPr id="35" name="Text 33"/>
          <p:cNvSpPr/>
          <p:nvPr/>
        </p:nvSpPr>
        <p:spPr>
          <a:xfrm>
            <a:off x="6562192" y="3127248"/>
            <a:ext cx="4843120" cy="438912"/>
          </a:xfrm>
          <a:prstGeom prst="rect">
            <a:avLst/>
          </a:prstGeom>
          <a:noFill/>
          <a:ln/>
        </p:spPr>
        <p:txBody>
          <a:bodyPr wrap="square" lIns="0" tIns="0" rIns="0" bIns="0" rtlCol="0" anchor="t"/>
          <a:lstStyle/>
          <a:p>
            <a:pPr marL="0" indent="0">
              <a:lnSpc>
                <a:spcPts val="1200"/>
              </a:lnSpc>
              <a:buNone/>
            </a:pPr>
            <a:r>
              <a:rPr lang="en-US" sz="950" dirty="0">
                <a:solidFill>
                  <a:srgbClr val="5A6B7B"/>
                </a:solidFill>
                <a:latin typeface="Calibri" pitchFamily="34" charset="0"/>
                <a:ea typeface="Calibri" pitchFamily="34" charset="-122"/>
                <a:cs typeface="Calibri" pitchFamily="34" charset="-120"/>
              </a:rPr>
              <a:t>Register in Unity Catalog with owner, version, schema and data scope. Publish tool documentation. Define which agents may see which tools — least privilege as the default, not the exception.</a:t>
            </a:r>
            <a:endParaRPr lang="en-US" sz="950" dirty="0"/>
          </a:p>
        </p:txBody>
      </p:sp>
      <p:sp>
        <p:nvSpPr>
          <p:cNvPr id="36" name="Shape 34"/>
          <p:cNvSpPr/>
          <p:nvPr/>
        </p:nvSpPr>
        <p:spPr>
          <a:xfrm>
            <a:off x="6324448" y="3749040"/>
            <a:ext cx="5318608" cy="1060704"/>
          </a:xfrm>
          <a:prstGeom prst="roundRect">
            <a:avLst>
              <a:gd name="adj" fmla="val 6897"/>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37" name="Shape 35"/>
          <p:cNvSpPr/>
          <p:nvPr/>
        </p:nvSpPr>
        <p:spPr>
          <a:xfrm>
            <a:off x="6543904" y="3877056"/>
            <a:ext cx="347472" cy="347472"/>
          </a:xfrm>
          <a:prstGeom prst="ellipse">
            <a:avLst/>
          </a:prstGeom>
          <a:solidFill>
            <a:srgbClr val="1B6CA8"/>
          </a:solidFill>
          <a:ln w="12700">
            <a:solidFill>
              <a:srgbClr val="1B6CA8"/>
            </a:solidFill>
            <a:prstDash val="solid"/>
          </a:ln>
        </p:spPr>
      </p:sp>
      <p:sp>
        <p:nvSpPr>
          <p:cNvPr id="38" name="Text 36"/>
          <p:cNvSpPr/>
          <p:nvPr/>
        </p:nvSpPr>
        <p:spPr>
          <a:xfrm>
            <a:off x="6543904" y="3877056"/>
            <a:ext cx="34747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07</a:t>
            </a:r>
            <a:endParaRPr lang="en-US" sz="1150" dirty="0"/>
          </a:p>
        </p:txBody>
      </p:sp>
      <p:sp>
        <p:nvSpPr>
          <p:cNvPr id="39" name="Text 37"/>
          <p:cNvSpPr/>
          <p:nvPr/>
        </p:nvSpPr>
        <p:spPr>
          <a:xfrm>
            <a:off x="6982816" y="3877056"/>
            <a:ext cx="4440784" cy="347472"/>
          </a:xfrm>
          <a:prstGeom prst="rect">
            <a:avLst/>
          </a:prstGeom>
          <a:noFill/>
          <a:ln/>
        </p:spPr>
        <p:txBody>
          <a:bodyPr wrap="square" lIns="0" tIns="0" rIns="0" bIns="0" rtlCol="0" anchor="ctr"/>
          <a:lstStyle/>
          <a:p>
            <a:pPr marL="0" indent="0">
              <a:buNone/>
            </a:pPr>
            <a:r>
              <a:rPr lang="en-US" sz="1250" b="1" dirty="0">
                <a:solidFill>
                  <a:srgbClr val="0A2240"/>
                </a:solidFill>
                <a:latin typeface="Calibri" pitchFamily="34" charset="0"/>
                <a:ea typeface="Calibri" pitchFamily="34" charset="-122"/>
                <a:cs typeface="Calibri" pitchFamily="34" charset="-120"/>
              </a:rPr>
              <a:t>Release to production</a:t>
            </a:r>
            <a:endParaRPr lang="en-US" sz="1250" dirty="0"/>
          </a:p>
        </p:txBody>
      </p:sp>
      <p:sp>
        <p:nvSpPr>
          <p:cNvPr id="40" name="Text 38"/>
          <p:cNvSpPr/>
          <p:nvPr/>
        </p:nvSpPr>
        <p:spPr>
          <a:xfrm>
            <a:off x="6562192" y="4261104"/>
            <a:ext cx="4843120" cy="438912"/>
          </a:xfrm>
          <a:prstGeom prst="rect">
            <a:avLst/>
          </a:prstGeom>
          <a:noFill/>
          <a:ln/>
        </p:spPr>
        <p:txBody>
          <a:bodyPr wrap="square" lIns="0" tIns="0" rIns="0" bIns="0" rtlCol="0" anchor="t"/>
          <a:lstStyle/>
          <a:p>
            <a:pPr marL="0" indent="0">
              <a:lnSpc>
                <a:spcPts val="1200"/>
              </a:lnSpc>
              <a:buNone/>
            </a:pPr>
            <a:r>
              <a:rPr lang="en-US" sz="950" dirty="0">
                <a:solidFill>
                  <a:srgbClr val="5A6B7B"/>
                </a:solidFill>
                <a:latin typeface="Calibri" pitchFamily="34" charset="0"/>
                <a:ea typeface="Calibri" pitchFamily="34" charset="-122"/>
                <a:cs typeface="Calibri" pitchFamily="34" charset="-120"/>
              </a:rPr>
              <a:t>Deploy read-only tools first. Canary with a named pilot group. Enable full tracing to the observability stack. Confirm the kill switch works before, not after, go-live.</a:t>
            </a:r>
            <a:endParaRPr lang="en-US" sz="950" dirty="0"/>
          </a:p>
        </p:txBody>
      </p:sp>
      <p:sp>
        <p:nvSpPr>
          <p:cNvPr id="41" name="Shape 39"/>
          <p:cNvSpPr/>
          <p:nvPr/>
        </p:nvSpPr>
        <p:spPr>
          <a:xfrm>
            <a:off x="6324448" y="4882896"/>
            <a:ext cx="5318608" cy="1060704"/>
          </a:xfrm>
          <a:prstGeom prst="roundRect">
            <a:avLst>
              <a:gd name="adj" fmla="val 6897"/>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42" name="Shape 40"/>
          <p:cNvSpPr/>
          <p:nvPr/>
        </p:nvSpPr>
        <p:spPr>
          <a:xfrm>
            <a:off x="6543904" y="5010912"/>
            <a:ext cx="347472" cy="347472"/>
          </a:xfrm>
          <a:prstGeom prst="ellipse">
            <a:avLst/>
          </a:prstGeom>
          <a:solidFill>
            <a:srgbClr val="1B6CA8"/>
          </a:solidFill>
          <a:ln w="12700">
            <a:solidFill>
              <a:srgbClr val="1B6CA8"/>
            </a:solidFill>
            <a:prstDash val="solid"/>
          </a:ln>
        </p:spPr>
      </p:sp>
      <p:sp>
        <p:nvSpPr>
          <p:cNvPr id="43" name="Text 41"/>
          <p:cNvSpPr/>
          <p:nvPr/>
        </p:nvSpPr>
        <p:spPr>
          <a:xfrm>
            <a:off x="6543904" y="5010912"/>
            <a:ext cx="347472"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08</a:t>
            </a:r>
            <a:endParaRPr lang="en-US" sz="1150" dirty="0"/>
          </a:p>
        </p:txBody>
      </p:sp>
      <p:sp>
        <p:nvSpPr>
          <p:cNvPr id="44" name="Text 42"/>
          <p:cNvSpPr/>
          <p:nvPr/>
        </p:nvSpPr>
        <p:spPr>
          <a:xfrm>
            <a:off x="6982816" y="5010912"/>
            <a:ext cx="4440784" cy="347472"/>
          </a:xfrm>
          <a:prstGeom prst="rect">
            <a:avLst/>
          </a:prstGeom>
          <a:noFill/>
          <a:ln/>
        </p:spPr>
        <p:txBody>
          <a:bodyPr wrap="square" lIns="0" tIns="0" rIns="0" bIns="0" rtlCol="0" anchor="ctr"/>
          <a:lstStyle/>
          <a:p>
            <a:pPr marL="0" indent="0">
              <a:buNone/>
            </a:pPr>
            <a:r>
              <a:rPr lang="en-US" sz="1250" b="1" dirty="0">
                <a:solidFill>
                  <a:srgbClr val="0A2240"/>
                </a:solidFill>
                <a:latin typeface="Calibri" pitchFamily="34" charset="0"/>
                <a:ea typeface="Calibri" pitchFamily="34" charset="-122"/>
                <a:cs typeface="Calibri" pitchFamily="34" charset="-120"/>
              </a:rPr>
              <a:t>Operate &amp; extend</a:t>
            </a:r>
            <a:endParaRPr lang="en-US" sz="1250" dirty="0"/>
          </a:p>
        </p:txBody>
      </p:sp>
      <p:sp>
        <p:nvSpPr>
          <p:cNvPr id="45" name="Text 43"/>
          <p:cNvSpPr/>
          <p:nvPr/>
        </p:nvSpPr>
        <p:spPr>
          <a:xfrm>
            <a:off x="6562192" y="5394960"/>
            <a:ext cx="4843120" cy="438912"/>
          </a:xfrm>
          <a:prstGeom prst="rect">
            <a:avLst/>
          </a:prstGeom>
          <a:noFill/>
          <a:ln/>
        </p:spPr>
        <p:txBody>
          <a:bodyPr wrap="square" lIns="0" tIns="0" rIns="0" bIns="0" rtlCol="0" anchor="t"/>
          <a:lstStyle/>
          <a:p>
            <a:pPr marL="0" indent="0">
              <a:lnSpc>
                <a:spcPts val="1200"/>
              </a:lnSpc>
              <a:buNone/>
            </a:pPr>
            <a:r>
              <a:rPr lang="en-US" sz="950" dirty="0">
                <a:solidFill>
                  <a:srgbClr val="5A6B7B"/>
                </a:solidFill>
                <a:latin typeface="Calibri" pitchFamily="34" charset="0"/>
                <a:ea typeface="Calibri" pitchFamily="34" charset="-122"/>
                <a:cs typeface="Calibri" pitchFamily="34" charset="-120"/>
              </a:rPr>
              <a:t>Monitor usage, cost, latency and error rates. Review traces on a fixed cadence. Introduce write tools one process at a time, each with its own approval checkpoint and its own evaluation.</a:t>
            </a:r>
            <a:endParaRPr lang="en-US" sz="950" dirty="0"/>
          </a:p>
        </p:txBody>
      </p:sp>
      <p:sp>
        <p:nvSpPr>
          <p:cNvPr id="46" name="Text 44"/>
          <p:cNvSpPr/>
          <p:nvPr/>
        </p:nvSpPr>
        <p:spPr>
          <a:xfrm>
            <a:off x="548640" y="5998464"/>
            <a:ext cx="11094415" cy="274320"/>
          </a:xfrm>
          <a:prstGeom prst="rect">
            <a:avLst/>
          </a:prstGeom>
          <a:noFill/>
          <a:ln/>
        </p:spPr>
        <p:txBody>
          <a:bodyPr wrap="square" lIns="0" tIns="0" rIns="0" bIns="0" rtlCol="0" anchor="ctr"/>
          <a:lstStyle/>
          <a:p>
            <a:pPr marL="0" indent="0">
              <a:buNone/>
            </a:pPr>
            <a:r>
              <a:rPr lang="en-US" sz="1100" b="1" i="1" dirty="0">
                <a:solidFill>
                  <a:srgbClr val="1B6CA8"/>
                </a:solidFill>
                <a:latin typeface="Calibri" pitchFamily="34" charset="0"/>
                <a:ea typeface="Calibri" pitchFamily="34" charset="-122"/>
                <a:cs typeface="Calibri" pitchFamily="34" charset="-120"/>
              </a:rPr>
              <a:t>Run once per server. Steps 01–04 are per-system engineering; steps 05–08 are identical every time and become platform capability.</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6 · GATEWAY</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AI gateway — provisioning tasks</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36</a:t>
            </a:r>
            <a:endParaRPr lang="en-US" sz="9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3515868"/>
        </p:xfrm>
        <a:graphic>
          <a:graphicData uri="http://schemas.openxmlformats.org/drawingml/2006/table">
            <a:tbl>
              <a:tblPr/>
              <a:tblGrid>
                <a:gridCol w="566928">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gridCol w="2706624">
                  <a:extLst>
                    <a:ext uri="{9D8B030D-6E8A-4147-A177-3AD203B41FA5}">
                      <a16:colId xmlns:a16="http://schemas.microsoft.com/office/drawing/2014/main" val="20003"/>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Step</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Task</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Detail</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Control it establishes</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extLst>
                  <a:ext uri="{0D108BD9-81ED-4DB2-BD59-A6C34878D82A}">
                    <a16:rowId xmlns:a16="http://schemas.microsoft.com/office/drawing/2014/main" val="10000"/>
                  </a:ext>
                </a:extLst>
              </a:tr>
              <a:tr h="0">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1</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Inventory model traffic</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Find every path by which Ball currently reaches a model — SaaS features, developer keys, vendor tools, notebooks</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Visibility: we learn what is actually running</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2</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Select and deploy</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Stand up the gateway; decide managed vs. self-hosted per data residency requirement; deploy in each region in scope</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A single, monitored egress point</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0">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3</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Configure routing</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Register approved models; define routing by task type, cost and residency; set fallback chains and timeouts</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Model choice becomes a policy decision, not a per-app decision</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4</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Identity &amp; attribution</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Integrate with corporate identity; require every call to carry a user, an agent and a cost centre</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Every request attributable to a person and a budget</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0">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5</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Budgets &amp; limits</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Hard spend caps and rate limits per agent, team and environment; alerting before the cap, not after</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Runaway agent spend becomes structurally impossible</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6</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Guardrails</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PII detection and redaction; prompt-injection defence; content safety; blocked-topic policy; jailbreak detection</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Policy enforced at the boundary, once, for every application</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0">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7</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Capture &amp; export</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Log every request and response; export OpenTelemetry traces and Prometheus metrics to the enterprise observability stack</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Complete evidence trail with no per-app instrumentation</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8</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Migrate and close doors</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Move all discovered traffic behind the gateway; revoke direct keys; block direct egress at the network layer</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No ungoverned path to a model remains</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8"/>
                  </a:ext>
                </a:extLst>
              </a:tr>
            </a:tbl>
          </a:graphicData>
        </a:graphic>
      </p:graphicFrame>
      <p:sp>
        <p:nvSpPr>
          <p:cNvPr id="7" name="Text 4"/>
          <p:cNvSpPr/>
          <p:nvPr/>
        </p:nvSpPr>
        <p:spPr>
          <a:xfrm>
            <a:off x="548640" y="5943600"/>
            <a:ext cx="11094415" cy="310896"/>
          </a:xfrm>
          <a:prstGeom prst="rect">
            <a:avLst/>
          </a:prstGeom>
          <a:noFill/>
          <a:ln/>
        </p:spPr>
        <p:txBody>
          <a:bodyPr wrap="square" lIns="0" tIns="0" rIns="0" bIns="0" rtlCol="0" anchor="ctr"/>
          <a:lstStyle/>
          <a:p>
            <a:pPr marL="0" indent="0">
              <a:buNone/>
            </a:pPr>
            <a:r>
              <a:rPr lang="en-US" sz="1100" b="1" i="1" dirty="0">
                <a:solidFill>
                  <a:srgbClr val="E8A33D"/>
                </a:solidFill>
                <a:latin typeface="Calibri" pitchFamily="34" charset="0"/>
                <a:ea typeface="Calibri" pitchFamily="34" charset="-122"/>
                <a:cs typeface="Calibri" pitchFamily="34" charset="-120"/>
              </a:rPr>
              <a:t>Step 8 is the one organisations skip. Without it the gateway is a recommendation rather than a control.</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6 · OBSERVABILITY</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AI observability — provisioning tasks</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37</a:t>
            </a:r>
            <a:endParaRPr lang="en-US" sz="9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3090672"/>
        </p:xfrm>
        <a:graphic>
          <a:graphicData uri="http://schemas.openxmlformats.org/drawingml/2006/table">
            <a:tbl>
              <a:tblPr/>
              <a:tblGrid>
                <a:gridCol w="566928">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5669280">
                  <a:extLst>
                    <a:ext uri="{9D8B030D-6E8A-4147-A177-3AD203B41FA5}">
                      <a16:colId xmlns:a16="http://schemas.microsoft.com/office/drawing/2014/main" val="20002"/>
                    </a:ext>
                  </a:extLst>
                </a:gridCol>
                <a:gridCol w="2706624">
                  <a:extLst>
                    <a:ext uri="{9D8B030D-6E8A-4147-A177-3AD203B41FA5}">
                      <a16:colId xmlns:a16="http://schemas.microsoft.com/office/drawing/2014/main" val="20003"/>
                    </a:ext>
                  </a:extLst>
                </a:gridCol>
              </a:tblGrid>
              <a:tr h="0">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Step</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Task</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Detail</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Answers the question</a:t>
                      </a:r>
                      <a:endParaRPr lang="en-US" sz="105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extLst>
                  <a:ext uri="{0D108BD9-81ED-4DB2-BD59-A6C34878D82A}">
                    <a16:rowId xmlns:a16="http://schemas.microsoft.com/office/drawing/2014/main" val="10000"/>
                  </a:ext>
                </a:extLst>
              </a:tr>
              <a:tr h="0">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1</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Define the trace schema</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Standardise the span model: agent, session, tool call, retrieval, model call, human checkpoint — with token, cost and latency on every span</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What exactly happened during this run?</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2</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Instrument at the gateway</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Capture every model request by default at the boundary rather than through per-application SDKs</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Are we seeing all of it?</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0">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3</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Instrument the mesh</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OpenTelemetry tracing across multi-agent runs; propagate the trace context through delegation and hand-off</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Which agent in the chain went wrong?</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4</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Capture context</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Record the assembled context: which documents were retrieved, their scores, and what was evicted under the token budget</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Why did it answer that way?</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0">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5</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Cost attribution</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Token-level spend attributed by agent, team, environment and business process</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Who is spending what, and is it worth it?</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6</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Quality signals</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Automated groundedness and relevance scoring; user thumbs and escalation events; low-confidence review queue</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Is it actually any good?</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0">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7</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Alerting</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Alert on cost anomalies, latency regression, evaluation score drops, guardrail trips and error-rate spikes</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Do we find out before the business does?</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8</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Dashboards &amp; review</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Per-domain dashboards for the FDE pods; a platform view for the AI Division; a fixed trace-review cadence</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930" dirty="0">
                          <a:solidFill>
                            <a:srgbClr val="16222E"/>
                          </a:solidFill>
                          <a:latin typeface="Calibri" pitchFamily="34" charset="0"/>
                          <a:ea typeface="Calibri" pitchFamily="34" charset="-122"/>
                          <a:cs typeface="Calibri" pitchFamily="34" charset="-120"/>
                        </a:rPr>
                        <a:t>Are we improving, run over run?</a:t>
                      </a:r>
                      <a:endParaRPr lang="en-US" sz="93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8"/>
                  </a:ext>
                </a:extLst>
              </a:tr>
            </a:tbl>
          </a:graphicData>
        </a:graphic>
      </p:graphicFrame>
      <p:sp>
        <p:nvSpPr>
          <p:cNvPr id="7" name="Text 4"/>
          <p:cNvSpPr/>
          <p:nvPr/>
        </p:nvSpPr>
        <p:spPr>
          <a:xfrm>
            <a:off x="548640" y="5943600"/>
            <a:ext cx="11094415" cy="310896"/>
          </a:xfrm>
          <a:prstGeom prst="rect">
            <a:avLst/>
          </a:prstGeom>
          <a:noFill/>
          <a:ln/>
        </p:spPr>
        <p:txBody>
          <a:bodyPr wrap="square" lIns="0" tIns="0" rIns="0" bIns="0" rtlCol="0" anchor="ctr"/>
          <a:lstStyle/>
          <a:p>
            <a:pPr marL="0" indent="0">
              <a:buNone/>
            </a:pPr>
            <a:r>
              <a:rPr lang="en-US" sz="1100" b="1" i="1" dirty="0">
                <a:solidFill>
                  <a:srgbClr val="1B6CA8"/>
                </a:solidFill>
                <a:latin typeface="Calibri" pitchFamily="34" charset="0"/>
                <a:ea typeface="Calibri" pitchFamily="34" charset="-122"/>
                <a:cs typeface="Calibri" pitchFamily="34" charset="-120"/>
              </a:rPr>
              <a:t>Observability is what converts an agent incident from an argument into a root cause. It is not optional infrastructure.</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TOPIC 7 · PLAN</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AI agentic programme — task-level plan</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38</a:t>
            </a:r>
            <a:endParaRPr lang="en-US" sz="9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3337560"/>
        </p:xfrm>
        <a:graphic>
          <a:graphicData uri="http://schemas.openxmlformats.org/drawingml/2006/table">
            <a:tbl>
              <a:tblPr/>
              <a:tblGrid>
                <a:gridCol w="1572768">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gridCol w="1975104">
                  <a:extLst>
                    <a:ext uri="{9D8B030D-6E8A-4147-A177-3AD203B41FA5}">
                      <a16:colId xmlns:a16="http://schemas.microsoft.com/office/drawing/2014/main" val="20004"/>
                    </a:ext>
                  </a:extLst>
                </a:gridCol>
              </a:tblGrid>
              <a:tr h="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Track</a:t>
                      </a:r>
                      <a:endParaRPr lang="en-US" sz="100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Establish</a:t>
                      </a:r>
                      <a:endParaRPr lang="en-US" sz="100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Enable</a:t>
                      </a:r>
                      <a:endParaRPr lang="en-US" sz="100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Scale</a:t>
                      </a:r>
                      <a:endParaRPr lang="en-US" sz="100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Owner</a:t>
                      </a:r>
                      <a:endParaRPr lang="en-US" sz="1000" dirty="0">
                        <a:latin typeface="Calibri" charset="0"/>
                        <a:ea typeface="Calibri" charset="0"/>
                        <a:cs typeface="Calibri" charset="0"/>
                      </a:endParaRPr>
                    </a:p>
                  </a:txBody>
                  <a:tcPr marL="76200" marR="76200" marT="76200" marB="76200" anchor="ctr">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0A2240"/>
                    </a:solidFill>
                  </a:tcPr>
                </a:tc>
                <a:extLst>
                  <a:ext uri="{0D108BD9-81ED-4DB2-BD59-A6C34878D82A}">
                    <a16:rowId xmlns:a16="http://schemas.microsoft.com/office/drawing/2014/main" val="10000"/>
                  </a:ext>
                </a:extLst>
              </a:tr>
              <a:tr h="0">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Governance</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Charter signed · AI forum stood up · acceptable-use and data-classification policy published · risk register opened</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Guardrail policy live at the gateway · audit record format agreed · third-party agent policy</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Model risk reviews · automated evidence collection · continuous assurance</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AI Division + Legal, Security, Privacy, Internal Audit</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Platform</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AI gateway deployed · traffic inventoried · direct keys revoked</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MCP servers 1–3 live · evaluation harness · observability stack</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MCP servers 4–6 · agentic mesh registry, policy and orchestration planes</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AI Division platform team</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0">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Data</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Readiness assessment complete · scored source register · remediation backlog</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Semantic layer for top entities · curated indexes · gold question sets</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Plant and streaming telemetry onboarded · cross-domain knowledge</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Data engineering + Unity Catalog stewards</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Context engineering</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Standard published · repository and review process live</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CE team formed · context packs for two lighthouse domains</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Context packs per spoke · federated authoring with central review</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Context Engineering Lead</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0">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Delivery (FDE)</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Role defined with HR · first two senior hires · internal conversion track designed</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Pods embedded in JDE and QA · lighthouse agents to production</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Pods in every spoke · business self-service with coaching</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AI Division delivery lead</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Engineering / harness</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Pipeline baseline · DORA baseline · assistant usage telemetry</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Golden pipeline template · provenance tagging · agent traffic through the gateway</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Agent DLC · autonomous worker agents · rollback on eval regression</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Platform engineering + AI Division</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r h="0">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Adoption</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Front door for AI requests · shadow-usage amnesty · exec communications</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Enablement curriculum · office hours · pattern library</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Domain-led communities of practice · certification for builders</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tc>
                  <a:txBody>
                    <a:bodyPr/>
                    <a:lstStyle/>
                    <a:p>
                      <a:pPr marL="0" indent="0">
                        <a:buNone/>
                      </a:pPr>
                      <a:r>
                        <a:rPr lang="en-US" sz="860" dirty="0">
                          <a:solidFill>
                            <a:srgbClr val="16222E"/>
                          </a:solidFill>
                          <a:latin typeface="Calibri" pitchFamily="34" charset="0"/>
                          <a:ea typeface="Calibri" pitchFamily="34" charset="-122"/>
                          <a:cs typeface="Calibri" pitchFamily="34" charset="-120"/>
                        </a:rPr>
                        <a:t>AI Division enablement</a:t>
                      </a:r>
                      <a:endParaRPr lang="en-US" sz="860" dirty="0">
                        <a:latin typeface="Calibri" charset="0"/>
                        <a:ea typeface="Calibri" charset="0"/>
                        <a:cs typeface="Calibri" charset="0"/>
                      </a:endParaRPr>
                    </a:p>
                  </a:txBody>
                  <a:tcPr marL="76200" marR="76200" marT="76200" marB="76200">
                    <a:lnL w="9525" cap="flat" cmpd="sng" algn="ctr">
                      <a:solidFill>
                        <a:srgbClr val="E4EBF2"/>
                      </a:solidFill>
                      <a:prstDash val="solid"/>
                      <a:round/>
                      <a:headEnd type="none" w="med" len="med"/>
                      <a:tailEnd type="none" w="med" len="med"/>
                    </a:lnL>
                    <a:lnR w="9525" cap="flat" cmpd="sng" algn="ctr">
                      <a:solidFill>
                        <a:srgbClr val="E4EBF2"/>
                      </a:solidFill>
                      <a:prstDash val="solid"/>
                      <a:round/>
                      <a:headEnd type="none" w="med" len="med"/>
                      <a:tailEnd type="none" w="med" len="med"/>
                    </a:lnR>
                    <a:lnT w="9525" cap="flat" cmpd="sng" algn="ctr">
                      <a:solidFill>
                        <a:srgbClr val="E4EBF2"/>
                      </a:solidFill>
                      <a:prstDash val="solid"/>
                      <a:round/>
                      <a:headEnd type="none" w="med" len="med"/>
                      <a:tailEnd type="none" w="med" len="med"/>
                    </a:lnT>
                    <a:lnB w="9525" cap="flat" cmpd="sng" algn="ctr">
                      <a:solidFill>
                        <a:srgbClr val="E4EBF2"/>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Text 4"/>
          <p:cNvSpPr/>
          <p:nvPr/>
        </p:nvSpPr>
        <p:spPr>
          <a:xfrm>
            <a:off x="548640" y="5961888"/>
            <a:ext cx="11094415" cy="310896"/>
          </a:xfrm>
          <a:prstGeom prst="rect">
            <a:avLst/>
          </a:prstGeom>
          <a:noFill/>
          <a:ln/>
        </p:spPr>
        <p:txBody>
          <a:bodyPr wrap="square" lIns="0" tIns="0" rIns="0" bIns="0" rtlCol="0" anchor="ctr"/>
          <a:lstStyle/>
          <a:p>
            <a:pPr marL="0" indent="0">
              <a:buNone/>
            </a:pPr>
            <a:r>
              <a:rPr lang="en-US" sz="1050" b="1" i="1" dirty="0">
                <a:solidFill>
                  <a:srgbClr val="1B6CA8"/>
                </a:solidFill>
                <a:latin typeface="Calibri" pitchFamily="34" charset="0"/>
                <a:ea typeface="Calibri" pitchFamily="34" charset="-122"/>
                <a:cs typeface="Calibri" pitchFamily="34" charset="-120"/>
              </a:rPr>
              <a:t>Columns are dependency-ordered phases, not calendar periods. A track advances when its exit condition is met, independently of the others.</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ASSURANCE</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Governance, security and risk</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39</a:t>
            </a:r>
            <a:endParaRPr lang="en-US" sz="900" dirty="0"/>
          </a:p>
        </p:txBody>
      </p:sp>
      <p:sp>
        <p:nvSpPr>
          <p:cNvPr id="6" name="Shape 4"/>
          <p:cNvSpPr/>
          <p:nvPr/>
        </p:nvSpPr>
        <p:spPr>
          <a:xfrm>
            <a:off x="548640" y="1481328"/>
            <a:ext cx="3503066" cy="2194560"/>
          </a:xfrm>
          <a:prstGeom prst="roundRect">
            <a:avLst>
              <a:gd name="adj" fmla="val 3333"/>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7" name="Shape 5"/>
          <p:cNvSpPr/>
          <p:nvPr/>
        </p:nvSpPr>
        <p:spPr>
          <a:xfrm>
            <a:off x="786384" y="1700784"/>
            <a:ext cx="402336" cy="402336"/>
          </a:xfrm>
          <a:prstGeom prst="ellipse">
            <a:avLst/>
          </a:prstGeom>
          <a:solidFill>
            <a:srgbClr val="E8A33D"/>
          </a:solidFill>
          <a:ln w="12700">
            <a:solidFill>
              <a:srgbClr val="E8A33D"/>
            </a:solidFill>
            <a:prstDash val="solid"/>
          </a:ln>
        </p:spPr>
      </p:sp>
      <p:sp>
        <p:nvSpPr>
          <p:cNvPr id="8" name="Text 6"/>
          <p:cNvSpPr/>
          <p:nvPr/>
        </p:nvSpPr>
        <p:spPr>
          <a:xfrm>
            <a:off x="786384" y="1700784"/>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1298448" y="1682496"/>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Data protection</a:t>
            </a:r>
            <a:endParaRPr lang="en-US" sz="1400" dirty="0"/>
          </a:p>
        </p:txBody>
      </p:sp>
      <p:sp>
        <p:nvSpPr>
          <p:cNvPr id="10" name="Text 8"/>
          <p:cNvSpPr/>
          <p:nvPr/>
        </p:nvSpPr>
        <p:spPr>
          <a:xfrm>
            <a:off x="804672" y="2231136"/>
            <a:ext cx="2991002" cy="1261872"/>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Classification decides what may leave the estate</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PII redaction at the gateway, not per application</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Residency-aware routing for regulated regions</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Retention policy for prompts, traces and outputs</a:t>
            </a:r>
            <a:endParaRPr lang="en-US" sz="1040" dirty="0"/>
          </a:p>
        </p:txBody>
      </p:sp>
      <p:sp>
        <p:nvSpPr>
          <p:cNvPr id="11" name="Shape 9"/>
          <p:cNvSpPr/>
          <p:nvPr/>
        </p:nvSpPr>
        <p:spPr>
          <a:xfrm>
            <a:off x="4344314" y="1481328"/>
            <a:ext cx="3503066" cy="2194560"/>
          </a:xfrm>
          <a:prstGeom prst="roundRect">
            <a:avLst>
              <a:gd name="adj" fmla="val 3333"/>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2" name="Shape 10"/>
          <p:cNvSpPr/>
          <p:nvPr/>
        </p:nvSpPr>
        <p:spPr>
          <a:xfrm>
            <a:off x="4582058" y="1700784"/>
            <a:ext cx="402336" cy="402336"/>
          </a:xfrm>
          <a:prstGeom prst="ellipse">
            <a:avLst/>
          </a:prstGeom>
          <a:solidFill>
            <a:srgbClr val="0A2240"/>
          </a:solidFill>
          <a:ln w="12700">
            <a:solidFill>
              <a:srgbClr val="0A2240"/>
            </a:solidFill>
            <a:prstDash val="solid"/>
          </a:ln>
        </p:spPr>
      </p:sp>
      <p:sp>
        <p:nvSpPr>
          <p:cNvPr id="13" name="Text 11"/>
          <p:cNvSpPr/>
          <p:nvPr/>
        </p:nvSpPr>
        <p:spPr>
          <a:xfrm>
            <a:off x="4582058" y="170078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5094122" y="1682496"/>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Access &amp; identity</a:t>
            </a:r>
            <a:endParaRPr lang="en-US" sz="1400" dirty="0"/>
          </a:p>
        </p:txBody>
      </p:sp>
      <p:sp>
        <p:nvSpPr>
          <p:cNvPr id="15" name="Text 13"/>
          <p:cNvSpPr/>
          <p:nvPr/>
        </p:nvSpPr>
        <p:spPr>
          <a:xfrm>
            <a:off x="4600346" y="2231136"/>
            <a:ext cx="2991002" cy="1261872"/>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End-user identity propagated to every tool call</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No standing service accounts with broad access</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Source-system permissions remain authoritative</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Least-privilege tool visibility per agent</a:t>
            </a:r>
            <a:endParaRPr lang="en-US" sz="1040" dirty="0"/>
          </a:p>
        </p:txBody>
      </p:sp>
      <p:sp>
        <p:nvSpPr>
          <p:cNvPr id="16" name="Shape 14"/>
          <p:cNvSpPr/>
          <p:nvPr/>
        </p:nvSpPr>
        <p:spPr>
          <a:xfrm>
            <a:off x="8139989" y="1481328"/>
            <a:ext cx="3503066" cy="2194560"/>
          </a:xfrm>
          <a:prstGeom prst="roundRect">
            <a:avLst>
              <a:gd name="adj" fmla="val 3333"/>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7" name="Shape 15"/>
          <p:cNvSpPr/>
          <p:nvPr/>
        </p:nvSpPr>
        <p:spPr>
          <a:xfrm>
            <a:off x="8377733" y="1700784"/>
            <a:ext cx="402336" cy="402336"/>
          </a:xfrm>
          <a:prstGeom prst="ellipse">
            <a:avLst/>
          </a:prstGeom>
          <a:solidFill>
            <a:srgbClr val="E8A33D"/>
          </a:solidFill>
          <a:ln w="12700">
            <a:solidFill>
              <a:srgbClr val="E8A33D"/>
            </a:solidFill>
            <a:prstDash val="solid"/>
          </a:ln>
        </p:spPr>
      </p:sp>
      <p:sp>
        <p:nvSpPr>
          <p:cNvPr id="18" name="Text 16"/>
          <p:cNvSpPr/>
          <p:nvPr/>
        </p:nvSpPr>
        <p:spPr>
          <a:xfrm>
            <a:off x="8377733" y="1700784"/>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03</a:t>
            </a:r>
            <a:endParaRPr lang="en-US" sz="1300" dirty="0"/>
          </a:p>
        </p:txBody>
      </p:sp>
      <p:sp>
        <p:nvSpPr>
          <p:cNvPr id="19" name="Text 17"/>
          <p:cNvSpPr/>
          <p:nvPr/>
        </p:nvSpPr>
        <p:spPr>
          <a:xfrm>
            <a:off x="8889797" y="1682496"/>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Adversarial risk</a:t>
            </a:r>
            <a:endParaRPr lang="en-US" sz="1400" dirty="0"/>
          </a:p>
        </p:txBody>
      </p:sp>
      <p:sp>
        <p:nvSpPr>
          <p:cNvPr id="20" name="Text 18"/>
          <p:cNvSpPr/>
          <p:nvPr/>
        </p:nvSpPr>
        <p:spPr>
          <a:xfrm>
            <a:off x="8396021" y="2231136"/>
            <a:ext cx="2991002" cy="1261872"/>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Prompt-injection defence on all untrusted content</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Tool output treated as untrusted input</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Agents cannot escalate their own privileges</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Red-team exercises before high-risk release</a:t>
            </a:r>
            <a:endParaRPr lang="en-US" sz="1040" dirty="0"/>
          </a:p>
        </p:txBody>
      </p:sp>
      <p:sp>
        <p:nvSpPr>
          <p:cNvPr id="21" name="Shape 19"/>
          <p:cNvSpPr/>
          <p:nvPr/>
        </p:nvSpPr>
        <p:spPr>
          <a:xfrm>
            <a:off x="548640" y="3803904"/>
            <a:ext cx="3503066" cy="2194560"/>
          </a:xfrm>
          <a:prstGeom prst="roundRect">
            <a:avLst>
              <a:gd name="adj" fmla="val 3333"/>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2" name="Shape 20"/>
          <p:cNvSpPr/>
          <p:nvPr/>
        </p:nvSpPr>
        <p:spPr>
          <a:xfrm>
            <a:off x="786384" y="4023360"/>
            <a:ext cx="402336" cy="402336"/>
          </a:xfrm>
          <a:prstGeom prst="ellipse">
            <a:avLst/>
          </a:prstGeom>
          <a:solidFill>
            <a:srgbClr val="0A2240"/>
          </a:solidFill>
          <a:ln w="12700">
            <a:solidFill>
              <a:srgbClr val="0A2240"/>
            </a:solidFill>
            <a:prstDash val="solid"/>
          </a:ln>
        </p:spPr>
      </p:sp>
      <p:sp>
        <p:nvSpPr>
          <p:cNvPr id="23" name="Text 21"/>
          <p:cNvSpPr/>
          <p:nvPr/>
        </p:nvSpPr>
        <p:spPr>
          <a:xfrm>
            <a:off x="786384" y="40233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4" name="Text 22"/>
          <p:cNvSpPr/>
          <p:nvPr/>
        </p:nvSpPr>
        <p:spPr>
          <a:xfrm>
            <a:off x="1298448" y="4005072"/>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Operational risk</a:t>
            </a:r>
            <a:endParaRPr lang="en-US" sz="1400" dirty="0"/>
          </a:p>
        </p:txBody>
      </p:sp>
      <p:sp>
        <p:nvSpPr>
          <p:cNvPr id="25" name="Text 23"/>
          <p:cNvSpPr/>
          <p:nvPr/>
        </p:nvSpPr>
        <p:spPr>
          <a:xfrm>
            <a:off x="804672" y="4553712"/>
            <a:ext cx="2991002" cy="1261872"/>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Kill switch per agent, tested pre-release</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Reversible actions only, outside approved write paths</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Rollback to a prior agent version on regression</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Incident runbook for agent failures</a:t>
            </a:r>
            <a:endParaRPr lang="en-US" sz="1040" dirty="0"/>
          </a:p>
        </p:txBody>
      </p:sp>
      <p:sp>
        <p:nvSpPr>
          <p:cNvPr id="26" name="Shape 24"/>
          <p:cNvSpPr/>
          <p:nvPr/>
        </p:nvSpPr>
        <p:spPr>
          <a:xfrm>
            <a:off x="4344314" y="3803904"/>
            <a:ext cx="3503066" cy="2194560"/>
          </a:xfrm>
          <a:prstGeom prst="roundRect">
            <a:avLst>
              <a:gd name="adj" fmla="val 3333"/>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7" name="Shape 25"/>
          <p:cNvSpPr/>
          <p:nvPr/>
        </p:nvSpPr>
        <p:spPr>
          <a:xfrm>
            <a:off x="4582058" y="4023360"/>
            <a:ext cx="402336" cy="402336"/>
          </a:xfrm>
          <a:prstGeom prst="ellipse">
            <a:avLst/>
          </a:prstGeom>
          <a:solidFill>
            <a:srgbClr val="E8A33D"/>
          </a:solidFill>
          <a:ln w="12700">
            <a:solidFill>
              <a:srgbClr val="E8A33D"/>
            </a:solidFill>
            <a:prstDash val="solid"/>
          </a:ln>
        </p:spPr>
      </p:sp>
      <p:sp>
        <p:nvSpPr>
          <p:cNvPr id="28" name="Text 26"/>
          <p:cNvSpPr/>
          <p:nvPr/>
        </p:nvSpPr>
        <p:spPr>
          <a:xfrm>
            <a:off x="4582058" y="4023360"/>
            <a:ext cx="402336" cy="402336"/>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05</a:t>
            </a:r>
            <a:endParaRPr lang="en-US" sz="1300" dirty="0"/>
          </a:p>
        </p:txBody>
      </p:sp>
      <p:sp>
        <p:nvSpPr>
          <p:cNvPr id="29" name="Text 27"/>
          <p:cNvSpPr/>
          <p:nvPr/>
        </p:nvSpPr>
        <p:spPr>
          <a:xfrm>
            <a:off x="5094122" y="4005072"/>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Third parties</a:t>
            </a:r>
            <a:endParaRPr lang="en-US" sz="1400" dirty="0"/>
          </a:p>
        </p:txBody>
      </p:sp>
      <p:sp>
        <p:nvSpPr>
          <p:cNvPr id="30" name="Text 28"/>
          <p:cNvSpPr/>
          <p:nvPr/>
        </p:nvSpPr>
        <p:spPr>
          <a:xfrm>
            <a:off x="4600346" y="4553712"/>
            <a:ext cx="2991002" cy="1261872"/>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Vendor agents enter at the ADLC Evaluate stage</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Data-sharing terms reviewed before connection</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No vendor agent reaches a system of record directly</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Exit plan documented per vendor</a:t>
            </a:r>
            <a:endParaRPr lang="en-US" sz="1040" dirty="0"/>
          </a:p>
        </p:txBody>
      </p:sp>
      <p:sp>
        <p:nvSpPr>
          <p:cNvPr id="31" name="Shape 29"/>
          <p:cNvSpPr/>
          <p:nvPr/>
        </p:nvSpPr>
        <p:spPr>
          <a:xfrm>
            <a:off x="8139989" y="3803904"/>
            <a:ext cx="3503066" cy="2194560"/>
          </a:xfrm>
          <a:prstGeom prst="roundRect">
            <a:avLst>
              <a:gd name="adj" fmla="val 3333"/>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32" name="Shape 30"/>
          <p:cNvSpPr/>
          <p:nvPr/>
        </p:nvSpPr>
        <p:spPr>
          <a:xfrm>
            <a:off x="8377733" y="4023360"/>
            <a:ext cx="402336" cy="402336"/>
          </a:xfrm>
          <a:prstGeom prst="ellipse">
            <a:avLst/>
          </a:prstGeom>
          <a:solidFill>
            <a:srgbClr val="0A2240"/>
          </a:solidFill>
          <a:ln w="12700">
            <a:solidFill>
              <a:srgbClr val="0A2240"/>
            </a:solidFill>
            <a:prstDash val="solid"/>
          </a:ln>
        </p:spPr>
      </p:sp>
      <p:sp>
        <p:nvSpPr>
          <p:cNvPr id="33" name="Text 31"/>
          <p:cNvSpPr/>
          <p:nvPr/>
        </p:nvSpPr>
        <p:spPr>
          <a:xfrm>
            <a:off x="8377733" y="4023360"/>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4" name="Text 32"/>
          <p:cNvSpPr/>
          <p:nvPr/>
        </p:nvSpPr>
        <p:spPr>
          <a:xfrm>
            <a:off x="8889797" y="4005072"/>
            <a:ext cx="2533802" cy="438912"/>
          </a:xfrm>
          <a:prstGeom prst="rect">
            <a:avLst/>
          </a:prstGeom>
          <a:noFill/>
          <a:ln/>
        </p:spPr>
        <p:txBody>
          <a:bodyPr wrap="square" lIns="0" tIns="0" rIns="0" bIns="0" rtlCol="0" anchor="ctr"/>
          <a:lstStyle/>
          <a:p>
            <a:pPr marL="0" indent="0">
              <a:buNone/>
            </a:pPr>
            <a:r>
              <a:rPr lang="en-US" sz="1400" b="1" dirty="0">
                <a:solidFill>
                  <a:srgbClr val="0A2240"/>
                </a:solidFill>
                <a:latin typeface="Calibri" pitchFamily="34" charset="0"/>
                <a:ea typeface="Calibri" pitchFamily="34" charset="-122"/>
                <a:cs typeface="Calibri" pitchFamily="34" charset="-120"/>
              </a:rPr>
              <a:t>Assurance &amp; audit</a:t>
            </a:r>
            <a:endParaRPr lang="en-US" sz="1400" dirty="0"/>
          </a:p>
        </p:txBody>
      </p:sp>
      <p:sp>
        <p:nvSpPr>
          <p:cNvPr id="35" name="Text 33"/>
          <p:cNvSpPr/>
          <p:nvPr/>
        </p:nvSpPr>
        <p:spPr>
          <a:xfrm>
            <a:off x="8396021" y="4553712"/>
            <a:ext cx="2991002" cy="1261872"/>
          </a:xfrm>
          <a:prstGeom prst="rect">
            <a:avLst/>
          </a:prstGeom>
          <a:noFill/>
          <a:ln/>
        </p:spPr>
        <p:txBody>
          <a:bodyPr wrap="square" lIns="0" tIns="0" rIns="0" bIns="0" rtlCol="0" anchor="t"/>
          <a:lstStyle/>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Immutable trace per agent action</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Evidence generated automatically, not at audit time</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Periodic re-certification of production agents</a:t>
            </a:r>
            <a:endParaRPr lang="en-US" sz="1040" dirty="0"/>
          </a:p>
          <a:p>
            <a:pPr marL="342900" indent="-342900">
              <a:lnSpc>
                <a:spcPts val="1500"/>
              </a:lnSpc>
              <a:spcAft>
                <a:spcPts val="500"/>
              </a:spcAft>
              <a:buSzPct val="100000"/>
              <a:buChar char="•"/>
            </a:pPr>
            <a:r>
              <a:rPr lang="en-US" sz="1040" dirty="0">
                <a:solidFill>
                  <a:srgbClr val="5A6B7B"/>
                </a:solidFill>
                <a:latin typeface="Calibri" pitchFamily="34" charset="0"/>
                <a:ea typeface="Calibri" pitchFamily="34" charset="-122"/>
                <a:cs typeface="Calibri" pitchFamily="34" charset="-120"/>
              </a:rPr>
              <a:t>Register of agents with owner, scope and risk tier</a:t>
            </a:r>
            <a:endParaRPr lang="en-US" sz="104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ASSURANCE</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How we will know it is working</a:t>
            </a:r>
            <a:endParaRPr lang="en-US" sz="3400" dirty="0"/>
          </a:p>
        </p:txBody>
      </p:sp>
      <p:sp>
        <p:nvSpPr>
          <p:cNvPr id="4" name="Text 2"/>
          <p:cNvSpPr/>
          <p:nvPr/>
        </p:nvSpPr>
        <p:spPr>
          <a:xfrm>
            <a:off x="548640" y="1280160"/>
            <a:ext cx="11094415" cy="292608"/>
          </a:xfrm>
          <a:prstGeom prst="rect">
            <a:avLst/>
          </a:prstGeom>
          <a:noFill/>
          <a:ln/>
        </p:spPr>
        <p:txBody>
          <a:bodyPr wrap="square" lIns="0" tIns="0" rIns="0" bIns="0" rtlCol="0" anchor="ctr"/>
          <a:lstStyle/>
          <a:p>
            <a:pPr marL="0" indent="0">
              <a:buNone/>
            </a:pPr>
            <a:r>
              <a:rPr lang="en-US" sz="1250" i="1" dirty="0">
                <a:solidFill>
                  <a:srgbClr val="5A6B7B"/>
                </a:solidFill>
                <a:latin typeface="Calibri" pitchFamily="34" charset="0"/>
                <a:ea typeface="Calibri" pitchFamily="34" charset="-122"/>
                <a:cs typeface="Calibri" pitchFamily="34" charset="-120"/>
              </a:rPr>
              <a:t>Leading indicators for the platform; lagging indicators for the business. No vanity metrics.</a:t>
            </a:r>
            <a:endParaRPr lang="en-US" sz="1250" dirty="0"/>
          </a:p>
        </p:txBody>
      </p:sp>
      <p:sp>
        <p:nvSpPr>
          <p:cNvPr id="5" name="Text 3"/>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6" name="Text 4"/>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40</a:t>
            </a:r>
            <a:endParaRPr lang="en-US" sz="900" dirty="0"/>
          </a:p>
        </p:txBody>
      </p:sp>
      <p:sp>
        <p:nvSpPr>
          <p:cNvPr id="7" name="Shape 5"/>
          <p:cNvSpPr/>
          <p:nvPr/>
        </p:nvSpPr>
        <p:spPr>
          <a:xfrm>
            <a:off x="548640" y="1737360"/>
            <a:ext cx="5318608" cy="4114800"/>
          </a:xfrm>
          <a:prstGeom prst="roundRect">
            <a:avLst>
              <a:gd name="adj" fmla="val 1778"/>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8" name="Text 6"/>
          <p:cNvSpPr/>
          <p:nvPr/>
        </p:nvSpPr>
        <p:spPr>
          <a:xfrm>
            <a:off x="859536" y="1920240"/>
            <a:ext cx="4696816" cy="365760"/>
          </a:xfrm>
          <a:prstGeom prst="rect">
            <a:avLst/>
          </a:prstGeom>
          <a:noFill/>
          <a:ln/>
        </p:spPr>
        <p:txBody>
          <a:bodyPr wrap="square" lIns="0" tIns="0" rIns="0" bIns="0" rtlCol="0" anchor="ctr"/>
          <a:lstStyle/>
          <a:p>
            <a:pPr marL="0" indent="0">
              <a:buNone/>
            </a:pPr>
            <a:r>
              <a:rPr lang="en-US" sz="1500" b="1" dirty="0">
                <a:solidFill>
                  <a:srgbClr val="0A2240"/>
                </a:solidFill>
                <a:latin typeface="Calibri" pitchFamily="34" charset="0"/>
                <a:ea typeface="Calibri" pitchFamily="34" charset="-122"/>
                <a:cs typeface="Calibri" pitchFamily="34" charset="-120"/>
              </a:rPr>
              <a:t>Platform health — leading</a:t>
            </a:r>
            <a:endParaRPr lang="en-US" sz="1500" dirty="0"/>
          </a:p>
        </p:txBody>
      </p:sp>
      <p:sp>
        <p:nvSpPr>
          <p:cNvPr id="9" name="Text 7"/>
          <p:cNvSpPr/>
          <p:nvPr/>
        </p:nvSpPr>
        <p:spPr>
          <a:xfrm>
            <a:off x="859536" y="2414016"/>
            <a:ext cx="4696816" cy="3291840"/>
          </a:xfrm>
          <a:prstGeom prst="rect">
            <a:avLst/>
          </a:prstGeom>
          <a:noFill/>
          <a:ln/>
        </p:spPr>
        <p:txBody>
          <a:bodyPr wrap="square" lIns="0" tIns="0" rIns="0" bIns="0" rtlCol="0" anchor="t"/>
          <a:lstStyle/>
          <a:p>
            <a:pPr marL="342900" indent="-342900">
              <a:lnSpc>
                <a:spcPts val="1500"/>
              </a:lnSpc>
              <a:spcAft>
                <a:spcPts val="900"/>
              </a:spcAft>
              <a:buSzPct val="100000"/>
              <a:buChar char="•"/>
            </a:pPr>
            <a:r>
              <a:rPr lang="en-US" sz="1150" dirty="0">
                <a:solidFill>
                  <a:srgbClr val="16222E"/>
                </a:solidFill>
                <a:latin typeface="Calibri" pitchFamily="34" charset="0"/>
                <a:ea typeface="Calibri" pitchFamily="34" charset="-122"/>
                <a:cs typeface="Calibri" pitchFamily="34" charset="-120"/>
              </a:rPr>
              <a:t>Share of model traffic flowing through the gateway — target: all of it</a:t>
            </a:r>
            <a:endParaRPr lang="en-US" sz="1150" dirty="0"/>
          </a:p>
          <a:p>
            <a:pPr marL="342900" indent="-342900">
              <a:lnSpc>
                <a:spcPts val="1500"/>
              </a:lnSpc>
              <a:spcAft>
                <a:spcPts val="900"/>
              </a:spcAft>
              <a:buSzPct val="100000"/>
              <a:buChar char="•"/>
            </a:pPr>
            <a:r>
              <a:rPr lang="en-US" sz="1150" dirty="0">
                <a:solidFill>
                  <a:srgbClr val="16222E"/>
                </a:solidFill>
                <a:latin typeface="Calibri" pitchFamily="34" charset="0"/>
                <a:ea typeface="Calibri" pitchFamily="34" charset="-122"/>
                <a:cs typeface="Calibri" pitchFamily="34" charset="-120"/>
              </a:rPr>
              <a:t>Share of production agents registered with a named owner and an SLA</a:t>
            </a:r>
            <a:endParaRPr lang="en-US" sz="1150" dirty="0"/>
          </a:p>
          <a:p>
            <a:pPr marL="342900" indent="-342900">
              <a:lnSpc>
                <a:spcPts val="1500"/>
              </a:lnSpc>
              <a:spcAft>
                <a:spcPts val="900"/>
              </a:spcAft>
              <a:buSzPct val="100000"/>
              <a:buChar char="•"/>
            </a:pPr>
            <a:r>
              <a:rPr lang="en-US" sz="1150" dirty="0">
                <a:solidFill>
                  <a:srgbClr val="16222E"/>
                </a:solidFill>
                <a:latin typeface="Calibri" pitchFamily="34" charset="0"/>
                <a:ea typeface="Calibri" pitchFamily="34" charset="-122"/>
                <a:cs typeface="Calibri" pitchFamily="34" charset="-120"/>
              </a:rPr>
              <a:t>Evaluation pass rate and its trend, per agent version</a:t>
            </a:r>
            <a:endParaRPr lang="en-US" sz="1150" dirty="0"/>
          </a:p>
          <a:p>
            <a:pPr marL="342900" indent="-342900">
              <a:lnSpc>
                <a:spcPts val="1500"/>
              </a:lnSpc>
              <a:spcAft>
                <a:spcPts val="900"/>
              </a:spcAft>
              <a:buSzPct val="100000"/>
              <a:buChar char="•"/>
            </a:pPr>
            <a:r>
              <a:rPr lang="en-US" sz="1150" dirty="0">
                <a:solidFill>
                  <a:srgbClr val="16222E"/>
                </a:solidFill>
                <a:latin typeface="Calibri" pitchFamily="34" charset="0"/>
                <a:ea typeface="Calibri" pitchFamily="34" charset="-122"/>
                <a:cs typeface="Calibri" pitchFamily="34" charset="-120"/>
              </a:rPr>
              <a:t>Mean time to reconstruct the root cause of an agent failure</a:t>
            </a:r>
            <a:endParaRPr lang="en-US" sz="1150" dirty="0"/>
          </a:p>
          <a:p>
            <a:pPr marL="342900" indent="-342900">
              <a:lnSpc>
                <a:spcPts val="1500"/>
              </a:lnSpc>
              <a:spcAft>
                <a:spcPts val="900"/>
              </a:spcAft>
              <a:buSzPct val="100000"/>
              <a:buChar char="•"/>
            </a:pPr>
            <a:r>
              <a:rPr lang="en-US" sz="1150" dirty="0">
                <a:solidFill>
                  <a:srgbClr val="16222E"/>
                </a:solidFill>
                <a:latin typeface="Calibri" pitchFamily="34" charset="0"/>
                <a:ea typeface="Calibri" pitchFamily="34" charset="-122"/>
                <a:cs typeface="Calibri" pitchFamily="34" charset="-120"/>
              </a:rPr>
              <a:t>Number of reusable tools and context packs consumed by more than one domain</a:t>
            </a:r>
            <a:endParaRPr lang="en-US" sz="1150" dirty="0"/>
          </a:p>
          <a:p>
            <a:pPr marL="342900" indent="-342900">
              <a:lnSpc>
                <a:spcPts val="1500"/>
              </a:lnSpc>
              <a:spcAft>
                <a:spcPts val="900"/>
              </a:spcAft>
              <a:buSzPct val="100000"/>
              <a:buChar char="•"/>
            </a:pPr>
            <a:r>
              <a:rPr lang="en-US" sz="1150" dirty="0">
                <a:solidFill>
                  <a:srgbClr val="16222E"/>
                </a:solidFill>
                <a:latin typeface="Calibri" pitchFamily="34" charset="0"/>
                <a:ea typeface="Calibri" pitchFamily="34" charset="-122"/>
                <a:cs typeface="Calibri" pitchFamily="34" charset="-120"/>
              </a:rPr>
              <a:t>Proportion of agent releases that reach production without hub engineering involvement</a:t>
            </a:r>
            <a:endParaRPr lang="en-US" sz="1150" dirty="0"/>
          </a:p>
        </p:txBody>
      </p:sp>
      <p:sp>
        <p:nvSpPr>
          <p:cNvPr id="10" name="Shape 8"/>
          <p:cNvSpPr/>
          <p:nvPr/>
        </p:nvSpPr>
        <p:spPr>
          <a:xfrm>
            <a:off x="6324448" y="1737360"/>
            <a:ext cx="5318608" cy="4114800"/>
          </a:xfrm>
          <a:prstGeom prst="roundRect">
            <a:avLst>
              <a:gd name="adj" fmla="val 1778"/>
            </a:avLst>
          </a:prstGeom>
          <a:solidFill>
            <a:srgbClr val="0A2240"/>
          </a:solidFill>
          <a:ln w="12700">
            <a:solidFill>
              <a:srgbClr val="0A2240"/>
            </a:solidFill>
            <a:prstDash val="solid"/>
          </a:ln>
          <a:effectLst>
            <a:outerShdw blurRad="101600" dist="25400" dir="5400000" algn="bl" rotWithShape="0">
              <a:srgbClr val="0A2240">
                <a:alpha val="12000"/>
              </a:srgbClr>
            </a:outerShdw>
          </a:effectLst>
        </p:spPr>
      </p:sp>
      <p:sp>
        <p:nvSpPr>
          <p:cNvPr id="11" name="Text 9"/>
          <p:cNvSpPr/>
          <p:nvPr/>
        </p:nvSpPr>
        <p:spPr>
          <a:xfrm>
            <a:off x="6635344" y="1920240"/>
            <a:ext cx="4696816" cy="365760"/>
          </a:xfrm>
          <a:prstGeom prst="rect">
            <a:avLst/>
          </a:prstGeom>
          <a:noFill/>
          <a:ln/>
        </p:spPr>
        <p:txBody>
          <a:bodyPr wrap="square" lIns="0" tIns="0" rIns="0" bIns="0" rtlCol="0" anchor="ctr"/>
          <a:lstStyle/>
          <a:p>
            <a:pPr marL="0" indent="0">
              <a:buNone/>
            </a:pPr>
            <a:r>
              <a:rPr lang="en-US" sz="1500" b="1" dirty="0">
                <a:solidFill>
                  <a:srgbClr val="00A9E0"/>
                </a:solidFill>
                <a:latin typeface="Calibri" pitchFamily="34" charset="0"/>
                <a:ea typeface="Calibri" pitchFamily="34" charset="-122"/>
                <a:cs typeface="Calibri" pitchFamily="34" charset="-120"/>
              </a:rPr>
              <a:t>Business outcome — lagging</a:t>
            </a:r>
            <a:endParaRPr lang="en-US" sz="1500" dirty="0"/>
          </a:p>
        </p:txBody>
      </p:sp>
      <p:sp>
        <p:nvSpPr>
          <p:cNvPr id="12" name="Text 10"/>
          <p:cNvSpPr/>
          <p:nvPr/>
        </p:nvSpPr>
        <p:spPr>
          <a:xfrm>
            <a:off x="6635344" y="2414016"/>
            <a:ext cx="4696816" cy="3291840"/>
          </a:xfrm>
          <a:prstGeom prst="rect">
            <a:avLst/>
          </a:prstGeom>
          <a:noFill/>
          <a:ln/>
        </p:spPr>
        <p:txBody>
          <a:bodyPr wrap="square" lIns="0" tIns="0" rIns="0" bIns="0" rtlCol="0" anchor="t"/>
          <a:lstStyle/>
          <a:p>
            <a:pPr marL="342900" indent="-342900">
              <a:lnSpc>
                <a:spcPts val="15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Cycle time for the specific processes each lighthouse agent touches</a:t>
            </a:r>
            <a:endParaRPr lang="en-US" sz="1150" dirty="0"/>
          </a:p>
          <a:p>
            <a:pPr marL="342900" indent="-342900">
              <a:lnSpc>
                <a:spcPts val="15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Defect escape rate and regression coverage in QA</a:t>
            </a:r>
            <a:endParaRPr lang="en-US" sz="1150" dirty="0"/>
          </a:p>
          <a:p>
            <a:pPr marL="342900" indent="-342900">
              <a:lnSpc>
                <a:spcPts val="15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Master-data error rate and rework in the ERP estate</a:t>
            </a:r>
            <a:endParaRPr lang="en-US" sz="1150" dirty="0"/>
          </a:p>
          <a:p>
            <a:pPr marL="342900" indent="-342900">
              <a:lnSpc>
                <a:spcPts val="15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Time from a business question to a defensible, sourced answer</a:t>
            </a:r>
            <a:endParaRPr lang="en-US" sz="1150" dirty="0"/>
          </a:p>
          <a:p>
            <a:pPr marL="342900" indent="-342900">
              <a:lnSpc>
                <a:spcPts val="15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Engineering change-failure rate and lead time, split by AI-assisted and human-authored change</a:t>
            </a:r>
            <a:endParaRPr lang="en-US" sz="1150" dirty="0"/>
          </a:p>
          <a:p>
            <a:pPr marL="342900" indent="-342900">
              <a:lnSpc>
                <a:spcPts val="15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Adoption depth: repeat use by the same team, not first-time trials</a:t>
            </a:r>
            <a:endParaRPr lang="en-US" sz="1150" dirty="0"/>
          </a:p>
        </p:txBody>
      </p:sp>
      <p:sp>
        <p:nvSpPr>
          <p:cNvPr id="13" name="Text 11"/>
          <p:cNvSpPr/>
          <p:nvPr/>
        </p:nvSpPr>
        <p:spPr>
          <a:xfrm>
            <a:off x="548640" y="5980176"/>
            <a:ext cx="11094415" cy="274320"/>
          </a:xfrm>
          <a:prstGeom prst="rect">
            <a:avLst/>
          </a:prstGeom>
          <a:noFill/>
          <a:ln/>
        </p:spPr>
        <p:txBody>
          <a:bodyPr wrap="square" lIns="0" tIns="0" rIns="0" bIns="0" rtlCol="0" anchor="ctr"/>
          <a:lstStyle/>
          <a:p>
            <a:pPr marL="0" indent="0">
              <a:buNone/>
            </a:pPr>
            <a:r>
              <a:rPr lang="en-US" sz="1100" b="1" i="1" dirty="0">
                <a:solidFill>
                  <a:srgbClr val="E8A33D"/>
                </a:solidFill>
                <a:latin typeface="Calibri" pitchFamily="34" charset="0"/>
                <a:ea typeface="Calibri" pitchFamily="34" charset="-122"/>
                <a:cs typeface="Calibri" pitchFamily="34" charset="-120"/>
              </a:rPr>
              <a:t>Explicitly not measured: number of use cases launched, licences deployed, or people trained. Those measure activity, not value.</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1">
    <p:bg>
      <p:bgPr>
        <a:solidFill>
          <a:srgbClr val="0A2240"/>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00A9E0"/>
                </a:solidFill>
                <a:latin typeface="Calibri" pitchFamily="34" charset="0"/>
                <a:ea typeface="Calibri" pitchFamily="34" charset="-122"/>
                <a:cs typeface="Calibri" pitchFamily="34" charset="-120"/>
              </a:rPr>
              <a:t>NEXT STEPS</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The ask</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41</a:t>
            </a:r>
            <a:endParaRPr lang="en-US" sz="900" dirty="0"/>
          </a:p>
        </p:txBody>
      </p:sp>
      <p:sp>
        <p:nvSpPr>
          <p:cNvPr id="6" name="Shape 4"/>
          <p:cNvSpPr/>
          <p:nvPr/>
        </p:nvSpPr>
        <p:spPr>
          <a:xfrm>
            <a:off x="548640" y="1481328"/>
            <a:ext cx="3503066" cy="1901952"/>
          </a:xfrm>
          <a:prstGeom prst="roundRect">
            <a:avLst>
              <a:gd name="adj" fmla="val 3846"/>
            </a:avLst>
          </a:prstGeom>
          <a:solidFill>
            <a:srgbClr val="13355F"/>
          </a:solidFill>
          <a:ln w="12700">
            <a:solidFill>
              <a:srgbClr val="1B6CA8"/>
            </a:solidFill>
            <a:prstDash val="solid"/>
          </a:ln>
          <a:effectLst>
            <a:outerShdw blurRad="101600" dist="25400" dir="5400000" algn="bl" rotWithShape="0">
              <a:srgbClr val="0A2240">
                <a:alpha val="12000"/>
              </a:srgbClr>
            </a:outerShdw>
          </a:effectLst>
        </p:spPr>
      </p:sp>
      <p:sp>
        <p:nvSpPr>
          <p:cNvPr id="7" name="Shape 5"/>
          <p:cNvSpPr/>
          <p:nvPr/>
        </p:nvSpPr>
        <p:spPr>
          <a:xfrm>
            <a:off x="786384" y="1700784"/>
            <a:ext cx="420624" cy="420624"/>
          </a:xfrm>
          <a:prstGeom prst="ellipse">
            <a:avLst/>
          </a:prstGeom>
          <a:solidFill>
            <a:srgbClr val="00A9E0"/>
          </a:solidFill>
          <a:ln w="12700">
            <a:solidFill>
              <a:srgbClr val="00A9E0"/>
            </a:solidFill>
            <a:prstDash val="solid"/>
          </a:ln>
        </p:spPr>
      </p:sp>
      <p:sp>
        <p:nvSpPr>
          <p:cNvPr id="8" name="Text 6"/>
          <p:cNvSpPr/>
          <p:nvPr/>
        </p:nvSpPr>
        <p:spPr>
          <a:xfrm>
            <a:off x="786384" y="1700784"/>
            <a:ext cx="420624" cy="420624"/>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01</a:t>
            </a:r>
            <a:endParaRPr lang="en-US" sz="1300" dirty="0"/>
          </a:p>
        </p:txBody>
      </p:sp>
      <p:sp>
        <p:nvSpPr>
          <p:cNvPr id="9" name="Text 7"/>
          <p:cNvSpPr/>
          <p:nvPr/>
        </p:nvSpPr>
        <p:spPr>
          <a:xfrm>
            <a:off x="1316736" y="1700784"/>
            <a:ext cx="2515514" cy="42062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Approve the division</a:t>
            </a:r>
            <a:endParaRPr lang="en-US" sz="1450" dirty="0"/>
          </a:p>
        </p:txBody>
      </p:sp>
      <p:sp>
        <p:nvSpPr>
          <p:cNvPr id="10" name="Text 8"/>
          <p:cNvSpPr/>
          <p:nvPr/>
        </p:nvSpPr>
        <p:spPr>
          <a:xfrm>
            <a:off x="804672" y="2231136"/>
            <a:ext cx="2991002" cy="1005840"/>
          </a:xfrm>
          <a:prstGeom prst="rect">
            <a:avLst/>
          </a:prstGeom>
          <a:noFill/>
          <a:ln/>
        </p:spPr>
        <p:txBody>
          <a:bodyPr wrap="square" lIns="0" tIns="0" rIns="0" bIns="0" rtlCol="0" anchor="t"/>
          <a:lstStyle/>
          <a:p>
            <a:pPr marL="0" indent="0">
              <a:lnSpc>
                <a:spcPts val="1400"/>
              </a:lnSpc>
              <a:buNone/>
            </a:pPr>
            <a:r>
              <a:rPr lang="en-US" sz="1100" dirty="0">
                <a:solidFill>
                  <a:srgbClr val="AEB9C4"/>
                </a:solidFill>
                <a:latin typeface="Calibri" pitchFamily="34" charset="0"/>
                <a:ea typeface="Calibri" pitchFamily="34" charset="-122"/>
                <a:cs typeface="Calibri" pitchFamily="34" charset="-120"/>
              </a:rPr>
              <a:t>Endorse the charter, the mandate and — importantly — the anti-mandate. Name an executive sponsor and confirm the reporting line.</a:t>
            </a:r>
            <a:endParaRPr lang="en-US" sz="1100" dirty="0"/>
          </a:p>
        </p:txBody>
      </p:sp>
      <p:sp>
        <p:nvSpPr>
          <p:cNvPr id="11" name="Shape 9"/>
          <p:cNvSpPr/>
          <p:nvPr/>
        </p:nvSpPr>
        <p:spPr>
          <a:xfrm>
            <a:off x="4344314" y="1481328"/>
            <a:ext cx="3503066" cy="1901952"/>
          </a:xfrm>
          <a:prstGeom prst="roundRect">
            <a:avLst>
              <a:gd name="adj" fmla="val 3846"/>
            </a:avLst>
          </a:prstGeom>
          <a:solidFill>
            <a:srgbClr val="13355F"/>
          </a:solidFill>
          <a:ln w="12700">
            <a:solidFill>
              <a:srgbClr val="1B6CA8"/>
            </a:solidFill>
            <a:prstDash val="solid"/>
          </a:ln>
          <a:effectLst>
            <a:outerShdw blurRad="101600" dist="25400" dir="5400000" algn="bl" rotWithShape="0">
              <a:srgbClr val="0A2240">
                <a:alpha val="12000"/>
              </a:srgbClr>
            </a:outerShdw>
          </a:effectLst>
        </p:spPr>
      </p:sp>
      <p:sp>
        <p:nvSpPr>
          <p:cNvPr id="12" name="Shape 10"/>
          <p:cNvSpPr/>
          <p:nvPr/>
        </p:nvSpPr>
        <p:spPr>
          <a:xfrm>
            <a:off x="4582058" y="1700784"/>
            <a:ext cx="420624" cy="420624"/>
          </a:xfrm>
          <a:prstGeom prst="ellipse">
            <a:avLst/>
          </a:prstGeom>
          <a:solidFill>
            <a:srgbClr val="00A9E0"/>
          </a:solidFill>
          <a:ln w="12700">
            <a:solidFill>
              <a:srgbClr val="00A9E0"/>
            </a:solidFill>
            <a:prstDash val="solid"/>
          </a:ln>
        </p:spPr>
      </p:sp>
      <p:sp>
        <p:nvSpPr>
          <p:cNvPr id="13" name="Text 11"/>
          <p:cNvSpPr/>
          <p:nvPr/>
        </p:nvSpPr>
        <p:spPr>
          <a:xfrm>
            <a:off x="4582058" y="1700784"/>
            <a:ext cx="420624" cy="420624"/>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02</a:t>
            </a:r>
            <a:endParaRPr lang="en-US" sz="1300" dirty="0"/>
          </a:p>
        </p:txBody>
      </p:sp>
      <p:sp>
        <p:nvSpPr>
          <p:cNvPr id="14" name="Text 12"/>
          <p:cNvSpPr/>
          <p:nvPr/>
        </p:nvSpPr>
        <p:spPr>
          <a:xfrm>
            <a:off x="5112410" y="1700784"/>
            <a:ext cx="2515514" cy="42062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Approve the gateway</a:t>
            </a:r>
            <a:endParaRPr lang="en-US" sz="1450" dirty="0"/>
          </a:p>
        </p:txBody>
      </p:sp>
      <p:sp>
        <p:nvSpPr>
          <p:cNvPr id="15" name="Text 13"/>
          <p:cNvSpPr/>
          <p:nvPr/>
        </p:nvSpPr>
        <p:spPr>
          <a:xfrm>
            <a:off x="4600346" y="2231136"/>
            <a:ext cx="2991002" cy="1005840"/>
          </a:xfrm>
          <a:prstGeom prst="rect">
            <a:avLst/>
          </a:prstGeom>
          <a:noFill/>
          <a:ln/>
        </p:spPr>
        <p:txBody>
          <a:bodyPr wrap="square" lIns="0" tIns="0" rIns="0" bIns="0" rtlCol="0" anchor="t"/>
          <a:lstStyle/>
          <a:p>
            <a:pPr marL="0" indent="0">
              <a:lnSpc>
                <a:spcPts val="1400"/>
              </a:lnSpc>
              <a:buNone/>
            </a:pPr>
            <a:r>
              <a:rPr lang="en-US" sz="1100" dirty="0">
                <a:solidFill>
                  <a:srgbClr val="AEB9C4"/>
                </a:solidFill>
                <a:latin typeface="Calibri" pitchFamily="34" charset="0"/>
                <a:ea typeface="Calibri" pitchFamily="34" charset="-122"/>
                <a:cs typeface="Calibri" pitchFamily="34" charset="-120"/>
              </a:rPr>
              <a:t>Authorise deployment of the AI gateway and the subsequent revocation of direct model access. This is the single fastest risk reduction available.</a:t>
            </a:r>
            <a:endParaRPr lang="en-US" sz="1100" dirty="0"/>
          </a:p>
        </p:txBody>
      </p:sp>
      <p:sp>
        <p:nvSpPr>
          <p:cNvPr id="16" name="Shape 14"/>
          <p:cNvSpPr/>
          <p:nvPr/>
        </p:nvSpPr>
        <p:spPr>
          <a:xfrm>
            <a:off x="8139989" y="1481328"/>
            <a:ext cx="3503066" cy="1901952"/>
          </a:xfrm>
          <a:prstGeom prst="roundRect">
            <a:avLst>
              <a:gd name="adj" fmla="val 3846"/>
            </a:avLst>
          </a:prstGeom>
          <a:solidFill>
            <a:srgbClr val="13355F"/>
          </a:solidFill>
          <a:ln w="12700">
            <a:solidFill>
              <a:srgbClr val="1B6CA8"/>
            </a:solidFill>
            <a:prstDash val="solid"/>
          </a:ln>
          <a:effectLst>
            <a:outerShdw blurRad="101600" dist="25400" dir="5400000" algn="bl" rotWithShape="0">
              <a:srgbClr val="0A2240">
                <a:alpha val="12000"/>
              </a:srgbClr>
            </a:outerShdw>
          </a:effectLst>
        </p:spPr>
      </p:sp>
      <p:sp>
        <p:nvSpPr>
          <p:cNvPr id="17" name="Shape 15"/>
          <p:cNvSpPr/>
          <p:nvPr/>
        </p:nvSpPr>
        <p:spPr>
          <a:xfrm>
            <a:off x="8377733" y="1700784"/>
            <a:ext cx="420624" cy="420624"/>
          </a:xfrm>
          <a:prstGeom prst="ellipse">
            <a:avLst/>
          </a:prstGeom>
          <a:solidFill>
            <a:srgbClr val="00A9E0"/>
          </a:solidFill>
          <a:ln w="12700">
            <a:solidFill>
              <a:srgbClr val="00A9E0"/>
            </a:solidFill>
            <a:prstDash val="solid"/>
          </a:ln>
        </p:spPr>
      </p:sp>
      <p:sp>
        <p:nvSpPr>
          <p:cNvPr id="18" name="Text 16"/>
          <p:cNvSpPr/>
          <p:nvPr/>
        </p:nvSpPr>
        <p:spPr>
          <a:xfrm>
            <a:off x="8377733" y="1700784"/>
            <a:ext cx="420624" cy="420624"/>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03</a:t>
            </a:r>
            <a:endParaRPr lang="en-US" sz="1300" dirty="0"/>
          </a:p>
        </p:txBody>
      </p:sp>
      <p:sp>
        <p:nvSpPr>
          <p:cNvPr id="19" name="Text 17"/>
          <p:cNvSpPr/>
          <p:nvPr/>
        </p:nvSpPr>
        <p:spPr>
          <a:xfrm>
            <a:off x="8908085" y="1700784"/>
            <a:ext cx="2515514" cy="42062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Commission the assessment</a:t>
            </a:r>
            <a:endParaRPr lang="en-US" sz="1450" dirty="0"/>
          </a:p>
        </p:txBody>
      </p:sp>
      <p:sp>
        <p:nvSpPr>
          <p:cNvPr id="20" name="Text 18"/>
          <p:cNvSpPr/>
          <p:nvPr/>
        </p:nvSpPr>
        <p:spPr>
          <a:xfrm>
            <a:off x="8396021" y="2231136"/>
            <a:ext cx="2991002" cy="1005840"/>
          </a:xfrm>
          <a:prstGeom prst="rect">
            <a:avLst/>
          </a:prstGeom>
          <a:noFill/>
          <a:ln/>
        </p:spPr>
        <p:txBody>
          <a:bodyPr wrap="square" lIns="0" tIns="0" rIns="0" bIns="0" rtlCol="0" anchor="t"/>
          <a:lstStyle/>
          <a:p>
            <a:pPr marL="0" indent="0">
              <a:lnSpc>
                <a:spcPts val="1400"/>
              </a:lnSpc>
              <a:buNone/>
            </a:pPr>
            <a:r>
              <a:rPr lang="en-US" sz="1100" dirty="0">
                <a:solidFill>
                  <a:srgbClr val="AEB9C4"/>
                </a:solidFill>
                <a:latin typeface="Calibri" pitchFamily="34" charset="0"/>
                <a:ea typeface="Calibri" pitchFamily="34" charset="-122"/>
                <a:cs typeface="Calibri" pitchFamily="34" charset="-120"/>
              </a:rPr>
              <a:t>Approve the AI data readiness assessment across the priority domains. Its output is the honest input to any schedule or investment case.</a:t>
            </a:r>
            <a:endParaRPr lang="en-US" sz="1100" dirty="0"/>
          </a:p>
        </p:txBody>
      </p:sp>
      <p:sp>
        <p:nvSpPr>
          <p:cNvPr id="21" name="Shape 19"/>
          <p:cNvSpPr/>
          <p:nvPr/>
        </p:nvSpPr>
        <p:spPr>
          <a:xfrm>
            <a:off x="548640" y="3584448"/>
            <a:ext cx="3503066" cy="1901952"/>
          </a:xfrm>
          <a:prstGeom prst="roundRect">
            <a:avLst>
              <a:gd name="adj" fmla="val 3846"/>
            </a:avLst>
          </a:prstGeom>
          <a:solidFill>
            <a:srgbClr val="13355F"/>
          </a:solidFill>
          <a:ln w="12700">
            <a:solidFill>
              <a:srgbClr val="1B6CA8"/>
            </a:solidFill>
            <a:prstDash val="solid"/>
          </a:ln>
          <a:effectLst>
            <a:outerShdw blurRad="101600" dist="25400" dir="5400000" algn="bl" rotWithShape="0">
              <a:srgbClr val="0A2240">
                <a:alpha val="12000"/>
              </a:srgbClr>
            </a:outerShdw>
          </a:effectLst>
        </p:spPr>
      </p:sp>
      <p:sp>
        <p:nvSpPr>
          <p:cNvPr id="22" name="Shape 20"/>
          <p:cNvSpPr/>
          <p:nvPr/>
        </p:nvSpPr>
        <p:spPr>
          <a:xfrm>
            <a:off x="786384" y="3803904"/>
            <a:ext cx="420624" cy="420624"/>
          </a:xfrm>
          <a:prstGeom prst="ellipse">
            <a:avLst/>
          </a:prstGeom>
          <a:solidFill>
            <a:srgbClr val="00A9E0"/>
          </a:solidFill>
          <a:ln w="12700">
            <a:solidFill>
              <a:srgbClr val="00A9E0"/>
            </a:solidFill>
            <a:prstDash val="solid"/>
          </a:ln>
        </p:spPr>
      </p:sp>
      <p:sp>
        <p:nvSpPr>
          <p:cNvPr id="23" name="Text 21"/>
          <p:cNvSpPr/>
          <p:nvPr/>
        </p:nvSpPr>
        <p:spPr>
          <a:xfrm>
            <a:off x="786384" y="3803904"/>
            <a:ext cx="420624" cy="420624"/>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04</a:t>
            </a:r>
            <a:endParaRPr lang="en-US" sz="1300" dirty="0"/>
          </a:p>
        </p:txBody>
      </p:sp>
      <p:sp>
        <p:nvSpPr>
          <p:cNvPr id="24" name="Text 22"/>
          <p:cNvSpPr/>
          <p:nvPr/>
        </p:nvSpPr>
        <p:spPr>
          <a:xfrm>
            <a:off x="1316736" y="3803904"/>
            <a:ext cx="2515514" cy="42062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Name the spoke owners</a:t>
            </a:r>
            <a:endParaRPr lang="en-US" sz="1450" dirty="0"/>
          </a:p>
        </p:txBody>
      </p:sp>
      <p:sp>
        <p:nvSpPr>
          <p:cNvPr id="25" name="Text 23"/>
          <p:cNvSpPr/>
          <p:nvPr/>
        </p:nvSpPr>
        <p:spPr>
          <a:xfrm>
            <a:off x="804672" y="4334256"/>
            <a:ext cx="2991002" cy="1005840"/>
          </a:xfrm>
          <a:prstGeom prst="rect">
            <a:avLst/>
          </a:prstGeom>
          <a:noFill/>
          <a:ln/>
        </p:spPr>
        <p:txBody>
          <a:bodyPr wrap="square" lIns="0" tIns="0" rIns="0" bIns="0" rtlCol="0" anchor="t"/>
          <a:lstStyle/>
          <a:p>
            <a:pPr marL="0" indent="0">
              <a:lnSpc>
                <a:spcPts val="1400"/>
              </a:lnSpc>
              <a:buNone/>
            </a:pPr>
            <a:r>
              <a:rPr lang="en-US" sz="1100" dirty="0">
                <a:solidFill>
                  <a:srgbClr val="AEB9C4"/>
                </a:solidFill>
                <a:latin typeface="Calibri" pitchFamily="34" charset="0"/>
                <a:ea typeface="Calibri" pitchFamily="34" charset="-122"/>
                <a:cs typeface="Calibri" pitchFamily="34" charset="-120"/>
              </a:rPr>
              <a:t>Each domain — JDE, SAP, Databricks, engineering, QA, business, plant — nominates a context owner and a product owner.</a:t>
            </a:r>
            <a:endParaRPr lang="en-US" sz="1100" dirty="0"/>
          </a:p>
        </p:txBody>
      </p:sp>
      <p:sp>
        <p:nvSpPr>
          <p:cNvPr id="26" name="Shape 24"/>
          <p:cNvSpPr/>
          <p:nvPr/>
        </p:nvSpPr>
        <p:spPr>
          <a:xfrm>
            <a:off x="4344314" y="3584448"/>
            <a:ext cx="3503066" cy="1901952"/>
          </a:xfrm>
          <a:prstGeom prst="roundRect">
            <a:avLst>
              <a:gd name="adj" fmla="val 3846"/>
            </a:avLst>
          </a:prstGeom>
          <a:solidFill>
            <a:srgbClr val="13355F"/>
          </a:solidFill>
          <a:ln w="12700">
            <a:solidFill>
              <a:srgbClr val="1B6CA8"/>
            </a:solidFill>
            <a:prstDash val="solid"/>
          </a:ln>
          <a:effectLst>
            <a:outerShdw blurRad="101600" dist="25400" dir="5400000" algn="bl" rotWithShape="0">
              <a:srgbClr val="0A2240">
                <a:alpha val="12000"/>
              </a:srgbClr>
            </a:outerShdw>
          </a:effectLst>
        </p:spPr>
      </p:sp>
      <p:sp>
        <p:nvSpPr>
          <p:cNvPr id="27" name="Shape 25"/>
          <p:cNvSpPr/>
          <p:nvPr/>
        </p:nvSpPr>
        <p:spPr>
          <a:xfrm>
            <a:off x="4582058" y="3803904"/>
            <a:ext cx="420624" cy="420624"/>
          </a:xfrm>
          <a:prstGeom prst="ellipse">
            <a:avLst/>
          </a:prstGeom>
          <a:solidFill>
            <a:srgbClr val="00A9E0"/>
          </a:solidFill>
          <a:ln w="12700">
            <a:solidFill>
              <a:srgbClr val="00A9E0"/>
            </a:solidFill>
            <a:prstDash val="solid"/>
          </a:ln>
        </p:spPr>
      </p:sp>
      <p:sp>
        <p:nvSpPr>
          <p:cNvPr id="28" name="Text 26"/>
          <p:cNvSpPr/>
          <p:nvPr/>
        </p:nvSpPr>
        <p:spPr>
          <a:xfrm>
            <a:off x="4582058" y="3803904"/>
            <a:ext cx="420624" cy="420624"/>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05</a:t>
            </a:r>
            <a:endParaRPr lang="en-US" sz="1300" dirty="0"/>
          </a:p>
        </p:txBody>
      </p:sp>
      <p:sp>
        <p:nvSpPr>
          <p:cNvPr id="29" name="Text 27"/>
          <p:cNvSpPr/>
          <p:nvPr/>
        </p:nvSpPr>
        <p:spPr>
          <a:xfrm>
            <a:off x="5112410" y="3803904"/>
            <a:ext cx="2515514" cy="42062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Stand up the forum</a:t>
            </a:r>
            <a:endParaRPr lang="en-US" sz="1450" dirty="0"/>
          </a:p>
        </p:txBody>
      </p:sp>
      <p:sp>
        <p:nvSpPr>
          <p:cNvPr id="30" name="Text 28"/>
          <p:cNvSpPr/>
          <p:nvPr/>
        </p:nvSpPr>
        <p:spPr>
          <a:xfrm>
            <a:off x="4600346" y="4334256"/>
            <a:ext cx="2991002" cy="1005840"/>
          </a:xfrm>
          <a:prstGeom prst="rect">
            <a:avLst/>
          </a:prstGeom>
          <a:noFill/>
          <a:ln/>
        </p:spPr>
        <p:txBody>
          <a:bodyPr wrap="square" lIns="0" tIns="0" rIns="0" bIns="0" rtlCol="0" anchor="t"/>
          <a:lstStyle/>
          <a:p>
            <a:pPr marL="0" indent="0">
              <a:lnSpc>
                <a:spcPts val="1400"/>
              </a:lnSpc>
              <a:buNone/>
            </a:pPr>
            <a:r>
              <a:rPr lang="en-US" sz="1100" dirty="0">
                <a:solidFill>
                  <a:srgbClr val="AEB9C4"/>
                </a:solidFill>
                <a:latin typeface="Calibri" pitchFamily="34" charset="0"/>
                <a:ea typeface="Calibri" pitchFamily="34" charset="-122"/>
                <a:cs typeface="Calibri" pitchFamily="34" charset="-120"/>
              </a:rPr>
              <a:t>Convene the AI governance forum with Legal, Security, Privacy and Internal Audit represented from the first meeting.</a:t>
            </a:r>
            <a:endParaRPr lang="en-US" sz="1100" dirty="0"/>
          </a:p>
        </p:txBody>
      </p:sp>
      <p:sp>
        <p:nvSpPr>
          <p:cNvPr id="31" name="Shape 29"/>
          <p:cNvSpPr/>
          <p:nvPr/>
        </p:nvSpPr>
        <p:spPr>
          <a:xfrm>
            <a:off x="8139989" y="3584448"/>
            <a:ext cx="3503066" cy="1901952"/>
          </a:xfrm>
          <a:prstGeom prst="roundRect">
            <a:avLst>
              <a:gd name="adj" fmla="val 3846"/>
            </a:avLst>
          </a:prstGeom>
          <a:solidFill>
            <a:srgbClr val="13355F"/>
          </a:solidFill>
          <a:ln w="12700">
            <a:solidFill>
              <a:srgbClr val="1B6CA8"/>
            </a:solidFill>
            <a:prstDash val="solid"/>
          </a:ln>
          <a:effectLst>
            <a:outerShdw blurRad="101600" dist="25400" dir="5400000" algn="bl" rotWithShape="0">
              <a:srgbClr val="0A2240">
                <a:alpha val="12000"/>
              </a:srgbClr>
            </a:outerShdw>
          </a:effectLst>
        </p:spPr>
      </p:sp>
      <p:sp>
        <p:nvSpPr>
          <p:cNvPr id="32" name="Shape 30"/>
          <p:cNvSpPr/>
          <p:nvPr/>
        </p:nvSpPr>
        <p:spPr>
          <a:xfrm>
            <a:off x="8377733" y="3803904"/>
            <a:ext cx="420624" cy="420624"/>
          </a:xfrm>
          <a:prstGeom prst="ellipse">
            <a:avLst/>
          </a:prstGeom>
          <a:solidFill>
            <a:srgbClr val="00A9E0"/>
          </a:solidFill>
          <a:ln w="12700">
            <a:solidFill>
              <a:srgbClr val="00A9E0"/>
            </a:solidFill>
            <a:prstDash val="solid"/>
          </a:ln>
        </p:spPr>
      </p:sp>
      <p:sp>
        <p:nvSpPr>
          <p:cNvPr id="33" name="Text 31"/>
          <p:cNvSpPr/>
          <p:nvPr/>
        </p:nvSpPr>
        <p:spPr>
          <a:xfrm>
            <a:off x="8377733" y="3803904"/>
            <a:ext cx="420624" cy="420624"/>
          </a:xfrm>
          <a:prstGeom prst="rect">
            <a:avLst/>
          </a:prstGeom>
          <a:noFill/>
          <a:ln/>
        </p:spPr>
        <p:txBody>
          <a:bodyPr wrap="square" lIns="0" tIns="0" rIns="0" bIns="0" rtlCol="0" anchor="ctr"/>
          <a:lstStyle/>
          <a:p>
            <a:pPr marL="0" indent="0" algn="ctr">
              <a:buNone/>
            </a:pPr>
            <a:r>
              <a:rPr lang="en-US" sz="1300" b="1" dirty="0">
                <a:solidFill>
                  <a:srgbClr val="0A2240"/>
                </a:solidFill>
                <a:latin typeface="Calibri" pitchFamily="34" charset="0"/>
                <a:ea typeface="Calibri" pitchFamily="34" charset="-122"/>
                <a:cs typeface="Calibri" pitchFamily="34" charset="-120"/>
              </a:rPr>
              <a:t>06</a:t>
            </a:r>
            <a:endParaRPr lang="en-US" sz="1300" dirty="0"/>
          </a:p>
        </p:txBody>
      </p:sp>
      <p:sp>
        <p:nvSpPr>
          <p:cNvPr id="34" name="Text 32"/>
          <p:cNvSpPr/>
          <p:nvPr/>
        </p:nvSpPr>
        <p:spPr>
          <a:xfrm>
            <a:off x="8908085" y="3803904"/>
            <a:ext cx="2515514" cy="420624"/>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Pick two lighthouses</a:t>
            </a:r>
            <a:endParaRPr lang="en-US" sz="1450" dirty="0"/>
          </a:p>
        </p:txBody>
      </p:sp>
      <p:sp>
        <p:nvSpPr>
          <p:cNvPr id="35" name="Text 33"/>
          <p:cNvSpPr/>
          <p:nvPr/>
        </p:nvSpPr>
        <p:spPr>
          <a:xfrm>
            <a:off x="8396021" y="4334256"/>
            <a:ext cx="2991002" cy="1005840"/>
          </a:xfrm>
          <a:prstGeom prst="rect">
            <a:avLst/>
          </a:prstGeom>
          <a:noFill/>
          <a:ln/>
        </p:spPr>
        <p:txBody>
          <a:bodyPr wrap="square" lIns="0" tIns="0" rIns="0" bIns="0" rtlCol="0" anchor="t"/>
          <a:lstStyle/>
          <a:p>
            <a:pPr marL="0" indent="0">
              <a:lnSpc>
                <a:spcPts val="1400"/>
              </a:lnSpc>
              <a:buNone/>
            </a:pPr>
            <a:r>
              <a:rPr lang="en-US" sz="1100" dirty="0">
                <a:solidFill>
                  <a:srgbClr val="AEB9C4"/>
                </a:solidFill>
                <a:latin typeface="Calibri" pitchFamily="34" charset="0"/>
                <a:ea typeface="Calibri" pitchFamily="34" charset="-122"/>
                <a:cs typeface="Calibri" pitchFamily="34" charset="-120"/>
              </a:rPr>
              <a:t>Agree the first two production agents. Recommendation: QA regression generation and ERP master-data quality — both bounded, measurable and low-risk.</a:t>
            </a:r>
            <a:endParaRPr lang="en-US" sz="1100" dirty="0"/>
          </a:p>
        </p:txBody>
      </p:sp>
      <p:sp>
        <p:nvSpPr>
          <p:cNvPr id="36" name="Text 34"/>
          <p:cNvSpPr/>
          <p:nvPr/>
        </p:nvSpPr>
        <p:spPr>
          <a:xfrm>
            <a:off x="548640" y="5943600"/>
            <a:ext cx="11094415" cy="347472"/>
          </a:xfrm>
          <a:prstGeom prst="rect">
            <a:avLst/>
          </a:prstGeom>
          <a:noFill/>
          <a:ln/>
        </p:spPr>
        <p:txBody>
          <a:bodyPr wrap="square" lIns="0" tIns="0" rIns="0" bIns="0" rtlCol="0" anchor="ctr"/>
          <a:lstStyle/>
          <a:p>
            <a:pPr marL="0" indent="0">
              <a:buNone/>
            </a:pPr>
            <a:r>
              <a:rPr lang="en-US" sz="1150" b="1" i="1" dirty="0">
                <a:solidFill>
                  <a:srgbClr val="00A9E0"/>
                </a:solidFill>
                <a:latin typeface="Calibri" pitchFamily="34" charset="0"/>
                <a:ea typeface="Calibri" pitchFamily="34" charset="-122"/>
                <a:cs typeface="Calibri" pitchFamily="34" charset="-120"/>
              </a:rPr>
              <a:t>No cost or schedule estimates are presented here by design. Both follow the readiness assessment — committing to them before it would be a guess dressed as a plan.</a:t>
            </a:r>
            <a:endParaRPr lang="en-US" sz="11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9184"/>
            <a:ext cx="11094415" cy="237744"/>
          </a:xfrm>
          <a:prstGeom prst="rect">
            <a:avLst/>
          </a:prstGeom>
          <a:noFill/>
          <a:ln/>
        </p:spPr>
        <p:txBody>
          <a:bodyPr wrap="square" lIns="0" tIns="0" rIns="0" bIns="0" rtlCol="0" anchor="ctr"/>
          <a:lstStyle/>
          <a:p>
            <a:pPr marL="0" indent="0">
              <a:buNone/>
            </a:pPr>
            <a:r>
              <a:rPr lang="en-US" sz="1100" b="1" kern="0" spc="200" dirty="0">
                <a:solidFill>
                  <a:srgbClr val="1B6CA8"/>
                </a:solidFill>
                <a:latin typeface="Calibri" pitchFamily="34" charset="0"/>
                <a:ea typeface="Calibri" pitchFamily="34" charset="-122"/>
                <a:cs typeface="Calibri" pitchFamily="34" charset="-120"/>
              </a:rPr>
              <a:t>APPENDIX</a:t>
            </a:r>
            <a:endParaRPr lang="en-US" sz="1100" dirty="0"/>
          </a:p>
        </p:txBody>
      </p:sp>
      <p:sp>
        <p:nvSpPr>
          <p:cNvPr id="3" name="Text 1"/>
          <p:cNvSpPr/>
          <p:nvPr/>
        </p:nvSpPr>
        <p:spPr>
          <a:xfrm>
            <a:off x="548640" y="585216"/>
            <a:ext cx="11094415" cy="713232"/>
          </a:xfrm>
          <a:prstGeom prst="rect">
            <a:avLst/>
          </a:prstGeom>
          <a:noFill/>
          <a:ln/>
        </p:spPr>
        <p:txBody>
          <a:bodyPr wrap="square" lIns="0" tIns="0" rIns="0" bIns="0" rtlCol="0" anchor="ctr"/>
          <a:lstStyle/>
          <a:p>
            <a:pPr marL="0" indent="0">
              <a:buNone/>
            </a:pPr>
            <a:r>
              <a:rPr lang="en-US" sz="3400" b="1" dirty="0">
                <a:solidFill>
                  <a:srgbClr val="0A2240"/>
                </a:solidFill>
                <a:latin typeface="Cambria" pitchFamily="34" charset="0"/>
                <a:ea typeface="Cambria" pitchFamily="34" charset="-122"/>
                <a:cs typeface="Cambria" pitchFamily="34" charset="-120"/>
              </a:rPr>
              <a:t>References and further reading</a:t>
            </a:r>
            <a:endParaRPr lang="en-US" sz="3400" dirty="0"/>
          </a:p>
        </p:txBody>
      </p:sp>
      <p:sp>
        <p:nvSpPr>
          <p:cNvPr id="4" name="Text 2"/>
          <p:cNvSpPr/>
          <p:nvPr/>
        </p:nvSpPr>
        <p:spPr>
          <a:xfrm>
            <a:off x="548640" y="6382512"/>
            <a:ext cx="9326880" cy="274320"/>
          </a:xfrm>
          <a:prstGeom prst="rect">
            <a:avLst/>
          </a:prstGeom>
          <a:noFill/>
          <a:ln/>
        </p:spPr>
        <p:txBody>
          <a:bodyPr wrap="square" lIns="0" tIns="0" rIns="0" bIns="0" rtlCol="0" anchor="ctr"/>
          <a:lstStyle/>
          <a:p>
            <a:pPr marL="0" indent="0">
              <a:buNone/>
            </a:pPr>
            <a:r>
              <a:rPr lang="en-US" sz="900" dirty="0">
                <a:solidFill>
                  <a:srgbClr val="AEB9C4"/>
                </a:solidFill>
                <a:latin typeface="Calibri" pitchFamily="34" charset="0"/>
                <a:ea typeface="Calibri" pitchFamily="34" charset="-122"/>
                <a:cs typeface="Calibri" pitchFamily="34" charset="-120"/>
              </a:rPr>
              <a:t>Ball Corporation  |  AI Division Proposal  |  Confidential — Internal Draft</a:t>
            </a:r>
            <a:endParaRPr lang="en-US" sz="900" dirty="0"/>
          </a:p>
        </p:txBody>
      </p:sp>
      <p:sp>
        <p:nvSpPr>
          <p:cNvPr id="5" name="Text 3"/>
          <p:cNvSpPr/>
          <p:nvPr/>
        </p:nvSpPr>
        <p:spPr>
          <a:xfrm>
            <a:off x="11002975" y="6382512"/>
            <a:ext cx="640080" cy="274320"/>
          </a:xfrm>
          <a:prstGeom prst="rect">
            <a:avLst/>
          </a:prstGeom>
          <a:noFill/>
          <a:ln/>
        </p:spPr>
        <p:txBody>
          <a:bodyPr wrap="square" rtlCol="0" anchor="ctr"/>
          <a:lstStyle/>
          <a:p>
            <a:pPr marL="0" indent="0" algn="r">
              <a:buNone/>
            </a:pPr>
            <a:r>
              <a:rPr lang="en-US" sz="900" dirty="0">
                <a:solidFill>
                  <a:srgbClr val="AEB9C4"/>
                </a:solidFill>
                <a:latin typeface="Calibri" pitchFamily="34" charset="0"/>
                <a:ea typeface="Calibri" pitchFamily="34" charset="-122"/>
                <a:cs typeface="Calibri" pitchFamily="34" charset="-120"/>
              </a:rPr>
              <a:t>42</a:t>
            </a:r>
            <a:endParaRPr lang="en-US" sz="900" dirty="0"/>
          </a:p>
        </p:txBody>
      </p:sp>
      <p:sp>
        <p:nvSpPr>
          <p:cNvPr id="6" name="Text 4"/>
          <p:cNvSpPr/>
          <p:nvPr/>
        </p:nvSpPr>
        <p:spPr>
          <a:xfrm>
            <a:off x="548640" y="1481328"/>
            <a:ext cx="11094415" cy="365760"/>
          </a:xfrm>
          <a:prstGeom prst="rect">
            <a:avLst/>
          </a:prstGeom>
          <a:noFill/>
          <a:ln/>
        </p:spPr>
        <p:txBody>
          <a:bodyPr wrap="square" lIns="0" tIns="0" rIns="0" bIns="0" rtlCol="0" anchor="ctr"/>
          <a:lstStyle/>
          <a:p>
            <a:pPr marL="0" indent="0">
              <a:buNone/>
            </a:pPr>
            <a:r>
              <a:rPr lang="en-US" sz="1150" i="1" dirty="0">
                <a:solidFill>
                  <a:srgbClr val="5A6B7B"/>
                </a:solidFill>
                <a:latin typeface="Calibri" pitchFamily="34" charset="0"/>
                <a:ea typeface="Calibri" pitchFamily="34" charset="-122"/>
                <a:cs typeface="Calibri" pitchFamily="34" charset="-120"/>
              </a:rPr>
              <a:t>All external figures in this deck are market-level published data. Items marked [CONFIRM] are placeholders requiring validation with Ball system owners before presentation.</a:t>
            </a:r>
            <a:endParaRPr lang="en-US" sz="1150" dirty="0"/>
          </a:p>
        </p:txBody>
      </p:sp>
      <p:sp>
        <p:nvSpPr>
          <p:cNvPr id="7" name="Shape 5"/>
          <p:cNvSpPr/>
          <p:nvPr/>
        </p:nvSpPr>
        <p:spPr>
          <a:xfrm>
            <a:off x="548640" y="1993392"/>
            <a:ext cx="5318608" cy="1316736"/>
          </a:xfrm>
          <a:prstGeom prst="roundRect">
            <a:avLst>
              <a:gd name="adj" fmla="val 5556"/>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8" name="Shape 6"/>
          <p:cNvSpPr/>
          <p:nvPr/>
        </p:nvSpPr>
        <p:spPr>
          <a:xfrm>
            <a:off x="768096" y="2121408"/>
            <a:ext cx="347472" cy="347472"/>
          </a:xfrm>
          <a:prstGeom prst="ellipse">
            <a:avLst/>
          </a:prstGeom>
          <a:solidFill>
            <a:srgbClr val="00A9E0"/>
          </a:solidFill>
          <a:ln w="12700">
            <a:solidFill>
              <a:srgbClr val="00A9E0"/>
            </a:solidFill>
            <a:prstDash val="solid"/>
          </a:ln>
        </p:spPr>
      </p:sp>
      <p:sp>
        <p:nvSpPr>
          <p:cNvPr id="9" name="Text 7"/>
          <p:cNvSpPr/>
          <p:nvPr/>
        </p:nvSpPr>
        <p:spPr>
          <a:xfrm>
            <a:off x="768096" y="2121408"/>
            <a:ext cx="347472" cy="347472"/>
          </a:xfrm>
          <a:prstGeom prst="rect">
            <a:avLst/>
          </a:prstGeom>
          <a:noFill/>
          <a:ln/>
        </p:spPr>
        <p:txBody>
          <a:bodyPr wrap="square" lIns="0" tIns="0" rIns="0" bIns="0" rtlCol="0" anchor="ctr"/>
          <a:lstStyle/>
          <a:p>
            <a:pPr marL="0" indent="0" algn="ctr">
              <a:buNone/>
            </a:pPr>
            <a:r>
              <a:rPr lang="en-US" sz="1150" b="1" dirty="0">
                <a:solidFill>
                  <a:srgbClr val="0A2240"/>
                </a:solidFill>
                <a:latin typeface="Calibri" pitchFamily="34" charset="0"/>
                <a:ea typeface="Calibri" pitchFamily="34" charset="-122"/>
                <a:cs typeface="Calibri" pitchFamily="34" charset="-120"/>
              </a:rPr>
              <a:t>1</a:t>
            </a:r>
            <a:endParaRPr lang="en-US" sz="1150" dirty="0"/>
          </a:p>
        </p:txBody>
      </p:sp>
      <p:sp>
        <p:nvSpPr>
          <p:cNvPr id="10" name="Text 8"/>
          <p:cNvSpPr/>
          <p:nvPr/>
        </p:nvSpPr>
        <p:spPr>
          <a:xfrm>
            <a:off x="1207008" y="2121408"/>
            <a:ext cx="4440784" cy="347472"/>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Market signals — agentic AI and MCP</a:t>
            </a:r>
            <a:endParaRPr lang="en-US" sz="1300" dirty="0"/>
          </a:p>
        </p:txBody>
      </p:sp>
      <p:sp>
        <p:nvSpPr>
          <p:cNvPr id="11" name="Text 9"/>
          <p:cNvSpPr/>
          <p:nvPr/>
        </p:nvSpPr>
        <p:spPr>
          <a:xfrm>
            <a:off x="786384" y="2505456"/>
            <a:ext cx="4843120" cy="694944"/>
          </a:xfrm>
          <a:prstGeom prst="rect">
            <a:avLst/>
          </a:prstGeom>
          <a:noFill/>
          <a:ln/>
        </p:spPr>
        <p:txBody>
          <a:bodyPr wrap="square" lIns="0" tIns="0" rIns="0" bIns="0" rtlCol="0" anchor="t"/>
          <a:lstStyle/>
          <a:p>
            <a:pPr marL="0" indent="0">
              <a:lnSpc>
                <a:spcPts val="1300"/>
              </a:lnSpc>
              <a:buNone/>
            </a:pPr>
            <a:r>
              <a:rPr lang="en-US" sz="1020" dirty="0">
                <a:solidFill>
                  <a:srgbClr val="5A6B7B"/>
                </a:solidFill>
                <a:latin typeface="Calibri" pitchFamily="34" charset="0"/>
                <a:ea typeface="Calibri" pitchFamily="34" charset="-122"/>
                <a:cs typeface="Calibri" pitchFamily="34" charset="-120"/>
              </a:rPr>
              <a:t>MCP enterprise adoption analyses and 2026 state-of-AI-agents surveys covering production deployment rates, server counts and integration challenges.</a:t>
            </a:r>
            <a:endParaRPr lang="en-US" sz="1020" dirty="0"/>
          </a:p>
        </p:txBody>
      </p:sp>
      <p:sp>
        <p:nvSpPr>
          <p:cNvPr id="12" name="Shape 10"/>
          <p:cNvSpPr/>
          <p:nvPr/>
        </p:nvSpPr>
        <p:spPr>
          <a:xfrm>
            <a:off x="548640" y="3419856"/>
            <a:ext cx="5318608" cy="1316736"/>
          </a:xfrm>
          <a:prstGeom prst="roundRect">
            <a:avLst>
              <a:gd name="adj" fmla="val 5556"/>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3" name="Shape 11"/>
          <p:cNvSpPr/>
          <p:nvPr/>
        </p:nvSpPr>
        <p:spPr>
          <a:xfrm>
            <a:off x="768096" y="3547872"/>
            <a:ext cx="347472" cy="347472"/>
          </a:xfrm>
          <a:prstGeom prst="ellipse">
            <a:avLst/>
          </a:prstGeom>
          <a:solidFill>
            <a:srgbClr val="00A9E0"/>
          </a:solidFill>
          <a:ln w="12700">
            <a:solidFill>
              <a:srgbClr val="00A9E0"/>
            </a:solidFill>
            <a:prstDash val="solid"/>
          </a:ln>
        </p:spPr>
      </p:sp>
      <p:sp>
        <p:nvSpPr>
          <p:cNvPr id="14" name="Text 12"/>
          <p:cNvSpPr/>
          <p:nvPr/>
        </p:nvSpPr>
        <p:spPr>
          <a:xfrm>
            <a:off x="768096" y="3547872"/>
            <a:ext cx="347472" cy="347472"/>
          </a:xfrm>
          <a:prstGeom prst="rect">
            <a:avLst/>
          </a:prstGeom>
          <a:noFill/>
          <a:ln/>
        </p:spPr>
        <p:txBody>
          <a:bodyPr wrap="square" lIns="0" tIns="0" rIns="0" bIns="0" rtlCol="0" anchor="ctr"/>
          <a:lstStyle/>
          <a:p>
            <a:pPr marL="0" indent="0" algn="ctr">
              <a:buNone/>
            </a:pPr>
            <a:r>
              <a:rPr lang="en-US" sz="1150" b="1" dirty="0">
                <a:solidFill>
                  <a:srgbClr val="0A2240"/>
                </a:solidFill>
                <a:latin typeface="Calibri" pitchFamily="34" charset="0"/>
                <a:ea typeface="Calibri" pitchFamily="34" charset="-122"/>
                <a:cs typeface="Calibri" pitchFamily="34" charset="-120"/>
              </a:rPr>
              <a:t>2</a:t>
            </a:r>
            <a:endParaRPr lang="en-US" sz="1150" dirty="0"/>
          </a:p>
        </p:txBody>
      </p:sp>
      <p:sp>
        <p:nvSpPr>
          <p:cNvPr id="15" name="Text 13"/>
          <p:cNvSpPr/>
          <p:nvPr/>
        </p:nvSpPr>
        <p:spPr>
          <a:xfrm>
            <a:off x="1207008" y="3547872"/>
            <a:ext cx="4440784" cy="347472"/>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Agentic mesh</a:t>
            </a:r>
            <a:endParaRPr lang="en-US" sz="1300" dirty="0"/>
          </a:p>
        </p:txBody>
      </p:sp>
      <p:sp>
        <p:nvSpPr>
          <p:cNvPr id="16" name="Text 14"/>
          <p:cNvSpPr/>
          <p:nvPr/>
        </p:nvSpPr>
        <p:spPr>
          <a:xfrm>
            <a:off x="786384" y="3931920"/>
            <a:ext cx="4843120" cy="694944"/>
          </a:xfrm>
          <a:prstGeom prst="rect">
            <a:avLst/>
          </a:prstGeom>
          <a:noFill/>
          <a:ln/>
        </p:spPr>
        <p:txBody>
          <a:bodyPr wrap="square" lIns="0" tIns="0" rIns="0" bIns="0" rtlCol="0" anchor="t"/>
          <a:lstStyle/>
          <a:p>
            <a:pPr marL="0" indent="0">
              <a:lnSpc>
                <a:spcPts val="1300"/>
              </a:lnSpc>
              <a:buNone/>
            </a:pPr>
            <a:r>
              <a:rPr lang="en-US" sz="1020" dirty="0">
                <a:solidFill>
                  <a:srgbClr val="5A6B7B"/>
                </a:solidFill>
                <a:latin typeface="Calibri" pitchFamily="34" charset="0"/>
                <a:ea typeface="Calibri" pitchFamily="34" charset="-122"/>
                <a:cs typeface="Calibri" pitchFamily="34" charset="-120"/>
              </a:rPr>
              <a:t>Sean Falconer, 'Agentic Mesh: the future of enterprise agent ecosystems' (InfoWorld); McKinsey QuantumBlack on enabling agents at scale with an agentic AI mesh.</a:t>
            </a:r>
            <a:endParaRPr lang="en-US" sz="1020" dirty="0"/>
          </a:p>
        </p:txBody>
      </p:sp>
      <p:sp>
        <p:nvSpPr>
          <p:cNvPr id="17" name="Shape 15"/>
          <p:cNvSpPr/>
          <p:nvPr/>
        </p:nvSpPr>
        <p:spPr>
          <a:xfrm>
            <a:off x="548640" y="4846320"/>
            <a:ext cx="5318608" cy="1316736"/>
          </a:xfrm>
          <a:prstGeom prst="roundRect">
            <a:avLst>
              <a:gd name="adj" fmla="val 5556"/>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18" name="Shape 16"/>
          <p:cNvSpPr/>
          <p:nvPr/>
        </p:nvSpPr>
        <p:spPr>
          <a:xfrm>
            <a:off x="768096" y="4974336"/>
            <a:ext cx="347472" cy="347472"/>
          </a:xfrm>
          <a:prstGeom prst="ellipse">
            <a:avLst/>
          </a:prstGeom>
          <a:solidFill>
            <a:srgbClr val="00A9E0"/>
          </a:solidFill>
          <a:ln w="12700">
            <a:solidFill>
              <a:srgbClr val="00A9E0"/>
            </a:solidFill>
            <a:prstDash val="solid"/>
          </a:ln>
        </p:spPr>
      </p:sp>
      <p:sp>
        <p:nvSpPr>
          <p:cNvPr id="19" name="Text 17"/>
          <p:cNvSpPr/>
          <p:nvPr/>
        </p:nvSpPr>
        <p:spPr>
          <a:xfrm>
            <a:off x="768096" y="4974336"/>
            <a:ext cx="347472" cy="347472"/>
          </a:xfrm>
          <a:prstGeom prst="rect">
            <a:avLst/>
          </a:prstGeom>
          <a:noFill/>
          <a:ln/>
        </p:spPr>
        <p:txBody>
          <a:bodyPr wrap="square" lIns="0" tIns="0" rIns="0" bIns="0" rtlCol="0" anchor="ctr"/>
          <a:lstStyle/>
          <a:p>
            <a:pPr marL="0" indent="0" algn="ctr">
              <a:buNone/>
            </a:pPr>
            <a:r>
              <a:rPr lang="en-US" sz="1150" b="1" dirty="0">
                <a:solidFill>
                  <a:srgbClr val="0A2240"/>
                </a:solidFill>
                <a:latin typeface="Calibri" pitchFamily="34" charset="0"/>
                <a:ea typeface="Calibri" pitchFamily="34" charset="-122"/>
                <a:cs typeface="Calibri" pitchFamily="34" charset="-120"/>
              </a:rPr>
              <a:t>3</a:t>
            </a:r>
            <a:endParaRPr lang="en-US" sz="1150" dirty="0"/>
          </a:p>
        </p:txBody>
      </p:sp>
      <p:sp>
        <p:nvSpPr>
          <p:cNvPr id="20" name="Text 18"/>
          <p:cNvSpPr/>
          <p:nvPr/>
        </p:nvSpPr>
        <p:spPr>
          <a:xfrm>
            <a:off x="1207008" y="4974336"/>
            <a:ext cx="4440784" cy="347472"/>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Context engineering</a:t>
            </a:r>
            <a:endParaRPr lang="en-US" sz="1300" dirty="0"/>
          </a:p>
        </p:txBody>
      </p:sp>
      <p:sp>
        <p:nvSpPr>
          <p:cNvPr id="21" name="Text 19"/>
          <p:cNvSpPr/>
          <p:nvPr/>
        </p:nvSpPr>
        <p:spPr>
          <a:xfrm>
            <a:off x="786384" y="5358384"/>
            <a:ext cx="4843120" cy="694944"/>
          </a:xfrm>
          <a:prstGeom prst="rect">
            <a:avLst/>
          </a:prstGeom>
          <a:noFill/>
          <a:ln/>
        </p:spPr>
        <p:txBody>
          <a:bodyPr wrap="square" lIns="0" tIns="0" rIns="0" bIns="0" rtlCol="0" anchor="t"/>
          <a:lstStyle/>
          <a:p>
            <a:pPr marL="0" indent="0">
              <a:lnSpc>
                <a:spcPts val="1300"/>
              </a:lnSpc>
              <a:buNone/>
            </a:pPr>
            <a:r>
              <a:rPr lang="en-US" sz="1020" dirty="0">
                <a:solidFill>
                  <a:srgbClr val="5A6B7B"/>
                </a:solidFill>
                <a:latin typeface="Calibri" pitchFamily="34" charset="0"/>
                <a:ea typeface="Calibri" pitchFamily="34" charset="-122"/>
                <a:cs typeface="Calibri" pitchFamily="34" charset="-120"/>
              </a:rPr>
              <a:t>2026 practitioner guides on context engineering and agent memory; the 2026 State of Context Management report on the limits of prompt engineering.</a:t>
            </a:r>
            <a:endParaRPr lang="en-US" sz="1020" dirty="0"/>
          </a:p>
        </p:txBody>
      </p:sp>
      <p:sp>
        <p:nvSpPr>
          <p:cNvPr id="22" name="Shape 20"/>
          <p:cNvSpPr/>
          <p:nvPr/>
        </p:nvSpPr>
        <p:spPr>
          <a:xfrm>
            <a:off x="6324448" y="1993392"/>
            <a:ext cx="5318608" cy="1316736"/>
          </a:xfrm>
          <a:prstGeom prst="roundRect">
            <a:avLst>
              <a:gd name="adj" fmla="val 5556"/>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3" name="Shape 21"/>
          <p:cNvSpPr/>
          <p:nvPr/>
        </p:nvSpPr>
        <p:spPr>
          <a:xfrm>
            <a:off x="6543904" y="2121408"/>
            <a:ext cx="347472" cy="347472"/>
          </a:xfrm>
          <a:prstGeom prst="ellipse">
            <a:avLst/>
          </a:prstGeom>
          <a:solidFill>
            <a:srgbClr val="00A9E0"/>
          </a:solidFill>
          <a:ln w="12700">
            <a:solidFill>
              <a:srgbClr val="00A9E0"/>
            </a:solidFill>
            <a:prstDash val="solid"/>
          </a:ln>
        </p:spPr>
      </p:sp>
      <p:sp>
        <p:nvSpPr>
          <p:cNvPr id="24" name="Text 22"/>
          <p:cNvSpPr/>
          <p:nvPr/>
        </p:nvSpPr>
        <p:spPr>
          <a:xfrm>
            <a:off x="6543904" y="2121408"/>
            <a:ext cx="347472" cy="347472"/>
          </a:xfrm>
          <a:prstGeom prst="rect">
            <a:avLst/>
          </a:prstGeom>
          <a:noFill/>
          <a:ln/>
        </p:spPr>
        <p:txBody>
          <a:bodyPr wrap="square" lIns="0" tIns="0" rIns="0" bIns="0" rtlCol="0" anchor="ctr"/>
          <a:lstStyle/>
          <a:p>
            <a:pPr marL="0" indent="0" algn="ctr">
              <a:buNone/>
            </a:pPr>
            <a:r>
              <a:rPr lang="en-US" sz="1150" b="1" dirty="0">
                <a:solidFill>
                  <a:srgbClr val="0A2240"/>
                </a:solidFill>
                <a:latin typeface="Calibri" pitchFamily="34" charset="0"/>
                <a:ea typeface="Calibri" pitchFamily="34" charset="-122"/>
                <a:cs typeface="Calibri" pitchFamily="34" charset="-120"/>
              </a:rPr>
              <a:t>4</a:t>
            </a:r>
            <a:endParaRPr lang="en-US" sz="1150" dirty="0"/>
          </a:p>
        </p:txBody>
      </p:sp>
      <p:sp>
        <p:nvSpPr>
          <p:cNvPr id="25" name="Text 23"/>
          <p:cNvSpPr/>
          <p:nvPr/>
        </p:nvSpPr>
        <p:spPr>
          <a:xfrm>
            <a:off x="6982816" y="2121408"/>
            <a:ext cx="4440784" cy="347472"/>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Databricks</a:t>
            </a:r>
            <a:endParaRPr lang="en-US" sz="1300" dirty="0"/>
          </a:p>
        </p:txBody>
      </p:sp>
      <p:sp>
        <p:nvSpPr>
          <p:cNvPr id="26" name="Text 24"/>
          <p:cNvSpPr/>
          <p:nvPr/>
        </p:nvSpPr>
        <p:spPr>
          <a:xfrm>
            <a:off x="6562192" y="2505456"/>
            <a:ext cx="4843120" cy="694944"/>
          </a:xfrm>
          <a:prstGeom prst="rect">
            <a:avLst/>
          </a:prstGeom>
          <a:noFill/>
          <a:ln/>
        </p:spPr>
        <p:txBody>
          <a:bodyPr wrap="square" lIns="0" tIns="0" rIns="0" bIns="0" rtlCol="0" anchor="t"/>
          <a:lstStyle/>
          <a:p>
            <a:pPr marL="0" indent="0">
              <a:lnSpc>
                <a:spcPts val="1300"/>
              </a:lnSpc>
              <a:buNone/>
            </a:pPr>
            <a:r>
              <a:rPr lang="en-US" sz="1020" dirty="0">
                <a:solidFill>
                  <a:srgbClr val="5A6B7B"/>
                </a:solidFill>
                <a:latin typeface="Calibri" pitchFamily="34" charset="0"/>
                <a:ea typeface="Calibri" pitchFamily="34" charset="-122"/>
                <a:cs typeface="Calibri" pitchFamily="34" charset="-120"/>
              </a:rPr>
              <a:t>Data + AI Summit 2026 announcements: Unity AI Gateway, Unity Catalog governance of models, agents, MCP services and skills, Genie, and managed MCP servers (Databricks documentation).</a:t>
            </a:r>
            <a:endParaRPr lang="en-US" sz="1020" dirty="0"/>
          </a:p>
        </p:txBody>
      </p:sp>
      <p:sp>
        <p:nvSpPr>
          <p:cNvPr id="27" name="Shape 25"/>
          <p:cNvSpPr/>
          <p:nvPr/>
        </p:nvSpPr>
        <p:spPr>
          <a:xfrm>
            <a:off x="6324448" y="3419856"/>
            <a:ext cx="5318608" cy="1316736"/>
          </a:xfrm>
          <a:prstGeom prst="roundRect">
            <a:avLst>
              <a:gd name="adj" fmla="val 5556"/>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28" name="Shape 26"/>
          <p:cNvSpPr/>
          <p:nvPr/>
        </p:nvSpPr>
        <p:spPr>
          <a:xfrm>
            <a:off x="6543904" y="3547872"/>
            <a:ext cx="347472" cy="347472"/>
          </a:xfrm>
          <a:prstGeom prst="ellipse">
            <a:avLst/>
          </a:prstGeom>
          <a:solidFill>
            <a:srgbClr val="00A9E0"/>
          </a:solidFill>
          <a:ln w="12700">
            <a:solidFill>
              <a:srgbClr val="00A9E0"/>
            </a:solidFill>
            <a:prstDash val="solid"/>
          </a:ln>
        </p:spPr>
      </p:sp>
      <p:sp>
        <p:nvSpPr>
          <p:cNvPr id="29" name="Text 27"/>
          <p:cNvSpPr/>
          <p:nvPr/>
        </p:nvSpPr>
        <p:spPr>
          <a:xfrm>
            <a:off x="6543904" y="3547872"/>
            <a:ext cx="347472" cy="347472"/>
          </a:xfrm>
          <a:prstGeom prst="rect">
            <a:avLst/>
          </a:prstGeom>
          <a:noFill/>
          <a:ln/>
        </p:spPr>
        <p:txBody>
          <a:bodyPr wrap="square" lIns="0" tIns="0" rIns="0" bIns="0" rtlCol="0" anchor="ctr"/>
          <a:lstStyle/>
          <a:p>
            <a:pPr marL="0" indent="0" algn="ctr">
              <a:buNone/>
            </a:pPr>
            <a:r>
              <a:rPr lang="en-US" sz="1150" b="1" dirty="0">
                <a:solidFill>
                  <a:srgbClr val="0A2240"/>
                </a:solidFill>
                <a:latin typeface="Calibri" pitchFamily="34" charset="0"/>
                <a:ea typeface="Calibri" pitchFamily="34" charset="-122"/>
                <a:cs typeface="Calibri" pitchFamily="34" charset="-120"/>
              </a:rPr>
              <a:t>5</a:t>
            </a:r>
            <a:endParaRPr lang="en-US" sz="1150" dirty="0"/>
          </a:p>
        </p:txBody>
      </p:sp>
      <p:sp>
        <p:nvSpPr>
          <p:cNvPr id="30" name="Text 28"/>
          <p:cNvSpPr/>
          <p:nvPr/>
        </p:nvSpPr>
        <p:spPr>
          <a:xfrm>
            <a:off x="6982816" y="3547872"/>
            <a:ext cx="4440784" cy="347472"/>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JD Edwards</a:t>
            </a:r>
            <a:endParaRPr lang="en-US" sz="1300" dirty="0"/>
          </a:p>
        </p:txBody>
      </p:sp>
      <p:sp>
        <p:nvSpPr>
          <p:cNvPr id="31" name="Text 29"/>
          <p:cNvSpPr/>
          <p:nvPr/>
        </p:nvSpPr>
        <p:spPr>
          <a:xfrm>
            <a:off x="6562192" y="3931920"/>
            <a:ext cx="4843120" cy="694944"/>
          </a:xfrm>
          <a:prstGeom prst="rect">
            <a:avLst/>
          </a:prstGeom>
          <a:noFill/>
          <a:ln/>
        </p:spPr>
        <p:txBody>
          <a:bodyPr wrap="square" lIns="0" tIns="0" rIns="0" bIns="0" rtlCol="0" anchor="t"/>
          <a:lstStyle/>
          <a:p>
            <a:pPr marL="0" indent="0">
              <a:lnSpc>
                <a:spcPts val="1300"/>
              </a:lnSpc>
              <a:buNone/>
            </a:pPr>
            <a:r>
              <a:rPr lang="en-US" sz="1020" dirty="0">
                <a:solidFill>
                  <a:srgbClr val="5A6B7B"/>
                </a:solidFill>
                <a:latin typeface="Calibri" pitchFamily="34" charset="0"/>
                <a:ea typeface="Calibri" pitchFamily="34" charset="-122"/>
                <a:cs typeface="Calibri" pitchFamily="34" charset="-120"/>
              </a:rPr>
              <a:t>Oracle documentation: REST API for the EnterpriseOne AIS Server, Orchestrator service endpoints, and EnterpriseOne architecture for Orchestrator. Community reporting on JDE–MCP integration.</a:t>
            </a:r>
            <a:endParaRPr lang="en-US" sz="1020" dirty="0"/>
          </a:p>
        </p:txBody>
      </p:sp>
      <p:sp>
        <p:nvSpPr>
          <p:cNvPr id="32" name="Shape 30"/>
          <p:cNvSpPr/>
          <p:nvPr/>
        </p:nvSpPr>
        <p:spPr>
          <a:xfrm>
            <a:off x="6324448" y="4846320"/>
            <a:ext cx="5318608" cy="1316736"/>
          </a:xfrm>
          <a:prstGeom prst="roundRect">
            <a:avLst>
              <a:gd name="adj" fmla="val 5556"/>
            </a:avLst>
          </a:prstGeom>
          <a:solidFill>
            <a:srgbClr val="F1F5F9"/>
          </a:solidFill>
          <a:ln w="12700">
            <a:solidFill>
              <a:srgbClr val="F1F5F9"/>
            </a:solidFill>
            <a:prstDash val="solid"/>
          </a:ln>
          <a:effectLst>
            <a:outerShdw blurRad="101600" dist="25400" dir="5400000" algn="bl" rotWithShape="0">
              <a:srgbClr val="0A2240">
                <a:alpha val="12000"/>
              </a:srgbClr>
            </a:outerShdw>
          </a:effectLst>
        </p:spPr>
      </p:sp>
      <p:sp>
        <p:nvSpPr>
          <p:cNvPr id="33" name="Shape 31"/>
          <p:cNvSpPr/>
          <p:nvPr/>
        </p:nvSpPr>
        <p:spPr>
          <a:xfrm>
            <a:off x="6543904" y="4974336"/>
            <a:ext cx="347472" cy="347472"/>
          </a:xfrm>
          <a:prstGeom prst="ellipse">
            <a:avLst/>
          </a:prstGeom>
          <a:solidFill>
            <a:srgbClr val="00A9E0"/>
          </a:solidFill>
          <a:ln w="12700">
            <a:solidFill>
              <a:srgbClr val="00A9E0"/>
            </a:solidFill>
            <a:prstDash val="solid"/>
          </a:ln>
        </p:spPr>
      </p:sp>
      <p:sp>
        <p:nvSpPr>
          <p:cNvPr id="34" name="Text 32"/>
          <p:cNvSpPr/>
          <p:nvPr/>
        </p:nvSpPr>
        <p:spPr>
          <a:xfrm>
            <a:off x="6543904" y="4974336"/>
            <a:ext cx="347472" cy="347472"/>
          </a:xfrm>
          <a:prstGeom prst="rect">
            <a:avLst/>
          </a:prstGeom>
          <a:noFill/>
          <a:ln/>
        </p:spPr>
        <p:txBody>
          <a:bodyPr wrap="square" lIns="0" tIns="0" rIns="0" bIns="0" rtlCol="0" anchor="ctr"/>
          <a:lstStyle/>
          <a:p>
            <a:pPr marL="0" indent="0" algn="ctr">
              <a:buNone/>
            </a:pPr>
            <a:r>
              <a:rPr lang="en-US" sz="1150" b="1" dirty="0">
                <a:solidFill>
                  <a:srgbClr val="0A2240"/>
                </a:solidFill>
                <a:latin typeface="Calibri" pitchFamily="34" charset="0"/>
                <a:ea typeface="Calibri" pitchFamily="34" charset="-122"/>
                <a:cs typeface="Calibri" pitchFamily="34" charset="-120"/>
              </a:rPr>
              <a:t>6</a:t>
            </a:r>
            <a:endParaRPr lang="en-US" sz="1150" dirty="0"/>
          </a:p>
        </p:txBody>
      </p:sp>
      <p:sp>
        <p:nvSpPr>
          <p:cNvPr id="35" name="Text 33"/>
          <p:cNvSpPr/>
          <p:nvPr/>
        </p:nvSpPr>
        <p:spPr>
          <a:xfrm>
            <a:off x="6982816" y="4974336"/>
            <a:ext cx="4440784" cy="347472"/>
          </a:xfrm>
          <a:prstGeom prst="rect">
            <a:avLst/>
          </a:prstGeom>
          <a:noFill/>
          <a:ln/>
        </p:spPr>
        <p:txBody>
          <a:bodyPr wrap="square" lIns="0" tIns="0" rIns="0" bIns="0" rtlCol="0" anchor="ctr"/>
          <a:lstStyle/>
          <a:p>
            <a:pPr marL="0" indent="0">
              <a:buNone/>
            </a:pPr>
            <a:r>
              <a:rPr lang="en-US" sz="1300" b="1" dirty="0">
                <a:solidFill>
                  <a:srgbClr val="0A2240"/>
                </a:solidFill>
                <a:latin typeface="Calibri" pitchFamily="34" charset="0"/>
                <a:ea typeface="Calibri" pitchFamily="34" charset="-122"/>
                <a:cs typeface="Calibri" pitchFamily="34" charset="-120"/>
              </a:rPr>
              <a:t>FDE model &amp; harness engineering</a:t>
            </a:r>
            <a:endParaRPr lang="en-US" sz="1300" dirty="0"/>
          </a:p>
        </p:txBody>
      </p:sp>
      <p:sp>
        <p:nvSpPr>
          <p:cNvPr id="36" name="Text 34"/>
          <p:cNvSpPr/>
          <p:nvPr/>
        </p:nvSpPr>
        <p:spPr>
          <a:xfrm>
            <a:off x="6562192" y="5358384"/>
            <a:ext cx="4843120" cy="694944"/>
          </a:xfrm>
          <a:prstGeom prst="rect">
            <a:avLst/>
          </a:prstGeom>
          <a:noFill/>
          <a:ln/>
        </p:spPr>
        <p:txBody>
          <a:bodyPr wrap="square" lIns="0" tIns="0" rIns="0" bIns="0" rtlCol="0" anchor="t"/>
          <a:lstStyle/>
          <a:p>
            <a:pPr marL="0" indent="0">
              <a:lnSpc>
                <a:spcPts val="1300"/>
              </a:lnSpc>
              <a:buNone/>
            </a:pPr>
            <a:r>
              <a:rPr lang="en-US" sz="1020" dirty="0">
                <a:solidFill>
                  <a:srgbClr val="5A6B7B"/>
                </a:solidFill>
                <a:latin typeface="Calibri" pitchFamily="34" charset="0"/>
                <a:ea typeface="Calibri" pitchFamily="34" charset="-122"/>
                <a:cs typeface="Calibri" pitchFamily="34" charset="-120"/>
              </a:rPr>
              <a:t>TechCrunch and practitioner analyses on forward deployed engineering; Harness platform materials on the AI agent development lifecycle and autonomous worker agents.</a:t>
            </a:r>
            <a:endParaRPr lang="en-US" sz="10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397</TotalTime>
  <Words>14533</Words>
  <Application>Microsoft Macintosh PowerPoint</Application>
  <PresentationFormat>Widescreen</PresentationFormat>
  <Paragraphs>2525</Paragraphs>
  <Slides>48</Slides>
  <Notes>48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48</vt:i4>
      </vt:variant>
    </vt:vector>
  </HeadingPairs>
  <TitlesOfParts>
    <vt:vector size="53"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Establishing the Ball AI Division</dc:title>
  <dc:subject>PptxGenJS Presentation</dc:subject>
  <dc:creator>Ball Corporation — AI Division Proposal</dc:creator>
  <cp:lastModifiedBy>venkat B</cp:lastModifiedBy>
  <cp:revision>5</cp:revision>
  <dcterms:created xsi:type="dcterms:W3CDTF">2026-08-07T16:45:52Z</dcterms:created>
  <dcterms:modified xsi:type="dcterms:W3CDTF">2026-08-10T07:07:09Z</dcterms:modified>
</cp:coreProperties>
</file>