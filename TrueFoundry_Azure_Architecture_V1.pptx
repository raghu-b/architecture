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9144000"/>
  <p:notesSz cx="9144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23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0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095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0"/>
          </a:xfrm>
          <a:prstGeom prst="rect">
            <a:avLst/>
          </a:prstGeom>
          <a:solidFill>
            <a:srgbClr val="E9EBEE"/>
          </a:solidFill>
          <a:ln/>
        </p:spPr>
      </p:sp>
      <p:sp>
        <p:nvSpPr>
          <p:cNvPr id="3" name="Shape 1"/>
          <p:cNvSpPr/>
          <p:nvPr/>
        </p:nvSpPr>
        <p:spPr>
          <a:xfrm>
            <a:off x="142646" y="142646"/>
            <a:ext cx="11906402" cy="8858707"/>
          </a:xfrm>
          <a:prstGeom prst="roundRect">
            <a:avLst>
              <a:gd name="adj" fmla="val 206"/>
            </a:avLst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5118" y="1408176"/>
            <a:ext cx="11681460" cy="6919265"/>
          </a:xfrm>
          <a:prstGeom prst="roundRect">
            <a:avLst>
              <a:gd name="adj" fmla="val 264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66821" y="265176"/>
            <a:ext cx="6223406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TrueFoundry Enterprise AI Platform:</a:t>
            </a:r>
            <a:endParaRPr lang="en-US" sz="1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Azure Implementation Architecture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85293" y="265176"/>
            <a:ext cx="2407615" cy="897941"/>
          </a:xfrm>
          <a:prstGeom prst="roundRect">
            <a:avLst>
              <a:gd name="adj" fmla="val 5092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7706" y="469087"/>
            <a:ext cx="469087" cy="469087"/>
          </a:xfrm>
          <a:prstGeom prst="roundRect">
            <a:avLst>
              <a:gd name="adj" fmla="val 11696"/>
            </a:avLst>
          </a:prstGeom>
          <a:solidFill>
            <a:srgbClr val="0078D4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491033" y="563270"/>
            <a:ext cx="262433" cy="272491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8058" y="306324"/>
            <a:ext cx="1713586" cy="816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Security &amp;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Center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(Sentinel, Monitor, App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Insights, Log Analytics)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1" y="1449324"/>
            <a:ext cx="1305763" cy="1326794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7589" y="1510589"/>
            <a:ext cx="1224382" cy="1245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</a:t>
            </a:r>
            <a:endParaRPr lang="en-US" sz="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Monitor,</a:t>
            </a:r>
            <a:endParaRPr lang="en-US" sz="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Sentinel, and</a:t>
            </a:r>
            <a:endParaRPr lang="en-US" sz="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32558" y="1530706"/>
            <a:ext cx="1713586" cy="490118"/>
          </a:xfrm>
          <a:prstGeom prst="roundRect">
            <a:avLst>
              <a:gd name="adj" fmla="val 9328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13939" y="1633118"/>
            <a:ext cx="285293" cy="263347"/>
          </a:xfrm>
          <a:prstGeom prst="triangle">
            <a:avLst/>
          </a:prstGeom>
          <a:solidFill>
            <a:srgbClr val="0078D4"/>
          </a:solidFill>
          <a:ln/>
        </p:spPr>
      </p:sp>
      <p:sp>
        <p:nvSpPr>
          <p:cNvPr id="14" name="Shape 12"/>
          <p:cNvSpPr/>
          <p:nvPr/>
        </p:nvSpPr>
        <p:spPr>
          <a:xfrm>
            <a:off x="2799893" y="1684325"/>
            <a:ext cx="213970" cy="211226"/>
          </a:xfrm>
          <a:prstGeom prst="triangle">
            <a:avLst/>
          </a:prstGeom>
          <a:solidFill>
            <a:srgbClr val="50B0F0"/>
          </a:solidFill>
          <a:ln/>
        </p:spPr>
      </p:sp>
      <p:sp>
        <p:nvSpPr>
          <p:cNvPr id="15" name="Text 13"/>
          <p:cNvSpPr/>
          <p:nvPr/>
        </p:nvSpPr>
        <p:spPr>
          <a:xfrm>
            <a:off x="3060497" y="1550822"/>
            <a:ext cx="1244498" cy="448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Entra ID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(Identity Provider)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63294" y="3021178"/>
            <a:ext cx="153070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632204" y="3367735"/>
            <a:ext cx="4142232" cy="2020824"/>
          </a:xfrm>
          <a:prstGeom prst="roundRect">
            <a:avLst>
              <a:gd name="adj" fmla="val 2262"/>
            </a:avLst>
          </a:prstGeom>
          <a:solidFill>
            <a:srgbClr val="FBFBFC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713586" y="3429000"/>
            <a:ext cx="30632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&lt;··&gt;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040026" y="3429000"/>
            <a:ext cx="75529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VNet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99793" y="3765499"/>
            <a:ext cx="2264969" cy="1429207"/>
          </a:xfrm>
          <a:prstGeom prst="roundRect">
            <a:avLst>
              <a:gd name="adj" fmla="val 3199"/>
            </a:avLst>
          </a:prstGeom>
          <a:solidFill>
            <a:srgbClr val="EDEFF2"/>
          </a:solidFill>
          <a:ln w="6350">
            <a:solidFill>
              <a:srgbClr val="9AA0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8703" y="3735324"/>
            <a:ext cx="2264969" cy="1429207"/>
          </a:xfrm>
          <a:prstGeom prst="roundRect">
            <a:avLst>
              <a:gd name="adj" fmla="val 3199"/>
            </a:avLst>
          </a:prstGeom>
          <a:solidFill>
            <a:srgbClr val="F4F5F7"/>
          </a:solidFill>
          <a:ln w="6350">
            <a:solidFill>
              <a:srgbClr val="9AA0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38528" y="3704234"/>
            <a:ext cx="2264969" cy="1429207"/>
          </a:xfrm>
          <a:prstGeom prst="roundRect">
            <a:avLst>
              <a:gd name="adj" fmla="val 3199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40026" y="3857854"/>
            <a:ext cx="694030" cy="897941"/>
          </a:xfrm>
          <a:prstGeom prst="roundRect">
            <a:avLst>
              <a:gd name="adj" fmla="val 6588"/>
            </a:avLst>
          </a:prstGeom>
          <a:solidFill>
            <a:srgbClr val="FFFFFF"/>
          </a:solidFill>
          <a:ln w="9525">
            <a:solidFill>
              <a:srgbClr val="5A5F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22322" y="3919118"/>
            <a:ext cx="530352" cy="306324"/>
          </a:xfrm>
          <a:prstGeom prst="roundRect">
            <a:avLst>
              <a:gd name="adj" fmla="val 8955"/>
            </a:avLst>
          </a:prstGeom>
          <a:solidFill>
            <a:srgbClr val="F8F9FA"/>
          </a:solidFill>
          <a:ln w="9525">
            <a:solidFill>
              <a:srgbClr val="5A5F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2322" y="3919118"/>
            <a:ext cx="5303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&gt;_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40026" y="4225442"/>
            <a:ext cx="69403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64969" y="4449470"/>
            <a:ext cx="245059" cy="224942"/>
          </a:xfrm>
          <a:prstGeom prst="triangle">
            <a:avLst/>
          </a:prstGeom>
          <a:solidFill>
            <a:srgbClr val="0078D4"/>
          </a:solidFill>
          <a:ln/>
        </p:spPr>
      </p:sp>
      <p:sp>
        <p:nvSpPr>
          <p:cNvPr id="28" name="Shape 26"/>
          <p:cNvSpPr/>
          <p:nvPr/>
        </p:nvSpPr>
        <p:spPr>
          <a:xfrm>
            <a:off x="2338121" y="4493362"/>
            <a:ext cx="183794" cy="181051"/>
          </a:xfrm>
          <a:prstGeom prst="triangle">
            <a:avLst/>
          </a:prstGeom>
          <a:solidFill>
            <a:srgbClr val="50B0F0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6469" y="3775558"/>
            <a:ext cx="1285646" cy="203911"/>
          </a:xfrm>
          <a:prstGeom prst="roundRect">
            <a:avLst>
              <a:gd name="adj" fmla="val 13453"/>
            </a:avLst>
          </a:prstGeom>
          <a:solidFill>
            <a:srgbClr val="F2F2F2"/>
          </a:solidFill>
          <a:ln w="6350">
            <a:solidFill>
              <a:srgbClr val="9AA0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6469" y="3775558"/>
            <a:ext cx="1285646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tfy-console-ui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836469" y="4041648"/>
            <a:ext cx="1285646" cy="407822"/>
          </a:xfrm>
          <a:prstGeom prst="roundRect">
            <a:avLst>
              <a:gd name="adj" fmla="val 6726"/>
            </a:avLst>
          </a:prstGeom>
          <a:solidFill>
            <a:srgbClr val="F2F2F2"/>
          </a:solidFill>
          <a:ln w="6350">
            <a:solidFill>
              <a:srgbClr val="9AA0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6469" y="4041648"/>
            <a:ext cx="1285646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tfy-core-backend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(Auth, Cluster Mgmt,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KBAC Policy)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836469" y="4530852"/>
            <a:ext cx="1285646" cy="203911"/>
          </a:xfrm>
          <a:prstGeom prst="roundRect">
            <a:avLst>
              <a:gd name="adj" fmla="val 13453"/>
            </a:avLst>
          </a:prstGeom>
          <a:solidFill>
            <a:srgbClr val="F2F2F2"/>
          </a:solidFill>
          <a:ln w="6350">
            <a:solidFill>
              <a:srgbClr val="9AA0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6469" y="4530852"/>
            <a:ext cx="1285646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tfy-metadata-store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958998" y="4796942"/>
            <a:ext cx="1244498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(NATS)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652321" y="4041648"/>
            <a:ext cx="285293" cy="79644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9AA0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 rot="16200000">
            <a:off x="1509674" y="4286707"/>
            <a:ext cx="571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Link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815438" y="2898648"/>
            <a:ext cx="75529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48202" y="2938882"/>
            <a:ext cx="367589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PLS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081528" y="3183941"/>
            <a:ext cx="112471" cy="168250"/>
          </a:xfrm>
          <a:prstGeom prst="downArrow">
            <a:avLst/>
          </a:prstGeom>
          <a:solidFill>
            <a:srgbClr val="70AD47"/>
          </a:solidFill>
          <a:ln/>
        </p:spPr>
      </p:sp>
      <p:sp>
        <p:nvSpPr>
          <p:cNvPr id="41" name="Shape 39"/>
          <p:cNvSpPr/>
          <p:nvPr/>
        </p:nvSpPr>
        <p:spPr>
          <a:xfrm>
            <a:off x="3550615" y="3183941"/>
            <a:ext cx="112471" cy="168250"/>
          </a:xfrm>
          <a:prstGeom prst="downArrow">
            <a:avLst/>
          </a:prstGeom>
          <a:solidFill>
            <a:srgbClr val="70AD47"/>
          </a:solidFill>
          <a:ln/>
        </p:spPr>
      </p:sp>
      <p:sp>
        <p:nvSpPr>
          <p:cNvPr id="42" name="Text 40"/>
          <p:cNvSpPr/>
          <p:nvPr/>
        </p:nvSpPr>
        <p:spPr>
          <a:xfrm>
            <a:off x="4122115" y="3470148"/>
            <a:ext cx="65288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Link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(gRPC)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33849" y="3653942"/>
            <a:ext cx="326441" cy="346558"/>
          </a:xfrm>
          <a:prstGeom prst="can">
            <a:avLst/>
          </a:prstGeom>
          <a:solidFill>
            <a:srgbClr val="2E75B6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62349" y="4020617"/>
            <a:ext cx="1550822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Database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PostgreSQL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Server (with PLS)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52467" y="4510735"/>
            <a:ext cx="448970" cy="306324"/>
          </a:xfrm>
          <a:prstGeom prst="roundRect">
            <a:avLst>
              <a:gd name="adj" fmla="val 8955"/>
            </a:avLst>
          </a:prstGeom>
          <a:solidFill>
            <a:srgbClr val="2E75B6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13732" y="4572000"/>
            <a:ext cx="326441" cy="61265"/>
          </a:xfrm>
          <a:prstGeom prst="roundRect">
            <a:avLst>
              <a:gd name="adj" fmla="val 29851"/>
            </a:avLst>
          </a:prstGeom>
          <a:solidFill>
            <a:srgbClr val="9DC3E6"/>
          </a:solidFill>
          <a:ln/>
        </p:spPr>
      </p:sp>
      <p:sp>
        <p:nvSpPr>
          <p:cNvPr id="47" name="Text 45"/>
          <p:cNvSpPr/>
          <p:nvPr/>
        </p:nvSpPr>
        <p:spPr>
          <a:xfrm>
            <a:off x="4223614" y="4817059"/>
            <a:ext cx="1509674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Lake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Gen2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97526" y="5163617"/>
            <a:ext cx="816559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TrueFoundry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34263" y="4000500"/>
            <a:ext cx="245059" cy="245059"/>
          </a:xfrm>
          <a:prstGeom prst="ellipse">
            <a:avLst/>
          </a:prstGeom>
          <a:solidFill>
            <a:srgbClr val="5A5F66"/>
          </a:solidFill>
          <a:ln/>
        </p:spPr>
      </p:sp>
      <p:sp>
        <p:nvSpPr>
          <p:cNvPr id="50" name="Shape 48"/>
          <p:cNvSpPr/>
          <p:nvPr/>
        </p:nvSpPr>
        <p:spPr>
          <a:xfrm>
            <a:off x="611734" y="4245559"/>
            <a:ext cx="490118" cy="306324"/>
          </a:xfrm>
          <a:prstGeom prst="chord">
            <a:avLst/>
          </a:prstGeom>
          <a:solidFill>
            <a:srgbClr val="5A5F66"/>
          </a:solidFill>
          <a:ln/>
        </p:spPr>
      </p:sp>
      <p:sp>
        <p:nvSpPr>
          <p:cNvPr id="51" name="Shape 49"/>
          <p:cNvSpPr/>
          <p:nvPr/>
        </p:nvSpPr>
        <p:spPr>
          <a:xfrm>
            <a:off x="938174" y="4326941"/>
            <a:ext cx="203911" cy="203911"/>
          </a:xfrm>
          <a:prstGeom prst="ellipse">
            <a:avLst/>
          </a:prstGeom>
          <a:solidFill>
            <a:srgbClr val="3C40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7706" y="4551883"/>
            <a:ext cx="1143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Developer/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84318" y="2020824"/>
            <a:ext cx="387706" cy="38770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70271" y="2098548"/>
            <a:ext cx="116129" cy="116129"/>
          </a:xfrm>
          <a:prstGeom prst="ellipse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58968" y="2190902"/>
            <a:ext cx="131674" cy="38405"/>
          </a:xfrm>
          <a:prstGeom prst="rect">
            <a:avLst/>
          </a:prstGeom>
          <a:solidFill>
            <a:srgbClr val="7F6000"/>
          </a:solidFill>
          <a:ln/>
        </p:spPr>
      </p:sp>
      <p:sp>
        <p:nvSpPr>
          <p:cNvPr id="56" name="Text 54"/>
          <p:cNvSpPr/>
          <p:nvPr/>
        </p:nvSpPr>
        <p:spPr>
          <a:xfrm>
            <a:off x="5938114" y="1939442"/>
            <a:ext cx="672998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7877" y="2408530"/>
            <a:ext cx="1081735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Keys,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Credentials,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Secrets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999586" y="3122676"/>
            <a:ext cx="75529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95114" y="3061411"/>
            <a:ext cx="306324" cy="30632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62779" y="312267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33188" y="3196742"/>
            <a:ext cx="104242" cy="30175"/>
          </a:xfrm>
          <a:prstGeom prst="rect">
            <a:avLst/>
          </a:prstGeom>
          <a:solidFill>
            <a:srgbClr val="7F6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5223967" y="3286354"/>
            <a:ext cx="387706" cy="38770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09006" y="3364078"/>
            <a:ext cx="116129" cy="116129"/>
          </a:xfrm>
          <a:prstGeom prst="ellipse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97703" y="3456432"/>
            <a:ext cx="131674" cy="38405"/>
          </a:xfrm>
          <a:prstGeom prst="rect">
            <a:avLst/>
          </a:prstGeom>
          <a:solidFill>
            <a:srgbClr val="7F6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6937553" y="1837030"/>
            <a:ext cx="1591970" cy="1898294"/>
          </a:xfrm>
          <a:prstGeom prst="roundRect">
            <a:avLst>
              <a:gd name="adj" fmla="val 2872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060082" y="2000707"/>
            <a:ext cx="245059" cy="24505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02729" y="2143354"/>
            <a:ext cx="112471" cy="112471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68" name="Text 66"/>
          <p:cNvSpPr/>
          <p:nvPr/>
        </p:nvSpPr>
        <p:spPr>
          <a:xfrm>
            <a:off x="6978701" y="2265883"/>
            <a:ext cx="49011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Limiting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631582" y="1959559"/>
            <a:ext cx="346558" cy="306324"/>
          </a:xfrm>
          <a:prstGeom prst="hexagon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31582" y="1959559"/>
            <a:ext cx="3465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018934" y="2388413"/>
            <a:ext cx="1428293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7018934" y="2592324"/>
            <a:ext cx="1428293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7018934" y="2816352"/>
            <a:ext cx="1428293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Gateway)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039966" y="3143707"/>
            <a:ext cx="265176" cy="2039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21347" y="3193999"/>
            <a:ext cx="102413" cy="102413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6" name="Text 74"/>
          <p:cNvSpPr/>
          <p:nvPr/>
        </p:nvSpPr>
        <p:spPr>
          <a:xfrm>
            <a:off x="6937553" y="3367735"/>
            <a:ext cx="57150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Secnrity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570318" y="3122676"/>
            <a:ext cx="265176" cy="245059"/>
          </a:xfrm>
          <a:prstGeom prst="ellipse">
            <a:avLst/>
          </a:prstGeom>
          <a:solidFill>
            <a:srgbClr val="F2A0A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09053" y="3367735"/>
            <a:ext cx="97932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Tranformation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335110" y="1775765"/>
            <a:ext cx="2061058" cy="735178"/>
          </a:xfrm>
          <a:prstGeom prst="roundRect">
            <a:avLst>
              <a:gd name="adj" fmla="val 6219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0059314" y="1857146"/>
            <a:ext cx="469087" cy="431597"/>
          </a:xfrm>
          <a:prstGeom prst="triangle">
            <a:avLst/>
          </a:prstGeom>
          <a:solidFill>
            <a:srgbClr val="0078D4"/>
          </a:solidFill>
          <a:ln/>
        </p:spPr>
      </p:sp>
      <p:sp>
        <p:nvSpPr>
          <p:cNvPr id="81" name="Shape 79"/>
          <p:cNvSpPr/>
          <p:nvPr/>
        </p:nvSpPr>
        <p:spPr>
          <a:xfrm>
            <a:off x="10200132" y="1942186"/>
            <a:ext cx="352044" cy="347472"/>
          </a:xfrm>
          <a:prstGeom prst="triangle">
            <a:avLst/>
          </a:prstGeom>
          <a:solidFill>
            <a:srgbClr val="50B0F0"/>
          </a:solidFill>
          <a:ln/>
        </p:spPr>
      </p:sp>
      <p:sp>
        <p:nvSpPr>
          <p:cNvPr id="82" name="Text 80"/>
          <p:cNvSpPr/>
          <p:nvPr/>
        </p:nvSpPr>
        <p:spPr>
          <a:xfrm>
            <a:off x="9386316" y="2183587"/>
            <a:ext cx="195864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AzureOpenAI</a:t>
            </a:r>
            <a:endParaRPr lang="en-US" sz="1250" dirty="0"/>
          </a:p>
        </p:txBody>
      </p:sp>
      <p:sp>
        <p:nvSpPr>
          <p:cNvPr id="83" name="Text 81"/>
          <p:cNvSpPr/>
          <p:nvPr/>
        </p:nvSpPr>
        <p:spPr>
          <a:xfrm>
            <a:off x="9386316" y="2551176"/>
            <a:ext cx="1958645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(Managed Service)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263786" y="3265322"/>
            <a:ext cx="2183587" cy="469087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9365285" y="3347618"/>
            <a:ext cx="306324" cy="119786"/>
          </a:xfrm>
          <a:prstGeom prst="roundRect">
            <a:avLst>
              <a:gd name="adj" fmla="val 15267"/>
            </a:avLst>
          </a:prstGeom>
          <a:solidFill>
            <a:srgbClr val="3C4043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65285" y="3504895"/>
            <a:ext cx="306324" cy="119786"/>
          </a:xfrm>
          <a:prstGeom prst="roundRect">
            <a:avLst>
              <a:gd name="adj" fmla="val 15267"/>
            </a:avLst>
          </a:prstGeom>
          <a:solidFill>
            <a:srgbClr val="3C4043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691726" y="3286354"/>
            <a:ext cx="134691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10998403" y="3306470"/>
            <a:ext cx="326441" cy="367589"/>
          </a:xfrm>
          <a:prstGeom prst="can">
            <a:avLst/>
          </a:prstGeom>
          <a:solidFill>
            <a:srgbClr val="2E75B6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202522" y="3939235"/>
            <a:ext cx="1101852" cy="407822"/>
          </a:xfrm>
          <a:prstGeom prst="roundRect">
            <a:avLst>
              <a:gd name="adj" fmla="val 8969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202522" y="3939235"/>
            <a:ext cx="11018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(TFY)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0385755" y="3939235"/>
            <a:ext cx="1285646" cy="407822"/>
          </a:xfrm>
          <a:prstGeom prst="roundRect">
            <a:avLst>
              <a:gd name="adj" fmla="val 8969"/>
            </a:avLst>
          </a:prstGeom>
          <a:solidFill>
            <a:srgbClr val="F4B183"/>
          </a:solidFill>
          <a:ln w="9525">
            <a:solidFill>
              <a:srgbClr val="C55A1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385755" y="3939235"/>
            <a:ext cx="1285646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(via TrueFoundry)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672377" y="4429354"/>
            <a:ext cx="5182819" cy="3653942"/>
          </a:xfrm>
          <a:prstGeom prst="roundRect">
            <a:avLst>
              <a:gd name="adj" fmla="val 501"/>
            </a:avLst>
          </a:prstGeom>
          <a:ln w="13970">
            <a:solidFill>
              <a:srgbClr val="000000"/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6713525" y="4469587"/>
            <a:ext cx="571500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VNet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8692286" y="4490618"/>
            <a:ext cx="652882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VNet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11181283" y="4490618"/>
            <a:ext cx="550469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7305142" y="4469587"/>
            <a:ext cx="22402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&lt;··&gt;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10304374" y="4490618"/>
            <a:ext cx="22402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&lt;··&gt;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8569757" y="4653382"/>
            <a:ext cx="3060497" cy="2040941"/>
          </a:xfrm>
          <a:prstGeom prst="roundRect">
            <a:avLst>
              <a:gd name="adj" fmla="val 896"/>
            </a:avLst>
          </a:prstGeom>
          <a:ln w="9525">
            <a:solidFill>
              <a:srgbClr val="808080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7141464" y="4633265"/>
            <a:ext cx="1367028" cy="1816913"/>
          </a:xfrm>
          <a:prstGeom prst="roundRect">
            <a:avLst>
              <a:gd name="adj" fmla="val 3344"/>
            </a:avLst>
          </a:prstGeom>
          <a:solidFill>
            <a:srgbClr val="FFD966"/>
          </a:solidFill>
          <a:ln w="12700">
            <a:solidFill>
              <a:srgbClr val="BF90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7467905" y="4775911"/>
            <a:ext cx="428854" cy="137160"/>
          </a:xfrm>
          <a:prstGeom prst="roundRect">
            <a:avLst>
              <a:gd name="adj" fmla="val 13333"/>
            </a:avLst>
          </a:prstGeom>
          <a:solidFill>
            <a:srgbClr val="3C4043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467905" y="4956048"/>
            <a:ext cx="428854" cy="137160"/>
          </a:xfrm>
          <a:prstGeom prst="roundRect">
            <a:avLst>
              <a:gd name="adj" fmla="val 13333"/>
            </a:avLst>
          </a:prstGeom>
          <a:solidFill>
            <a:srgbClr val="3C4043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5400000">
            <a:off x="8039405" y="4755794"/>
            <a:ext cx="367589" cy="367589"/>
          </a:xfrm>
          <a:prstGeom prst="hexagon">
            <a:avLst/>
          </a:prstGeom>
          <a:solidFill>
            <a:srgbClr val="326CE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161581" y="5184648"/>
            <a:ext cx="1325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7161581" y="5368442"/>
            <a:ext cx="1325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7161581" y="5572354"/>
            <a:ext cx="132588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Deployments)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7202729" y="6021324"/>
            <a:ext cx="1244498" cy="286207"/>
          </a:xfrm>
          <a:prstGeom prst="roundRect">
            <a:avLst>
              <a:gd name="adj" fmla="val 12780"/>
            </a:avLst>
          </a:prstGeom>
          <a:solidFill>
            <a:srgbClr val="C6E0B4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202729" y="6021324"/>
            <a:ext cx="12444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Model/Agent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8631022" y="4755794"/>
            <a:ext cx="1408176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Node Pool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(ML Inference)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8651138" y="6163970"/>
            <a:ext cx="1408176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Node Pool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(App Workloads)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0120579" y="4694530"/>
            <a:ext cx="1530706" cy="1979676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10140696" y="4735678"/>
            <a:ext cx="1489558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AI Application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(CPU node poo)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0201961" y="5224882"/>
            <a:ext cx="1367028" cy="591617"/>
          </a:xfrm>
          <a:prstGeom prst="roundRect">
            <a:avLst>
              <a:gd name="adj" fmla="val 6182"/>
            </a:avLst>
          </a:prstGeom>
          <a:solidFill>
            <a:srgbClr val="C6E0B4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201961" y="5224882"/>
            <a:ext cx="1367028" cy="591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self-hosted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Pod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(gRPC tool execution)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0201961" y="5939942"/>
            <a:ext cx="1367028" cy="571500"/>
          </a:xfrm>
          <a:prstGeom prst="roundRect">
            <a:avLst>
              <a:gd name="adj" fmla="val 6400"/>
            </a:avLst>
          </a:prstGeom>
          <a:solidFill>
            <a:srgbClr val="C6E0B4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201961" y="5939942"/>
            <a:ext cx="13670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ERP API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Connector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API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6917436" y="6612941"/>
            <a:ext cx="1367028" cy="387706"/>
          </a:xfrm>
          <a:prstGeom prst="roundRect">
            <a:avLst>
              <a:gd name="adj" fmla="val 11792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 rot="5400000">
            <a:off x="6998818" y="6674206"/>
            <a:ext cx="265176" cy="265176"/>
          </a:xfrm>
          <a:prstGeom prst="hexagon">
            <a:avLst/>
          </a:prstGeom>
          <a:solidFill>
            <a:srgbClr val="326CE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284110" y="6633058"/>
            <a:ext cx="959206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AKS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5733288" y="7204558"/>
            <a:ext cx="1060704" cy="714146"/>
          </a:xfrm>
          <a:prstGeom prst="roundRect">
            <a:avLst>
              <a:gd name="adj" fmla="val 6402"/>
            </a:avLst>
          </a:prstGeom>
          <a:solidFill>
            <a:srgbClr val="C6E0B4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733288" y="7204558"/>
            <a:ext cx="1060704" cy="71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Model/Agent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6815023" y="7184441"/>
            <a:ext cx="1591970" cy="735178"/>
          </a:xfrm>
          <a:prstGeom prst="roundRect">
            <a:avLst>
              <a:gd name="adj" fmla="val 6219"/>
            </a:avLst>
          </a:prstGeom>
          <a:solidFill>
            <a:srgbClr val="C6E0B4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896405" y="7348118"/>
            <a:ext cx="306324" cy="407822"/>
          </a:xfrm>
          <a:prstGeom prst="roundRect">
            <a:avLst>
              <a:gd name="adj" fmla="val 11940"/>
            </a:avLst>
          </a:prstGeom>
          <a:solidFill>
            <a:srgbClr val="F8F9FA"/>
          </a:solidFill>
          <a:ln w="6350">
            <a:solidFill>
              <a:srgbClr val="5A5F6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896405" y="7348118"/>
            <a:ext cx="306324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7222846" y="7245706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2 70B v1.1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(vLLM Serving Pod)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tfy-agent sidecar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8427110" y="7184441"/>
            <a:ext cx="1632204" cy="735178"/>
          </a:xfrm>
          <a:prstGeom prst="roundRect">
            <a:avLst>
              <a:gd name="adj" fmla="val 6219"/>
            </a:avLst>
          </a:prstGeom>
          <a:solidFill>
            <a:srgbClr val="C6E0B4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488375" y="7348118"/>
            <a:ext cx="306324" cy="387706"/>
          </a:xfrm>
          <a:prstGeom prst="roundRect">
            <a:avLst>
              <a:gd name="adj" fmla="val 11940"/>
            </a:avLst>
          </a:prstGeom>
          <a:solidFill>
            <a:srgbClr val="FFE0C2"/>
          </a:solidFill>
          <a:ln w="6350">
            <a:solidFill>
              <a:srgbClr val="C55A1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488375" y="7348118"/>
            <a:ext cx="306324" cy="38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8814816" y="7245706"/>
            <a:ext cx="120426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7B Instruct v0.3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(Triton Inferencing Pod)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tfy-agent sidecar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10100462" y="7184441"/>
            <a:ext cx="1509674" cy="735178"/>
          </a:xfrm>
          <a:prstGeom prst="roundRect">
            <a:avLst>
              <a:gd name="adj" fmla="val 6219"/>
            </a:avLst>
          </a:prstGeom>
          <a:solidFill>
            <a:srgbClr val="C6E0B4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161727" y="7368235"/>
            <a:ext cx="285293" cy="346558"/>
          </a:xfrm>
          <a:prstGeom prst="can">
            <a:avLst/>
          </a:prstGeom>
          <a:solidFill>
            <a:srgbClr val="2E75B6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467137" y="7245706"/>
            <a:ext cx="11018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MCP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Pod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(Model Context Protocol)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2183587" y="5490058"/>
            <a:ext cx="1183234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Link (gRPC)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3489350" y="5531206"/>
            <a:ext cx="102413" cy="102413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5" name="Shape 133"/>
          <p:cNvSpPr/>
          <p:nvPr/>
        </p:nvSpPr>
        <p:spPr>
          <a:xfrm>
            <a:off x="3673145" y="5449824"/>
            <a:ext cx="102413" cy="102413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6" name="Shape 134"/>
          <p:cNvSpPr/>
          <p:nvPr/>
        </p:nvSpPr>
        <p:spPr>
          <a:xfrm>
            <a:off x="3673145" y="5633618"/>
            <a:ext cx="102413" cy="102413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7" name="Text 135"/>
          <p:cNvSpPr/>
          <p:nvPr/>
        </p:nvSpPr>
        <p:spPr>
          <a:xfrm>
            <a:off x="1204265" y="5857646"/>
            <a:ext cx="795528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1.3/TCP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2081174" y="5878678"/>
            <a:ext cx="3183026" cy="407822"/>
          </a:xfrm>
          <a:prstGeom prst="roundRect">
            <a:avLst>
              <a:gd name="adj" fmla="val 11211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39" name="Shape 137"/>
          <p:cNvSpPr/>
          <p:nvPr/>
        </p:nvSpPr>
        <p:spPr>
          <a:xfrm>
            <a:off x="2142439" y="6001207"/>
            <a:ext cx="407822" cy="183794"/>
          </a:xfrm>
          <a:prstGeom prst="roundRect">
            <a:avLst>
              <a:gd name="adj" fmla="val 19901"/>
            </a:avLst>
          </a:prstGeom>
          <a:solidFill>
            <a:srgbClr val="E7EEF7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142439" y="6001207"/>
            <a:ext cx="407822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005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TFY</a:t>
            </a:r>
            <a:endParaRPr lang="en-US" sz="600" dirty="0"/>
          </a:p>
        </p:txBody>
      </p:sp>
      <p:sp>
        <p:nvSpPr>
          <p:cNvPr id="141" name="Text 139"/>
          <p:cNvSpPr/>
          <p:nvPr/>
        </p:nvSpPr>
        <p:spPr>
          <a:xfrm>
            <a:off x="2571293" y="5898794"/>
            <a:ext cx="2632558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TrueFoundry Data &amp; Vector Platform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(Data-Plane)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2101291" y="6347765"/>
            <a:ext cx="959206" cy="469087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101291" y="6347765"/>
            <a:ext cx="95920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7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Preprocessing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3101645" y="6327648"/>
            <a:ext cx="1265530" cy="510235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101645" y="6327648"/>
            <a:ext cx="126553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 Service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(Azure Cognitive Search /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/ Qdrant)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4407408" y="6347765"/>
            <a:ext cx="856793" cy="469087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407408" y="6347765"/>
            <a:ext cx="856793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Feature</a:t>
            </a:r>
            <a:endParaRPr lang="en-US" sz="7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Governance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2101291" y="6878117"/>
            <a:ext cx="1550822" cy="346558"/>
          </a:xfrm>
          <a:prstGeom prst="roundRect">
            <a:avLst>
              <a:gd name="adj" fmla="val 7916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101291" y="6878117"/>
            <a:ext cx="1550822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Feature Store</a:t>
            </a:r>
            <a:endParaRPr lang="en-US" sz="7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(Distributed)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3693262" y="6878117"/>
            <a:ext cx="1570939" cy="346558"/>
          </a:xfrm>
          <a:prstGeom prst="roundRect">
            <a:avLst>
              <a:gd name="adj" fmla="val 7916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693262" y="6878117"/>
            <a:ext cx="1570939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Lineage &amp; Governance</a:t>
            </a:r>
            <a:endParaRPr lang="en-US" sz="7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(TFY Governed)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2081174" y="7490765"/>
            <a:ext cx="3183026" cy="367589"/>
          </a:xfrm>
          <a:prstGeom prst="roundRect">
            <a:avLst>
              <a:gd name="adj" fmla="val 12438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53" name="Shape 151"/>
          <p:cNvSpPr/>
          <p:nvPr/>
        </p:nvSpPr>
        <p:spPr>
          <a:xfrm>
            <a:off x="2183587" y="7572146"/>
            <a:ext cx="265176" cy="203911"/>
          </a:xfrm>
          <a:prstGeom prst="roundRect">
            <a:avLst>
              <a:gd name="adj" fmla="val 13453"/>
            </a:avLst>
          </a:prstGeom>
          <a:solidFill>
            <a:srgbClr val="2E75B6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510028" y="7490765"/>
            <a:ext cx="2672791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Lake Storage Gen2 (PLS)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 flipV="1">
            <a:off x="1815998" y="1184148"/>
            <a:ext cx="0" cy="244144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6" name="Shape 154"/>
          <p:cNvSpPr/>
          <p:nvPr/>
        </p:nvSpPr>
        <p:spPr>
          <a:xfrm flipV="1">
            <a:off x="2183586" y="1184147"/>
            <a:ext cx="1" cy="285293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7" name="Shape 155"/>
          <p:cNvSpPr/>
          <p:nvPr/>
        </p:nvSpPr>
        <p:spPr>
          <a:xfrm flipH="1" flipV="1">
            <a:off x="2448763" y="1204265"/>
            <a:ext cx="285293" cy="326441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>
            <a:off x="4346143" y="1755648"/>
            <a:ext cx="816559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162702" y="1755648"/>
            <a:ext cx="0" cy="245059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0" name="Shape 158"/>
          <p:cNvSpPr/>
          <p:nvPr/>
        </p:nvSpPr>
        <p:spPr>
          <a:xfrm>
            <a:off x="3131820" y="2040941"/>
            <a:ext cx="0" cy="1122883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>
            <a:off x="3601822" y="2040941"/>
            <a:ext cx="0" cy="1122883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>
            <a:off x="1143000" y="4245559"/>
            <a:ext cx="490118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5693054" y="2102206"/>
            <a:ext cx="1224382" cy="61265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4" name="Text 162"/>
          <p:cNvSpPr/>
          <p:nvPr/>
        </p:nvSpPr>
        <p:spPr>
          <a:xfrm>
            <a:off x="6120994" y="2551176"/>
            <a:ext cx="75529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HTTP/REST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 flipV="1">
            <a:off x="5770778" y="2510941"/>
            <a:ext cx="1146658" cy="993953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 flipV="1">
            <a:off x="5754319" y="3592678"/>
            <a:ext cx="1162203" cy="20115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7" name="Text 165"/>
          <p:cNvSpPr/>
          <p:nvPr/>
        </p:nvSpPr>
        <p:spPr>
          <a:xfrm>
            <a:off x="6120994" y="3735324"/>
            <a:ext cx="1020470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&amp;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 flipV="1">
            <a:off x="8549640" y="2000707"/>
            <a:ext cx="755294" cy="61265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9" name="Text 167"/>
          <p:cNvSpPr/>
          <p:nvPr/>
        </p:nvSpPr>
        <p:spPr>
          <a:xfrm>
            <a:off x="8508492" y="1878178"/>
            <a:ext cx="755294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HTTP/REST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8549640" y="3367735"/>
            <a:ext cx="694030" cy="102413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1" name="Text 169"/>
          <p:cNvSpPr/>
          <p:nvPr/>
        </p:nvSpPr>
        <p:spPr>
          <a:xfrm>
            <a:off x="8692286" y="3531413"/>
            <a:ext cx="428854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9590227" y="3735324"/>
            <a:ext cx="0" cy="183794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998403" y="3735324"/>
            <a:ext cx="0" cy="183794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631582" y="3694176"/>
            <a:ext cx="428854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7774229" y="3755441"/>
            <a:ext cx="0" cy="857707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6" name="Text 174"/>
          <p:cNvSpPr/>
          <p:nvPr/>
        </p:nvSpPr>
        <p:spPr>
          <a:xfrm>
            <a:off x="7815377" y="3919118"/>
            <a:ext cx="71414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7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7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Route*</a:t>
            </a:r>
            <a:endParaRPr lang="en-US" sz="750" dirty="0"/>
          </a:p>
        </p:txBody>
      </p:sp>
      <p:sp>
        <p:nvSpPr>
          <p:cNvPr id="177" name="Text 175"/>
          <p:cNvSpPr/>
          <p:nvPr/>
        </p:nvSpPr>
        <p:spPr>
          <a:xfrm>
            <a:off x="7488022" y="4225442"/>
            <a:ext cx="14264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11416284" y="2122322"/>
            <a:ext cx="377647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793931" y="2122322"/>
            <a:ext cx="0" cy="2489911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H="1">
            <a:off x="11447374" y="4613148"/>
            <a:ext cx="346558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1" name="Text 179"/>
          <p:cNvSpPr/>
          <p:nvPr/>
        </p:nvSpPr>
        <p:spPr>
          <a:xfrm>
            <a:off x="5672023" y="4225442"/>
            <a:ext cx="571500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HTTP/P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5794553" y="4326941"/>
            <a:ext cx="734263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29730" y="4326941"/>
            <a:ext cx="0" cy="755294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29730" y="5082235"/>
            <a:ext cx="591617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5" name="Text 183"/>
          <p:cNvSpPr/>
          <p:nvPr/>
        </p:nvSpPr>
        <p:spPr>
          <a:xfrm>
            <a:off x="5651906" y="5511089"/>
            <a:ext cx="1081735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Scaling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6162142" y="5715000"/>
            <a:ext cx="571500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733642" y="5715000"/>
            <a:ext cx="0" cy="203911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733642" y="5918911"/>
            <a:ext cx="387706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9" name="Text 187"/>
          <p:cNvSpPr/>
          <p:nvPr/>
        </p:nvSpPr>
        <p:spPr>
          <a:xfrm>
            <a:off x="8692286" y="5388559"/>
            <a:ext cx="120426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(TLS 1.3)</a:t>
            </a:r>
            <a:endParaRPr lang="en-US" sz="800" dirty="0"/>
          </a:p>
        </p:txBody>
      </p:sp>
      <p:sp>
        <p:nvSpPr>
          <p:cNvPr id="190" name="Shape 188"/>
          <p:cNvSpPr/>
          <p:nvPr/>
        </p:nvSpPr>
        <p:spPr>
          <a:xfrm>
            <a:off x="8529523" y="5572354"/>
            <a:ext cx="1570939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1" name="Text 189"/>
          <p:cNvSpPr/>
          <p:nvPr/>
        </p:nvSpPr>
        <p:spPr>
          <a:xfrm>
            <a:off x="8589874" y="5898794"/>
            <a:ext cx="1550822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over Private Link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8529523" y="6102706"/>
            <a:ext cx="1570939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3" name="Shape 191"/>
          <p:cNvSpPr/>
          <p:nvPr/>
        </p:nvSpPr>
        <p:spPr>
          <a:xfrm>
            <a:off x="7774229" y="6470294"/>
            <a:ext cx="0" cy="12253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>
            <a:off x="7590434" y="7021678"/>
            <a:ext cx="0" cy="142646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>
            <a:off x="8304581" y="6796735"/>
            <a:ext cx="877824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182405" y="6796735"/>
            <a:ext cx="0" cy="367589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7" name="Text 195"/>
          <p:cNvSpPr/>
          <p:nvPr/>
        </p:nvSpPr>
        <p:spPr>
          <a:xfrm>
            <a:off x="9467698" y="6899148"/>
            <a:ext cx="1244498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TLS-Encrypted PLS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 flipV="1">
            <a:off x="10834726" y="6694322"/>
            <a:ext cx="0" cy="469087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>
            <a:off x="2550262" y="5408676"/>
            <a:ext cx="0" cy="44897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>
            <a:off x="3673145" y="7245706"/>
            <a:ext cx="0" cy="224942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1" name="Text 199"/>
          <p:cNvSpPr/>
          <p:nvPr/>
        </p:nvSpPr>
        <p:spPr>
          <a:xfrm>
            <a:off x="530352" y="8449970"/>
            <a:ext cx="1122243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*Direct communication from User App to local self-hosted model or local MCP server is governed by TrueFoundry policies and can be via Private Link.</a:t>
            </a:r>
            <a:endParaRPr lang="en-US" sz="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*All communications are governed by TrueFoundry RBAC and Azure Entra ID, encrypted in-transit via TLS 1.3 and at-rest via Azure Key Vault CMK.</a:t>
            </a:r>
            <a:endParaRPr lang="en-US" sz="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*Model deployment stack components like vLLM, Triton, and tfy-agent are deployed as Helm charts onto AKS clusters.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405</Words>
  <Application>Microsoft Macintosh PowerPoint</Application>
  <PresentationFormat>Custom</PresentationFormat>
  <Paragraphs>134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 B</cp:lastModifiedBy>
  <cp:revision>2</cp:revision>
  <dcterms:created xsi:type="dcterms:W3CDTF">2026-08-05T07:01:33Z</dcterms:created>
  <dcterms:modified xsi:type="dcterms:W3CDTF">2026-08-05T07:29:29Z</dcterms:modified>
</cp:coreProperties>
</file>