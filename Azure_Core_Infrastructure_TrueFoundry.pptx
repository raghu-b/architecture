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Core Infrastructure for TrueFoundry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420624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to provision for the TrueFoundry compute plane — per TrueFoundry's Azure installation docs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76656"/>
            <a:ext cx="11457432" cy="4846320"/>
          </a:xfrm>
          <a:prstGeom prst="roundRect">
            <a:avLst>
              <a:gd name="adj" fmla="val 566"/>
            </a:avLst>
          </a:prstGeom>
          <a:solidFill>
            <a:srgbClr val="F5F9FD"/>
          </a:solidFill>
          <a:ln w="15875">
            <a:solidFill>
              <a:srgbClr val="0078D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93776" y="7315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SUBSCRIPTION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560320" y="731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enabled   ·   Microsoft.Storage resource provider registered   ·   Host-based encryption ON   ·   CPU / GPU / Spot quotas raised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93776" y="950976"/>
            <a:ext cx="11201400" cy="4462272"/>
          </a:xfrm>
          <a:prstGeom prst="roundRect">
            <a:avLst>
              <a:gd name="adj" fmla="val 615"/>
            </a:avLst>
          </a:prstGeom>
          <a:solidFill>
            <a:srgbClr val="FFFFFF"/>
          </a:solidFill>
          <a:ln w="12700">
            <a:solidFill>
              <a:srgbClr val="9BB6D4"/>
            </a:solidFill>
            <a:prstDash val="sysDash"/>
          </a:ln>
        </p:spPr>
      </p:sp>
      <p:sp>
        <p:nvSpPr>
          <p:cNvPr id="8" name="Text 6"/>
          <p:cNvSpPr/>
          <p:nvPr/>
        </p:nvSpPr>
        <p:spPr>
          <a:xfrm>
            <a:off x="603504" y="10058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  (new — created by deploy — or existing)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3504" y="1225296"/>
            <a:ext cx="3072384" cy="2706624"/>
          </a:xfrm>
          <a:prstGeom prst="roundRect">
            <a:avLst>
              <a:gd name="adj" fmla="val 135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280160"/>
            <a:ext cx="2852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1435608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existing  ·  Azure CNI  ·  private subnets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713232" y="1627632"/>
            <a:ext cx="285292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1673352"/>
            <a:ext cx="2670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 —  /24 or larger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04672" y="1810512"/>
            <a:ext cx="26700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range min /20 · service range min /24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250 nodes and 4 096 pods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713232" y="2203704"/>
            <a:ext cx="285292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2249424"/>
            <a:ext cx="2670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04672" y="2386584"/>
            <a:ext cx="26700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egress for image pulls and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control-plane polling  (required)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713232" y="2779776"/>
            <a:ext cx="285292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2825496"/>
            <a:ext cx="2670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  +  Route Tables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04672" y="2962656"/>
            <a:ext cx="26700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all traffic between subnets;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80 / 443 open to the 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713232" y="3355848"/>
            <a:ext cx="285292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401568"/>
            <a:ext cx="2670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IP  +  Load Balancer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04672" y="3538728"/>
            <a:ext cx="26700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front-door for the Istio ingress gateway;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of the wildcard DNS A record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785616" y="1225296"/>
            <a:ext cx="4297680" cy="2706624"/>
          </a:xfrm>
          <a:prstGeom prst="roundRect">
            <a:avLst>
              <a:gd name="adj" fmla="val 135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95344" y="1280160"/>
            <a:ext cx="4078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KUBERNETES SERVICE  (AKS)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895344" y="1435608"/>
            <a:ext cx="40782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v1.30+  ·  host encryption enabled  ·  cluster autoscaler on every pool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895344" y="1591056"/>
            <a:ext cx="40782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POOLS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95344" y="1737360"/>
          <a:ext cx="4078224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627632"/>
                <a:gridCol w="822960"/>
                <a:gridCol w="676656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size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Min–Max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(system)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Standard_D4ds_v5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/ cpu2x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D4ds_v5 / D8ds_v5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/ a10  (GPU)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NC4as_T4_v3 / NV6ads_A10_v5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pools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CPU / GPU SKU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B2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– 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3895344" y="2743200"/>
            <a:ext cx="4078224" cy="36576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9525">
            <a:solidFill>
              <a:srgbClr val="F2B13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986784" y="2779776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system pool runs ArgoCD, Istio and tfy-agent — it must always be On-demand with ≥ 2 nodes.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pools are 60–90% cheaper but can be reclaimed by Azure at any time.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3895344" y="3145536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Taints:  class.truefoundry.com/component=critical:NoSchedule   ·   nvidia.com/gpu=Present:NoSchedule   ·   kubernetes.azure.com/scalesetpriority:spot</a:t>
            </a:r>
            <a:endParaRPr lang="en-US" sz="680" dirty="0"/>
          </a:p>
        </p:txBody>
      </p:sp>
      <p:sp>
        <p:nvSpPr>
          <p:cNvPr id="32" name="Text 29"/>
          <p:cNvSpPr/>
          <p:nvPr/>
        </p:nvSpPr>
        <p:spPr>
          <a:xfrm>
            <a:off x="3895344" y="3456432"/>
            <a:ext cx="4078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add-ons installed onto the cluster:  ArgoCD · Prometheus · tfy-agent · Istio (base, discovery, ingress) · KEDA · Argo Rollouts · Argo Workflows · tfy-logs (VictoriaLogs + Vector) · GPU Operator · cert-manager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8193024" y="1225296"/>
            <a:ext cx="3401568" cy="2706624"/>
          </a:xfrm>
          <a:prstGeom prst="roundRect">
            <a:avLst>
              <a:gd name="adj" fmla="val 135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02752" y="1280160"/>
            <a:ext cx="3182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AZURE SERVICES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302752" y="1435608"/>
            <a:ext cx="31821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per platform-feature toggle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8302752" y="1627632"/>
            <a:ext cx="3182112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94192" y="1664208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Registry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394192" y="1792224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user enabled — platform pushes and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application images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8302752" y="2093976"/>
            <a:ext cx="3182112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394192" y="213055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Account + Blob Container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394192" y="2258568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artifacts, build context, gateway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traces, and OpenTofu / Terraform state</a:t>
            </a:r>
            <a:endParaRPr lang="en-US" sz="700" dirty="0"/>
          </a:p>
        </p:txBody>
      </p:sp>
      <p:sp>
        <p:nvSpPr>
          <p:cNvPr id="42" name="Shape 39"/>
          <p:cNvSpPr/>
          <p:nvPr/>
        </p:nvSpPr>
        <p:spPr>
          <a:xfrm>
            <a:off x="8302752" y="2560320"/>
            <a:ext cx="3182112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94192" y="2596896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Workspace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8394192" y="2724912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diagnostics; lets the control plane read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cluster-autoscaler logs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8302752" y="3026664"/>
            <a:ext cx="3182112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394192" y="306324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DNS Zone   (optional)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8394192" y="3191256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 *.tfy.example.com; cert-manager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DNS-01 to issue TLS certificates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8302752" y="3493008"/>
            <a:ext cx="3182112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394192" y="3529584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  (optional)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8394192" y="3657600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secret manager integration for</a:t>
            </a:r>
            <a:endParaRPr lang="en-US" sz="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injecting credentials into workloads</a:t>
            </a:r>
            <a:endParaRPr lang="en-US" sz="700" dirty="0"/>
          </a:p>
        </p:txBody>
      </p:sp>
      <p:sp>
        <p:nvSpPr>
          <p:cNvPr id="51" name="Shape 48"/>
          <p:cNvSpPr/>
          <p:nvPr/>
        </p:nvSpPr>
        <p:spPr>
          <a:xfrm>
            <a:off x="603504" y="4041648"/>
            <a:ext cx="10991088" cy="1298448"/>
          </a:xfrm>
          <a:prstGeom prst="roundRect">
            <a:avLst>
              <a:gd name="adj" fmla="val 2817"/>
            </a:avLst>
          </a:prstGeom>
          <a:solidFill>
            <a:srgbClr val="E8F1FB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13232" y="409651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  —  Microsoft Entra ID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713232" y="4251960"/>
            <a:ext cx="6400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automatically by the deploy; used by the platform at runtime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713232" y="4425696"/>
            <a:ext cx="3529584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04672" y="4462272"/>
            <a:ext cx="3346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cluster managed identity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804672" y="4581144"/>
            <a:ext cx="3346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8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user-assigned</a:t>
            </a:r>
            <a:endParaRPr lang="en-US" sz="680" dirty="0"/>
          </a:p>
        </p:txBody>
      </p:sp>
      <p:sp>
        <p:nvSpPr>
          <p:cNvPr id="57" name="Shape 54"/>
          <p:cNvSpPr/>
          <p:nvPr/>
        </p:nvSpPr>
        <p:spPr>
          <a:xfrm>
            <a:off x="804672" y="4700016"/>
            <a:ext cx="1645920" cy="118872"/>
          </a:xfrm>
          <a:prstGeom prst="roundRect">
            <a:avLst>
              <a:gd name="adj" fmla="val 307692"/>
            </a:avLst>
          </a:prstGeom>
          <a:solidFill>
            <a:srgbClr val="E8F1FB"/>
          </a:solidFill>
          <a:ln/>
        </p:spPr>
      </p:sp>
      <p:sp>
        <p:nvSpPr>
          <p:cNvPr id="58" name="Text 55"/>
          <p:cNvSpPr/>
          <p:nvPr/>
        </p:nvSpPr>
        <p:spPr>
          <a:xfrm>
            <a:off x="804672" y="4700016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Contributor</a:t>
            </a:r>
            <a:endParaRPr lang="en-US" sz="650" dirty="0"/>
          </a:p>
        </p:txBody>
      </p:sp>
      <p:sp>
        <p:nvSpPr>
          <p:cNvPr id="59" name="Text 56"/>
          <p:cNvSpPr/>
          <p:nvPr/>
        </p:nvSpPr>
        <p:spPr>
          <a:xfrm>
            <a:off x="804672" y="4837176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VNet — lets AKS manage load</a:t>
            </a:r>
            <a:endParaRPr lang="en-US" sz="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balancers, public IPs and networking</a:t>
            </a:r>
            <a:endParaRPr lang="en-US" sz="680" dirty="0"/>
          </a:p>
        </p:txBody>
      </p:sp>
      <p:sp>
        <p:nvSpPr>
          <p:cNvPr id="60" name="Shape 57"/>
          <p:cNvSpPr/>
          <p:nvPr/>
        </p:nvSpPr>
        <p:spPr>
          <a:xfrm>
            <a:off x="4370832" y="4425696"/>
            <a:ext cx="3529584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4462272" y="4462272"/>
            <a:ext cx="3346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cert-manager managed identity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4462272" y="4581144"/>
            <a:ext cx="3346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8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user-assigned + federated credential</a:t>
            </a:r>
            <a:endParaRPr lang="en-US" sz="680" dirty="0"/>
          </a:p>
        </p:txBody>
      </p:sp>
      <p:sp>
        <p:nvSpPr>
          <p:cNvPr id="63" name="Shape 60"/>
          <p:cNvSpPr/>
          <p:nvPr/>
        </p:nvSpPr>
        <p:spPr>
          <a:xfrm>
            <a:off x="4462272" y="4700016"/>
            <a:ext cx="1645920" cy="118872"/>
          </a:xfrm>
          <a:prstGeom prst="roundRect">
            <a:avLst>
              <a:gd name="adj" fmla="val 307692"/>
            </a:avLst>
          </a:prstGeom>
          <a:solidFill>
            <a:srgbClr val="E8F1FB"/>
          </a:solidFill>
          <a:ln/>
        </p:spPr>
      </p:sp>
      <p:sp>
        <p:nvSpPr>
          <p:cNvPr id="64" name="Text 61"/>
          <p:cNvSpPr/>
          <p:nvPr/>
        </p:nvSpPr>
        <p:spPr>
          <a:xfrm>
            <a:off x="4462272" y="4700016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Zone Contributor</a:t>
            </a:r>
            <a:endParaRPr lang="en-US" sz="650" dirty="0"/>
          </a:p>
        </p:txBody>
      </p:sp>
      <p:sp>
        <p:nvSpPr>
          <p:cNvPr id="65" name="Text 62"/>
          <p:cNvSpPr/>
          <p:nvPr/>
        </p:nvSpPr>
        <p:spPr>
          <a:xfrm>
            <a:off x="4462272" y="4837176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DNS zone — solves DNS-01 ACME</a:t>
            </a:r>
            <a:endParaRPr lang="en-US" sz="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to issue TLS certificates</a:t>
            </a:r>
            <a:endParaRPr lang="en-US" sz="680" dirty="0"/>
          </a:p>
        </p:txBody>
      </p:sp>
      <p:sp>
        <p:nvSpPr>
          <p:cNvPr id="66" name="Shape 63"/>
          <p:cNvSpPr/>
          <p:nvPr/>
        </p:nvSpPr>
        <p:spPr>
          <a:xfrm>
            <a:off x="8028432" y="4425696"/>
            <a:ext cx="3529584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8119872" y="4462272"/>
            <a:ext cx="3346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Platform-features Entra app + SP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8119872" y="4581144"/>
            <a:ext cx="3346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8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principal</a:t>
            </a:r>
            <a:endParaRPr lang="en-US" sz="680" dirty="0"/>
          </a:p>
        </p:txBody>
      </p:sp>
      <p:sp>
        <p:nvSpPr>
          <p:cNvPr id="69" name="Shape 66"/>
          <p:cNvSpPr/>
          <p:nvPr/>
        </p:nvSpPr>
        <p:spPr>
          <a:xfrm>
            <a:off x="8119872" y="4700016"/>
            <a:ext cx="1645920" cy="118872"/>
          </a:xfrm>
          <a:prstGeom prst="roundRect">
            <a:avLst>
              <a:gd name="adj" fmla="val 307692"/>
            </a:avLst>
          </a:prstGeom>
          <a:solidFill>
            <a:srgbClr val="E8F1FB"/>
          </a:solidFill>
          <a:ln/>
        </p:spPr>
      </p:sp>
      <p:sp>
        <p:nvSpPr>
          <p:cNvPr id="70" name="Text 67"/>
          <p:cNvSpPr/>
          <p:nvPr/>
        </p:nvSpPr>
        <p:spPr>
          <a:xfrm>
            <a:off x="8119872" y="4700016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 +  Monitoring Reader</a:t>
            </a:r>
            <a:endParaRPr lang="en-US" sz="650" dirty="0"/>
          </a:p>
        </p:txBody>
      </p:sp>
      <p:sp>
        <p:nvSpPr>
          <p:cNvPr id="71" name="Text 68"/>
          <p:cNvSpPr/>
          <p:nvPr/>
        </p:nvSpPr>
        <p:spPr>
          <a:xfrm>
            <a:off x="8119872" y="4837176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AKS cluster — reads node pools and</a:t>
            </a:r>
            <a:endParaRPr lang="en-US" sz="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autoscaler logs (Cluster Integration)</a:t>
            </a:r>
            <a:endParaRPr lang="en-US" sz="680" dirty="0"/>
          </a:p>
        </p:txBody>
      </p:sp>
      <p:sp>
        <p:nvSpPr>
          <p:cNvPr id="72" name="Text 69"/>
          <p:cNvSpPr/>
          <p:nvPr/>
        </p:nvSpPr>
        <p:spPr>
          <a:xfrm>
            <a:off x="713232" y="5065776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principal needs  Contributor + User Access Administrator  (or the least-privilege custom role)  ·  plus Microsoft Graph  Application.ReadWrite.OwnedBy  with admin consent — a directory-level grant that Azure RBAC does not cover.</a:t>
            </a:r>
            <a:endParaRPr lang="en-US" sz="720" dirty="0"/>
          </a:p>
        </p:txBody>
      </p:sp>
      <p:sp>
        <p:nvSpPr>
          <p:cNvPr id="73" name="Shape 70"/>
          <p:cNvSpPr/>
          <p:nvPr/>
        </p:nvSpPr>
        <p:spPr>
          <a:xfrm>
            <a:off x="365760" y="5614416"/>
            <a:ext cx="5669280" cy="512064"/>
          </a:xfrm>
          <a:prstGeom prst="roundRect">
            <a:avLst>
              <a:gd name="adj" fmla="val 7143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475488" y="5650992"/>
            <a:ext cx="5449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EGRESS  (container registries)</a:t>
            </a:r>
            <a:endParaRPr lang="en-US" sz="850" dirty="0"/>
          </a:p>
        </p:txBody>
      </p:sp>
      <p:sp>
        <p:nvSpPr>
          <p:cNvPr id="75" name="Text 72"/>
          <p:cNvSpPr/>
          <p:nvPr/>
        </p:nvSpPr>
        <p:spPr>
          <a:xfrm>
            <a:off x="475488" y="5788152"/>
            <a:ext cx="544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public.ecr.aws  ·  quay.io  ·  ghcr.io  ·  tfy.jfrog.io  ·  docker.io/natsio  ·  nvcr.io  ·  registry.k8s.io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to pull ArgoCD, NATS, GPU Operator, Argo Rollouts, Argo Workflows, Istio and KEDA images</a:t>
            </a:r>
            <a:endParaRPr lang="en-US" sz="700" dirty="0"/>
          </a:p>
        </p:txBody>
      </p:sp>
      <p:sp>
        <p:nvSpPr>
          <p:cNvPr id="76" name="Shape 73"/>
          <p:cNvSpPr/>
          <p:nvPr/>
        </p:nvSpPr>
        <p:spPr>
          <a:xfrm>
            <a:off x="6153912" y="5614416"/>
            <a:ext cx="5669280" cy="512064"/>
          </a:xfrm>
          <a:prstGeom prst="roundRect">
            <a:avLst>
              <a:gd name="adj" fmla="val 7143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6263640" y="5650992"/>
            <a:ext cx="5449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</a:t>
            </a:r>
            <a:endParaRPr lang="en-US" sz="850" dirty="0"/>
          </a:p>
        </p:txBody>
      </p:sp>
      <p:sp>
        <p:nvSpPr>
          <p:cNvPr id="78" name="Text 75"/>
          <p:cNvSpPr/>
          <p:nvPr/>
        </p:nvSpPr>
        <p:spPr>
          <a:xfrm>
            <a:off x="6263640" y="5788152"/>
            <a:ext cx="5449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OpenTofu / Terraform bootstrap script (~40–50 min)  →  state stored in an Azure Storage container</a:t>
            </a:r>
            <a:endParaRPr lang="en-US" sz="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then registers with the control plane via tfy-agent over an outbound-only secure WebSocket</a:t>
            </a:r>
            <a:endParaRPr lang="en-US" sz="700" dirty="0"/>
          </a:p>
        </p:txBody>
      </p:sp>
      <p:sp>
        <p:nvSpPr>
          <p:cNvPr id="79" name="Text 76"/>
          <p:cNvSpPr/>
          <p:nvPr/>
        </p:nvSpPr>
        <p:spPr>
          <a:xfrm>
            <a:off x="365760" y="6309360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TrueFoundry Azure compute-plane installation documentation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Provisioning Sequence &amp; Prerequisites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420624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order of operations for standing up the TrueFoundry compute plane on Azure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" y="969264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6" name="Text 4"/>
          <p:cNvSpPr/>
          <p:nvPr/>
        </p:nvSpPr>
        <p:spPr>
          <a:xfrm>
            <a:off x="512064" y="969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9144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subscription prerequisites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115568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on · Microsoft.Storage RP registered · host encryption enabled · CPU / GPU / Spot quota raised for the chosen SKUs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1627632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" y="1627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deploy permissions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773936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 + User Access Administrator (or custom role) on the subscription, plus Microsoft Graph Application.ReadWrite.OwnedBy with admin consent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2121408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" y="2286000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223113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Deployment feature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2432304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→ Settings → Platform Feature Visibility → Enable Deployment, so Clusters can be created from the console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2779776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" y="2944368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" y="2944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8895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cluster form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3090672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+ AZs, resource group, cluster name, Kubernetes version, node pools, VNet choice, DNS zone, Terraform state storage account, platform-feature toggles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3438144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064" y="3602736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" y="3602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35478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bootstrap script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3749040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generated curl command and run it locally — installs prerequisites, downloads the OpenTofu/Terraform code and applies it (~40–50 minutes)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2064" y="4261104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4400" y="42062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cluster registration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" y="4407408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tfy-agent opens an outbound secure WebSocket to the control plane; the cluster shows as Connected in the platform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65760" y="4754880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064" y="4919472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" y="4919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14400" y="48646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DNS record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14400" y="5065776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 *.tfy.example.com → load-balancer IP shown under the cluster's Base Domain URL; cert-manager then issues the wildcard certificate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13248"/>
            <a:ext cx="11457432" cy="603504"/>
          </a:xfrm>
          <a:prstGeom prst="roundRect">
            <a:avLst>
              <a:gd name="adj" fmla="val 6061"/>
            </a:avLst>
          </a:prstGeom>
          <a:solidFill>
            <a:srgbClr val="F4F6F8"/>
          </a:solidFill>
          <a:ln w="9525">
            <a:solidFill>
              <a:srgbClr val="C3CC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2064" y="5577840"/>
            <a:ext cx="274320" cy="274320"/>
          </a:xfrm>
          <a:prstGeom prst="ellipse">
            <a:avLst/>
          </a:prstGeom>
          <a:solidFill>
            <a:srgbClr val="0F2A5C"/>
          </a:solidFill>
          <a:ln/>
        </p:spPr>
      </p:sp>
      <p:sp>
        <p:nvSpPr>
          <p:cNvPr id="41" name="Text 39"/>
          <p:cNvSpPr/>
          <p:nvPr/>
        </p:nvSpPr>
        <p:spPr>
          <a:xfrm>
            <a:off x="512064" y="5577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14400" y="552297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first workload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4400" y="5724144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2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pools scale from zero on demand; images are pulled from ACR and applications are rolled out by ArgoCD into the tfy-apps project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65760" y="6144768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TrueFoundry Azure compute-plane installation documentation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2026-08-05T07:46:25Z</dcterms:created>
  <dcterms:modified xsi:type="dcterms:W3CDTF">2026-08-05T07:46:25Z</dcterms:modified>
</cp:coreProperties>
</file>