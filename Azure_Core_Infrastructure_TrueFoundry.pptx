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Core Infrastructure for TrueFoundry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420624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to provision for the TrueFoundry compute plane — per TrueFoundry's Azure installation docs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65760" y="676656"/>
            <a:ext cx="11457432" cy="4846320"/>
          </a:xfrm>
          <a:prstGeom prst="roundRect">
            <a:avLst>
              <a:gd name="adj" fmla="val 566"/>
            </a:avLst>
          </a:prstGeom>
          <a:solidFill>
            <a:srgbClr val="F5F9FD"/>
          </a:solidFill>
          <a:ln w="15875">
            <a:solidFill>
              <a:srgbClr val="0078D4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93776" y="7315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SUBSCRIPTION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560320" y="7315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enabled   ·   Microsoft.Storage resource provider registered   ·   Host-based encryption ON   ·   CPU / GPU / Spot quotas raised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93776" y="950976"/>
            <a:ext cx="11201400" cy="4462272"/>
          </a:xfrm>
          <a:prstGeom prst="roundRect">
            <a:avLst>
              <a:gd name="adj" fmla="val 615"/>
            </a:avLst>
          </a:prstGeom>
          <a:solidFill>
            <a:srgbClr val="FFFFFF"/>
          </a:solidFill>
          <a:ln w="12700">
            <a:solidFill>
              <a:srgbClr val="9BB6D4"/>
            </a:solidFill>
            <a:prstDash val="sysDash"/>
          </a:ln>
        </p:spPr>
      </p:sp>
      <p:sp>
        <p:nvSpPr>
          <p:cNvPr id="8" name="Text 6"/>
          <p:cNvSpPr/>
          <p:nvPr/>
        </p:nvSpPr>
        <p:spPr>
          <a:xfrm>
            <a:off x="603504" y="10058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GROUP   (new — created by deploy — or existing)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03504" y="1225296"/>
            <a:ext cx="3072384" cy="2706624"/>
          </a:xfrm>
          <a:prstGeom prst="roundRect">
            <a:avLst>
              <a:gd name="adj" fmla="val 1351"/>
            </a:avLst>
          </a:prstGeom>
          <a:solidFill>
            <a:srgbClr val="F4F6F8"/>
          </a:solidFill>
          <a:ln w="9525">
            <a:solidFill>
              <a:srgbClr val="C3CC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280160"/>
            <a:ext cx="2852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NETWORK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13232" y="1435608"/>
            <a:ext cx="2852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or existing  ·  Azure CNI  ·  private subnets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713232" y="1627632"/>
            <a:ext cx="2852928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C3CC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1673352"/>
            <a:ext cx="2670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  —  /24 or larger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04672" y="1810512"/>
            <a:ext cx="2670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range min /20 · service range min /24</a:t>
            </a:r>
            <a:endParaRPr lang="en-US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250 nodes and 4 096 pods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713232" y="2203704"/>
            <a:ext cx="2852928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C3CC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2249424"/>
            <a:ext cx="2670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04672" y="2386584"/>
            <a:ext cx="2670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egress for image pulls and</a:t>
            </a:r>
            <a:endParaRPr lang="en-US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control-plane polling  (required)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713232" y="2779776"/>
            <a:ext cx="2852928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C3CC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2825496"/>
            <a:ext cx="2670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NSG  +  Route Tables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04672" y="2962656"/>
            <a:ext cx="2670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all traffic between subnets;</a:t>
            </a:r>
            <a:endParaRPr lang="en-US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80 / 443 open to the load balancer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713232" y="3355848"/>
            <a:ext cx="2852928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C3CC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3401568"/>
            <a:ext cx="2670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IP  +  Load Balancer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04672" y="3538728"/>
            <a:ext cx="2670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front-door for the Istio ingress gateway;</a:t>
            </a:r>
            <a:endParaRPr lang="en-US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of the wildcard DNS A record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785616" y="1225296"/>
            <a:ext cx="4297680" cy="2706624"/>
          </a:xfrm>
          <a:prstGeom prst="roundRect">
            <a:avLst>
              <a:gd name="adj" fmla="val 1351"/>
            </a:avLst>
          </a:prstGeom>
          <a:solidFill>
            <a:srgbClr val="F4F6F8"/>
          </a:solidFill>
          <a:ln w="9525">
            <a:solidFill>
              <a:srgbClr val="C3CC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95344" y="1280160"/>
            <a:ext cx="4078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KUBERNETES SERVICE  (AKS)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895344" y="1435608"/>
            <a:ext cx="4078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v1.30+  ·  host encryption enabled  ·  cluster autoscaler on every pool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895344" y="1591056"/>
            <a:ext cx="4078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POOLS</a:t>
            </a:r>
            <a:endParaRPr lang="en-US" sz="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95344" y="1737360"/>
          <a:ext cx="4078224" cy="914400"/>
        </p:xfrm>
        <a:graphic>
          <a:graphicData uri="http://schemas.openxmlformats.org/drawingml/2006/table">
            <a:tbl>
              <a:tblPr/>
              <a:tblGrid>
                <a:gridCol w="950976"/>
                <a:gridCol w="1627632"/>
                <a:gridCol w="822960"/>
                <a:gridCol w="676656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 size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Min–Max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C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 (system)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Standard_D4ds_v5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On-demand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– 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6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/ cpu2x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D4ds_v5 / D8ds_v5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On-demand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– 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 / a10  (GPU)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NC4as_T4_v3 / NV6ads_A10_v5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On-demand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– 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 pools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CPU / GPU SKU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– 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Shape 26"/>
          <p:cNvSpPr/>
          <p:nvPr/>
        </p:nvSpPr>
        <p:spPr>
          <a:xfrm>
            <a:off x="3895344" y="2743200"/>
            <a:ext cx="4078224" cy="365760"/>
          </a:xfrm>
          <a:prstGeom prst="roundRect">
            <a:avLst>
              <a:gd name="adj" fmla="val 10000"/>
            </a:avLst>
          </a:prstGeom>
          <a:solidFill>
            <a:srgbClr val="FFF3D6"/>
          </a:solidFill>
          <a:ln w="9525">
            <a:solidFill>
              <a:srgbClr val="F2B13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986784" y="2779776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initial system pool runs ArgoCD, Istio and tfy-agent — it must always be On-demand with ≥ 2 nodes.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pools are 60–90% cheaper but can be reclaimed by Azure at any time.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3895344" y="3145536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8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Taints:  class.truefoundry.com/component=critical:NoSchedule   ·   nvidia.com/gpu=Present:NoSchedule   ·   kubernetes.azure.com/scalesetpriority:spot</a:t>
            </a:r>
            <a:endParaRPr lang="en-US" sz="680" dirty="0"/>
          </a:p>
        </p:txBody>
      </p:sp>
      <p:sp>
        <p:nvSpPr>
          <p:cNvPr id="32" name="Text 29"/>
          <p:cNvSpPr/>
          <p:nvPr/>
        </p:nvSpPr>
        <p:spPr>
          <a:xfrm>
            <a:off x="3895344" y="3456432"/>
            <a:ext cx="4078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add-ons installed onto the cluster:  ArgoCD · Prometheus · tfy-agent · Istio (base, discovery, ingress) · KEDA · Argo Rollouts · Argo Workflows · tfy-logs (VictoriaLogs + Vector) · GPU Operator · cert-manager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8193024" y="1225296"/>
            <a:ext cx="3401568" cy="2706624"/>
          </a:xfrm>
          <a:prstGeom prst="roundRect">
            <a:avLst>
              <a:gd name="adj" fmla="val 1351"/>
            </a:avLst>
          </a:prstGeom>
          <a:solidFill>
            <a:srgbClr val="F4F6F8"/>
          </a:solidFill>
          <a:ln w="9525">
            <a:solidFill>
              <a:srgbClr val="C3CCD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302752" y="1280160"/>
            <a:ext cx="3182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AZURE SERVICES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8302752" y="1435608"/>
            <a:ext cx="3182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per platform-feature toggle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8302752" y="1627632"/>
            <a:ext cx="3182112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C3CCD9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394192" y="1664208"/>
            <a:ext cx="2999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Container Registry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8394192" y="1792224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user enabled — platform pushes and</a:t>
            </a:r>
            <a:endParaRPr lang="en-US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application images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8302752" y="2093976"/>
            <a:ext cx="3182112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C3CCD9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394192" y="2130552"/>
            <a:ext cx="2999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Account + Blob Container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8394192" y="2258568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artifacts, build context, gateway</a:t>
            </a:r>
            <a:endParaRPr lang="en-US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traces, and OpenTofu / Terraform state</a:t>
            </a:r>
            <a:endParaRPr lang="en-US" sz="700" dirty="0"/>
          </a:p>
        </p:txBody>
      </p:sp>
      <p:sp>
        <p:nvSpPr>
          <p:cNvPr id="42" name="Shape 39"/>
          <p:cNvSpPr/>
          <p:nvPr/>
        </p:nvSpPr>
        <p:spPr>
          <a:xfrm>
            <a:off x="8302752" y="2560320"/>
            <a:ext cx="3182112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C3CCD9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394192" y="2596896"/>
            <a:ext cx="2999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Analytics Workspace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8394192" y="2724912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 diagnostics; lets the control plane read</a:t>
            </a:r>
            <a:endParaRPr lang="en-US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cluster-autoscaler logs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8302752" y="3026664"/>
            <a:ext cx="3182112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C3CCD9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394192" y="3063240"/>
            <a:ext cx="2999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DNS Zone   (optional)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8394192" y="3191256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 *.tfy.example.com; cert-manager</a:t>
            </a:r>
            <a:endParaRPr lang="en-US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DNS-01 to issue TLS certificates</a:t>
            </a:r>
            <a:endParaRPr lang="en-US" sz="700" dirty="0"/>
          </a:p>
        </p:txBody>
      </p:sp>
      <p:sp>
        <p:nvSpPr>
          <p:cNvPr id="48" name="Shape 45"/>
          <p:cNvSpPr/>
          <p:nvPr/>
        </p:nvSpPr>
        <p:spPr>
          <a:xfrm>
            <a:off x="8302752" y="3493008"/>
            <a:ext cx="3182112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C3CCD9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394192" y="3529584"/>
            <a:ext cx="2999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Key Vault   (optional)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8394192" y="3657600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secret manager integration for</a:t>
            </a:r>
            <a:endParaRPr lang="en-US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injecting credentials into workloads</a:t>
            </a:r>
            <a:endParaRPr lang="en-US" sz="700" dirty="0"/>
          </a:p>
        </p:txBody>
      </p:sp>
      <p:sp>
        <p:nvSpPr>
          <p:cNvPr id="51" name="Shape 48"/>
          <p:cNvSpPr/>
          <p:nvPr/>
        </p:nvSpPr>
        <p:spPr>
          <a:xfrm>
            <a:off x="603504" y="4041648"/>
            <a:ext cx="10991088" cy="1298448"/>
          </a:xfrm>
          <a:prstGeom prst="roundRect">
            <a:avLst>
              <a:gd name="adj" fmla="val 2817"/>
            </a:avLst>
          </a:prstGeom>
          <a:solidFill>
            <a:srgbClr val="E8F1FB"/>
          </a:solidFill>
          <a:ln w="9525">
            <a:solidFill>
              <a:srgbClr val="C3CCD9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13232" y="409651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ACCESS  —  Microsoft Entra ID</a:t>
            </a:r>
            <a:endParaRPr lang="en-US" sz="1050" dirty="0"/>
          </a:p>
        </p:txBody>
      </p:sp>
      <p:sp>
        <p:nvSpPr>
          <p:cNvPr id="53" name="Text 50"/>
          <p:cNvSpPr/>
          <p:nvPr/>
        </p:nvSpPr>
        <p:spPr>
          <a:xfrm>
            <a:off x="713232" y="4251960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automatically by the deploy; used by the platform at runtime</a:t>
            </a:r>
            <a:endParaRPr lang="en-US" sz="700" dirty="0"/>
          </a:p>
        </p:txBody>
      </p:sp>
      <p:sp>
        <p:nvSpPr>
          <p:cNvPr id="54" name="Shape 51"/>
          <p:cNvSpPr/>
          <p:nvPr/>
        </p:nvSpPr>
        <p:spPr>
          <a:xfrm>
            <a:off x="713232" y="4425696"/>
            <a:ext cx="3529584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C3CCD9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04672" y="4462272"/>
            <a:ext cx="33467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 cluster managed identity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804672" y="4581144"/>
            <a:ext cx="3346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8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user-assigned</a:t>
            </a:r>
            <a:endParaRPr lang="en-US" sz="680" dirty="0"/>
          </a:p>
        </p:txBody>
      </p:sp>
      <p:sp>
        <p:nvSpPr>
          <p:cNvPr id="57" name="Shape 54"/>
          <p:cNvSpPr/>
          <p:nvPr/>
        </p:nvSpPr>
        <p:spPr>
          <a:xfrm>
            <a:off x="804672" y="4700016"/>
            <a:ext cx="1645920" cy="118872"/>
          </a:xfrm>
          <a:prstGeom prst="roundRect">
            <a:avLst>
              <a:gd name="adj" fmla="val 307692"/>
            </a:avLst>
          </a:prstGeom>
          <a:solidFill>
            <a:srgbClr val="E8F1FB"/>
          </a:solidFill>
          <a:ln/>
        </p:spPr>
      </p:sp>
      <p:sp>
        <p:nvSpPr>
          <p:cNvPr id="58" name="Text 55"/>
          <p:cNvSpPr/>
          <p:nvPr/>
        </p:nvSpPr>
        <p:spPr>
          <a:xfrm>
            <a:off x="804672" y="4700016"/>
            <a:ext cx="1645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Contributor</a:t>
            </a:r>
            <a:endParaRPr lang="en-US" sz="650" dirty="0"/>
          </a:p>
        </p:txBody>
      </p:sp>
      <p:sp>
        <p:nvSpPr>
          <p:cNvPr id="59" name="Text 56"/>
          <p:cNvSpPr/>
          <p:nvPr/>
        </p:nvSpPr>
        <p:spPr>
          <a:xfrm>
            <a:off x="804672" y="4837176"/>
            <a:ext cx="3346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VNet — lets AKS manage load</a:t>
            </a:r>
            <a:endParaRPr lang="en-US" sz="68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balancers, public IPs and networking</a:t>
            </a:r>
            <a:endParaRPr lang="en-US" sz="680" dirty="0"/>
          </a:p>
        </p:txBody>
      </p:sp>
      <p:sp>
        <p:nvSpPr>
          <p:cNvPr id="60" name="Shape 57"/>
          <p:cNvSpPr/>
          <p:nvPr/>
        </p:nvSpPr>
        <p:spPr>
          <a:xfrm>
            <a:off x="4370832" y="4425696"/>
            <a:ext cx="3529584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C3CCD9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4462272" y="4462272"/>
            <a:ext cx="33467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cert-manager managed identity</a:t>
            </a:r>
            <a:endParaRPr lang="en-US" sz="850" dirty="0"/>
          </a:p>
        </p:txBody>
      </p:sp>
      <p:sp>
        <p:nvSpPr>
          <p:cNvPr id="62" name="Text 59"/>
          <p:cNvSpPr/>
          <p:nvPr/>
        </p:nvSpPr>
        <p:spPr>
          <a:xfrm>
            <a:off x="4462272" y="4581144"/>
            <a:ext cx="3346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8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user-assigned + federated credential</a:t>
            </a:r>
            <a:endParaRPr lang="en-US" sz="680" dirty="0"/>
          </a:p>
        </p:txBody>
      </p:sp>
      <p:sp>
        <p:nvSpPr>
          <p:cNvPr id="63" name="Shape 60"/>
          <p:cNvSpPr/>
          <p:nvPr/>
        </p:nvSpPr>
        <p:spPr>
          <a:xfrm>
            <a:off x="4462272" y="4700016"/>
            <a:ext cx="1645920" cy="118872"/>
          </a:xfrm>
          <a:prstGeom prst="roundRect">
            <a:avLst>
              <a:gd name="adj" fmla="val 307692"/>
            </a:avLst>
          </a:prstGeom>
          <a:solidFill>
            <a:srgbClr val="E8F1FB"/>
          </a:solidFill>
          <a:ln/>
        </p:spPr>
      </p:sp>
      <p:sp>
        <p:nvSpPr>
          <p:cNvPr id="64" name="Text 61"/>
          <p:cNvSpPr/>
          <p:nvPr/>
        </p:nvSpPr>
        <p:spPr>
          <a:xfrm>
            <a:off x="4462272" y="4700016"/>
            <a:ext cx="1645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Zone Contributor</a:t>
            </a:r>
            <a:endParaRPr lang="en-US" sz="650" dirty="0"/>
          </a:p>
        </p:txBody>
      </p:sp>
      <p:sp>
        <p:nvSpPr>
          <p:cNvPr id="65" name="Text 62"/>
          <p:cNvSpPr/>
          <p:nvPr/>
        </p:nvSpPr>
        <p:spPr>
          <a:xfrm>
            <a:off x="4462272" y="4837176"/>
            <a:ext cx="3346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DNS zone — solves DNS-01 ACME</a:t>
            </a:r>
            <a:endParaRPr lang="en-US" sz="68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to issue TLS certificates</a:t>
            </a:r>
            <a:endParaRPr lang="en-US" sz="680" dirty="0"/>
          </a:p>
        </p:txBody>
      </p:sp>
      <p:sp>
        <p:nvSpPr>
          <p:cNvPr id="66" name="Shape 63"/>
          <p:cNvSpPr/>
          <p:nvPr/>
        </p:nvSpPr>
        <p:spPr>
          <a:xfrm>
            <a:off x="8028432" y="4425696"/>
            <a:ext cx="3529584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C3CCD9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8119872" y="4462272"/>
            <a:ext cx="33467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Platform-features Entra app + SP</a:t>
            </a:r>
            <a:endParaRPr lang="en-US" sz="850" dirty="0"/>
          </a:p>
        </p:txBody>
      </p:sp>
      <p:sp>
        <p:nvSpPr>
          <p:cNvPr id="68" name="Text 65"/>
          <p:cNvSpPr/>
          <p:nvPr/>
        </p:nvSpPr>
        <p:spPr>
          <a:xfrm>
            <a:off x="8119872" y="4581144"/>
            <a:ext cx="3346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8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principal</a:t>
            </a:r>
            <a:endParaRPr lang="en-US" sz="680" dirty="0"/>
          </a:p>
        </p:txBody>
      </p:sp>
      <p:sp>
        <p:nvSpPr>
          <p:cNvPr id="69" name="Shape 66"/>
          <p:cNvSpPr/>
          <p:nvPr/>
        </p:nvSpPr>
        <p:spPr>
          <a:xfrm>
            <a:off x="8119872" y="4700016"/>
            <a:ext cx="1645920" cy="118872"/>
          </a:xfrm>
          <a:prstGeom prst="roundRect">
            <a:avLst>
              <a:gd name="adj" fmla="val 307692"/>
            </a:avLst>
          </a:prstGeom>
          <a:solidFill>
            <a:srgbClr val="E8F1FB"/>
          </a:solidFill>
          <a:ln/>
        </p:spPr>
      </p:sp>
      <p:sp>
        <p:nvSpPr>
          <p:cNvPr id="70" name="Text 67"/>
          <p:cNvSpPr/>
          <p:nvPr/>
        </p:nvSpPr>
        <p:spPr>
          <a:xfrm>
            <a:off x="8119872" y="4700016"/>
            <a:ext cx="1645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 +  Monitoring Reader</a:t>
            </a:r>
            <a:endParaRPr lang="en-US" sz="650" dirty="0"/>
          </a:p>
        </p:txBody>
      </p:sp>
      <p:sp>
        <p:nvSpPr>
          <p:cNvPr id="71" name="Text 68"/>
          <p:cNvSpPr/>
          <p:nvPr/>
        </p:nvSpPr>
        <p:spPr>
          <a:xfrm>
            <a:off x="8119872" y="4837176"/>
            <a:ext cx="3346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AKS cluster — reads node pools and</a:t>
            </a:r>
            <a:endParaRPr lang="en-US" sz="68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autoscaler logs (Cluster Integration)</a:t>
            </a:r>
            <a:endParaRPr lang="en-US" sz="680" dirty="0"/>
          </a:p>
        </p:txBody>
      </p:sp>
      <p:sp>
        <p:nvSpPr>
          <p:cNvPr id="72" name="Text 69"/>
          <p:cNvSpPr/>
          <p:nvPr/>
        </p:nvSpPr>
        <p:spPr>
          <a:xfrm>
            <a:off x="713232" y="5065776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2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principal needs  Contributor + User Access Administrator  (or the least-privilege custom role)  ·  plus Microsoft Graph  Application.ReadWrite.OwnedBy  with admin consent — a directory-level grant that Azure RBAC does not cover.</a:t>
            </a:r>
            <a:endParaRPr lang="en-US" sz="720" dirty="0"/>
          </a:p>
        </p:txBody>
      </p:sp>
      <p:sp>
        <p:nvSpPr>
          <p:cNvPr id="73" name="Shape 70"/>
          <p:cNvSpPr/>
          <p:nvPr/>
        </p:nvSpPr>
        <p:spPr>
          <a:xfrm>
            <a:off x="365760" y="5614416"/>
            <a:ext cx="5669280" cy="512064"/>
          </a:xfrm>
          <a:prstGeom prst="roundRect">
            <a:avLst>
              <a:gd name="adj" fmla="val 7143"/>
            </a:avLst>
          </a:prstGeom>
          <a:solidFill>
            <a:srgbClr val="F4F6F8"/>
          </a:solidFill>
          <a:ln w="9525">
            <a:solidFill>
              <a:srgbClr val="C3CCD9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475488" y="5650992"/>
            <a:ext cx="5449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EGRESS  (container registries)</a:t>
            </a:r>
            <a:endParaRPr lang="en-US" sz="850" dirty="0"/>
          </a:p>
        </p:txBody>
      </p:sp>
      <p:sp>
        <p:nvSpPr>
          <p:cNvPr id="75" name="Text 72"/>
          <p:cNvSpPr/>
          <p:nvPr/>
        </p:nvSpPr>
        <p:spPr>
          <a:xfrm>
            <a:off x="475488" y="5788152"/>
            <a:ext cx="5449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public.ecr.aws  ·  quay.io  ·  ghcr.io  ·  tfy.jfrog.io  ·  docker.io/natsio  ·  nvcr.io  ·  registry.k8s.io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to pull ArgoCD, NATS, GPU Operator, Argo Rollouts, Argo Workflows, Istio and KEDA images</a:t>
            </a:r>
            <a:endParaRPr lang="en-US" sz="700" dirty="0"/>
          </a:p>
        </p:txBody>
      </p:sp>
      <p:sp>
        <p:nvSpPr>
          <p:cNvPr id="76" name="Shape 73"/>
          <p:cNvSpPr/>
          <p:nvPr/>
        </p:nvSpPr>
        <p:spPr>
          <a:xfrm>
            <a:off x="6153912" y="5614416"/>
            <a:ext cx="5669280" cy="512064"/>
          </a:xfrm>
          <a:prstGeom prst="roundRect">
            <a:avLst>
              <a:gd name="adj" fmla="val 7143"/>
            </a:avLst>
          </a:prstGeom>
          <a:solidFill>
            <a:srgbClr val="F4F6F8"/>
          </a:solidFill>
          <a:ln w="9525">
            <a:solidFill>
              <a:srgbClr val="C3CCD9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6263640" y="5650992"/>
            <a:ext cx="5449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</a:t>
            </a:r>
            <a:endParaRPr lang="en-US" sz="850" dirty="0"/>
          </a:p>
        </p:txBody>
      </p:sp>
      <p:sp>
        <p:nvSpPr>
          <p:cNvPr id="78" name="Text 75"/>
          <p:cNvSpPr/>
          <p:nvPr/>
        </p:nvSpPr>
        <p:spPr>
          <a:xfrm>
            <a:off x="6263640" y="5788152"/>
            <a:ext cx="5449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OpenTofu / Terraform bootstrap script (~40–50 min)  →  state stored in an Azure Storage container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then registers with the control plane via tfy-agent over an outbound-only secure WebSocket</a:t>
            </a:r>
            <a:endParaRPr lang="en-US" sz="700" dirty="0"/>
          </a:p>
        </p:txBody>
      </p:sp>
      <p:sp>
        <p:nvSpPr>
          <p:cNvPr id="79" name="Text 76"/>
          <p:cNvSpPr/>
          <p:nvPr/>
        </p:nvSpPr>
        <p:spPr>
          <a:xfrm>
            <a:off x="365760" y="6309360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TrueFoundry Azure compute-plane installation documentation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Sequence &amp; Prerequisites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420624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order of operations for standing up the TrueFoundry compute plane on Azure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11457432" cy="603504"/>
          </a:xfrm>
          <a:prstGeom prst="roundRect">
            <a:avLst>
              <a:gd name="adj" fmla="val 6061"/>
            </a:avLst>
          </a:prstGeom>
          <a:solidFill>
            <a:srgbClr val="F4F6F8"/>
          </a:solidFill>
          <a:ln w="9525">
            <a:solidFill>
              <a:srgbClr val="C3CC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969264"/>
            <a:ext cx="274320" cy="274320"/>
          </a:xfrm>
          <a:prstGeom prst="ellipse">
            <a:avLst/>
          </a:prstGeom>
          <a:solidFill>
            <a:srgbClr val="0F2A5C"/>
          </a:solidFill>
          <a:ln/>
        </p:spPr>
      </p:sp>
      <p:sp>
        <p:nvSpPr>
          <p:cNvPr id="6" name="Text 4"/>
          <p:cNvSpPr/>
          <p:nvPr/>
        </p:nvSpPr>
        <p:spPr>
          <a:xfrm>
            <a:off x="512064" y="969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9144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subscription prerequisites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115568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on · Microsoft.Storage RP registered · host encryption enabled · CPU / GPU / Spot quota raised for the chosen SKUs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11457432" cy="603504"/>
          </a:xfrm>
          <a:prstGeom prst="roundRect">
            <a:avLst>
              <a:gd name="adj" fmla="val 6061"/>
            </a:avLst>
          </a:prstGeom>
          <a:solidFill>
            <a:srgbClr val="F4F6F8"/>
          </a:solidFill>
          <a:ln w="9525">
            <a:solidFill>
              <a:srgbClr val="C3CC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064" y="1627632"/>
            <a:ext cx="274320" cy="274320"/>
          </a:xfrm>
          <a:prstGeom prst="ellipse">
            <a:avLst/>
          </a:prstGeom>
          <a:solidFill>
            <a:srgbClr val="0F2A5C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" y="1627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15727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deploy permissions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1773936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 + User Access Administrator (or custom role) on the subscription, plus Microsoft Graph Application.ReadWrite.OwnedBy with admin consent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2121408"/>
            <a:ext cx="11457432" cy="603504"/>
          </a:xfrm>
          <a:prstGeom prst="roundRect">
            <a:avLst>
              <a:gd name="adj" fmla="val 6061"/>
            </a:avLst>
          </a:prstGeom>
          <a:solidFill>
            <a:srgbClr val="F4F6F8"/>
          </a:solidFill>
          <a:ln w="9525">
            <a:solidFill>
              <a:srgbClr val="C3CC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" y="2286000"/>
            <a:ext cx="274320" cy="274320"/>
          </a:xfrm>
          <a:prstGeom prst="ellipse">
            <a:avLst/>
          </a:prstGeom>
          <a:solidFill>
            <a:srgbClr val="0F2A5C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223113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the Deployment feature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2432304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→ Settings → Platform Feature Visibility → Enable Deployment, so Clusters can be created from the console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2779776"/>
            <a:ext cx="11457432" cy="603504"/>
          </a:xfrm>
          <a:prstGeom prst="roundRect">
            <a:avLst>
              <a:gd name="adj" fmla="val 6061"/>
            </a:avLst>
          </a:prstGeom>
          <a:solidFill>
            <a:srgbClr val="F4F6F8"/>
          </a:solidFill>
          <a:ln w="9525">
            <a:solidFill>
              <a:srgbClr val="C3CC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2064" y="2944368"/>
            <a:ext cx="274320" cy="274320"/>
          </a:xfrm>
          <a:prstGeom prst="ellipse">
            <a:avLst/>
          </a:prstGeom>
          <a:solidFill>
            <a:srgbClr val="0F2A5C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" y="2944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288950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cluster form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090672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+ AZs, resource group, cluster name, Kubernetes version, node pools, VNet choice, DNS zone, Terraform state storage account, platform-feature toggles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438144"/>
            <a:ext cx="11457432" cy="603504"/>
          </a:xfrm>
          <a:prstGeom prst="roundRect">
            <a:avLst>
              <a:gd name="adj" fmla="val 6061"/>
            </a:avLst>
          </a:prstGeom>
          <a:solidFill>
            <a:srgbClr val="F4F6F8"/>
          </a:solidFill>
          <a:ln w="9525">
            <a:solidFill>
              <a:srgbClr val="C3CC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" y="3602736"/>
            <a:ext cx="274320" cy="274320"/>
          </a:xfrm>
          <a:prstGeom prst="ellipse">
            <a:avLst/>
          </a:prstGeom>
          <a:solidFill>
            <a:srgbClr val="0F2A5C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" y="3602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354787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bootstrap script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3749040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generated curl command and run it locally — installs prerequisites, downloads the OpenTofu/Terraform code and applies it (~40–50 minutes)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1457432" cy="603504"/>
          </a:xfrm>
          <a:prstGeom prst="roundRect">
            <a:avLst>
              <a:gd name="adj" fmla="val 6061"/>
            </a:avLst>
          </a:prstGeom>
          <a:solidFill>
            <a:srgbClr val="F4F6F8"/>
          </a:solidFill>
          <a:ln w="9525">
            <a:solidFill>
              <a:srgbClr val="C3CCD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2064" y="4261104"/>
            <a:ext cx="274320" cy="274320"/>
          </a:xfrm>
          <a:prstGeom prst="ellipse">
            <a:avLst/>
          </a:prstGeom>
          <a:solidFill>
            <a:srgbClr val="0F2A5C"/>
          </a:solidFill>
          <a:ln/>
        </p:spPr>
      </p:sp>
      <p:sp>
        <p:nvSpPr>
          <p:cNvPr id="31" name="Text 29"/>
          <p:cNvSpPr/>
          <p:nvPr/>
        </p:nvSpPr>
        <p:spPr>
          <a:xfrm>
            <a:off x="512064" y="4261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4400" y="42062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cluster registration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14400" y="4407408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tfy-agent opens an outbound secure WebSocket to the control plane; the cluster shows as Connected in the platform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4754880"/>
            <a:ext cx="11457432" cy="603504"/>
          </a:xfrm>
          <a:prstGeom prst="roundRect">
            <a:avLst>
              <a:gd name="adj" fmla="val 6061"/>
            </a:avLst>
          </a:prstGeom>
          <a:solidFill>
            <a:srgbClr val="F4F6F8"/>
          </a:solidFill>
          <a:ln w="9525">
            <a:solidFill>
              <a:srgbClr val="C3CCD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2064" y="4919472"/>
            <a:ext cx="274320" cy="274320"/>
          </a:xfrm>
          <a:prstGeom prst="ellipse">
            <a:avLst/>
          </a:prstGeom>
          <a:solidFill>
            <a:srgbClr val="0F2A5C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" y="4919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14400" y="486460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DNS record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14400" y="5065776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  *.tfy.example.com → load-balancer IP shown under the cluster's Base Domain URL; cert-manager then issues the wildcard certificate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65760" y="5413248"/>
            <a:ext cx="11457432" cy="603504"/>
          </a:xfrm>
          <a:prstGeom prst="roundRect">
            <a:avLst>
              <a:gd name="adj" fmla="val 6061"/>
            </a:avLst>
          </a:prstGeom>
          <a:solidFill>
            <a:srgbClr val="F4F6F8"/>
          </a:solidFill>
          <a:ln w="9525">
            <a:solidFill>
              <a:srgbClr val="C3CCD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2064" y="5577840"/>
            <a:ext cx="274320" cy="274320"/>
          </a:xfrm>
          <a:prstGeom prst="ellipse">
            <a:avLst/>
          </a:prstGeom>
          <a:solidFill>
            <a:srgbClr val="0F2A5C"/>
          </a:solidFill>
          <a:ln/>
        </p:spPr>
      </p:sp>
      <p:sp>
        <p:nvSpPr>
          <p:cNvPr id="41" name="Text 39"/>
          <p:cNvSpPr/>
          <p:nvPr/>
        </p:nvSpPr>
        <p:spPr>
          <a:xfrm>
            <a:off x="512064" y="5577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14400" y="552297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first workload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14400" y="5724144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pools scale from zero on demand; images are pulled from ACR and applications are rolled out by ArgoCD into the tfy-apps project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65760" y="6144768"/>
            <a:ext cx="11457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TrueFoundry Azure compute-plane installation documentation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Effort Estimate — Delivery Model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420624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onsite / offshore delivery for the Azure core infrastructure and TrueFoundry platform build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2743200" cy="1078992"/>
          </a:xfrm>
          <a:prstGeom prst="roundRect">
            <a:avLst>
              <a:gd name="adj" fmla="val 4237"/>
            </a:avLst>
          </a:prstGeom>
          <a:solidFill>
            <a:srgbClr val="0F2A5C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4124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131673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person-days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9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estimated effort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73552" y="749808"/>
            <a:ext cx="2743200" cy="1078992"/>
          </a:xfrm>
          <a:prstGeom prst="roundRect">
            <a:avLst>
              <a:gd name="adj" fmla="val 4237"/>
            </a:avLst>
          </a:prstGeom>
          <a:solidFill>
            <a:srgbClr val="F4F6F8"/>
          </a:solidFill>
          <a:ln w="9525">
            <a:solidFill>
              <a:srgbClr val="C3CC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73552" y="84124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285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273552" y="131673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person-days onsite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73552" y="148132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of total effort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181344" y="749808"/>
            <a:ext cx="2743200" cy="1078992"/>
          </a:xfrm>
          <a:prstGeom prst="roundRect">
            <a:avLst>
              <a:gd name="adj" fmla="val 4237"/>
            </a:avLst>
          </a:prstGeom>
          <a:solidFill>
            <a:srgbClr val="F4F6F8"/>
          </a:solidFill>
          <a:ln w="9525">
            <a:solidFill>
              <a:srgbClr val="C3CC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81344" y="84124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285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181344" y="131673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person-days offshore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81344" y="148132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of total effort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089136" y="749808"/>
            <a:ext cx="2743200" cy="1078992"/>
          </a:xfrm>
          <a:prstGeom prst="roundRect">
            <a:avLst>
              <a:gd name="adj" fmla="val 4237"/>
            </a:avLst>
          </a:prstGeom>
          <a:solidFill>
            <a:srgbClr val="F4F6F8"/>
          </a:solidFill>
          <a:ln w="9525">
            <a:solidFill>
              <a:srgbClr val="C3CC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89136" y="84124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089136" y="131673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elapsed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089136" y="148132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~9.5 FTE average team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5760" y="19933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ONSITE / OFFSHORE SPLIT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194560"/>
            <a:ext cx="5724144" cy="402336"/>
          </a:xfrm>
          <a:prstGeom prst="roundRect">
            <a:avLst>
              <a:gd name="adj" fmla="val 6818"/>
            </a:avLst>
          </a:prstGeom>
          <a:solidFill>
            <a:srgbClr val="0F2A5C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194560"/>
            <a:ext cx="5724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ONSITE   285 PD   ·   50%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99048" y="2194560"/>
            <a:ext cx="5724144" cy="402336"/>
          </a:xfrm>
          <a:prstGeom prst="roundRect">
            <a:avLst>
              <a:gd name="adj" fmla="val 6818"/>
            </a:avLst>
          </a:prstGeom>
          <a:solidFill>
            <a:srgbClr val="F2B134"/>
          </a:solidFill>
          <a:ln/>
        </p:spPr>
      </p:sp>
      <p:sp>
        <p:nvSpPr>
          <p:cNvPr id="24" name="Text 22"/>
          <p:cNvSpPr/>
          <p:nvPr/>
        </p:nvSpPr>
        <p:spPr>
          <a:xfrm>
            <a:off x="6099048" y="2194560"/>
            <a:ext cx="5724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4A3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  285 PD   ·   50%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274320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ONSITE TEAM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2944368"/>
            <a:ext cx="5724144" cy="384048"/>
          </a:xfrm>
          <a:prstGeom prst="roundRect">
            <a:avLst>
              <a:gd name="adj" fmla="val 9524"/>
            </a:avLst>
          </a:prstGeom>
          <a:solidFill>
            <a:srgbClr val="F4F6F8"/>
          </a:solidFill>
          <a:ln w="9525">
            <a:solidFill>
              <a:srgbClr val="C3CC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2980944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5488" y="3127248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end-to-end design and design authority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285232" y="3044952"/>
            <a:ext cx="694944" cy="182880"/>
          </a:xfrm>
          <a:prstGeom prst="roundRect">
            <a:avLst>
              <a:gd name="adj" fmla="val 200000"/>
            </a:avLst>
          </a:prstGeom>
          <a:solidFill>
            <a:srgbClr val="E8F1FB"/>
          </a:solidFill>
          <a:ln/>
        </p:spPr>
      </p:sp>
      <p:sp>
        <p:nvSpPr>
          <p:cNvPr id="30" name="Text 28"/>
          <p:cNvSpPr/>
          <p:nvPr/>
        </p:nvSpPr>
        <p:spPr>
          <a:xfrm>
            <a:off x="5285232" y="304495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PD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3374136"/>
            <a:ext cx="5724144" cy="384048"/>
          </a:xfrm>
          <a:prstGeom prst="roundRect">
            <a:avLst>
              <a:gd name="adj" fmla="val 9524"/>
            </a:avLst>
          </a:prstGeom>
          <a:solidFill>
            <a:srgbClr val="F4F6F8"/>
          </a:solidFill>
          <a:ln w="9525">
            <a:solidFill>
              <a:srgbClr val="C3CC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341071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Infrastructure Lead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5488" y="3557016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zone, networking, IaC ownership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285232" y="3474720"/>
            <a:ext cx="694944" cy="182880"/>
          </a:xfrm>
          <a:prstGeom prst="roundRect">
            <a:avLst>
              <a:gd name="adj" fmla="val 200000"/>
            </a:avLst>
          </a:prstGeom>
          <a:solidFill>
            <a:srgbClr val="E8F1FB"/>
          </a:solidFill>
          <a:ln/>
        </p:spPr>
      </p:sp>
      <p:sp>
        <p:nvSpPr>
          <p:cNvPr id="35" name="Text 33"/>
          <p:cNvSpPr/>
          <p:nvPr/>
        </p:nvSpPr>
        <p:spPr>
          <a:xfrm>
            <a:off x="5285232" y="347472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PD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3803904"/>
            <a:ext cx="5724144" cy="384048"/>
          </a:xfrm>
          <a:prstGeom prst="roundRect">
            <a:avLst>
              <a:gd name="adj" fmla="val 9524"/>
            </a:avLst>
          </a:prstGeom>
          <a:solidFill>
            <a:srgbClr val="F4F6F8"/>
          </a:solidFill>
          <a:ln w="9525">
            <a:solidFill>
              <a:srgbClr val="C3CC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" y="384048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Platform Lead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75488" y="3986784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TrueFoundry, gateway, MCP and model serving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285232" y="3904488"/>
            <a:ext cx="694944" cy="182880"/>
          </a:xfrm>
          <a:prstGeom prst="roundRect">
            <a:avLst>
              <a:gd name="adj" fmla="val 200000"/>
            </a:avLst>
          </a:prstGeom>
          <a:solidFill>
            <a:srgbClr val="E8F1FB"/>
          </a:solidFill>
          <a:ln/>
        </p:spPr>
      </p:sp>
      <p:sp>
        <p:nvSpPr>
          <p:cNvPr id="40" name="Text 38"/>
          <p:cNvSpPr/>
          <p:nvPr/>
        </p:nvSpPr>
        <p:spPr>
          <a:xfrm>
            <a:off x="5285232" y="3904488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PD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5760" y="4233672"/>
            <a:ext cx="5724144" cy="384048"/>
          </a:xfrm>
          <a:prstGeom prst="roundRect">
            <a:avLst>
              <a:gd name="adj" fmla="val 9524"/>
            </a:avLst>
          </a:prstGeom>
          <a:solidFill>
            <a:srgbClr val="F4F6F8"/>
          </a:solidFill>
          <a:ln w="9525">
            <a:solidFill>
              <a:srgbClr val="C3CC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" y="427024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75488" y="4416552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governance, stakeholder management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285232" y="4334256"/>
            <a:ext cx="694944" cy="182880"/>
          </a:xfrm>
          <a:prstGeom prst="roundRect">
            <a:avLst>
              <a:gd name="adj" fmla="val 200000"/>
            </a:avLst>
          </a:prstGeom>
          <a:solidFill>
            <a:srgbClr val="E8F1FB"/>
          </a:solidFill>
          <a:ln/>
        </p:spPr>
      </p:sp>
      <p:sp>
        <p:nvSpPr>
          <p:cNvPr id="45" name="Text 43"/>
          <p:cNvSpPr/>
          <p:nvPr/>
        </p:nvSpPr>
        <p:spPr>
          <a:xfrm>
            <a:off x="5285232" y="4334256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PD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5760" y="4663440"/>
            <a:ext cx="5724144" cy="384048"/>
          </a:xfrm>
          <a:prstGeom prst="roundRect">
            <a:avLst>
              <a:gd name="adj" fmla="val 9524"/>
            </a:avLst>
          </a:prstGeom>
          <a:solidFill>
            <a:srgbClr val="F4F6F8"/>
          </a:solidFill>
          <a:ln w="9525">
            <a:solidFill>
              <a:srgbClr val="C3CCD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" y="470001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Identity Consultant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75488" y="4846320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ID, RBAC, CMK, compliance sign-off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285232" y="4764024"/>
            <a:ext cx="694944" cy="182880"/>
          </a:xfrm>
          <a:prstGeom prst="roundRect">
            <a:avLst>
              <a:gd name="adj" fmla="val 200000"/>
            </a:avLst>
          </a:prstGeom>
          <a:solidFill>
            <a:srgbClr val="E8F1FB"/>
          </a:solidFill>
          <a:ln/>
        </p:spPr>
      </p:sp>
      <p:sp>
        <p:nvSpPr>
          <p:cNvPr id="50" name="Text 48"/>
          <p:cNvSpPr/>
          <p:nvPr/>
        </p:nvSpPr>
        <p:spPr>
          <a:xfrm>
            <a:off x="5285232" y="476402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PD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65760" y="5093208"/>
            <a:ext cx="5724144" cy="384048"/>
          </a:xfrm>
          <a:prstGeom prst="roundRect">
            <a:avLst>
              <a:gd name="adj" fmla="val 9524"/>
            </a:avLst>
          </a:prstGeom>
          <a:solidFill>
            <a:srgbClr val="F4F6F8"/>
          </a:solidFill>
          <a:ln w="9525">
            <a:solidFill>
              <a:srgbClr val="C3CCD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5488" y="5129784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/ Integration Analyst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75488" y="5276088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JDE &amp; SAP integration requirements, UAT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285232" y="5193792"/>
            <a:ext cx="694944" cy="182880"/>
          </a:xfrm>
          <a:prstGeom prst="roundRect">
            <a:avLst>
              <a:gd name="adj" fmla="val 200000"/>
            </a:avLst>
          </a:prstGeom>
          <a:solidFill>
            <a:srgbClr val="E8F1FB"/>
          </a:solidFill>
          <a:ln/>
        </p:spPr>
      </p:sp>
      <p:sp>
        <p:nvSpPr>
          <p:cNvPr id="55" name="Text 53"/>
          <p:cNvSpPr/>
          <p:nvPr/>
        </p:nvSpPr>
        <p:spPr>
          <a:xfrm>
            <a:off x="5285232" y="519379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PD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099048" y="274320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TEAM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099048" y="2944368"/>
            <a:ext cx="5724144" cy="384048"/>
          </a:xfrm>
          <a:prstGeom prst="roundRect">
            <a:avLst>
              <a:gd name="adj" fmla="val 9524"/>
            </a:avLst>
          </a:prstGeom>
          <a:solidFill>
            <a:srgbClr val="F4F6F8"/>
          </a:solidFill>
          <a:ln w="9525">
            <a:solidFill>
              <a:srgbClr val="C3CCD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08776" y="2980944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/ IaC Engineers  (2)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208776" y="3127248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OpenTofu modules, Azure resource build-out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11018520" y="3044952"/>
            <a:ext cx="694944" cy="182880"/>
          </a:xfrm>
          <a:prstGeom prst="roundRect">
            <a:avLst>
              <a:gd name="adj" fmla="val 200000"/>
            </a:avLst>
          </a:prstGeom>
          <a:solidFill>
            <a:srgbClr val="FDF0D5"/>
          </a:solidFill>
          <a:ln/>
        </p:spPr>
      </p:sp>
      <p:sp>
        <p:nvSpPr>
          <p:cNvPr id="61" name="Text 59"/>
          <p:cNvSpPr/>
          <p:nvPr/>
        </p:nvSpPr>
        <p:spPr>
          <a:xfrm>
            <a:off x="11018520" y="304495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PD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099048" y="3374136"/>
            <a:ext cx="5724144" cy="384048"/>
          </a:xfrm>
          <a:prstGeom prst="roundRect">
            <a:avLst>
              <a:gd name="adj" fmla="val 9524"/>
            </a:avLst>
          </a:prstGeom>
          <a:solidFill>
            <a:srgbClr val="F4F6F8"/>
          </a:solidFill>
          <a:ln w="9525">
            <a:solidFill>
              <a:srgbClr val="C3CCD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08776" y="341071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/ DevOps Engineers  (2)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6208776" y="3557016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AKS, ArgoCD, Istio, add-ons, pipelines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11018520" y="3474720"/>
            <a:ext cx="694944" cy="182880"/>
          </a:xfrm>
          <a:prstGeom prst="roundRect">
            <a:avLst>
              <a:gd name="adj" fmla="val 200000"/>
            </a:avLst>
          </a:prstGeom>
          <a:solidFill>
            <a:srgbClr val="FDF0D5"/>
          </a:solidFill>
          <a:ln/>
        </p:spPr>
      </p:sp>
      <p:sp>
        <p:nvSpPr>
          <p:cNvPr id="66" name="Text 64"/>
          <p:cNvSpPr/>
          <p:nvPr/>
        </p:nvSpPr>
        <p:spPr>
          <a:xfrm>
            <a:off x="11018520" y="347472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PD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099048" y="3803904"/>
            <a:ext cx="5724144" cy="384048"/>
          </a:xfrm>
          <a:prstGeom prst="roundRect">
            <a:avLst>
              <a:gd name="adj" fmla="val 9524"/>
            </a:avLst>
          </a:prstGeom>
          <a:solidFill>
            <a:srgbClr val="F4F6F8"/>
          </a:solidFill>
          <a:ln w="9525">
            <a:solidFill>
              <a:srgbClr val="C3CCD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208776" y="384048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Engineers  (2)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208776" y="3986784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config, MCP servers, model serving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11018520" y="3904488"/>
            <a:ext cx="694944" cy="182880"/>
          </a:xfrm>
          <a:prstGeom prst="roundRect">
            <a:avLst>
              <a:gd name="adj" fmla="val 200000"/>
            </a:avLst>
          </a:prstGeom>
          <a:solidFill>
            <a:srgbClr val="FDF0D5"/>
          </a:solidFill>
          <a:ln/>
        </p:spPr>
      </p:sp>
      <p:sp>
        <p:nvSpPr>
          <p:cNvPr id="71" name="Text 69"/>
          <p:cNvSpPr/>
          <p:nvPr/>
        </p:nvSpPr>
        <p:spPr>
          <a:xfrm>
            <a:off x="11018520" y="3904488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PD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099048" y="4233672"/>
            <a:ext cx="5724144" cy="384048"/>
          </a:xfrm>
          <a:prstGeom prst="roundRect">
            <a:avLst>
              <a:gd name="adj" fmla="val 9524"/>
            </a:avLst>
          </a:prstGeom>
          <a:solidFill>
            <a:srgbClr val="F4F6F8"/>
          </a:solidFill>
          <a:ln w="9525">
            <a:solidFill>
              <a:srgbClr val="C3CCD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208776" y="427024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6208776" y="4416552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ingestion, embeddings, vector &amp; feature store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11018520" y="4334256"/>
            <a:ext cx="694944" cy="182880"/>
          </a:xfrm>
          <a:prstGeom prst="roundRect">
            <a:avLst>
              <a:gd name="adj" fmla="val 200000"/>
            </a:avLst>
          </a:prstGeom>
          <a:solidFill>
            <a:srgbClr val="FDF0D5"/>
          </a:solidFill>
          <a:ln/>
        </p:spPr>
      </p:sp>
      <p:sp>
        <p:nvSpPr>
          <p:cNvPr id="76" name="Text 74"/>
          <p:cNvSpPr/>
          <p:nvPr/>
        </p:nvSpPr>
        <p:spPr>
          <a:xfrm>
            <a:off x="11018520" y="4334256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PD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6099048" y="4663440"/>
            <a:ext cx="5724144" cy="384048"/>
          </a:xfrm>
          <a:prstGeom prst="roundRect">
            <a:avLst>
              <a:gd name="adj" fmla="val 9524"/>
            </a:avLst>
          </a:prstGeom>
          <a:solidFill>
            <a:srgbClr val="F4F6F8"/>
          </a:solidFill>
          <a:ln w="9525">
            <a:solidFill>
              <a:srgbClr val="C3CCD9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208776" y="470001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6208776" y="4846320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SIT, regression, performance test execution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11018520" y="4764024"/>
            <a:ext cx="694944" cy="182880"/>
          </a:xfrm>
          <a:prstGeom prst="roundRect">
            <a:avLst>
              <a:gd name="adj" fmla="val 200000"/>
            </a:avLst>
          </a:prstGeom>
          <a:solidFill>
            <a:srgbClr val="FDF0D5"/>
          </a:solidFill>
          <a:ln/>
        </p:spPr>
      </p:sp>
      <p:sp>
        <p:nvSpPr>
          <p:cNvPr id="81" name="Text 79"/>
          <p:cNvSpPr/>
          <p:nvPr/>
        </p:nvSpPr>
        <p:spPr>
          <a:xfrm>
            <a:off x="11018520" y="476402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PD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099048" y="5093208"/>
            <a:ext cx="5724144" cy="384048"/>
          </a:xfrm>
          <a:prstGeom prst="roundRect">
            <a:avLst>
              <a:gd name="adj" fmla="val 9524"/>
            </a:avLst>
          </a:prstGeom>
          <a:solidFill>
            <a:srgbClr val="FFF3D6"/>
          </a:solidFill>
          <a:ln w="9525">
            <a:solidFill>
              <a:srgbClr val="F2B13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208776" y="5129784"/>
            <a:ext cx="5504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are planning-level and assume a TrueFoundry-hosted control plane. A self-hosted control</a:t>
            </a:r>
            <a:endParaRPr lang="en-US" sz="78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 adds approximately 40–60 person-days. Add 10–15% contingency for a fixed-price commitment.</a:t>
            </a:r>
            <a:endParaRPr lang="en-US" sz="780" dirty="0"/>
          </a:p>
        </p:txBody>
      </p:sp>
      <p:sp>
        <p:nvSpPr>
          <p:cNvPr id="84" name="Text 82"/>
          <p:cNvSpPr/>
          <p:nvPr/>
        </p:nvSpPr>
        <p:spPr>
          <a:xfrm>
            <a:off x="365760" y="5632704"/>
            <a:ext cx="11457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expressed in person-days (1 PD = 8 hours). Excludes Azure consumption, TrueFoundry licence and third-party model costs.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Estimate by Workstream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420624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Person-day estimates split across onsite and offshore delivery</a:t>
            </a:r>
            <a:endParaRPr lang="en-US" sz="9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1145743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731520"/>
                <a:gridCol w="822960"/>
                <a:gridCol w="731520"/>
                <a:gridCol w="6428232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Workstream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Offshore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deliverables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F2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Discovery, Architecture &amp; Design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 blueprint, network &amp; security design, sizing, HLD/LLD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F2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Landing Zone &amp; Core Infra (IaC)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RG, VNet/subnets, NAT GW, NSG, Public IP/LB, DNS, Storage, ACR, Log Analytics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F2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Identity, Security &amp; Access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 ID identities, RBAC roles, Graph consent, Key Vault CMK, Private Link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F2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AKS Provisioning &amp; Node Pool Engineering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AKS cluster, system/CPU/GPU/spot pools, taints, autoscaler, quotas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F2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TrueFoundry Platform Install &amp; Add-ons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tfy-agent, ArgoCD, Istio, Prometheus, KEDA, Argo WF/Rollouts, tfy-logs, GPU Operator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F2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Gateway Configuration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 onboarding, rate limits, budgets, PII guardrails, routing &amp; failover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F2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Server Provisioning  (6 servers)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JDE, SAP and internal API MCP servers, OAuth 2.0, tool registry, RBAC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F2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&amp; Vector Platform (RAG)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Ingestion pipelines, embedding service, vector store, feature store &amp; lineage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F2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Deployment &amp; Optimisation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vLLM / Triton serving, sidecars, autoscaling, benchmarking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F2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Observability, FinOps &amp; Monitoring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Monitor/Sentinel wiring, OTel traces, dashboards, cost attribution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F2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 — SIT / UAT / Performance / Security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strategy, execution, defect triage, load &amp; penetration test support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F2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Cutover, Hypercare &amp; Enablement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Go-live, runbooks, 4-week hypercare, admin &amp; developer training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F2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 Management &amp; Governance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B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Plan, RAID, status reporting, stakeholder &amp; vendor governance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F2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F2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F2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F2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F2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 onsite  ·  50% offshore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6071616"/>
            <a:ext cx="11457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Person-days include design, build, test and documentation for each workstream. Programme management is shown separately and is not loaded into the other lines.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Schedule, Assumptions &amp; Exclusions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420624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12-week programme — phases overlap to compress the critical path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474720" y="74980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474720" y="932688"/>
            <a:ext cx="685800" cy="2286000"/>
          </a:xfrm>
          <a:prstGeom prst="roundRect">
            <a:avLst/>
          </a:prstGeom>
          <a:solidFill>
            <a:srgbClr val="FAFBFC"/>
          </a:solidFill>
          <a:ln w="6350">
            <a:solidFill>
              <a:srgbClr val="E6EA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60520" y="74980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160520" y="932688"/>
            <a:ext cx="685800" cy="228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EA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74980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846320" y="932688"/>
            <a:ext cx="685800" cy="2286000"/>
          </a:xfrm>
          <a:prstGeom prst="roundRect">
            <a:avLst/>
          </a:prstGeom>
          <a:solidFill>
            <a:srgbClr val="FAFBFC"/>
          </a:solidFill>
          <a:ln w="6350">
            <a:solidFill>
              <a:srgbClr val="E6EA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32120" y="74980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532120" y="932688"/>
            <a:ext cx="685800" cy="228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EA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74980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217920" y="932688"/>
            <a:ext cx="685800" cy="2286000"/>
          </a:xfrm>
          <a:prstGeom prst="roundRect">
            <a:avLst/>
          </a:prstGeom>
          <a:solidFill>
            <a:srgbClr val="FAFBFC"/>
          </a:solidFill>
          <a:ln w="6350">
            <a:solidFill>
              <a:srgbClr val="E6EA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74980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903720" y="932688"/>
            <a:ext cx="685800" cy="228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EA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0" y="74980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589520" y="932688"/>
            <a:ext cx="685800" cy="2286000"/>
          </a:xfrm>
          <a:prstGeom prst="roundRect">
            <a:avLst/>
          </a:prstGeom>
          <a:solidFill>
            <a:srgbClr val="FAFBFC"/>
          </a:solidFill>
          <a:ln w="6350">
            <a:solidFill>
              <a:srgbClr val="E6EA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5320" y="74980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275320" y="932688"/>
            <a:ext cx="685800" cy="228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EA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0" y="74980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961120" y="932688"/>
            <a:ext cx="685800" cy="2286000"/>
          </a:xfrm>
          <a:prstGeom prst="roundRect">
            <a:avLst/>
          </a:prstGeom>
          <a:solidFill>
            <a:srgbClr val="FAFBFC"/>
          </a:solidFill>
          <a:ln w="6350">
            <a:solidFill>
              <a:srgbClr val="E6EA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46920" y="74980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9646920" y="932688"/>
            <a:ext cx="685800" cy="228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EA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32720" y="74980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0332720" y="932688"/>
            <a:ext cx="685800" cy="2286000"/>
          </a:xfrm>
          <a:prstGeom prst="roundRect">
            <a:avLst/>
          </a:prstGeom>
          <a:solidFill>
            <a:srgbClr val="FAFBFC"/>
          </a:solidFill>
          <a:ln w="6350">
            <a:solidFill>
              <a:srgbClr val="E6EA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018520" y="74980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1018520" y="932688"/>
            <a:ext cx="685800" cy="228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EA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10058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Discovery, Architecture &amp; Design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3502152" y="1060704"/>
            <a:ext cx="1316736" cy="219456"/>
          </a:xfrm>
          <a:prstGeom prst="roundRect">
            <a:avLst>
              <a:gd name="adj" fmla="val 50000"/>
            </a:avLst>
          </a:prstGeom>
          <a:solidFill>
            <a:srgbClr val="0F2A5C"/>
          </a:solidFill>
          <a:ln/>
        </p:spPr>
      </p:sp>
      <p:sp>
        <p:nvSpPr>
          <p:cNvPr id="31" name="Text 29"/>
          <p:cNvSpPr/>
          <p:nvPr/>
        </p:nvSpPr>
        <p:spPr>
          <a:xfrm>
            <a:off x="3502152" y="1060704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W1–W2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65760" y="137160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Core Infra, Identity &amp; IaC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4187952" y="1426464"/>
            <a:ext cx="2688336" cy="219456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/>
        </p:spPr>
      </p:sp>
      <p:sp>
        <p:nvSpPr>
          <p:cNvPr id="34" name="Text 32"/>
          <p:cNvSpPr/>
          <p:nvPr/>
        </p:nvSpPr>
        <p:spPr>
          <a:xfrm>
            <a:off x="4187952" y="1426464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W2–W5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65760" y="173736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 Build &amp; TrueFoundry Platform Install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5559552" y="1792224"/>
            <a:ext cx="2688336" cy="219456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/>
        </p:spPr>
      </p:sp>
      <p:sp>
        <p:nvSpPr>
          <p:cNvPr id="37" name="Text 35"/>
          <p:cNvSpPr/>
          <p:nvPr/>
        </p:nvSpPr>
        <p:spPr>
          <a:xfrm>
            <a:off x="5559552" y="1792224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W4–W7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65760" y="21031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Gateway, MCP Servers &amp; Data Platform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6931152" y="2157984"/>
            <a:ext cx="3374136" cy="219456"/>
          </a:xfrm>
          <a:prstGeom prst="roundRect">
            <a:avLst>
              <a:gd name="adj" fmla="val 50000"/>
            </a:avLst>
          </a:prstGeom>
          <a:solidFill>
            <a:srgbClr val="4C9BE0"/>
          </a:solidFill>
          <a:ln/>
        </p:spPr>
      </p:sp>
      <p:sp>
        <p:nvSpPr>
          <p:cNvPr id="40" name="Text 38"/>
          <p:cNvSpPr/>
          <p:nvPr/>
        </p:nvSpPr>
        <p:spPr>
          <a:xfrm>
            <a:off x="6931152" y="2157984"/>
            <a:ext cx="3374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W6–W10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65760" y="24688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Deployment &amp; Testing (SIT/UAT/Perf)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8988552" y="2523744"/>
            <a:ext cx="2002536" cy="219456"/>
          </a:xfrm>
          <a:prstGeom prst="roundRect">
            <a:avLst>
              <a:gd name="adj" fmla="val 50000"/>
            </a:avLst>
          </a:prstGeom>
          <a:solidFill>
            <a:srgbClr val="4C9BE0"/>
          </a:solidFill>
          <a:ln/>
        </p:spPr>
      </p:sp>
      <p:sp>
        <p:nvSpPr>
          <p:cNvPr id="43" name="Text 41"/>
          <p:cNvSpPr/>
          <p:nvPr/>
        </p:nvSpPr>
        <p:spPr>
          <a:xfrm>
            <a:off x="8988552" y="2523744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W9–W11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365760" y="28346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Cutover, Hypercare &amp; Enablement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10360152" y="2889504"/>
            <a:ext cx="1316736" cy="219456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</p:sp>
      <p:sp>
        <p:nvSpPr>
          <p:cNvPr id="46" name="Text 44"/>
          <p:cNvSpPr/>
          <p:nvPr/>
        </p:nvSpPr>
        <p:spPr>
          <a:xfrm>
            <a:off x="10360152" y="2889504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4A3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W11–W12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65760" y="3401568"/>
            <a:ext cx="5724144" cy="2286000"/>
          </a:xfrm>
          <a:prstGeom prst="roundRect">
            <a:avLst>
              <a:gd name="adj" fmla="val 1600"/>
            </a:avLst>
          </a:prstGeom>
          <a:solidFill>
            <a:srgbClr val="F4F6F8"/>
          </a:solidFill>
          <a:ln w="9525">
            <a:solidFill>
              <a:srgbClr val="C3CCD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2064" y="3474720"/>
            <a:ext cx="5431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30352" y="3776472"/>
            <a:ext cx="64008" cy="64008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50" name="Text 48"/>
          <p:cNvSpPr/>
          <p:nvPr/>
        </p:nvSpPr>
        <p:spPr>
          <a:xfrm>
            <a:off x="676656" y="37307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2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Azure subscription, one region, two environments (non-prod and production).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530352" y="4014216"/>
            <a:ext cx="64008" cy="64008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52" name="Text 50"/>
          <p:cNvSpPr/>
          <p:nvPr/>
        </p:nvSpPr>
        <p:spPr>
          <a:xfrm>
            <a:off x="676656" y="396849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2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TrueFoundry control plane consumed as SaaS; only the compute plane is built in-tenant.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530352" y="4251960"/>
            <a:ext cx="64008" cy="64008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54" name="Text 52"/>
          <p:cNvSpPr/>
          <p:nvPr/>
        </p:nvSpPr>
        <p:spPr>
          <a:xfrm>
            <a:off x="676656" y="4206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2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Azure landing zone with connectivity and policy baseline already exists.</a:t>
            </a:r>
            <a:endParaRPr lang="en-US" sz="820" dirty="0"/>
          </a:p>
        </p:txBody>
      </p:sp>
      <p:sp>
        <p:nvSpPr>
          <p:cNvPr id="55" name="Shape 53"/>
          <p:cNvSpPr/>
          <p:nvPr/>
        </p:nvSpPr>
        <p:spPr>
          <a:xfrm>
            <a:off x="530352" y="4489704"/>
            <a:ext cx="64008" cy="64008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56" name="Text 54"/>
          <p:cNvSpPr/>
          <p:nvPr/>
        </p:nvSpPr>
        <p:spPr>
          <a:xfrm>
            <a:off x="676656" y="444398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2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capacity and GPU/Spot quota approved before build starts.</a:t>
            </a:r>
            <a:endParaRPr lang="en-US" sz="820" dirty="0"/>
          </a:p>
        </p:txBody>
      </p:sp>
      <p:sp>
        <p:nvSpPr>
          <p:cNvPr id="57" name="Shape 55"/>
          <p:cNvSpPr/>
          <p:nvPr/>
        </p:nvSpPr>
        <p:spPr>
          <a:xfrm>
            <a:off x="530352" y="4727448"/>
            <a:ext cx="64008" cy="64008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58" name="Text 56"/>
          <p:cNvSpPr/>
          <p:nvPr/>
        </p:nvSpPr>
        <p:spPr>
          <a:xfrm>
            <a:off x="676656" y="4681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2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MCP servers in scope (JDE, SAP and internal APIs) plus two reference agents.</a:t>
            </a:r>
            <a:endParaRPr lang="en-US" sz="820" dirty="0"/>
          </a:p>
        </p:txBody>
      </p:sp>
      <p:sp>
        <p:nvSpPr>
          <p:cNvPr id="59" name="Shape 57"/>
          <p:cNvSpPr/>
          <p:nvPr/>
        </p:nvSpPr>
        <p:spPr>
          <a:xfrm>
            <a:off x="530352" y="4965192"/>
            <a:ext cx="64008" cy="64008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60" name="Text 58"/>
          <p:cNvSpPr/>
          <p:nvPr/>
        </p:nvSpPr>
        <p:spPr>
          <a:xfrm>
            <a:off x="676656" y="491947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2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provides timely access to source systems, networking and security approvals.</a:t>
            </a:r>
            <a:endParaRPr lang="en-US" sz="820" dirty="0"/>
          </a:p>
        </p:txBody>
      </p:sp>
      <p:sp>
        <p:nvSpPr>
          <p:cNvPr id="61" name="Shape 59"/>
          <p:cNvSpPr/>
          <p:nvPr/>
        </p:nvSpPr>
        <p:spPr>
          <a:xfrm>
            <a:off x="530352" y="5202936"/>
            <a:ext cx="64008" cy="64008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62" name="Text 60"/>
          <p:cNvSpPr/>
          <p:nvPr/>
        </p:nvSpPr>
        <p:spPr>
          <a:xfrm>
            <a:off x="676656" y="515721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2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business hours; onsite resources co-located with the customer team.</a:t>
            </a:r>
            <a:endParaRPr lang="en-US" sz="820" dirty="0"/>
          </a:p>
        </p:txBody>
      </p:sp>
      <p:sp>
        <p:nvSpPr>
          <p:cNvPr id="63" name="Shape 61"/>
          <p:cNvSpPr/>
          <p:nvPr/>
        </p:nvSpPr>
        <p:spPr>
          <a:xfrm>
            <a:off x="530352" y="5440680"/>
            <a:ext cx="64008" cy="64008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64" name="Text 62"/>
          <p:cNvSpPr/>
          <p:nvPr/>
        </p:nvSpPr>
        <p:spPr>
          <a:xfrm>
            <a:off x="676656" y="539496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2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person-day = 8 hours; 5-day working week.</a:t>
            </a:r>
            <a:endParaRPr lang="en-US" sz="820" dirty="0"/>
          </a:p>
        </p:txBody>
      </p:sp>
      <p:sp>
        <p:nvSpPr>
          <p:cNvPr id="65" name="Shape 63"/>
          <p:cNvSpPr/>
          <p:nvPr/>
        </p:nvSpPr>
        <p:spPr>
          <a:xfrm>
            <a:off x="6099048" y="3401568"/>
            <a:ext cx="5724144" cy="2286000"/>
          </a:xfrm>
          <a:prstGeom prst="roundRect">
            <a:avLst>
              <a:gd name="adj" fmla="val 1600"/>
            </a:avLst>
          </a:prstGeom>
          <a:solidFill>
            <a:srgbClr val="FFF7E8"/>
          </a:solidFill>
          <a:ln w="9525">
            <a:solidFill>
              <a:srgbClr val="F2B13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245352" y="3474720"/>
            <a:ext cx="5431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EXCLUSIONS &amp; COMMERCIAL NOTES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6263640" y="3776472"/>
            <a:ext cx="64008" cy="64008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68" name="Text 66"/>
          <p:cNvSpPr/>
          <p:nvPr/>
        </p:nvSpPr>
        <p:spPr>
          <a:xfrm>
            <a:off x="6409944" y="37307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2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consumption, TrueFoundry licence and third-party model API charges.</a:t>
            </a:r>
            <a:endParaRPr lang="en-US" sz="820" dirty="0"/>
          </a:p>
        </p:txBody>
      </p:sp>
      <p:sp>
        <p:nvSpPr>
          <p:cNvPr id="69" name="Shape 67"/>
          <p:cNvSpPr/>
          <p:nvPr/>
        </p:nvSpPr>
        <p:spPr>
          <a:xfrm>
            <a:off x="6263640" y="4014216"/>
            <a:ext cx="64008" cy="64008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70" name="Text 68"/>
          <p:cNvSpPr/>
          <p:nvPr/>
        </p:nvSpPr>
        <p:spPr>
          <a:xfrm>
            <a:off x="6409944" y="396849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2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TrueFoundry control plane — adds approximately 40–60 person-days.</a:t>
            </a:r>
            <a:endParaRPr lang="en-US" sz="820" dirty="0"/>
          </a:p>
        </p:txBody>
      </p:sp>
      <p:sp>
        <p:nvSpPr>
          <p:cNvPr id="71" name="Shape 69"/>
          <p:cNvSpPr/>
          <p:nvPr/>
        </p:nvSpPr>
        <p:spPr>
          <a:xfrm>
            <a:off x="6263640" y="4251960"/>
            <a:ext cx="64008" cy="64008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72" name="Text 70"/>
          <p:cNvSpPr/>
          <p:nvPr/>
        </p:nvSpPr>
        <p:spPr>
          <a:xfrm>
            <a:off x="6409944" y="4206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2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use-case and agent development beyond the two reference agents.</a:t>
            </a:r>
            <a:endParaRPr lang="en-US" sz="820" dirty="0"/>
          </a:p>
        </p:txBody>
      </p:sp>
      <p:sp>
        <p:nvSpPr>
          <p:cNvPr id="73" name="Shape 71"/>
          <p:cNvSpPr/>
          <p:nvPr/>
        </p:nvSpPr>
        <p:spPr>
          <a:xfrm>
            <a:off x="6263640" y="4489704"/>
            <a:ext cx="64008" cy="64008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74" name="Text 72"/>
          <p:cNvSpPr/>
          <p:nvPr/>
        </p:nvSpPr>
        <p:spPr>
          <a:xfrm>
            <a:off x="6409944" y="444398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2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remediation, migration or master-data cleanup in the source systems.</a:t>
            </a:r>
            <a:endParaRPr lang="en-US" sz="820" dirty="0"/>
          </a:p>
        </p:txBody>
      </p:sp>
      <p:sp>
        <p:nvSpPr>
          <p:cNvPr id="75" name="Shape 73"/>
          <p:cNvSpPr/>
          <p:nvPr/>
        </p:nvSpPr>
        <p:spPr>
          <a:xfrm>
            <a:off x="6263640" y="4727448"/>
            <a:ext cx="64008" cy="64008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76" name="Text 74"/>
          <p:cNvSpPr/>
          <p:nvPr/>
        </p:nvSpPr>
        <p:spPr>
          <a:xfrm>
            <a:off x="6409944" y="4681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2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managed service or run support beyond the 4-week hypercare window.</a:t>
            </a:r>
            <a:endParaRPr lang="en-US" sz="820" dirty="0"/>
          </a:p>
        </p:txBody>
      </p:sp>
      <p:sp>
        <p:nvSpPr>
          <p:cNvPr id="77" name="Shape 75"/>
          <p:cNvSpPr/>
          <p:nvPr/>
        </p:nvSpPr>
        <p:spPr>
          <a:xfrm>
            <a:off x="6263640" y="4965192"/>
            <a:ext cx="64008" cy="64008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78" name="Text 76"/>
          <p:cNvSpPr/>
          <p:nvPr/>
        </p:nvSpPr>
        <p:spPr>
          <a:xfrm>
            <a:off x="6409944" y="491947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2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regions, clusters or disaster-recovery build-out.</a:t>
            </a:r>
            <a:endParaRPr lang="en-US" sz="820" dirty="0"/>
          </a:p>
        </p:txBody>
      </p:sp>
      <p:sp>
        <p:nvSpPr>
          <p:cNvPr id="79" name="Shape 77"/>
          <p:cNvSpPr/>
          <p:nvPr/>
        </p:nvSpPr>
        <p:spPr>
          <a:xfrm>
            <a:off x="6263640" y="5202936"/>
            <a:ext cx="64008" cy="64008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80" name="Text 78"/>
          <p:cNvSpPr/>
          <p:nvPr/>
        </p:nvSpPr>
        <p:spPr>
          <a:xfrm>
            <a:off x="6409944" y="515721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2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10–15% contingency before converting this to a fixed-price commitment.</a:t>
            </a:r>
            <a:endParaRPr lang="en-US" sz="820" dirty="0"/>
          </a:p>
        </p:txBody>
      </p:sp>
      <p:sp>
        <p:nvSpPr>
          <p:cNvPr id="81" name="Shape 79"/>
          <p:cNvSpPr/>
          <p:nvPr/>
        </p:nvSpPr>
        <p:spPr>
          <a:xfrm>
            <a:off x="6263640" y="5440680"/>
            <a:ext cx="64008" cy="64008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82" name="Text 80"/>
          <p:cNvSpPr/>
          <p:nvPr/>
        </p:nvSpPr>
        <p:spPr>
          <a:xfrm>
            <a:off x="6409944" y="539496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2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card not applied — effort only; commercials to be layered on separately.</a:t>
            </a:r>
            <a:endParaRPr lang="en-US" sz="820" dirty="0"/>
          </a:p>
        </p:txBody>
      </p:sp>
      <p:sp>
        <p:nvSpPr>
          <p:cNvPr id="83" name="Text 81"/>
          <p:cNvSpPr/>
          <p:nvPr/>
        </p:nvSpPr>
        <p:spPr>
          <a:xfrm>
            <a:off x="365760" y="5797296"/>
            <a:ext cx="11457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are planning-level and should be re-baselined after the discovery phase.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2026-08-05T07:51:07Z</dcterms:created>
  <dcterms:modified xsi:type="dcterms:W3CDTF">2026-08-05T07:51:07Z</dcterms:modified>
</cp:coreProperties>
</file>