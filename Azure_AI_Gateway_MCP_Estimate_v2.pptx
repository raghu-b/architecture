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023"/>
    <p:restoredTop sz="94610"/>
  </p:normalViewPr>
  <p:slideViewPr>
    <p:cSldViewPr snapToGrid="0" snapToObjects="1">
      <p:cViewPr varScale="1">
        <p:scale>
          <a:sx n="213" d="100"/>
          <a:sy n="213" d="100"/>
        </p:scale>
        <p:origin x="54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50720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41732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Azure AI Gateway &amp; MCP Server Program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640080" y="2395728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Effort estimate for a single dedicated Data/Cloud Engineer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40080" y="30632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Scope: </a:t>
            </a:r>
            <a:r>
              <a:rPr lang="en-US" sz="1400" dirty="0">
                <a:solidFill>
                  <a:srgbClr val="E8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Gateway setup  •  Operationalization  •  6 MCP servers  •  6 agent onboardings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434340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FA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All-Azure deployment — APIM GenAI Gateway, Azure AI Foundry, Azure Container Apps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932" y="525780"/>
            <a:ext cx="283464" cy="2834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347472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Executive summary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1188720" y="786384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planning scenarios — total effort for one engineer, end to end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457200" y="1234440"/>
            <a:ext cx="2651760" cy="2011680"/>
          </a:xfrm>
          <a:prstGeom prst="roundRect">
            <a:avLst>
              <a:gd name="adj" fmla="val 3636"/>
            </a:avLst>
          </a:prstGeom>
          <a:solidFill>
            <a:srgbClr val="F4F7FC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40080" y="157276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Optimistic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40080" y="1883664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weeks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640080" y="2359152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880 hrs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640080" y="2633472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connectors, clean APIs, no legacy systems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291840" y="1234440"/>
            <a:ext cx="2651760" cy="2011680"/>
          </a:xfrm>
          <a:prstGeom prst="roundRect">
            <a:avLst>
              <a:gd name="adj" fmla="val 3636"/>
            </a:avLst>
          </a:prstGeom>
          <a:solidFill>
            <a:srgbClr val="1E2761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3474720" y="133502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3474720" y="157276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Realistic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3474720" y="1883664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32–36 weeks</a:t>
            </a:r>
            <a:endParaRPr lang="en-US" sz="2600" dirty="0"/>
          </a:p>
        </p:txBody>
      </p:sp>
      <p:sp>
        <p:nvSpPr>
          <p:cNvPr id="15" name="Text 12"/>
          <p:cNvSpPr/>
          <p:nvPr/>
        </p:nvSpPr>
        <p:spPr>
          <a:xfrm>
            <a:off x="3474720" y="2359152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1,180–1,240 hrs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3474720" y="2633472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DE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 connector complexity, normal enterprise friction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6126480" y="1234440"/>
            <a:ext cx="2651760" cy="2011680"/>
          </a:xfrm>
          <a:prstGeom prst="roundRect">
            <a:avLst>
              <a:gd name="adj" fmla="val 3636"/>
            </a:avLst>
          </a:prstGeom>
          <a:solidFill>
            <a:srgbClr val="F4F7FC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6309360" y="157276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Pessimistic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09360" y="1883664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 weeks</a:t>
            </a:r>
            <a:endParaRPr lang="en-US" sz="2600" dirty="0"/>
          </a:p>
        </p:txBody>
      </p:sp>
      <p:sp>
        <p:nvSpPr>
          <p:cNvPr id="20" name="Text 17"/>
          <p:cNvSpPr/>
          <p:nvPr/>
        </p:nvSpPr>
        <p:spPr>
          <a:xfrm>
            <a:off x="6309360" y="2359152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1,760 hrs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6309360" y="2633472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integrations, strict security review cycles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457200" y="34015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planning baseline (calculator scenario)</a:t>
            </a:r>
            <a:endParaRPr lang="en-US" sz="1250" dirty="0"/>
          </a:p>
        </p:txBody>
      </p:sp>
      <p:sp>
        <p:nvSpPr>
          <p:cNvPr id="23" name="Shape 20"/>
          <p:cNvSpPr/>
          <p:nvPr/>
        </p:nvSpPr>
        <p:spPr>
          <a:xfrm>
            <a:off x="457200" y="3703320"/>
            <a:ext cx="1965960" cy="777240"/>
          </a:xfrm>
          <a:prstGeom prst="roundRect">
            <a:avLst>
              <a:gd name="adj" fmla="val 7059"/>
            </a:avLst>
          </a:prstGeom>
          <a:solidFill>
            <a:srgbClr val="F4F7FC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24" name="Text 21"/>
          <p:cNvSpPr/>
          <p:nvPr/>
        </p:nvSpPr>
        <p:spPr>
          <a:xfrm>
            <a:off x="621792" y="378561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hours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621792" y="400507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1,500</a:t>
            </a:r>
            <a:endParaRPr lang="en-US" sz="1900" dirty="0"/>
          </a:p>
        </p:txBody>
      </p:sp>
      <p:sp>
        <p:nvSpPr>
          <p:cNvPr id="26" name="Shape 23"/>
          <p:cNvSpPr/>
          <p:nvPr/>
        </p:nvSpPr>
        <p:spPr>
          <a:xfrm>
            <a:off x="2583180" y="3703320"/>
            <a:ext cx="1965960" cy="777240"/>
          </a:xfrm>
          <a:prstGeom prst="roundRect">
            <a:avLst>
              <a:gd name="adj" fmla="val 7059"/>
            </a:avLst>
          </a:prstGeom>
          <a:solidFill>
            <a:srgbClr val="F4F7FC"/>
          </a:solidFill>
          <a:ln/>
        </p:spPr>
      </p:sp>
      <p:sp>
        <p:nvSpPr>
          <p:cNvPr id="27" name="Text 24"/>
          <p:cNvSpPr/>
          <p:nvPr/>
        </p:nvSpPr>
        <p:spPr>
          <a:xfrm>
            <a:off x="2747772" y="378561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2747772" y="400507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wks</a:t>
            </a:r>
            <a:endParaRPr lang="en-US" sz="1900" dirty="0"/>
          </a:p>
        </p:txBody>
      </p:sp>
      <p:sp>
        <p:nvSpPr>
          <p:cNvPr id="29" name="Shape 26"/>
          <p:cNvSpPr/>
          <p:nvPr/>
        </p:nvSpPr>
        <p:spPr>
          <a:xfrm>
            <a:off x="4709160" y="3703320"/>
            <a:ext cx="1965960" cy="777240"/>
          </a:xfrm>
          <a:prstGeom prst="roundRect">
            <a:avLst>
              <a:gd name="adj" fmla="val 7059"/>
            </a:avLst>
          </a:prstGeom>
          <a:solidFill>
            <a:srgbClr val="F4F7FC"/>
          </a:solidFill>
          <a:ln/>
        </p:spPr>
      </p:sp>
      <p:sp>
        <p:nvSpPr>
          <p:cNvPr id="30" name="Text 27"/>
          <p:cNvSpPr/>
          <p:nvPr/>
        </p:nvSpPr>
        <p:spPr>
          <a:xfrm>
            <a:off x="4873752" y="378561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</a:t>
            </a:r>
            <a:endParaRPr lang="en-US" sz="1050" dirty="0"/>
          </a:p>
        </p:txBody>
      </p:sp>
      <p:sp>
        <p:nvSpPr>
          <p:cNvPr id="31" name="Text 28"/>
          <p:cNvSpPr/>
          <p:nvPr/>
        </p:nvSpPr>
        <p:spPr>
          <a:xfrm>
            <a:off x="4873752" y="400507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~11.5 mo</a:t>
            </a:r>
            <a:endParaRPr lang="en-US" sz="1900" dirty="0"/>
          </a:p>
        </p:txBody>
      </p:sp>
      <p:sp>
        <p:nvSpPr>
          <p:cNvPr id="32" name="Shape 29"/>
          <p:cNvSpPr/>
          <p:nvPr/>
        </p:nvSpPr>
        <p:spPr>
          <a:xfrm>
            <a:off x="6812280" y="3703320"/>
            <a:ext cx="1965960" cy="777240"/>
          </a:xfrm>
          <a:prstGeom prst="roundRect">
            <a:avLst>
              <a:gd name="adj" fmla="val 7059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 dirty="0"/>
          </a:p>
          <a:p>
            <a:r>
              <a:rPr lang="en-US" dirty="0">
                <a:solidFill>
                  <a:srgbClr val="CADCFC"/>
                </a:solidFill>
                <a:latin typeface="Calibri" pitchFamily="34" charset="0"/>
                <a:cs typeface="Calibri" pitchFamily="34" charset="-120"/>
              </a:rPr>
              <a:t>1500 </a:t>
            </a:r>
            <a:r>
              <a:rPr lang="en-US" dirty="0" err="1">
                <a:solidFill>
                  <a:srgbClr val="CADCFC"/>
                </a:solidFill>
                <a:latin typeface="Calibri" pitchFamily="34" charset="0"/>
                <a:cs typeface="Calibri" pitchFamily="34" charset="-120"/>
              </a:rPr>
              <a:t>Hrs</a:t>
            </a:r>
            <a:r>
              <a:rPr lang="en-US" dirty="0">
                <a:solidFill>
                  <a:srgbClr val="CADCFC"/>
                </a:solidFill>
                <a:latin typeface="Calibri" pitchFamily="34" charset="0"/>
                <a:cs typeface="Calibri" pitchFamily="34" charset="-120"/>
              </a:rPr>
              <a:t>*($)</a:t>
            </a:r>
          </a:p>
        </p:txBody>
      </p:sp>
      <p:sp>
        <p:nvSpPr>
          <p:cNvPr id="33" name="Text 30"/>
          <p:cNvSpPr/>
          <p:nvPr/>
        </p:nvSpPr>
        <p:spPr>
          <a:xfrm>
            <a:off x="6999732" y="378561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Est. cost</a:t>
            </a:r>
            <a:endParaRPr lang="en-US" sz="1050" dirty="0"/>
          </a:p>
        </p:txBody>
      </p:sp>
      <p:sp>
        <p:nvSpPr>
          <p:cNvPr id="34" name="Text 31"/>
          <p:cNvSpPr/>
          <p:nvPr/>
        </p:nvSpPr>
        <p:spPr>
          <a:xfrm>
            <a:off x="6999732" y="400507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900" dirty="0"/>
          </a:p>
        </p:txBody>
      </p:sp>
      <p:sp>
        <p:nvSpPr>
          <p:cNvPr id="35" name="Text 32"/>
          <p:cNvSpPr/>
          <p:nvPr/>
        </p:nvSpPr>
        <p:spPr>
          <a:xfrm>
            <a:off x="457200" y="461772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Realistic band assumes a mixed portfolio — 2 simple, 3 standard, 1 complex MCP server — plus ~15% contingency for enterprise approval cycles.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932" y="525780"/>
            <a:ext cx="283464" cy="2834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347472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Planning baseline — selected scenario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1188720" y="786384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 portfolio (2 simple / 3 standard / 1 complex), 15% contingency, 36 productive hrs/week, $120/hr blended rate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457200" y="1463040"/>
            <a:ext cx="1965960" cy="1554480"/>
          </a:xfrm>
          <a:prstGeom prst="roundRect">
            <a:avLst>
              <a:gd name="adj" fmla="val 4706"/>
            </a:avLst>
          </a:prstGeom>
          <a:solidFill>
            <a:srgbClr val="1E2761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640080" y="1664208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hours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40080" y="1993392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1500</a:t>
            </a:r>
            <a:endParaRPr lang="en-US" sz="2700" dirty="0"/>
          </a:p>
        </p:txBody>
      </p:sp>
      <p:sp>
        <p:nvSpPr>
          <p:cNvPr id="9" name="Shape 6"/>
          <p:cNvSpPr/>
          <p:nvPr/>
        </p:nvSpPr>
        <p:spPr>
          <a:xfrm>
            <a:off x="2583180" y="1463040"/>
            <a:ext cx="1965960" cy="1554480"/>
          </a:xfrm>
          <a:prstGeom prst="roundRect">
            <a:avLst>
              <a:gd name="adj" fmla="val 4706"/>
            </a:avLst>
          </a:prstGeom>
          <a:solidFill>
            <a:srgbClr val="F4F7FC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2766060" y="1664208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2766060" y="1993392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wks</a:t>
            </a:r>
            <a:endParaRPr lang="en-US" sz="2700" dirty="0"/>
          </a:p>
        </p:txBody>
      </p:sp>
      <p:sp>
        <p:nvSpPr>
          <p:cNvPr id="12" name="Shape 9"/>
          <p:cNvSpPr/>
          <p:nvPr/>
        </p:nvSpPr>
        <p:spPr>
          <a:xfrm>
            <a:off x="4709160" y="1463040"/>
            <a:ext cx="1965960" cy="1554480"/>
          </a:xfrm>
          <a:prstGeom prst="roundRect">
            <a:avLst>
              <a:gd name="adj" fmla="val 4706"/>
            </a:avLst>
          </a:prstGeom>
          <a:solidFill>
            <a:srgbClr val="F4F7FC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4892040" y="1664208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4892040" y="1993392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~11.0 mo</a:t>
            </a:r>
            <a:endParaRPr lang="en-US" sz="2700" dirty="0"/>
          </a:p>
        </p:txBody>
      </p:sp>
      <p:sp>
        <p:nvSpPr>
          <p:cNvPr id="15" name="Shape 12"/>
          <p:cNvSpPr/>
          <p:nvPr/>
        </p:nvSpPr>
        <p:spPr>
          <a:xfrm>
            <a:off x="6835140" y="1463040"/>
            <a:ext cx="1965960" cy="1554480"/>
          </a:xfrm>
          <a:prstGeom prst="roundRect">
            <a:avLst>
              <a:gd name="adj" fmla="val 4706"/>
            </a:avLst>
          </a:prstGeom>
          <a:solidFill>
            <a:srgbClr val="F4F7FC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7018020" y="1664208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Est. cost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7018020" y="1993392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 .?</a:t>
            </a:r>
            <a:endParaRPr lang="en-US" sz="2700" dirty="0"/>
          </a:p>
        </p:txBody>
      </p:sp>
      <p:sp>
        <p:nvSpPr>
          <p:cNvPr id="18" name="Text 15"/>
          <p:cNvSpPr/>
          <p:nvPr/>
        </p:nvSpPr>
        <p:spPr>
          <a:xfrm>
            <a:off x="457200" y="33375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this rolls up: </a:t>
            </a:r>
            <a:r>
              <a:rPr lang="en-US" sz="130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 160 h + operationalization 60 h + MCP servers 800 h (incl. 80 h platform foundation) + agent onboarding 300 h = 1,350 h base; 15% contingency adds ~232 h.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457200" y="40690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Sits at the upper-realistic end of the range because it prices in enterprise friction (approvals, reviews) rather than assuming a clean path. First server/agent pair live ≈ week 13 — the go/no-go checkpoint.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932" y="525780"/>
            <a:ext cx="283464" cy="2834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347472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Task 1 — Azure AI Gateway &amp; agent setup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1188720" y="786384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3–5 weeks  /  120–200 hours</a:t>
            </a:r>
            <a:endParaRPr lang="en-US" sz="1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2688336"/>
        </p:xfrm>
        <a:graphic>
          <a:graphicData uri="http://schemas.openxmlformats.org/drawingml/2006/table">
            <a:tbl>
              <a:tblPr/>
              <a:tblGrid>
                <a:gridCol w="7040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 item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Hours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APIM provisioning (Premium/StandardV2), VNet integration, private endpoints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24–40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GenAI gateway policies: per-consumer token rate limits, token metrics, semantic caching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32–48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Backend pools: load balancing + circuit breakers across AOAI, cross-region failover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24–40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Azure AI Foundry hub/project provisioning, model deployments, quota requests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16–32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Entra ID managed identity wiring (APIM ↔ Azure OpenAI ↔ Foundry)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16–24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Validation: policy load testing, failover drills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8–16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4224528"/>
            <a:ext cx="256032" cy="256032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868680" y="4160520"/>
            <a:ext cx="7818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Watch-out: Azure OpenAI quota/PTU approvals and firewall change requests commonly add 1–2 weeks of calendar wait — start them in week 1.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932" y="525780"/>
            <a:ext cx="283464" cy="2834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347472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Task 2 — Operationalization &amp; guidance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1188720" y="786384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1–2 weeks  /  40–80 hours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457200" y="1325880"/>
            <a:ext cx="3977640" cy="1417320"/>
          </a:xfrm>
          <a:prstGeom prst="roundRect">
            <a:avLst>
              <a:gd name="adj" fmla="val 4516"/>
            </a:avLst>
          </a:prstGeom>
          <a:solidFill>
            <a:srgbClr val="F4F7FC"/>
          </a:solidFill>
          <a:ln/>
        </p:spPr>
      </p:sp>
      <p:sp>
        <p:nvSpPr>
          <p:cNvPr id="7" name="Text 4"/>
          <p:cNvSpPr/>
          <p:nvPr/>
        </p:nvSpPr>
        <p:spPr>
          <a:xfrm>
            <a:off x="685800" y="145389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Observability foundation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3200400" y="1453896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3D5A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8–16 hrs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85800" y="178308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Monitor + Log Analytics workspace; diagnostic settings on APIM, ACA, and Azure OpenAI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709160" y="1325880"/>
            <a:ext cx="3977640" cy="1417320"/>
          </a:xfrm>
          <a:prstGeom prst="roundRect">
            <a:avLst>
              <a:gd name="adj" fmla="val 4516"/>
            </a:avLst>
          </a:prstGeom>
          <a:solidFill>
            <a:srgbClr val="F4F7FC"/>
          </a:solidFill>
          <a:ln/>
        </p:spPr>
      </p:sp>
      <p:sp>
        <p:nvSpPr>
          <p:cNvPr id="11" name="Text 8"/>
          <p:cNvSpPr/>
          <p:nvPr/>
        </p:nvSpPr>
        <p:spPr>
          <a:xfrm>
            <a:off x="4937760" y="145389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LLM metric workbooks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7452360" y="1453896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3D5A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12–24 hrs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937760" y="178308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Prompt/completion tokens per app, latency P50/P95, MCP tool-call success rate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57200" y="2926080"/>
            <a:ext cx="3977640" cy="1417320"/>
          </a:xfrm>
          <a:prstGeom prst="roundRect">
            <a:avLst>
              <a:gd name="adj" fmla="val 4516"/>
            </a:avLst>
          </a:prstGeom>
          <a:solidFill>
            <a:srgbClr val="F4F7FC"/>
          </a:solidFill>
          <a:ln/>
        </p:spPr>
      </p:sp>
      <p:sp>
        <p:nvSpPr>
          <p:cNvPr id="15" name="Text 12"/>
          <p:cNvSpPr/>
          <p:nvPr/>
        </p:nvSpPr>
        <p:spPr>
          <a:xfrm>
            <a:off x="685800" y="305409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Alerting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3200400" y="3054096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3D5A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4–8 hrs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85800" y="338328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groups for 429 spikes, error rates, and cost anomalies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709160" y="2926080"/>
            <a:ext cx="3977640" cy="1417320"/>
          </a:xfrm>
          <a:prstGeom prst="roundRect">
            <a:avLst>
              <a:gd name="adj" fmla="val 4516"/>
            </a:avLst>
          </a:prstGeom>
          <a:solidFill>
            <a:srgbClr val="F4F7FC"/>
          </a:solidFill>
          <a:ln/>
        </p:spPr>
      </p:sp>
      <p:sp>
        <p:nvSpPr>
          <p:cNvPr id="19" name="Text 16"/>
          <p:cNvSpPr/>
          <p:nvPr/>
        </p:nvSpPr>
        <p:spPr>
          <a:xfrm>
            <a:off x="4937760" y="305409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Governance pack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7452360" y="3054096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3D5A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16–32 hrs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4937760" y="338328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 ID patterns, RBAC model, key rotation, onboarding runbook for consumer apps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457200" y="45720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Deliverables: live dashboards and alerts, plus a security-reviewed governance runbook that lets new consumer applications onboard without engineering hand-holding.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932" y="525780"/>
            <a:ext cx="283464" cy="2834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347472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Task 3 — Design, build &amp; publish 6 MCP servers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1188720" y="786384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13–24 weeks  /  520–960 hours (largest workstream)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457200" y="1325880"/>
            <a:ext cx="2651760" cy="1783080"/>
          </a:xfrm>
          <a:prstGeom prst="roundRect">
            <a:avLst>
              <a:gd name="adj" fmla="val 3590"/>
            </a:avLst>
          </a:prstGeom>
          <a:solidFill>
            <a:srgbClr val="F4F7FC"/>
          </a:solidFill>
          <a:ln/>
        </p:spPr>
      </p:sp>
      <p:sp>
        <p:nvSpPr>
          <p:cNvPr id="7" name="Text 4"/>
          <p:cNvSpPr/>
          <p:nvPr/>
        </p:nvSpPr>
        <p:spPr>
          <a:xfrm>
            <a:off x="640080" y="14447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Simple tier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40080" y="175564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2–3 wks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640080" y="2157984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D5A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80–120 hrs each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40080" y="2432304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SQL, Cosmos DB, Blob Storage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291840" y="1325880"/>
            <a:ext cx="2651760" cy="1783080"/>
          </a:xfrm>
          <a:prstGeom prst="roundRect">
            <a:avLst>
              <a:gd name="adj" fmla="val 3590"/>
            </a:avLst>
          </a:prstGeom>
          <a:solidFill>
            <a:srgbClr val="F4F7FC"/>
          </a:solidFill>
          <a:ln/>
        </p:spPr>
      </p:sp>
      <p:sp>
        <p:nvSpPr>
          <p:cNvPr id="12" name="Text 9"/>
          <p:cNvSpPr/>
          <p:nvPr/>
        </p:nvSpPr>
        <p:spPr>
          <a:xfrm>
            <a:off x="3474720" y="14447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Standard tier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3474720" y="175564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3.5–4.5 wks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3474720" y="2157984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D5A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140–180 hrs each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3474720" y="2432304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Dynamics 365, ServiceNow, SAP on Azure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126480" y="1325880"/>
            <a:ext cx="2651760" cy="1783080"/>
          </a:xfrm>
          <a:prstGeom prst="roundRect">
            <a:avLst>
              <a:gd name="adj" fmla="val 3590"/>
            </a:avLst>
          </a:prstGeom>
          <a:solidFill>
            <a:srgbClr val="1E2761"/>
          </a:solidFill>
          <a:ln/>
        </p:spPr>
      </p:sp>
      <p:sp>
        <p:nvSpPr>
          <p:cNvPr id="17" name="Text 14"/>
          <p:cNvSpPr/>
          <p:nvPr/>
        </p:nvSpPr>
        <p:spPr>
          <a:xfrm>
            <a:off x="6309360" y="14447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Complex tier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6309360" y="175564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5–7 wks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6309360" y="2157984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200–280 hrs each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6309360" y="2432304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DE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systems: state mgmt, pooling, payload mapping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457200" y="3291840"/>
            <a:ext cx="8229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One-time platform foundation (60–100 hrs): </a:t>
            </a:r>
            <a:r>
              <a:rPr lang="en-US" sz="125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 environment, container registry, IaC templates, CI/CD pipeline, reusable MCP server template (Python/TypeScript SDK) fronted by APIM with Entra ID auth.</a:t>
            </a:r>
            <a:endParaRPr lang="en-US" sz="1250" dirty="0"/>
          </a:p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on Azure Container Apps, not Functions: </a:t>
            </a:r>
            <a:r>
              <a:rPr lang="en-US" sz="125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SSE/Streamable HTTP needs persistent connections; scale-to-zero cold starts break sessions. Each server carries ~10–15% for docs and APIM developer-portal publishing.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932" y="525780"/>
            <a:ext cx="283464" cy="2834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347472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Task 4 — Onboard 6 AI agents to MCP servers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1188720" y="786384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5–12 weeks  /  200–480 hours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8229600" cy="2103120"/>
        </p:xfrm>
        <a:graphic>
          <a:graphicData uri="http://schemas.openxmlformats.org/drawingml/2006/table">
            <a:tbl>
              <a:tblPr/>
              <a:tblGrid>
                <a:gridCol w="5852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 item (per agent)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Hrs each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agents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Register MCP endpoints as tools in AI Foundry / Semantic Kernel; auth wiring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8–16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48–96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 prompt engineering + function-calling tuning (tool descriptions, schemas)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12–32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72–192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Azure AI Evaluation SDK: groundedness, tool-call accuracy, loop/hallucination guards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8–24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48–144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End-to-end integration testing and UAT support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4–8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24–48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457200" y="3977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Least predictable line item: </a:t>
            </a:r>
            <a:r>
              <a:rPr lang="en-US" sz="125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tuning. Agents that call 3+ tools reliably typically need 2–3 evaluate-and-refine cycles before tool selection is dependable.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932" y="525780"/>
            <a:ext cx="283464" cy="2834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347472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assumptions &amp; risks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1188720" y="786384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estimate depends on — and what moves it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457200" y="1325880"/>
            <a:ext cx="4023360" cy="3246120"/>
          </a:xfrm>
          <a:prstGeom prst="roundRect">
            <a:avLst>
              <a:gd name="adj" fmla="val 1972"/>
            </a:avLst>
          </a:prstGeom>
          <a:solidFill>
            <a:srgbClr val="F4F7FC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1508760"/>
            <a:ext cx="274320" cy="2743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51560" y="148132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Assumptions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685800" y="1920240"/>
            <a:ext cx="36118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engineer: hands-on with APIM policies, containers, IaC, and an MCP SDK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subscriptions, networking, and landing-zone prerequisites already exist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Target-system API access, credentials, and docs provided promptly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resource — no parallelization; MCP servers are built sequentially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4663440" y="1325880"/>
            <a:ext cx="4023360" cy="3246120"/>
          </a:xfrm>
          <a:prstGeom prst="roundRect">
            <a:avLst>
              <a:gd name="adj" fmla="val 1972"/>
            </a:avLst>
          </a:prstGeom>
          <a:solidFill>
            <a:srgbClr val="1E2761"/>
          </a:solidFill>
          <a:ln/>
        </p:spPr>
      </p:sp>
      <p:sp>
        <p:nvSpPr>
          <p:cNvPr id="11" name="Text 7"/>
          <p:cNvSpPr/>
          <p:nvPr/>
        </p:nvSpPr>
        <p:spPr>
          <a:xfrm>
            <a:off x="4892040" y="148132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 multipliers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4892040" y="1920240"/>
            <a:ext cx="36118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8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Cross-team dependencies: security review, firewall rules, service-principal approvals — add 10–20%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8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Undocumented legacy APIs can push a "standard" server into the complex tier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8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creep on agent behaviors after first demos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8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parallelization means calendar time stays long even when each server is modest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457200" y="468172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Mitigation: treat the first server/agent pair (≈ week 13) as a go/no-go gate and re-baseline before committing dates.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910</Words>
  <Application>Microsoft Macintosh PowerPoint</Application>
  <PresentationFormat>On-screen Show (16:9)</PresentationFormat>
  <Paragraphs>129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Azure AI Gateway &amp; MCP Program — Single-Resource Estimate</dc:title>
  <dc:subject>PptxGenJS Presentation</dc:subject>
  <dc:creator>PptxGenJS</dc:creator>
  <cp:lastModifiedBy>venkat B</cp:lastModifiedBy>
  <cp:revision>2</cp:revision>
  <dcterms:created xsi:type="dcterms:W3CDTF">2026-07-05T22:38:30Z</dcterms:created>
  <dcterms:modified xsi:type="dcterms:W3CDTF">2026-07-05T22:46:45Z</dcterms:modified>
</cp:coreProperties>
</file>