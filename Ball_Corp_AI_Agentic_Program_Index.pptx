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234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 Corp AI Agentic Program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623560" cy="5349240"/>
          </a:xfrm>
          <a:prstGeom prst="roundRect">
            <a:avLst>
              <a:gd name="adj" fmla="val 1368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2527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Assessment to Build a Gen AI Framework for Ball Corp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1920240"/>
            <a:ext cx="310896" cy="31089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86537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 and Assessment Readiness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651760"/>
            <a:ext cx="310896" cy="31089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59689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Architecture &amp; Recommendation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383280"/>
            <a:ext cx="310896" cy="31089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32841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 for Data Ready for 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114800"/>
            <a:ext cx="310896" cy="31089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405993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Hybrid Approach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4846320"/>
            <a:ext cx="310896" cy="31089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479145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Ecosystem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5577840"/>
            <a:ext cx="310896" cy="31089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577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552297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Action Flow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1051560"/>
            <a:ext cx="5394960" cy="740664"/>
          </a:xfrm>
          <a:prstGeom prst="roundRect">
            <a:avLst>
              <a:gd name="adj" fmla="val 9877"/>
            </a:avLst>
          </a:prstGeom>
          <a:solidFill>
            <a:srgbClr val="F4F6FB"/>
          </a:solidFill>
          <a:ln/>
        </p:spPr>
      </p:sp>
      <p:sp>
        <p:nvSpPr>
          <p:cNvPr id="26" name="Shape 24"/>
          <p:cNvSpPr/>
          <p:nvPr/>
        </p:nvSpPr>
        <p:spPr>
          <a:xfrm>
            <a:off x="6537960" y="123901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12390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11247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DE.AI IDE Integration with Databricks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1490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Presentation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1810512"/>
            <a:ext cx="5394960" cy="740664"/>
          </a:xfrm>
          <a:prstGeom prst="roundRect">
            <a:avLst>
              <a:gd name="adj" fmla="val 9877"/>
            </a:avLst>
          </a:prstGeom>
          <a:solidFill>
            <a:srgbClr val="F4F6FB"/>
          </a:solidFill>
          <a:ln/>
        </p:spPr>
      </p:sp>
      <p:sp>
        <p:nvSpPr>
          <p:cNvPr id="31" name="Shape 29"/>
          <p:cNvSpPr/>
          <p:nvPr/>
        </p:nvSpPr>
        <p:spPr>
          <a:xfrm>
            <a:off x="6537960" y="199796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19979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19019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JDE API Integration with Claude and MCP Server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55080" y="2569464"/>
            <a:ext cx="5394960" cy="740664"/>
          </a:xfrm>
          <a:prstGeom prst="roundRect">
            <a:avLst>
              <a:gd name="adj" fmla="val 9877"/>
            </a:avLst>
          </a:prstGeom>
          <a:solidFill>
            <a:srgbClr val="F4F6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537960" y="275691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27569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26609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 Stack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55080" y="3328416"/>
            <a:ext cx="5394960" cy="740664"/>
          </a:xfrm>
          <a:prstGeom prst="roundRect">
            <a:avLst>
              <a:gd name="adj" fmla="val 9877"/>
            </a:avLst>
          </a:prstGeom>
          <a:solidFill>
            <a:srgbClr val="F4F6FB"/>
          </a:solidFill>
          <a:ln/>
        </p:spPr>
      </p:sp>
      <p:sp>
        <p:nvSpPr>
          <p:cNvPr id="39" name="Shape 37"/>
          <p:cNvSpPr/>
          <p:nvPr/>
        </p:nvSpPr>
        <p:spPr>
          <a:xfrm>
            <a:off x="6537960" y="35158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35158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40880" y="341985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ADLC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55080" y="4087368"/>
            <a:ext cx="5394960" cy="740664"/>
          </a:xfrm>
          <a:prstGeom prst="roundRect">
            <a:avLst>
              <a:gd name="adj" fmla="val 9877"/>
            </a:avLst>
          </a:prstGeom>
          <a:solidFill>
            <a:srgbClr val="F4F6FB"/>
          </a:solidFill>
          <a:ln/>
        </p:spPr>
      </p:sp>
      <p:sp>
        <p:nvSpPr>
          <p:cNvPr id="43" name="Shape 41"/>
          <p:cNvSpPr/>
          <p:nvPr/>
        </p:nvSpPr>
        <p:spPr>
          <a:xfrm>
            <a:off x="6537960" y="42748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6537960" y="4274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40880" y="41605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Task-Level Implementation Details to Provision 6 MCP Servers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040880" y="452628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Gateway, AI Observability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55080" y="4846320"/>
            <a:ext cx="5394960" cy="740664"/>
          </a:xfrm>
          <a:prstGeom prst="roundRect">
            <a:avLst>
              <a:gd name="adj" fmla="val 9877"/>
            </a:avLst>
          </a:prstGeom>
          <a:solidFill>
            <a:srgbClr val="F4F6FB"/>
          </a:solidFill>
          <a:ln/>
        </p:spPr>
      </p:sp>
      <p:sp>
        <p:nvSpPr>
          <p:cNvPr id="48" name="Shape 46"/>
          <p:cNvSpPr/>
          <p:nvPr/>
        </p:nvSpPr>
        <p:spPr>
          <a:xfrm>
            <a:off x="6537960" y="50337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6537960" y="5033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040880" y="49377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Program – Task-Level Plan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355080" y="5605272"/>
            <a:ext cx="5394960" cy="740664"/>
          </a:xfrm>
          <a:prstGeom prst="roundRect">
            <a:avLst>
              <a:gd name="adj" fmla="val 9877"/>
            </a:avLst>
          </a:prstGeom>
          <a:solidFill>
            <a:srgbClr val="F4F6FB"/>
          </a:solidFill>
          <a:ln/>
        </p:spPr>
      </p:sp>
      <p:sp>
        <p:nvSpPr>
          <p:cNvPr id="52" name="Shape 50"/>
          <p:cNvSpPr/>
          <p:nvPr/>
        </p:nvSpPr>
        <p:spPr>
          <a:xfrm>
            <a:off x="6537960" y="57927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3" name="Text 51"/>
          <p:cNvSpPr/>
          <p:nvPr/>
        </p:nvSpPr>
        <p:spPr>
          <a:xfrm>
            <a:off x="6537960" y="57927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040880" y="567842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IDE Integration with IDE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040880" y="604418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 – As-Is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  |  AI Agentic Program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Breakdown &amp; Recommended Tools (1–4)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/>
        </p:nvGraphicFramePr>
        <p:xfrm>
          <a:off x="457200" y="914401"/>
          <a:ext cx="11274552" cy="5907429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6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5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Tools &amp; Tech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5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Agent 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management, sub-agent delegation, execution loops (ReAct/Plan-Act-Observe).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Cloud: </a:t>
                      </a: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Foundry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Frameworks: </a:t>
                      </a: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LangGraph, CrewAI, </a:t>
                      </a:r>
                      <a:r>
                        <a:rPr lang="en-US" sz="1050" dirty="0" err="1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5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Model Routing &amp;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task-based model selection, failover, cost/rate limit enforcement.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Gateways: </a:t>
                      </a:r>
                      <a:r>
                        <a:rPr lang="en-US" sz="1050" b="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Kong AI Gateway </a:t>
                      </a:r>
                      <a:endParaRPr lang="en-US" sz="105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Models: </a:t>
                      </a: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3.5 Sonnet/Opus, GPT-4o, Llama 3.3, DeepSeek-R1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Knowledge &amp; Retrieval (RAG / KAG)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search (Vector + BM25), Knowledge Graphs for relational context, parsing.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DBs: </a:t>
                      </a:r>
                      <a:r>
                        <a:rPr lang="en-US" sz="1050" dirty="0"/>
                        <a:t>Databricks Vector Search</a:t>
                      </a: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050" dirty="0" err="1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DB (KAG): </a:t>
                      </a: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Ingestion/Parser: </a:t>
                      </a: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Docling, LlamaParse, Unstructured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Memory &amp;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Cross-turn short-term session state, long-term semantic memory, workflow checkpointing.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Cache: </a:t>
                      </a: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Redis, ElastiCache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State: </a:t>
                      </a: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DynamoDB, Cosmos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Engines: </a:t>
                      </a: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MemGPT / Zep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Tooling &amp; MCP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connection protocols for internal APIs, databases, and enterprise applications.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Protocol: </a:t>
                      </a: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Context Protocol (MCP)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Automation: </a:t>
                      </a: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Functions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Ecosystem: </a:t>
                      </a: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APIs (SAP, Salesforce, Jira, REST/GraphQL)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675019"/>
                  </a:ext>
                </a:extLst>
              </a:tr>
              <a:tr h="5220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Guardrails &amp;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filtering, PII redaction, prompt injection protection, RBAC.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Content Safety, Microsoft Purview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55339"/>
                  </a:ext>
                </a:extLst>
              </a:tr>
              <a:tr h="5792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</a:t>
                      </a:r>
                      <a:r>
                        <a:rPr lang="en-US" sz="1200" b="1" kern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&amp; 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cost tracking, latency, agent loop tracing, hallucination &amp; groundedness scoring.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 err="1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Galileo.ai</a:t>
                      </a:r>
                      <a:r>
                        <a:rPr lang="en-US" sz="10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Traceloop (OpenTelemetry), </a:t>
                      </a:r>
                      <a:r>
                        <a:rPr lang="en-US" sz="1050" kern="1200" dirty="0">
                          <a:solidFill>
                            <a:srgbClr val="2B2E3A"/>
                          </a:solidFill>
                          <a:latin typeface="Calibri" pitchFamily="34" charset="0"/>
                          <a:ea typeface="+mn-ea"/>
                          <a:cs typeface="Calibri" pitchFamily="34" charset="-120"/>
                        </a:rPr>
                        <a:t>Azure AI Foundry Tracing SDK </a:t>
                      </a:r>
                      <a:endParaRPr lang="en-US" sz="1050" kern="1200" dirty="0">
                        <a:solidFill>
                          <a:srgbClr val="2B2E3A"/>
                        </a:solidFill>
                        <a:latin typeface="Calibri" pitchFamily="34" charset="0"/>
                        <a:ea typeface="Calibri" charset="0"/>
                        <a:cs typeface="Calibri" pitchFamily="34" charset="-12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981191"/>
                  </a:ext>
                </a:extLst>
              </a:tr>
              <a:tr h="9554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8.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+mn-ea"/>
                          <a:cs typeface="Calibri" pitchFamily="34" charset="-120"/>
                        </a:rPr>
                        <a:t>Experience &amp; Channels</a:t>
                      </a:r>
                      <a:endParaRPr lang="en-US" sz="1200" b="1" kern="1200" dirty="0">
                        <a:solidFill>
                          <a:srgbClr val="1E2761"/>
                        </a:solidFill>
                        <a:latin typeface="Calibri" pitchFamily="34" charset="0"/>
                        <a:ea typeface="Calibri" charset="0"/>
                        <a:cs typeface="Calibri" pitchFamily="34" charset="-12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200" dirty="0">
                          <a:solidFill>
                            <a:srgbClr val="2B2E3A"/>
                          </a:solidFill>
                          <a:latin typeface="Calibri" pitchFamily="34" charset="0"/>
                          <a:ea typeface="+mn-ea"/>
                          <a:cs typeface="Calibri" pitchFamily="34" charset="-120"/>
                        </a:rPr>
                        <a:t>Teams/Slack SDKs, Integrate AI Genie to Teams .</a:t>
                      </a:r>
                      <a:endParaRPr lang="en-US" sz="1100" kern="1200" dirty="0">
                        <a:solidFill>
                          <a:srgbClr val="2B2E3A"/>
                        </a:solidFill>
                        <a:latin typeface="Calibri" pitchFamily="34" charset="0"/>
                        <a:ea typeface="Calibri" charset="0"/>
                        <a:cs typeface="Calibri" pitchFamily="34" charset="-12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kern="12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Teams, </a:t>
                      </a:r>
                      <a:r>
                        <a:rPr lang="en-US" sz="1050" kern="1200" dirty="0" err="1">
                          <a:solidFill>
                            <a:srgbClr val="2B2E3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Salck</a:t>
                      </a:r>
                      <a:r>
                        <a:rPr lang="en-US" sz="1050" kern="12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.</a:t>
                      </a: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71880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Breakdown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412</Words>
  <Application>Microsoft Macintosh PowerPoint</Application>
  <PresentationFormat>Widescreen</PresentationFormat>
  <Paragraphs>72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venkat B</cp:lastModifiedBy>
  <cp:revision>2</cp:revision>
  <dcterms:created xsi:type="dcterms:W3CDTF">2026-08-04T06:09:58Z</dcterms:created>
  <dcterms:modified xsi:type="dcterms:W3CDTF">2026-08-04T07:09:19Z</dcterms:modified>
</cp:coreProperties>
</file>