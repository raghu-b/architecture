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20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16697A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READINESS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Corporation — Current State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Landscape  •  Metadata  •  Lineage  •  Quality  • 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READINESS SCORECARD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34340" y="109728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34340" y="1097280"/>
            <a:ext cx="15087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3258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43560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34340" y="2606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571500" y="3200400"/>
            <a:ext cx="123444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8"/>
          <p:cNvSpPr/>
          <p:nvPr/>
        </p:nvSpPr>
        <p:spPr>
          <a:xfrm>
            <a:off x="571500" y="3200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125980" y="109728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125980" y="1097280"/>
            <a:ext cx="1508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1"/>
          <p:cNvSpPr/>
          <p:nvPr/>
        </p:nvSpPr>
        <p:spPr>
          <a:xfrm>
            <a:off x="2606040" y="13258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0340" y="143560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2598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125980" y="2606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2263140" y="3200400"/>
            <a:ext cx="123444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5"/>
          <p:cNvSpPr/>
          <p:nvPr/>
        </p:nvSpPr>
        <p:spPr>
          <a:xfrm>
            <a:off x="2263140" y="3200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817620" y="109728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817620" y="1097280"/>
            <a:ext cx="1508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8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980" y="1435608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1762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817620" y="2606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3954780" y="3200400"/>
            <a:ext cx="123444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Text 22"/>
          <p:cNvSpPr/>
          <p:nvPr/>
        </p:nvSpPr>
        <p:spPr>
          <a:xfrm>
            <a:off x="3954780" y="3200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509260" y="109728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509260" y="1097280"/>
            <a:ext cx="15087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Shape 25"/>
          <p:cNvSpPr/>
          <p:nvPr/>
        </p:nvSpPr>
        <p:spPr>
          <a:xfrm>
            <a:off x="5989320" y="13258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3620" y="1435608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0926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509260" y="2606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800" dirty="0"/>
          </a:p>
        </p:txBody>
      </p:sp>
      <p:sp>
        <p:nvSpPr>
          <p:cNvPr id="35" name="Shape 28"/>
          <p:cNvSpPr/>
          <p:nvPr/>
        </p:nvSpPr>
        <p:spPr>
          <a:xfrm>
            <a:off x="5646420" y="3200400"/>
            <a:ext cx="123444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29"/>
          <p:cNvSpPr/>
          <p:nvPr/>
        </p:nvSpPr>
        <p:spPr>
          <a:xfrm>
            <a:off x="5646420" y="3200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7200900" y="109728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200900" y="1097280"/>
            <a:ext cx="15087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2"/>
          <p:cNvSpPr/>
          <p:nvPr/>
        </p:nvSpPr>
        <p:spPr>
          <a:xfrm>
            <a:off x="7680960" y="13258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260" y="1435608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20090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7200900" y="2606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800" dirty="0"/>
          </a:p>
        </p:txBody>
      </p:sp>
      <p:sp>
        <p:nvSpPr>
          <p:cNvPr id="43" name="Shape 35"/>
          <p:cNvSpPr/>
          <p:nvPr/>
        </p:nvSpPr>
        <p:spPr>
          <a:xfrm>
            <a:off x="7338060" y="3200400"/>
            <a:ext cx="123444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36"/>
          <p:cNvSpPr/>
          <p:nvPr/>
        </p:nvSpPr>
        <p:spPr>
          <a:xfrm>
            <a:off x="7338060" y="3200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1371600" y="3977640"/>
            <a:ext cx="6400800" cy="777240"/>
          </a:xfrm>
          <a:prstGeom prst="rect">
            <a:avLst/>
          </a:prstGeom>
          <a:solidFill>
            <a:srgbClr val="0B1D3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1371600" y="39776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DATA READINESS:  </a:t>
            </a: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26%  —  EARLY STAGE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LANDSCAPE &amp; ARCHITECTURE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64008" cy="10515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143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systems and platforms make up your current ecosystem?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371600" y="1600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yet — currently evaluating options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28600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data ingested — batch, streaming, or both?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371600" y="2834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 using ADF and Delta Tables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" y="352044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404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611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share Datalake / Data Warehouse architecture material?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371600" y="4069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documentation being developed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1" name="Text 15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Stack:  ADF (Azure Data Factory)  •  Delta Tables  •  Databricks Lakehouse  •  Snowflake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097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data catalog in place today?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37160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to build a Unity Catalog in Databricks — not ready yet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1031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10312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31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1488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metadata records cover technical, business, or operational metadata?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371600" y="2560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coverage is incomplete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1546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" y="315468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2004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business teams discover and understand datasets without the data team?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371600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self-service discovery not yet available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" y="374904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776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794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371600" y="41605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is planned and in progress. Data discovery will be domain-based. Self-service metadata access is a key gap to close.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LINEAGE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143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trace a data element from source through transformation to consumption?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371600" y="1600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 — being built using Databricks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28600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table-level, column-level, and row-level lineage?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371600" y="2834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lineage — in progress, not yet at column/row level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MATURITY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Level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286000" y="3840480"/>
            <a:ext cx="548640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3"/>
          <p:cNvSpPr/>
          <p:nvPr/>
        </p:nvSpPr>
        <p:spPr>
          <a:xfrm>
            <a:off x="2286000" y="3840480"/>
            <a:ext cx="21945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4"/>
          <p:cNvSpPr/>
          <p:nvPr/>
        </p:nvSpPr>
        <p:spPr>
          <a:xfrm>
            <a:off x="795528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Level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286000" y="4251960"/>
            <a:ext cx="548640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7"/>
          <p:cNvSpPr/>
          <p:nvPr/>
        </p:nvSpPr>
        <p:spPr>
          <a:xfrm>
            <a:off x="2286000" y="4251960"/>
            <a:ext cx="54864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18"/>
          <p:cNvSpPr/>
          <p:nvPr/>
        </p:nvSpPr>
        <p:spPr>
          <a:xfrm>
            <a:off x="7955280" y="4206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286000" y="4663440"/>
            <a:ext cx="548640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1"/>
          <p:cNvSpPr/>
          <p:nvPr/>
        </p:nvSpPr>
        <p:spPr>
          <a:xfrm>
            <a:off x="7955280" y="4617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143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automated data quality checks in place?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371600" y="1600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DQ checks in ADF using pytests — plan to migrate to Databricks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28600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defined SLAs or expectations around data freshness &amp; completeness?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371600" y="2834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SLAs being defined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FRAMEWORK STATUS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136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DQ Checks (pytests)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38328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48640" y="438912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6227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DQ Migration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383280" y="4389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572000" y="384048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91363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7492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Definitions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40664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572000" y="438912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462272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7492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Monitoring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7406640" y="4389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GOVERNANCE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097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formal data governance program?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37160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not decided yet on framework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1031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10312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31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1488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clearly defined data owners and data stewards for key domains?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371600" y="2560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 — roles being defined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1546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" y="315468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2004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policies exist around data access, privacy, retention, and classification?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371600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 — in progress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" y="3749040"/>
            <a:ext cx="64008" cy="10058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776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794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371600" y="41605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governance framework, data ownership model, or access/privacy policies are in place. This is the highest-risk area and should be prioritized alongside the Unity Catalog rollout.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FEEDBACK SUMMARY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207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0972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is not ready yet — planned and in progress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075688"/>
            <a:ext cx="457200" cy="457200"/>
          </a:xfrm>
          <a:prstGeom prst="ellipse">
            <a:avLst/>
          </a:prstGeom>
          <a:solidFill>
            <a:srgbClr val="16697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19659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 will be domain-based approach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346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16697A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63040" y="28346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architecture is in the plan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63040" y="3703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warehouses in Databricks Lakehouse / Snowflake (datamarts + data warehouse)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&amp; NEXT STEPS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143000"/>
            <a:ext cx="54864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17320" y="10241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Unity Catalog Deployment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132588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centralized metadata catalog as the foundation for governance, lineage, and discovery.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1920240"/>
            <a:ext cx="54864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17320" y="18013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 Governance Framework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17320" y="210312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data owners, stewards, access policies, and privacy/classification standards before scaling further.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697480"/>
            <a:ext cx="5486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417320" y="2578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DQ Checks to Databricks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288036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data quality from ADF/pytests into Databricks for unified monitoring with SLA definitions.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3474720"/>
            <a:ext cx="5486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417320" y="33558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Column-Level Lineage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17320" y="365760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lineage beyond table-level to enable root-cause analysis and impact assessment.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4251960"/>
            <a:ext cx="548640" cy="365760"/>
          </a:xfrm>
          <a:prstGeom prst="rect">
            <a:avLst/>
          </a:prstGeom>
          <a:solidFill>
            <a:srgbClr val="16697A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251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417320" y="41330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Self-Service Data Discovery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417320" y="443484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domain-based discovery so business teams can find and understand data without engineering support.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3283</TotalTime>
  <Words>602</Words>
  <Application>Microsoft Macintosh PowerPoint</Application>
  <PresentationFormat>On-screen Show 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Balls Data Landscape Assessment</dc:title>
  <dc:subject>PptxGenJS Presentation</dc:subject>
  <dc:creator>AI Data Readiness Assessment</dc:creator>
  <cp:lastModifiedBy>venkat B</cp:lastModifiedBy>
  <cp:revision>1</cp:revision>
  <dcterms:created xsi:type="dcterms:W3CDTF">2026-05-29T23:17:27Z</dcterms:created>
  <dcterms:modified xsi:type="dcterms:W3CDTF">2026-06-01T06:03:48Z</dcterms:modified>
</cp:coreProperties>
</file>